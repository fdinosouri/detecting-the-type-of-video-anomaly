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figure1.svg" ContentType="image/svg+xml"/>
  <Override PartName="/ppt/media/figure2.svg" ContentType="image/svg+xml"/>
  <Override PartName="/ppt/media/figure3.svg" ContentType="image/svg+xml"/>
  <Override PartName="/ppt/media/figure4.svg" ContentType="image/svg+xml"/>
  <Override PartName="/ppt/media/figure5.svg" ContentType="image/svg+xml"/>
  <Override PartName="/ppt/media/figure6.svg" ContentType="image/svg+xml"/>
  <Override PartName="/ppt/media/figure7.svg" ContentType="image/svg+xml"/>
  <Override PartName="/ppt/media/figur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igure1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igure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figure3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figure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figure5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figure6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figure7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figure8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۱-۱  خط لوله‌ی نهایی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100" b="0">
                <a:solidFill>
                  <a:srgbClr val="6A748C"/>
                </a:solidFill>
                <a:latin typeface="B Nazanin"/>
              </a:rPr>
              <a:t>برای ویرایش: راست‌کلیک روی شکل ← Convert to Shape   |   فایل برداری: figures/fig_pipeline.svg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0883" y="914400"/>
            <a:ext cx="10129929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۲-۱  رویه‌ی تصمیم دومرحله‌ای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100" b="0">
                <a:solidFill>
                  <a:srgbClr val="6A748C"/>
                </a:solidFill>
                <a:latin typeface="B Nazanin"/>
              </a:rPr>
              <a:t>برای ویرایش: راست‌کلیک روی شکل ← Convert to Shape   |   فایل برداری: figures/fig_two_stage.svg</a:t>
            </a:r>
          </a:p>
        </p:txBody>
      </p:sp>
      <p:pic>
        <p:nvPicPr>
          <p:cNvPr id="4" name="Picture 3" descr="fig_two_st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6849" y="914400"/>
            <a:ext cx="10097997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۳-۱  روند ماکرو اف‑یک در طول مراحل پروژه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100" b="0">
                <a:solidFill>
                  <a:srgbClr val="6A748C"/>
                </a:solidFill>
                <a:latin typeface="B Nazanin"/>
              </a:rPr>
              <a:t>برای ویرایش: راست‌کلیک روی شکل ← Convert to Shape   |   فایل برداری: figures/fig_macro_f1_progress.svg</a:t>
            </a:r>
          </a:p>
        </p:txBody>
      </p:sp>
      <p:pic>
        <p:nvPicPr>
          <p:cNvPr id="4" name="Picture 3" descr="fig_macro_f1_progress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05698" y="914400"/>
            <a:ext cx="9580299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۳-۲  مقایسه‌ی دو رمزگذار در پنج بذر مستقل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100" b="0">
                <a:solidFill>
                  <a:srgbClr val="6A748C"/>
                </a:solidFill>
                <a:latin typeface="B Nazanin"/>
              </a:rPr>
              <a:t>برای ویرایش: راست‌کلیک روی شکل ← Convert to Shape   |   فایل برداری: figures/fig_backbone_compare.svg</a:t>
            </a:r>
          </a:p>
        </p:txBody>
      </p:sp>
      <p:pic>
        <p:nvPicPr>
          <p:cNvPr id="4" name="Picture 3" descr="fig_backbone_compar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3956" y="914400"/>
            <a:ext cx="10183782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۳-۳  دامنه‌ی نتایج پنج بذر برای هر پیکربندی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100" b="0">
                <a:solidFill>
                  <a:srgbClr val="6A748C"/>
                </a:solidFill>
                <a:latin typeface="B Nazanin"/>
              </a:rPr>
              <a:t>برای ویرایش: راست‌کلیک روی شکل ← Convert to Shape   |   فایل برداری: figures/fig_seed_ranges.svg</a:t>
            </a:r>
          </a:p>
        </p:txBody>
      </p:sp>
      <p:pic>
        <p:nvPicPr>
          <p:cNvPr id="4" name="Picture 3" descr="fig_seed_ranges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047" y="914400"/>
            <a:ext cx="10515600" cy="46722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۳-۴  اثر آمیزش و تنظیم لاجیت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100" b="0">
                <a:solidFill>
                  <a:srgbClr val="6A748C"/>
                </a:solidFill>
                <a:latin typeface="B Nazanin"/>
              </a:rPr>
              <a:t>برای ویرایش: راست‌کلیک روی شکل ← Convert to Shape   |   فایل برداری: figures/fig_mixup_logit.svg</a:t>
            </a:r>
          </a:p>
        </p:txBody>
      </p:sp>
      <p:pic>
        <p:nvPicPr>
          <p:cNvPr id="4" name="Picture 3" descr="fig_mixup_logit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0942" y="914400"/>
            <a:ext cx="10229811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۳-۵  بازه‌های اطمینان ۹۵ درصد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100" b="0">
                <a:solidFill>
                  <a:srgbClr val="6A748C"/>
                </a:solidFill>
                <a:latin typeface="B Nazanin"/>
              </a:rPr>
              <a:t>برای ویرایش: راست‌کلیک روی شکل ← Convert to Shape   |   فایل برداری: figures/fig_bootstrap_ci.svg</a:t>
            </a:r>
          </a:p>
        </p:txBody>
      </p:sp>
      <p:pic>
        <p:nvPicPr>
          <p:cNvPr id="4" name="Picture 3" descr="fig_bootstrap_ci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047" y="914400"/>
            <a:ext cx="10515600" cy="47604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۳-۶  کف نوفه در برابر بهبودهای گزارش‌شده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100" b="0">
                <a:solidFill>
                  <a:srgbClr val="6A748C"/>
                </a:solidFill>
                <a:latin typeface="B Nazanin"/>
              </a:rPr>
              <a:t>برای ویرایش: راست‌کلیک روی شکل ← Convert to Shape   |   فایل برداری: figures/fig_noise_floor.svg</a:t>
            </a:r>
          </a:p>
        </p:txBody>
      </p:sp>
      <p:pic>
        <p:nvPicPr>
          <p:cNvPr id="4" name="Picture 3" descr="fig_noise_floor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3860" y="914400"/>
            <a:ext cx="10363974" cy="52120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