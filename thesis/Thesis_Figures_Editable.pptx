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macro F1</c:v>
                </c:pt>
              </c:strCache>
            </c:strRef>
          </c:tx>
          <c:spPr>
            <a:solidFill>
              <a:srgbClr val="6A748C"/>
            </a:solidFill>
          </c:spPr>
          <c:dPt>
            <c:idx val="3"/>
            <c:spPr>
              <a:solidFill>
                <a:srgbClr val="2E5E8C"/>
              </a:solidFill>
            </c:spPr>
          </c:dPt>
          <c:dPt>
            <c:idx val="4"/>
            <c:spPr>
              <a:solidFill>
                <a:srgbClr val="C16B2E"/>
              </a:solidFill>
            </c:spPr>
          </c:dPt>
          <c:cat>
            <c:strRef>
              <c:f>Sheet1!$A$2:$A$6</c:f>
              <c:strCache>
                <c:ptCount val="5"/>
                <c:pt idx="0">
                  <c:v>MLP head, ViT-B</c:v>
                </c:pt>
                <c:pt idx="1">
                  <c:v>temporal head, ViT-B</c:v>
                </c:pt>
                <c:pt idx="2">
                  <c:v>+ lr 3e-4</c:v>
                </c:pt>
                <c:pt idx="3">
                  <c:v>+ ViT-L features</c:v>
                </c:pt>
                <c:pt idx="4">
                  <c:v>+ mixup 0.2 + logit adjust</c:v>
                </c:pt>
              </c:strCache>
            </c:strRef>
          </c:cat>
          <c:val>
            <c:numRef>
              <c:f>Sheet1!$B$2:$B$6</c:f>
              <c:numCache>
                <c:formatCode>0.0000</c:formatCode>
                <c:ptCount val="5"/>
                <c:pt idx="0">
                  <c:v>0.2975</c:v>
                </c:pt>
                <c:pt idx="1">
                  <c:v>0.3444</c:v>
                </c:pt>
                <c:pt idx="2">
                  <c:v>0.3645</c:v>
                </c:pt>
                <c:pt idx="3">
                  <c:v>0.4122</c:v>
                </c:pt>
                <c:pt idx="4">
                  <c:v>0.4298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sz="800">
                  <a:solidFill>
                    <a:srgbClr val="1B223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B2236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5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B2236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X-CLIP fine-tuned</c:v>
                </c:pt>
              </c:strCache>
            </c:strRef>
          </c:tx>
          <c:spPr>
            <a:solidFill>
              <a:srgbClr val="6A748C"/>
            </a:solidFill>
          </c:spPr>
          <c:cat>
            <c:strRef>
              <c:f>Sheet1!$A$2:$A$5</c:f>
              <c:strCache>
                <c:ptCount val="4"/>
                <c:pt idx="0">
                  <c:v>binary AUC</c:v>
                </c:pt>
                <c:pt idx="1">
                  <c:v>accuracy</c:v>
                </c:pt>
                <c:pt idx="2">
                  <c:v>type accuracy</c:v>
                </c:pt>
                <c:pt idx="3">
                  <c:v>macro F1</c:v>
                </c:pt>
              </c:strCache>
            </c:strRef>
          </c:cat>
          <c:val>
            <c:numRef>
              <c:f>Sheet1!$B$2:$B$5</c:f>
              <c:numCache>
                <c:formatCode>0.000</c:formatCode>
                <c:ptCount val="4"/>
                <c:pt idx="0">
                  <c:v>0.9629</c:v>
                </c:pt>
                <c:pt idx="1">
                  <c:v>0.6419</c:v>
                </c:pt>
                <c:pt idx="2">
                  <c:v>0.4257</c:v>
                </c:pt>
                <c:pt idx="3">
                  <c:v>0.3881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VideoMAE ViT-B (frozen)</c:v>
                </c:pt>
              </c:strCache>
            </c:strRef>
          </c:tx>
          <c:spPr>
            <a:solidFill>
              <a:srgbClr val="2E5E8C"/>
            </a:solidFill>
          </c:spPr>
          <c:cat>
            <c:strRef>
              <c:f>Sheet1!$A$2:$A$5</c:f>
              <c:strCache>
                <c:ptCount val="4"/>
                <c:pt idx="0">
                  <c:v>binary AUC</c:v>
                </c:pt>
                <c:pt idx="1">
                  <c:v>accuracy</c:v>
                </c:pt>
                <c:pt idx="2">
                  <c:v>type accuracy</c:v>
                </c:pt>
                <c:pt idx="3">
                  <c:v>macro F1</c:v>
                </c:pt>
              </c:strCache>
            </c:strRef>
          </c:cat>
          <c:val>
            <c:numRef>
              <c:f>Sheet1!$C$2:$C$5</c:f>
              <c:numCache>
                <c:formatCode>0.000</c:formatCode>
                <c:ptCount val="4"/>
                <c:pt idx="0">
                  <c:v>0.9649</c:v>
                </c:pt>
                <c:pt idx="1">
                  <c:v>0.6552</c:v>
                </c:pt>
                <c:pt idx="2">
                  <c:v>0.4214</c:v>
                </c:pt>
                <c:pt idx="3">
                  <c:v>0.3645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VideoMAE ViT-L (frozen, final)</c:v>
                </c:pt>
              </c:strCache>
            </c:strRef>
          </c:tx>
          <c:spPr>
            <a:solidFill>
              <a:srgbClr val="C16B2E"/>
            </a:solidFill>
          </c:spPr>
          <c:cat>
            <c:strRef>
              <c:f>Sheet1!$A$2:$A$5</c:f>
              <c:strCache>
                <c:ptCount val="4"/>
                <c:pt idx="0">
                  <c:v>binary AUC</c:v>
                </c:pt>
                <c:pt idx="1">
                  <c:v>accuracy</c:v>
                </c:pt>
                <c:pt idx="2">
                  <c:v>type accuracy</c:v>
                </c:pt>
                <c:pt idx="3">
                  <c:v>macro F1</c:v>
                </c:pt>
              </c:strCache>
            </c:strRef>
          </c:cat>
          <c:val>
            <c:numRef>
              <c:f>Sheet1!$D$2:$D$5</c:f>
              <c:numCache>
                <c:formatCode>0.000</c:formatCode>
                <c:ptCount val="4"/>
                <c:pt idx="0">
                  <c:v>0.961</c:v>
                </c:pt>
                <c:pt idx="1">
                  <c:v>0.6897</c:v>
                </c:pt>
                <c:pt idx="2">
                  <c:v>0.5</c:v>
                </c:pt>
                <c:pt idx="3">
                  <c:v>0.4298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800">
                  <a:solidFill>
                    <a:srgbClr val="1B223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B2236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B2236"/>
                </a:solidFill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start</c:v>
                </c:pt>
              </c:strCache>
            </c:strRef>
          </c:tx>
          <c:spPr>
            <a:solidFill>
              <a:srgbClr val="FFFFFF"/>
            </a:solidFill>
          </c:spPr>
          <c:dLbls>
            <c:delete val="1"/>
          </c:dLbls>
          <c:cat>
            <c:strRef>
              <c:f>Sheet1!$A$2:$A$3</c:f>
              <c:strCache>
                <c:ptCount val="2"/>
                <c:pt idx="0">
                  <c:v>VideoMAE ViT-B (5 seeds)</c:v>
                </c:pt>
                <c:pt idx="1">
                  <c:v>VideoMAE ViT-L (5 seeds)</c:v>
                </c:pt>
              </c:strCache>
            </c:strRef>
          </c:cat>
          <c:val>
            <c:numRef>
              <c:f>Sheet1!$B$2:$B$3</c:f>
              <c:numCache>
                <c:formatCode>0.000</c:formatCode>
                <c:ptCount val="2"/>
                <c:pt idx="0">
                  <c:v>0.31</c:v>
                </c:pt>
                <c:pt idx="1">
                  <c:v>0.37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macro F1 range</c:v>
                </c:pt>
              </c:strCache>
            </c:strRef>
          </c:tx>
          <c:spPr>
            <a:solidFill>
              <a:srgbClr val="C16B2E"/>
            </a:solidFill>
          </c:spPr>
          <c:cat>
            <c:strRef>
              <c:f>Sheet1!$A$2:$A$3</c:f>
              <c:strCache>
                <c:ptCount val="2"/>
                <c:pt idx="0">
                  <c:v>VideoMAE ViT-B (5 seeds)</c:v>
                </c:pt>
                <c:pt idx="1">
                  <c:v>VideoMAE ViT-L (5 seeds)</c:v>
                </c:pt>
              </c:strCache>
            </c:strRef>
          </c:cat>
          <c:val>
            <c:numRef>
              <c:f>Sheet1!$C$2:$C$3</c:f>
              <c:numCache>
                <c:formatCode>0.000</c:formatCode>
                <c:ptCount val="2"/>
                <c:pt idx="0">
                  <c:v>0.044</c:v>
                </c:pt>
                <c:pt idx="1">
                  <c:v>0.053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800">
                  <a:solidFill>
                    <a:srgbClr val="1B223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B2236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B2236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macro F1</c:v>
                </c:pt>
              </c:strCache>
            </c:strRef>
          </c:tx>
          <c:spPr>
            <a:solidFill>
              <a:srgbClr val="2E5E8C"/>
            </a:solidFill>
          </c:spPr>
          <c:cat>
            <c:strRef>
              <c:f>Sheet1!$A$2:$A$6</c:f>
              <c:strCache>
                <c:ptCount val="5"/>
                <c:pt idx="0">
                  <c:v>baseline</c:v>
                </c:pt>
                <c:pt idx="1">
                  <c:v>mixup 0.2</c:v>
                </c:pt>
                <c:pt idx="2">
                  <c:v>mixup 0.2 + adjust</c:v>
                </c:pt>
                <c:pt idx="3">
                  <c:v>mixup 0.4 + adjust</c:v>
                </c:pt>
                <c:pt idx="4">
                  <c:v>mixup 0.4</c:v>
                </c:pt>
              </c:strCache>
            </c:strRef>
          </c:cat>
          <c:val>
            <c:numRef>
              <c:f>Sheet1!$B$2:$B$6</c:f>
              <c:numCache>
                <c:formatCode>0.0000</c:formatCode>
                <c:ptCount val="5"/>
                <c:pt idx="0">
                  <c:v>0.4122</c:v>
                </c:pt>
                <c:pt idx="1">
                  <c:v>0.4161</c:v>
                </c:pt>
                <c:pt idx="2">
                  <c:v>0.4298</c:v>
                </c:pt>
                <c:pt idx="3">
                  <c:v>0.4248</c:v>
                </c:pt>
                <c:pt idx="4">
                  <c:v>0.4025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anomaly-type accuracy</c:v>
                </c:pt>
              </c:strCache>
            </c:strRef>
          </c:tx>
          <c:spPr>
            <a:solidFill>
              <a:srgbClr val="6A748C"/>
            </a:solidFill>
          </c:spPr>
          <c:cat>
            <c:strRef>
              <c:f>Sheet1!$A$2:$A$6</c:f>
              <c:strCache>
                <c:ptCount val="5"/>
                <c:pt idx="0">
                  <c:v>baseline</c:v>
                </c:pt>
                <c:pt idx="1">
                  <c:v>mixup 0.2</c:v>
                </c:pt>
                <c:pt idx="2">
                  <c:v>mixup 0.2 + adjust</c:v>
                </c:pt>
                <c:pt idx="3">
                  <c:v>mixup 0.4 + adjust</c:v>
                </c:pt>
                <c:pt idx="4">
                  <c:v>mixup 0.4</c:v>
                </c:pt>
              </c:strCache>
            </c:strRef>
          </c:cat>
          <c:val>
            <c:numRef>
              <c:f>Sheet1!$C$2:$C$6</c:f>
              <c:numCache>
                <c:formatCode>0.0000</c:formatCode>
                <c:ptCount val="5"/>
                <c:pt idx="0">
                  <c:v>0.4786</c:v>
                </c:pt>
                <c:pt idx="1">
                  <c:v>0.4714</c:v>
                </c:pt>
                <c:pt idx="2">
                  <c:v>0.5</c:v>
                </c:pt>
                <c:pt idx="3">
                  <c:v>0.4929</c:v>
                </c:pt>
                <c:pt idx="4">
                  <c:v>0.4643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sz="800">
                  <a:solidFill>
                    <a:srgbClr val="1B223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B2236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B2236"/>
                </a:solidFill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lower bound</c:v>
                </c:pt>
              </c:strCache>
            </c:strRef>
          </c:tx>
          <c:spPr>
            <a:solidFill>
              <a:srgbClr val="FFFFFF"/>
            </a:solidFill>
          </c:spPr>
          <c:dLbls>
            <c:delete val="1"/>
          </c:dLbls>
          <c:cat>
            <c:strRef>
              <c:f>Sheet1!$A$2:$A$5</c:f>
              <c:strCache>
                <c:ptCount val="4"/>
                <c:pt idx="0">
                  <c:v>binary AUC</c:v>
                </c:pt>
                <c:pt idx="1">
                  <c:v>accuracy</c:v>
                </c:pt>
                <c:pt idx="2">
                  <c:v>type accuracy</c:v>
                </c:pt>
                <c:pt idx="3">
                  <c:v>macro F1</c:v>
                </c:pt>
              </c:strCache>
            </c:strRef>
          </c:cat>
          <c:val>
            <c:numRef>
              <c:f>Sheet1!$B$2:$B$5</c:f>
              <c:numCache>
                <c:formatCode>0.000</c:formatCode>
                <c:ptCount val="4"/>
                <c:pt idx="0">
                  <c:v>0.938</c:v>
                </c:pt>
                <c:pt idx="1">
                  <c:v>0.635</c:v>
                </c:pt>
                <c:pt idx="2">
                  <c:v>0.42</c:v>
                </c:pt>
                <c:pt idx="3">
                  <c:v>0.339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95% confidence interval</c:v>
                </c:pt>
              </c:strCache>
            </c:strRef>
          </c:tx>
          <c:spPr>
            <a:solidFill>
              <a:srgbClr val="2E5E8C"/>
            </a:solidFill>
          </c:spPr>
          <c:cat>
            <c:strRef>
              <c:f>Sheet1!$A$2:$A$5</c:f>
              <c:strCache>
                <c:ptCount val="4"/>
                <c:pt idx="0">
                  <c:v>binary AUC</c:v>
                </c:pt>
                <c:pt idx="1">
                  <c:v>accuracy</c:v>
                </c:pt>
                <c:pt idx="2">
                  <c:v>type accuracy</c:v>
                </c:pt>
                <c:pt idx="3">
                  <c:v>macro F1</c:v>
                </c:pt>
              </c:strCache>
            </c:strRef>
          </c:cat>
          <c:val>
            <c:numRef>
              <c:f>Sheet1!$C$2:$C$5</c:f>
              <c:numCache>
                <c:formatCode>0.000</c:formatCode>
                <c:ptCount val="4"/>
                <c:pt idx="0">
                  <c:v>0.042</c:v>
                </c:pt>
                <c:pt idx="1">
                  <c:v>0.11</c:v>
                </c:pt>
                <c:pt idx="2">
                  <c:v>0.165</c:v>
                </c:pt>
                <c:pt idx="3">
                  <c:v>0.164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800">
                  <a:solidFill>
                    <a:srgbClr val="1B223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B2236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B2236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expected inflation of the best score</c:v>
                </c:pt>
              </c:strCache>
            </c:strRef>
          </c:tx>
          <c:spPr>
            <a:solidFill>
              <a:srgbClr val="2E5E8C"/>
            </a:solidFill>
          </c:spPr>
          <c:cat>
            <c:strRef>
              <c:f>Sheet1!$A$2:$A$12</c:f>
              <c:strCache>
                <c:ptCount val="11"/>
                <c:pt idx="0">
                  <c:v>2</c:v>
                </c:pt>
                <c:pt idx="1">
                  <c:v>5</c:v>
                </c:pt>
                <c:pt idx="2">
                  <c:v>8</c:v>
                </c:pt>
                <c:pt idx="3">
                  <c:v>15</c:v>
                </c:pt>
                <c:pt idx="4">
                  <c:v>25</c:v>
                </c:pt>
                <c:pt idx="5">
                  <c:v>50</c:v>
                </c:pt>
                <c:pt idx="6">
                  <c:v>75</c:v>
                </c:pt>
                <c:pt idx="7">
                  <c:v>100</c:v>
                </c:pt>
                <c:pt idx="8">
                  <c:v>150</c:v>
                </c:pt>
                <c:pt idx="9">
                  <c:v>200</c:v>
                </c:pt>
                <c:pt idx="10">
                  <c:v>250</c:v>
                </c:pt>
              </c:strCache>
            </c:strRef>
          </c:cat>
          <c:val>
            <c:numRef>
              <c:f>Sheet1!$B$2:$B$12</c:f>
              <c:numCache>
                <c:formatCode>0.0000</c:formatCode>
                <c:ptCount val="11"/>
                <c:pt idx="0">
                  <c:v>0.04</c:v>
                </c:pt>
                <c:pt idx="1">
                  <c:v>0.061</c:v>
                </c:pt>
                <c:pt idx="2">
                  <c:v>0.0693</c:v>
                </c:pt>
                <c:pt idx="3">
                  <c:v>0.0791</c:v>
                </c:pt>
                <c:pt idx="4">
                  <c:v>0.0863</c:v>
                </c:pt>
                <c:pt idx="5">
                  <c:v>0.0951</c:v>
                </c:pt>
                <c:pt idx="6">
                  <c:v>0.0999</c:v>
                </c:pt>
                <c:pt idx="7">
                  <c:v>0.1032</c:v>
                </c:pt>
                <c:pt idx="8">
                  <c:v>0.1076</c:v>
                </c:pt>
                <c:pt idx="9">
                  <c:v>0.1107</c:v>
                </c:pt>
                <c:pt idx="10">
                  <c:v>0.113</c:v>
                </c:pt>
              </c:numCache>
            </c:numRef>
          </c:val>
          <c:smooth val="0"/>
        </c:ser>
        <c:dLbls>
          <c:numFmt formatCode="0.0000" sourceLinked="0"/>
          <c:txPr>
            <a:bodyPr/>
            <a:lstStyle/>
            <a:p>
              <a:pPr>
                <a:defRPr sz="800">
                  <a:solidFill>
                    <a:srgbClr val="1B223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B2236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B2236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 algn="r"/>
            <a:r>
              <a:rPr sz="2000" b="1">
                <a:solidFill>
                  <a:srgbClr val="1B2236"/>
                </a:solidFill>
                <a:latin typeface="B Nazanin"/>
              </a:rPr>
              <a:t>شکل ۱-۱  خط لوله‌ی نهایی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6A748C"/>
                </a:solidFill>
                <a:latin typeface="Calibri"/>
              </a:rPr>
              <a:t>Stage 1  -  run once, 150 min for 1895 videos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2377440" cy="1188720"/>
          </a:xfrm>
          <a:prstGeom prst="roundRect">
            <a:avLst/>
          </a:prstGeom>
          <a:solidFill>
            <a:srgbClr val="EEF3F7"/>
          </a:solidFill>
          <a:ln w="15875">
            <a:solidFill>
              <a:srgbClr val="2E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>
                <a:solidFill>
                  <a:srgbClr val="1B2236"/>
                </a:solidFill>
                <a:latin typeface="Calibri"/>
              </a:rPr>
              <a:t>Surveillance video</a:t>
            </a:r>
          </a:p>
          <a:p>
            <a:pPr algn="ctr"/>
            <a:r>
              <a:rPr sz="1100">
                <a:solidFill>
                  <a:srgbClr val="1B2236"/>
                </a:solidFill>
                <a:latin typeface="Calibri"/>
              </a:rPr>
              <a:t>(untrimmed, one</a:t>
            </a:r>
          </a:p>
          <a:p>
            <a:pPr algn="ctr"/>
            <a:r>
              <a:rPr sz="1100">
                <a:solidFill>
                  <a:srgbClr val="1B2236"/>
                </a:solidFill>
                <a:latin typeface="Calibri"/>
              </a:rPr>
              <a:t>video-level label)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325880"/>
            <a:ext cx="2377440" cy="1188720"/>
          </a:xfrm>
          <a:prstGeom prst="roundRect">
            <a:avLst/>
          </a:prstGeom>
          <a:solidFill>
            <a:srgbClr val="EEF3F7"/>
          </a:solidFill>
          <a:ln w="15875">
            <a:solidFill>
              <a:srgbClr val="2E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>
                <a:solidFill>
                  <a:srgbClr val="1B2236"/>
                </a:solidFill>
                <a:latin typeface="Calibri"/>
              </a:rPr>
              <a:t>16 clips</a:t>
            </a:r>
          </a:p>
          <a:p>
            <a:pPr algn="ctr"/>
            <a:r>
              <a:rPr sz="1100">
                <a:solidFill>
                  <a:srgbClr val="1B2236"/>
                </a:solidFill>
                <a:latin typeface="Calibri"/>
              </a:rPr>
              <a:t>16 frames each</a:t>
            </a:r>
          </a:p>
          <a:p>
            <a:pPr algn="ctr"/>
            <a:r>
              <a:rPr sz="1100">
                <a:solidFill>
                  <a:srgbClr val="1B2236"/>
                </a:solidFill>
                <a:latin typeface="Calibri"/>
              </a:rPr>
              <a:t>224x224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25880"/>
            <a:ext cx="2468880" cy="1188720"/>
          </a:xfrm>
          <a:prstGeom prst="roundRect">
            <a:avLst/>
          </a:prstGeom>
          <a:solidFill>
            <a:srgbClr val="F5EFE6"/>
          </a:solidFill>
          <a:ln w="15875">
            <a:solidFill>
              <a:srgbClr val="C16B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>
                <a:solidFill>
                  <a:srgbClr val="1B2236"/>
                </a:solidFill>
                <a:latin typeface="Calibri"/>
              </a:rPr>
              <a:t>VideoMAE ViT-L</a:t>
            </a:r>
          </a:p>
          <a:p>
            <a:pPr algn="ctr"/>
            <a:r>
              <a:rPr sz="1100">
                <a:solidFill>
                  <a:srgbClr val="1B2236"/>
                </a:solidFill>
                <a:latin typeface="Calibri"/>
              </a:rPr>
              <a:t>(frozen, Kinetics)</a:t>
            </a:r>
          </a:p>
          <a:p>
            <a:pPr algn="ctr"/>
            <a:r>
              <a:rPr sz="1100">
                <a:solidFill>
                  <a:srgbClr val="1B2236"/>
                </a:solidFill>
                <a:latin typeface="Calibri"/>
              </a:rPr>
              <a:t>token mean-pool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81160" y="1325880"/>
            <a:ext cx="2377440" cy="1188720"/>
          </a:xfrm>
          <a:prstGeom prst="roundRect">
            <a:avLst/>
          </a:prstGeom>
          <a:solidFill>
            <a:srgbClr val="EEF3F7"/>
          </a:solidFill>
          <a:ln w="15875">
            <a:solidFill>
              <a:srgbClr val="2E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>
                <a:solidFill>
                  <a:srgbClr val="1B2236"/>
                </a:solidFill>
                <a:latin typeface="Calibri"/>
              </a:rPr>
              <a:t>cached features</a:t>
            </a:r>
          </a:p>
          <a:p>
            <a:pPr algn="ctr"/>
            <a:r>
              <a:rPr sz="1100">
                <a:solidFill>
                  <a:srgbClr val="1B2236"/>
                </a:solidFill>
                <a:latin typeface="Calibri"/>
              </a:rPr>
              <a:t>[16, 1024]</a:t>
            </a:r>
          </a:p>
          <a:p>
            <a:pPr algn="ctr"/>
            <a:r>
              <a:rPr sz="1100">
                <a:solidFill>
                  <a:srgbClr val="1B2236"/>
                </a:solidFill>
                <a:latin typeface="Calibri"/>
              </a:rPr>
              <a:t>one .npy / video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999232" y="1828800"/>
            <a:ext cx="365759" cy="201168"/>
          </a:xfrm>
          <a:prstGeom prst="rightArrow">
            <a:avLst/>
          </a:prstGeom>
          <a:solidFill>
            <a:srgbClr val="6A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5879592" y="1828800"/>
            <a:ext cx="365760" cy="201168"/>
          </a:xfrm>
          <a:prstGeom prst="rightArrow">
            <a:avLst/>
          </a:prstGeom>
          <a:solidFill>
            <a:srgbClr val="6A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8851392" y="1828800"/>
            <a:ext cx="365760" cy="201168"/>
          </a:xfrm>
          <a:prstGeom prst="rightArrow">
            <a:avLst/>
          </a:prstGeom>
          <a:solidFill>
            <a:srgbClr val="6A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10469880" y="2514600"/>
            <a:ext cx="0" cy="411480"/>
          </a:xfrm>
          <a:prstGeom prst="line">
            <a:avLst/>
          </a:prstGeom>
          <a:ln w="13970">
            <a:solidFill>
              <a:srgbClr val="6A74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737360" y="2926080"/>
            <a:ext cx="8732520" cy="0"/>
          </a:xfrm>
          <a:prstGeom prst="line">
            <a:avLst/>
          </a:prstGeom>
          <a:ln w="13970">
            <a:solidFill>
              <a:srgbClr val="6A74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Down Arrow 12"/>
          <p:cNvSpPr/>
          <p:nvPr/>
        </p:nvSpPr>
        <p:spPr>
          <a:xfrm>
            <a:off x="1627632" y="2926080"/>
            <a:ext cx="256032" cy="384047"/>
          </a:xfrm>
          <a:prstGeom prst="downArrow">
            <a:avLst/>
          </a:prstGeom>
          <a:solidFill>
            <a:srgbClr val="6A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0" y="274320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i="0">
                <a:solidFill>
                  <a:srgbClr val="6A748C"/>
                </a:solidFill>
                <a:latin typeface="Calibri"/>
              </a:rPr>
              <a:t>features reloaded from disk each epoch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566160"/>
            <a:ext cx="2377440" cy="1188720"/>
          </a:xfrm>
          <a:prstGeom prst="roundRect">
            <a:avLst/>
          </a:prstGeom>
          <a:solidFill>
            <a:srgbClr val="EEF3F7"/>
          </a:solidFill>
          <a:ln w="15875">
            <a:solidFill>
              <a:srgbClr val="2E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>
                <a:solidFill>
                  <a:srgbClr val="1B2236"/>
                </a:solidFill>
                <a:latin typeface="Calibri"/>
              </a:rPr>
              <a:t>LayerNorm + Linear</a:t>
            </a:r>
          </a:p>
          <a:p>
            <a:pPr algn="ctr"/>
            <a:r>
              <a:rPr sz="1100">
                <a:solidFill>
                  <a:srgbClr val="1B2236"/>
                </a:solidFill>
                <a:latin typeface="Calibri"/>
              </a:rPr>
              <a:t>+ positional</a:t>
            </a:r>
          </a:p>
          <a:p>
            <a:pPr algn="ctr"/>
            <a:r>
              <a:rPr sz="1100">
                <a:solidFill>
                  <a:srgbClr val="1B2236"/>
                </a:solidFill>
                <a:latin typeface="Calibri"/>
              </a:rPr>
              <a:t>embedding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29000" y="3566160"/>
            <a:ext cx="2377440" cy="1188720"/>
          </a:xfrm>
          <a:prstGeom prst="roundRect">
            <a:avLst/>
          </a:prstGeom>
          <a:solidFill>
            <a:srgbClr val="EEF3F7"/>
          </a:solidFill>
          <a:ln w="15875">
            <a:solidFill>
              <a:srgbClr val="2E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>
                <a:solidFill>
                  <a:srgbClr val="1B2236"/>
                </a:solidFill>
                <a:latin typeface="Calibri"/>
              </a:rPr>
              <a:t>Transformer</a:t>
            </a:r>
          </a:p>
          <a:p>
            <a:pPr algn="ctr"/>
            <a:r>
              <a:rPr sz="1100">
                <a:solidFill>
                  <a:srgbClr val="1B2236"/>
                </a:solidFill>
                <a:latin typeface="Calibri"/>
              </a:rPr>
              <a:t>encoder over</a:t>
            </a:r>
          </a:p>
          <a:p>
            <a:pPr algn="ctr"/>
            <a:r>
              <a:rPr sz="1100">
                <a:solidFill>
                  <a:srgbClr val="1B2236"/>
                </a:solidFill>
                <a:latin typeface="Calibri"/>
              </a:rPr>
              <a:t>the 16 clips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749039"/>
            <a:ext cx="2468880" cy="822960"/>
          </a:xfrm>
          <a:prstGeom prst="roundRect">
            <a:avLst/>
          </a:prstGeom>
          <a:solidFill>
            <a:srgbClr val="EEF3F7"/>
          </a:solidFill>
          <a:ln w="15875">
            <a:solidFill>
              <a:srgbClr val="2E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>
                <a:solidFill>
                  <a:srgbClr val="1B2236"/>
                </a:solidFill>
                <a:latin typeface="Calibri"/>
              </a:rPr>
              <a:t>clip logits</a:t>
            </a:r>
          </a:p>
          <a:p>
            <a:pPr algn="ctr"/>
            <a:r>
              <a:rPr sz="1100">
                <a:solidFill>
                  <a:srgbClr val="1B2236"/>
                </a:solidFill>
                <a:latin typeface="Calibri"/>
              </a:rPr>
              <a:t>[16, 14]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81160" y="3749039"/>
            <a:ext cx="2377440" cy="822960"/>
          </a:xfrm>
          <a:prstGeom prst="roundRect">
            <a:avLst/>
          </a:prstGeom>
          <a:solidFill>
            <a:srgbClr val="F5EFE6"/>
          </a:solidFill>
          <a:ln w="15875">
            <a:solidFill>
              <a:srgbClr val="C16B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>
                <a:solidFill>
                  <a:srgbClr val="1B2236"/>
                </a:solidFill>
                <a:latin typeface="Calibri"/>
              </a:rPr>
              <a:t>top-k MIL pooling</a:t>
            </a:r>
          </a:p>
          <a:p>
            <a:pPr algn="ctr"/>
            <a:r>
              <a:rPr sz="1100">
                <a:solidFill>
                  <a:srgbClr val="1B2236"/>
                </a:solidFill>
                <a:latin typeface="Calibri"/>
              </a:rPr>
              <a:t>-&gt; video logits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2999232" y="4114800"/>
            <a:ext cx="365759" cy="201168"/>
          </a:xfrm>
          <a:prstGeom prst="rightArrow">
            <a:avLst/>
          </a:prstGeom>
          <a:solidFill>
            <a:srgbClr val="6A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ight Arrow 19"/>
          <p:cNvSpPr/>
          <p:nvPr/>
        </p:nvSpPr>
        <p:spPr>
          <a:xfrm>
            <a:off x="5879592" y="4114800"/>
            <a:ext cx="365760" cy="201168"/>
          </a:xfrm>
          <a:prstGeom prst="rightArrow">
            <a:avLst/>
          </a:prstGeom>
          <a:solidFill>
            <a:srgbClr val="6A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Arrow 20"/>
          <p:cNvSpPr/>
          <p:nvPr/>
        </p:nvSpPr>
        <p:spPr>
          <a:xfrm>
            <a:off x="8851392" y="4114800"/>
            <a:ext cx="365760" cy="201168"/>
          </a:xfrm>
          <a:prstGeom prst="rightArrow">
            <a:avLst/>
          </a:prstGeom>
          <a:solidFill>
            <a:srgbClr val="6A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98348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6A748C"/>
                </a:solidFill>
                <a:latin typeface="Calibri"/>
              </a:rPr>
              <a:t>Stage 2  -  trains in ~80 s, so hyper-parameters can be swept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 algn="r"/>
            <a:r>
              <a:rPr sz="2000" b="1">
                <a:solidFill>
                  <a:srgbClr val="1B2236"/>
                </a:solidFill>
                <a:latin typeface="B Nazanin"/>
              </a:rPr>
              <a:t>شکل ۲-۱  رویه‌ی تصمیم دومرحله‌ای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3017520" cy="1234440"/>
          </a:xfrm>
          <a:prstGeom prst="roundRect">
            <a:avLst/>
          </a:prstGeom>
          <a:solidFill>
            <a:srgbClr val="EEF3F7"/>
          </a:solidFill>
          <a:ln w="15875">
            <a:solidFill>
              <a:srgbClr val="2E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>
                <a:solidFill>
                  <a:srgbClr val="1B2236"/>
                </a:solidFill>
                <a:latin typeface="Calibri"/>
              </a:rPr>
              <a:t>per-clip softmax</a:t>
            </a:r>
          </a:p>
          <a:p>
            <a:pPr algn="ctr"/>
            <a:r>
              <a:rPr sz="1100">
                <a:solidFill>
                  <a:srgbClr val="1B2236"/>
                </a:solidFill>
                <a:latin typeface="Calibri"/>
              </a:rPr>
              <a:t>P(c | clip), c = 0..13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06240" y="1188720"/>
            <a:ext cx="3200400" cy="1234440"/>
          </a:xfrm>
          <a:prstGeom prst="roundRect">
            <a:avLst/>
          </a:prstGeom>
          <a:solidFill>
            <a:srgbClr val="F5EFE6"/>
          </a:solidFill>
          <a:ln w="15875">
            <a:solidFill>
              <a:srgbClr val="C16B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>
                <a:solidFill>
                  <a:srgbClr val="1B2236"/>
                </a:solidFill>
                <a:latin typeface="Calibri"/>
              </a:rPr>
              <a:t>anomaly evidence</a:t>
            </a:r>
          </a:p>
          <a:p>
            <a:pPr algn="ctr"/>
            <a:r>
              <a:rPr sz="1100">
                <a:solidFill>
                  <a:srgbClr val="1B2236"/>
                </a:solidFill>
                <a:latin typeface="Calibri"/>
              </a:rPr>
              <a:t>s = max over clips</a:t>
            </a:r>
          </a:p>
          <a:p>
            <a:pPr algn="ctr"/>
            <a:r>
              <a:rPr sz="1100">
                <a:solidFill>
                  <a:srgbClr val="1B2236"/>
                </a:solidFill>
                <a:latin typeface="Calibri"/>
              </a:rPr>
              <a:t>of 1 - P(Normal)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188720"/>
            <a:ext cx="3108960" cy="1234440"/>
          </a:xfrm>
          <a:prstGeom prst="roundRect">
            <a:avLst/>
          </a:prstGeom>
          <a:solidFill>
            <a:srgbClr val="EEF3F7"/>
          </a:solidFill>
          <a:ln w="15875">
            <a:solidFill>
              <a:srgbClr val="2E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>
                <a:solidFill>
                  <a:srgbClr val="1B2236"/>
                </a:solidFill>
                <a:latin typeface="Calibri"/>
              </a:rPr>
              <a:t>s &lt; threshold ?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657600" y="1709928"/>
            <a:ext cx="457200" cy="201168"/>
          </a:xfrm>
          <a:prstGeom prst="rightArrow">
            <a:avLst/>
          </a:prstGeom>
          <a:solidFill>
            <a:srgbClr val="6A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ight Arrow 6"/>
          <p:cNvSpPr/>
          <p:nvPr/>
        </p:nvSpPr>
        <p:spPr>
          <a:xfrm>
            <a:off x="7498079" y="1709928"/>
            <a:ext cx="457200" cy="201168"/>
          </a:xfrm>
          <a:prstGeom prst="rightArrow">
            <a:avLst/>
          </a:prstGeom>
          <a:solidFill>
            <a:srgbClr val="6A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own Arrow 7"/>
          <p:cNvSpPr/>
          <p:nvPr/>
        </p:nvSpPr>
        <p:spPr>
          <a:xfrm>
            <a:off x="9509760" y="2514600"/>
            <a:ext cx="256032" cy="1051560"/>
          </a:xfrm>
          <a:prstGeom prst="downArrow">
            <a:avLst/>
          </a:prstGeom>
          <a:solidFill>
            <a:srgbClr val="6A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46920" y="28346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0">
                <a:solidFill>
                  <a:srgbClr val="6A748C"/>
                </a:solidFill>
                <a:latin typeface="Calibri"/>
              </a:rPr>
              <a:t>yes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3703320"/>
            <a:ext cx="3108960" cy="914400"/>
          </a:xfrm>
          <a:prstGeom prst="roundRect">
            <a:avLst/>
          </a:prstGeom>
          <a:solidFill>
            <a:srgbClr val="EAF1E8"/>
          </a:solidFill>
          <a:ln w="15875">
            <a:solidFill>
              <a:srgbClr val="5B7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>
                <a:solidFill>
                  <a:srgbClr val="1B2236"/>
                </a:solidFill>
                <a:latin typeface="Calibri"/>
              </a:rPr>
              <a:t>predict Normal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4754880" y="2514600"/>
            <a:ext cx="3749040" cy="1051560"/>
          </a:xfrm>
          <a:prstGeom prst="line">
            <a:avLst/>
          </a:prstGeom>
          <a:ln w="13970">
            <a:solidFill>
              <a:srgbClr val="6A74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035040" y="27889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0">
                <a:solidFill>
                  <a:srgbClr val="6A748C"/>
                </a:solidFill>
                <a:latin typeface="Calibri"/>
              </a:rPr>
              <a:t>no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703320"/>
            <a:ext cx="6217920" cy="914400"/>
          </a:xfrm>
          <a:prstGeom prst="roundRect">
            <a:avLst/>
          </a:prstGeom>
          <a:solidFill>
            <a:srgbClr val="F5EFE6"/>
          </a:solidFill>
          <a:ln w="15875">
            <a:solidFill>
              <a:srgbClr val="C16B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>
                <a:solidFill>
                  <a:srgbClr val="1B2236"/>
                </a:solidFill>
                <a:latin typeface="Calibri"/>
              </a:rPr>
              <a:t>average P over the top-k most anomalous clips,</a:t>
            </a:r>
          </a:p>
          <a:p>
            <a:pPr algn="ctr"/>
            <a:r>
              <a:rPr sz="1100">
                <a:solidFill>
                  <a:srgbClr val="1B2236"/>
                </a:solidFill>
                <a:latin typeface="Calibri"/>
              </a:rPr>
              <a:t>argmax over classes 1..13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02920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6A748C"/>
                </a:solidFill>
                <a:latin typeface="Calibri"/>
              </a:rPr>
              <a:t>Stage 1 answers "is it anomalous", stage 2 answers "which anomaly"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 algn="r"/>
            <a:r>
              <a:rPr sz="2000" b="1">
                <a:solidFill>
                  <a:srgbClr val="1B2236"/>
                </a:solidFill>
                <a:latin typeface="B Nazanin"/>
              </a:rPr>
              <a:t>شکل ۳-۱  روند ماکرو اف‑یک در طول مراحل پروژه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822960" y="1097280"/>
          <a:ext cx="1051560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ectangle 3"/>
          <p:cNvSpPr/>
          <p:nvPr/>
        </p:nvSpPr>
        <p:spPr>
          <a:xfrm>
            <a:off x="1234440" y="2081364"/>
            <a:ext cx="9966960" cy="15875"/>
          </a:xfrm>
          <a:prstGeom prst="rect">
            <a:avLst/>
          </a:prstGeom>
          <a:solidFill>
            <a:srgbClr val="C16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17704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i="0">
                <a:solidFill>
                  <a:srgbClr val="C16B2E"/>
                </a:solidFill>
                <a:latin typeface="Calibri"/>
              </a:rPr>
              <a:t>X-CLIP fine-tuned  0.3881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 algn="r"/>
            <a:r>
              <a:rPr sz="2000" b="1">
                <a:solidFill>
                  <a:srgbClr val="1B2236"/>
                </a:solidFill>
                <a:latin typeface="B Nazanin"/>
              </a:rPr>
              <a:t>شکل ۳-۲  مقایسه‌ی دو رمزگذار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822960" y="1051560"/>
          <a:ext cx="1051560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 algn="r"/>
            <a:r>
              <a:rPr sz="2000" b="1">
                <a:solidFill>
                  <a:srgbClr val="1B2236"/>
                </a:solidFill>
                <a:latin typeface="B Nazanin"/>
              </a:rPr>
              <a:t>شکل ۳-۳  دامنه‌ی نتایج پنج بذر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822960" y="1188720"/>
          <a:ext cx="1051560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" y="46634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0">
                <a:solidFill>
                  <a:srgbClr val="6A748C"/>
                </a:solidFill>
                <a:latin typeface="Calibri"/>
              </a:rPr>
              <a:t>ViT-B spans 0.310-0.354 with mean 0.3405   |   ViT-L spans 0.370-0.423 with mean 0.3955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292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C16B2E"/>
                </a:solidFill>
                <a:latin typeface="Calibri"/>
              </a:rPr>
              <a:t>the two ranges do not overlap  (Mann-Whitney p = 1/252)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 algn="r"/>
            <a:r>
              <a:rPr sz="2000" b="1">
                <a:solidFill>
                  <a:srgbClr val="1B2236"/>
                </a:solidFill>
                <a:latin typeface="B Nazanin"/>
              </a:rPr>
              <a:t>شکل ۳-۴  اثر آمیزش و تنظیم لاجیت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822960" y="1051560"/>
          <a:ext cx="1051560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 algn="r"/>
            <a:r>
              <a:rPr sz="2000" b="1">
                <a:solidFill>
                  <a:srgbClr val="1B2236"/>
                </a:solidFill>
                <a:latin typeface="B Nazanin"/>
              </a:rPr>
              <a:t>شکل ۳-۵  بازه‌های اطمینان ۹۵ درصد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822960" y="1143000"/>
          <a:ext cx="1051560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" y="48920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0">
                <a:solidFill>
                  <a:srgbClr val="6A748C"/>
                </a:solidFill>
                <a:latin typeface="Calibri"/>
              </a:rPr>
              <a:t>point estimates:  AUC 0.9610   |   accuracy 0.6897   |   type accuracy 0.5000   |   macro F1 0.4298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2578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6A748C"/>
                </a:solidFill>
                <a:latin typeface="Calibri"/>
              </a:rPr>
              <a:t>4000 bootstrap resamples of the 290 test videos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 algn="r"/>
            <a:r>
              <a:rPr sz="2000" b="1">
                <a:solidFill>
                  <a:srgbClr val="1B2236"/>
                </a:solidFill>
                <a:latin typeface="B Nazanin"/>
              </a:rPr>
              <a:t>شکل ۳-۶  کف نوفه در برابر بهبودهای گزارش‌شده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822960" y="1097280"/>
          <a:ext cx="1051560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" y="54864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0">
                <a:solidFill>
                  <a:srgbClr val="6A748C"/>
                </a:solidFill>
                <a:latin typeface="Calibri"/>
              </a:rPr>
              <a:t>evaluations against the same test split  -  8 runs inflate by 0.070, 200 runs by 0.110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521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6A748C"/>
                </a:solidFill>
                <a:latin typeface="Calibri"/>
              </a:rPr>
              <a:t>which is why every number in the report comes from a configuration fixed in advance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