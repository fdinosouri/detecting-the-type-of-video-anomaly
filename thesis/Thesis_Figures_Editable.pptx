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Sheet1!$A$2:$A$6</c:f>
              <c:strCache>
                <c:ptCount val="5"/>
                <c:pt idx="0">
                  <c:v>MLP head, ViT-B</c:v>
                </c:pt>
                <c:pt idx="1">
                  <c:v>temporal head, ViT-B</c:v>
                </c:pt>
                <c:pt idx="2">
                  <c:v>+ lr 3e-4</c:v>
                </c:pt>
                <c:pt idx="3">
                  <c:v>+ ViT-L features</c:v>
                </c:pt>
                <c:pt idx="4">
                  <c:v>+ mixup 0.2 + logit adjust</c:v>
                </c:pt>
              </c:strCache>
            </c:strRef>
          </c:cat>
          <c:val>
            <c:numRef>
              <c:f>Sheet1!$B$2:$B$6</c:f>
              <c:numCache>
                <c:formatCode>0.0000</c:formatCode>
                <c:ptCount val="5"/>
                <c:pt idx="0">
                  <c:v>0.2975</c:v>
                </c:pt>
                <c:pt idx="1">
                  <c:v>0.3444</c:v>
                </c:pt>
                <c:pt idx="2">
                  <c:v>0.3645</c:v>
                </c:pt>
                <c:pt idx="3">
                  <c:v>0.4122</c:v>
                </c:pt>
                <c:pt idx="4">
                  <c:v>0.4298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X-CLIP fine-tuned</c:v>
                </c:pt>
              </c:strCache>
            </c:strRef>
          </c:tx>
          <c:spPr>
            <a:solidFill>
              <a:srgbClr val="6A748C"/>
            </a:solidFill>
          </c:spPr>
          <c:cat>
            <c:strRef>
              <c:f>Sheet1!$A$2:$A$5</c:f>
              <c:strCache>
                <c:ptCount val="4"/>
                <c:pt idx="0">
                  <c:v>binary AUC</c:v>
                </c:pt>
                <c:pt idx="1">
                  <c:v>accuracy</c:v>
                </c:pt>
                <c:pt idx="2">
                  <c:v>type accuracy</c:v>
                </c:pt>
                <c:pt idx="3">
                  <c:v>macro F1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0.9629</c:v>
                </c:pt>
                <c:pt idx="1">
                  <c:v>0.6419</c:v>
                </c:pt>
                <c:pt idx="2">
                  <c:v>0.4257</c:v>
                </c:pt>
                <c:pt idx="3">
                  <c:v>0.3881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VideoMAE ViT-B (frozen)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Sheet1!$A$2:$A$5</c:f>
              <c:strCache>
                <c:ptCount val="4"/>
                <c:pt idx="0">
                  <c:v>binary AUC</c:v>
                </c:pt>
                <c:pt idx="1">
                  <c:v>accuracy</c:v>
                </c:pt>
                <c:pt idx="2">
                  <c:v>type accuracy</c:v>
                </c:pt>
                <c:pt idx="3">
                  <c:v>macro F1</c:v>
                </c:pt>
              </c:strCache>
            </c:strRef>
          </c:cat>
          <c:val>
            <c:numRef>
              <c:f>Sheet1!$C$2:$C$5</c:f>
              <c:numCache>
                <c:formatCode>0.000</c:formatCode>
                <c:ptCount val="4"/>
                <c:pt idx="0">
                  <c:v>0.9649</c:v>
                </c:pt>
                <c:pt idx="1">
                  <c:v>0.6552</c:v>
                </c:pt>
                <c:pt idx="2">
                  <c:v>0.4214</c:v>
                </c:pt>
                <c:pt idx="3">
                  <c:v>0.3645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VideoMAE ViT-L (frozen, final)</c:v>
                </c:pt>
              </c:strCache>
            </c:strRef>
          </c:tx>
          <c:spPr>
            <a:solidFill>
              <a:srgbClr val="C16B2E"/>
            </a:solidFill>
          </c:spPr>
          <c:cat>
            <c:strRef>
              <c:f>Sheet1!$A$2:$A$5</c:f>
              <c:strCache>
                <c:ptCount val="4"/>
                <c:pt idx="0">
                  <c:v>binary AUC</c:v>
                </c:pt>
                <c:pt idx="1">
                  <c:v>accuracy</c:v>
                </c:pt>
                <c:pt idx="2">
                  <c:v>type accuracy</c:v>
                </c:pt>
                <c:pt idx="3">
                  <c:v>macro F1</c:v>
                </c:pt>
              </c:strCache>
            </c:strRef>
          </c:cat>
          <c:val>
            <c:numRef>
              <c:f>Sheet1!$D$2:$D$5</c:f>
              <c:numCache>
                <c:formatCode>0.000</c:formatCode>
                <c:ptCount val="4"/>
                <c:pt idx="0">
                  <c:v>0.961</c:v>
                </c:pt>
                <c:pt idx="1">
                  <c:v>0.6897</c:v>
                </c:pt>
                <c:pt idx="2">
                  <c:v>0.5</c:v>
                </c:pt>
                <c:pt idx="3">
                  <c:v>0.4298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solidFill>
              <a:srgbClr val="FFFFFF"/>
            </a:solidFill>
          </c:spPr>
          <c:dLbls>
            <c:delete val="1"/>
          </c:dLbls>
          <c:cat>
            <c:strRef>
              <c:f>Sheet1!$A$2:$A$3</c:f>
              <c:strCache>
                <c:ptCount val="2"/>
                <c:pt idx="0">
                  <c:v>VideoMAE ViT-B (5 seeds)</c:v>
                </c:pt>
                <c:pt idx="1">
                  <c:v>VideoMAE ViT-L (5 seeds)</c:v>
                </c:pt>
              </c:strCache>
            </c:strRef>
          </c:cat>
          <c:val>
            <c:numRef>
              <c:f>Sheet1!$B$2:$B$3</c:f>
              <c:numCache>
                <c:formatCode>0.000</c:formatCode>
                <c:ptCount val="2"/>
                <c:pt idx="0">
                  <c:v>0.31</c:v>
                </c:pt>
                <c:pt idx="1">
                  <c:v>0.37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 range</c:v>
                </c:pt>
              </c:strCache>
            </c:strRef>
          </c:tx>
          <c:spPr>
            <a:solidFill>
              <a:srgbClr val="C16B2E"/>
            </a:solidFill>
          </c:spPr>
          <c:cat>
            <c:strRef>
              <c:f>Sheet1!$A$2:$A$3</c:f>
              <c:strCache>
                <c:ptCount val="2"/>
                <c:pt idx="0">
                  <c:v>VideoMAE ViT-B (5 seeds)</c:v>
                </c:pt>
                <c:pt idx="1">
                  <c:v>VideoMAE ViT-L (5 seeds)</c:v>
                </c:pt>
              </c:strCache>
            </c:strRef>
          </c:cat>
          <c:val>
            <c:numRef>
              <c:f>Sheet1!$C$2:$C$3</c:f>
              <c:numCache>
                <c:formatCode>0.000</c:formatCode>
                <c:ptCount val="2"/>
                <c:pt idx="0">
                  <c:v>0.044</c:v>
                </c:pt>
                <c:pt idx="1">
                  <c:v>0.053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mixup 0.2</c:v>
                </c:pt>
                <c:pt idx="2">
                  <c:v>mixup 0.2 + adjust</c:v>
                </c:pt>
                <c:pt idx="3">
                  <c:v>mixup 0.4 + adjust</c:v>
                </c:pt>
                <c:pt idx="4">
                  <c:v>mixup 0.4</c:v>
                </c:pt>
              </c:strCache>
            </c:strRef>
          </c:cat>
          <c:val>
            <c:numRef>
              <c:f>Sheet1!$B$2:$B$6</c:f>
              <c:numCache>
                <c:formatCode>0.0000</c:formatCode>
                <c:ptCount val="5"/>
                <c:pt idx="0">
                  <c:v>0.4122</c:v>
                </c:pt>
                <c:pt idx="1">
                  <c:v>0.4161</c:v>
                </c:pt>
                <c:pt idx="2">
                  <c:v>0.4298</c:v>
                </c:pt>
                <c:pt idx="3">
                  <c:v>0.4248</c:v>
                </c:pt>
                <c:pt idx="4">
                  <c:v>0.4025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anomaly-type accuracy</c:v>
                </c:pt>
              </c:strCache>
            </c:strRef>
          </c:tx>
          <c:spPr>
            <a:solidFill>
              <a:srgbClr val="6A748C"/>
            </a:solidFill>
          </c:spPr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mixup 0.2</c:v>
                </c:pt>
                <c:pt idx="2">
                  <c:v>mixup 0.2 + adjust</c:v>
                </c:pt>
                <c:pt idx="3">
                  <c:v>mixup 0.4 + adjust</c:v>
                </c:pt>
                <c:pt idx="4">
                  <c:v>mixup 0.4</c:v>
                </c:pt>
              </c:strCache>
            </c:strRef>
          </c:cat>
          <c:val>
            <c:numRef>
              <c:f>Sheet1!$C$2:$C$6</c:f>
              <c:numCache>
                <c:formatCode>0.0000</c:formatCode>
                <c:ptCount val="5"/>
                <c:pt idx="0">
                  <c:v>0.4786</c:v>
                </c:pt>
                <c:pt idx="1">
                  <c:v>0.4714</c:v>
                </c:pt>
                <c:pt idx="2">
                  <c:v>0.5</c:v>
                </c:pt>
                <c:pt idx="3">
                  <c:v>0.4929</c:v>
                </c:pt>
                <c:pt idx="4">
                  <c:v>0.4643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lower bound</c:v>
                </c:pt>
              </c:strCache>
            </c:strRef>
          </c:tx>
          <c:spPr>
            <a:solidFill>
              <a:srgbClr val="FFFFFF"/>
            </a:solidFill>
          </c:spPr>
          <c:dLbls>
            <c:delete val="1"/>
          </c:dLbls>
          <c:cat>
            <c:strRef>
              <c:f>Sheet1!$A$2:$A$5</c:f>
              <c:strCache>
                <c:ptCount val="4"/>
                <c:pt idx="0">
                  <c:v>binary AUC</c:v>
                </c:pt>
                <c:pt idx="1">
                  <c:v>accuracy</c:v>
                </c:pt>
                <c:pt idx="2">
                  <c:v>type accuracy</c:v>
                </c:pt>
                <c:pt idx="3">
                  <c:v>macro F1</c:v>
                </c:pt>
              </c:strCache>
            </c:strRef>
          </c:cat>
          <c:val>
            <c:numRef>
              <c:f>Sheet1!$B$2:$B$5</c:f>
              <c:numCache>
                <c:formatCode>0.000</c:formatCode>
                <c:ptCount val="4"/>
                <c:pt idx="0">
                  <c:v>0.938</c:v>
                </c:pt>
                <c:pt idx="1">
                  <c:v>0.635</c:v>
                </c:pt>
                <c:pt idx="2">
                  <c:v>0.42</c:v>
                </c:pt>
                <c:pt idx="3">
                  <c:v>0.339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95% confidence interval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Sheet1!$A$2:$A$5</c:f>
              <c:strCache>
                <c:ptCount val="4"/>
                <c:pt idx="0">
                  <c:v>binary AUC</c:v>
                </c:pt>
                <c:pt idx="1">
                  <c:v>accuracy</c:v>
                </c:pt>
                <c:pt idx="2">
                  <c:v>type accuracy</c:v>
                </c:pt>
                <c:pt idx="3">
                  <c:v>macro F1</c:v>
                </c:pt>
              </c:strCache>
            </c:strRef>
          </c:cat>
          <c:val>
            <c:numRef>
              <c:f>Sheet1!$C$2:$C$5</c:f>
              <c:numCache>
                <c:formatCode>0.000</c:formatCode>
                <c:ptCount val="4"/>
                <c:pt idx="0">
                  <c:v>0.042</c:v>
                </c:pt>
                <c:pt idx="1">
                  <c:v>0.11</c:v>
                </c:pt>
                <c:pt idx="2">
                  <c:v>0.165</c:v>
                </c:pt>
                <c:pt idx="3">
                  <c:v>0.164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inflation of the best score</c:v>
                </c:pt>
              </c:strCache>
            </c:strRef>
          </c:tx>
          <c:spPr>
            <a:solidFill>
              <a:srgbClr val="2E5E8C"/>
            </a:solidFill>
          </c:spPr>
          <c:cat>
            <c:strRef>
              <c:f>Sheet1!$A$2:$A$12</c:f>
              <c:strCache>
                <c:ptCount val="11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15</c:v>
                </c:pt>
                <c:pt idx="4">
                  <c:v>25</c:v>
                </c:pt>
                <c:pt idx="5">
                  <c:v>50</c:v>
                </c:pt>
                <c:pt idx="6">
                  <c:v>75</c:v>
                </c:pt>
                <c:pt idx="7">
                  <c:v>100</c:v>
                </c:pt>
                <c:pt idx="8">
                  <c:v>150</c:v>
                </c:pt>
                <c:pt idx="9">
                  <c:v>200</c:v>
                </c:pt>
                <c:pt idx="10">
                  <c:v>250</c:v>
                </c:pt>
              </c:strCache>
            </c:strRef>
          </c:cat>
          <c:val>
            <c:numRef>
              <c:f>Sheet1!$B$2:$B$12</c:f>
              <c:numCache>
                <c:formatCode>0.0000</c:formatCode>
                <c:ptCount val="11"/>
                <c:pt idx="0">
                  <c:v>0.04</c:v>
                </c:pt>
                <c:pt idx="1">
                  <c:v>0.061</c:v>
                </c:pt>
                <c:pt idx="2">
                  <c:v>0.0693</c:v>
                </c:pt>
                <c:pt idx="3">
                  <c:v>0.0791</c:v>
                </c:pt>
                <c:pt idx="4">
                  <c:v>0.0863</c:v>
                </c:pt>
                <c:pt idx="5">
                  <c:v>0.0951</c:v>
                </c:pt>
                <c:pt idx="6">
                  <c:v>0.0999</c:v>
                </c:pt>
                <c:pt idx="7">
                  <c:v>0.1032</c:v>
                </c:pt>
                <c:pt idx="8">
                  <c:v>0.1076</c:v>
                </c:pt>
                <c:pt idx="9">
                  <c:v>0.1107</c:v>
                </c:pt>
                <c:pt idx="10">
                  <c:v>0.113</c:v>
                </c:pt>
              </c:numCache>
            </c:numRef>
          </c:val>
          <c:smooth val="0"/>
        </c:ser>
        <c:dLbls>
          <c:numFmt formatCode="0.0000" sourceLinked="0"/>
          <c:txPr>
            <a:bodyPr/>
            <a:lstStyle/>
            <a:p>
              <a:pPr>
                <a:defRPr sz="800">
                  <a:solidFill>
                    <a:srgbClr val="1B223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1B223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۱-۱  خط لوله‌ی نهایی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6A748C"/>
                </a:solidFill>
                <a:latin typeface="Calibri"/>
              </a:rPr>
              <a:t>Stage 1  -  run once, 150 min for 1895 videos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18872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Surveillance video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(untrimmed, one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video-level label)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25880"/>
            <a:ext cx="2377440" cy="118872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16 clips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16 frames each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224x224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25880"/>
            <a:ext cx="2468880" cy="1188720"/>
          </a:xfrm>
          <a:prstGeom prst="roundRect">
            <a:avLst/>
          </a:prstGeom>
          <a:solidFill>
            <a:srgbClr val="F5EFE6"/>
          </a:solidFill>
          <a:ln w="15875">
            <a:solidFill>
              <a:srgbClr val="C16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VideoMAE ViT-L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(frozen, Kinetics)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token mean-pool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325880"/>
            <a:ext cx="2377440" cy="118872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cached features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[16, 1024]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one .npy / video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99232" y="1828800"/>
            <a:ext cx="365759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79592" y="1828800"/>
            <a:ext cx="36576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51392" y="1828800"/>
            <a:ext cx="36576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469880" y="2514600"/>
            <a:ext cx="0" cy="411480"/>
          </a:xfrm>
          <a:prstGeom prst="line">
            <a:avLst/>
          </a:prstGeom>
          <a:ln w="13970">
            <a:solidFill>
              <a:srgbClr val="6A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737360" y="2926080"/>
            <a:ext cx="8732520" cy="0"/>
          </a:xfrm>
          <a:prstGeom prst="line">
            <a:avLst/>
          </a:prstGeom>
          <a:ln w="13970">
            <a:solidFill>
              <a:srgbClr val="6A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own Arrow 12"/>
          <p:cNvSpPr/>
          <p:nvPr/>
        </p:nvSpPr>
        <p:spPr>
          <a:xfrm>
            <a:off x="1627632" y="2926080"/>
            <a:ext cx="256032" cy="384047"/>
          </a:xfrm>
          <a:prstGeom prst="down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743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6A748C"/>
                </a:solidFill>
                <a:latin typeface="Calibri"/>
              </a:rPr>
              <a:t>features reloaded from disk each epoch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2377440" cy="118872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LayerNorm + Linear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+ positional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embedding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566160"/>
            <a:ext cx="2377440" cy="118872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Transformer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encoder over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the 16 clips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49039"/>
            <a:ext cx="2468880" cy="82296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clip logits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[16, 14]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3749039"/>
            <a:ext cx="2377440" cy="822960"/>
          </a:xfrm>
          <a:prstGeom prst="roundRect">
            <a:avLst/>
          </a:prstGeom>
          <a:solidFill>
            <a:srgbClr val="F5EFE6"/>
          </a:solidFill>
          <a:ln w="15875">
            <a:solidFill>
              <a:srgbClr val="C16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top-k MIL pooling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-&gt; video logits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999232" y="4114800"/>
            <a:ext cx="365759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879592" y="4114800"/>
            <a:ext cx="36576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851392" y="4114800"/>
            <a:ext cx="36576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834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6A748C"/>
                </a:solidFill>
                <a:latin typeface="Calibri"/>
              </a:rPr>
              <a:t>Stage 2  -  trains in ~80 s, so hyper-parameters can be swept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۲-۱  رویه‌ی تصمیم دومرحله‌ای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017520" cy="123444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per-clip softmax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P(c | clip), c = 0..13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188720"/>
            <a:ext cx="3200400" cy="1234440"/>
          </a:xfrm>
          <a:prstGeom prst="roundRect">
            <a:avLst/>
          </a:prstGeom>
          <a:solidFill>
            <a:srgbClr val="F5EFE6"/>
          </a:solidFill>
          <a:ln w="15875">
            <a:solidFill>
              <a:srgbClr val="C16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anomaly evidence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s = max over clips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of 1 - P(Normal)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188720"/>
            <a:ext cx="3108960" cy="1234440"/>
          </a:xfrm>
          <a:prstGeom prst="roundRect">
            <a:avLst/>
          </a:prstGeom>
          <a:solidFill>
            <a:srgbClr val="EEF3F7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s &lt; threshold ?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57600" y="1709928"/>
            <a:ext cx="45720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498079" y="1709928"/>
            <a:ext cx="457200" cy="201168"/>
          </a:xfrm>
          <a:prstGeom prst="right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9509760" y="2514600"/>
            <a:ext cx="256032" cy="1051560"/>
          </a:xfrm>
          <a:prstGeom prst="downArrow">
            <a:avLst/>
          </a:prstGeom>
          <a:solidFill>
            <a:srgbClr val="6A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834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0">
                <a:solidFill>
                  <a:srgbClr val="6A748C"/>
                </a:solidFill>
                <a:latin typeface="Calibri"/>
              </a:rPr>
              <a:t>yes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03320"/>
            <a:ext cx="3108960" cy="914400"/>
          </a:xfrm>
          <a:prstGeom prst="roundRect">
            <a:avLst/>
          </a:prstGeom>
          <a:solidFill>
            <a:srgbClr val="EAF1E8"/>
          </a:solidFill>
          <a:ln w="15875">
            <a:solidFill>
              <a:srgbClr val="5B7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predict Normal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754880" y="2514600"/>
            <a:ext cx="3749040" cy="1051560"/>
          </a:xfrm>
          <a:prstGeom prst="line">
            <a:avLst/>
          </a:prstGeom>
          <a:ln w="13970">
            <a:solidFill>
              <a:srgbClr val="6A7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35040" y="2788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0">
                <a:solidFill>
                  <a:srgbClr val="6A748C"/>
                </a:solidFill>
                <a:latin typeface="Calibri"/>
              </a:rPr>
              <a:t>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03320"/>
            <a:ext cx="6217920" cy="914400"/>
          </a:xfrm>
          <a:prstGeom prst="roundRect">
            <a:avLst/>
          </a:prstGeom>
          <a:solidFill>
            <a:srgbClr val="F5EFE6"/>
          </a:solidFill>
          <a:ln w="15875">
            <a:solidFill>
              <a:srgbClr val="C16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average P over the top-k most anomalous clips,</a:t>
            </a:r>
          </a:p>
          <a:p>
            <a:pPr algn="ctr"/>
            <a:r>
              <a:rPr sz="1100">
                <a:solidFill>
                  <a:srgbClr val="1B2236"/>
                </a:solidFill>
                <a:latin typeface="Calibri"/>
              </a:rPr>
              <a:t>argmax over classes 1..13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6A748C"/>
                </a:solidFill>
                <a:latin typeface="Calibri"/>
              </a:rPr>
              <a:t>Stage 1 answers "is it anomalous", stage 2 answers "which anomaly"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۳-۱  روند ماکرو اف‑یک در طول مراحل پروژه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97280"/>
          <a:ext cx="105156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7150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C16B2E"/>
                </a:solidFill>
                <a:latin typeface="Calibri"/>
              </a:rPr>
              <a:t>X-CLIP fine-tuned reached 0.3881 on its own split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۳-۲  مقایسه‌ی دو رمزگذار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105156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۳-۳  دامنه‌ی نتایج پنج بذر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188720"/>
          <a:ext cx="105156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6634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0">
                <a:solidFill>
                  <a:srgbClr val="6A748C"/>
                </a:solidFill>
                <a:latin typeface="Calibri"/>
              </a:rPr>
              <a:t>ViT-B spans 0.310-0.354 with mean 0.3405   |   ViT-L spans 0.370-0.423 with mean 0.3955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C16B2E"/>
                </a:solidFill>
                <a:latin typeface="Calibri"/>
              </a:rPr>
              <a:t>the two ranges do not overlap  (Mann-Whitney p = 1/252)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۳-۴  اثر آمیزش و تنظیم لاجیت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51560"/>
          <a:ext cx="105156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۳-۵  بازه‌های اطمینان ۹۵ درصد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143000"/>
          <a:ext cx="105156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8920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0">
                <a:solidFill>
                  <a:srgbClr val="6A748C"/>
                </a:solidFill>
                <a:latin typeface="Calibri"/>
              </a:rPr>
              <a:t>point estimates:  AUC 0.9610   |   accuracy 0.6897   |   type accuracy 0.5000   |   macro F1 0.4298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A748C"/>
                </a:solidFill>
                <a:latin typeface="Calibri"/>
              </a:rPr>
              <a:t>4000 bootstrap resamples of the 290 test videos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rtl="1" algn="r"/>
            <a:r>
              <a:rPr sz="2000" b="1">
                <a:solidFill>
                  <a:srgbClr val="1B2236"/>
                </a:solidFill>
                <a:latin typeface="B Nazanin"/>
              </a:rPr>
              <a:t>شکل ۳-۶  کف نوفه در برابر بهبودهای گزارش‌شده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109728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0">
                <a:solidFill>
                  <a:srgbClr val="6A748C"/>
                </a:solidFill>
                <a:latin typeface="Calibri"/>
              </a:rPr>
              <a:t>evaluations against the same test split  -  8 runs inflate by 0.070, 200 runs by 0.110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A748C"/>
                </a:solidFill>
                <a:latin typeface="Calibri"/>
              </a:rPr>
              <a:t>which is why every number in the report comes from a configuration fixed in advance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