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توزیع استاندارد UCF-Crime است و جمعش دقیقا 1610 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ستون سوم از گزارش آزمایش‌ها بازسازی شده و ستون دوم توزیع استاندارد است. هر دو با جمع کل می‌خوانند.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نظارت ضعیف یک معامله است: داده بیشتر با کیفیت برچسب کمتر.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244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E8A33D"/>
                </a:solidFill>
                <a:latin typeface="Arial"/>
                <a:cs typeface="Arial"/>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Arial"/>
                <a:cs typeface="Arial"/>
              </a:rPr>
              <a:t>تشخیص نوع ناهنجاری</a:t>
            </a:r>
          </a:p>
          <a:p>
            <a:pPr rtl="1" algn="r">
              <a:lnSpc>
                <a:spcPts val="4600"/>
              </a:lnSpc>
              <a:spcBef>
                <a:spcPts val="0"/>
              </a:spcBef>
              <a:spcAft>
                <a:spcPts val="0"/>
              </a:spcAft>
            </a:pPr>
            <a:r>
              <a:rPr sz="3800" b="1" i="0">
                <a:solidFill>
                  <a:srgbClr val="FFFFFF"/>
                </a:solidFill>
                <a:latin typeface="Arial"/>
                <a:cs typeface="Arial"/>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BFD4F2"/>
                </a:solidFill>
                <a:latin typeface="Arial"/>
                <a:cs typeface="Arial"/>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FD4F2"/>
                </a:solidFill>
                <a:latin typeface="Arial"/>
                <a:cs typeface="Arial"/>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E8A33D"/>
                </a:solidFill>
                <a:latin typeface="Arial"/>
                <a:cs typeface="Arial"/>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BFD4F2"/>
                </a:solidFill>
                <a:latin typeface="Arial"/>
                <a:cs typeface="Arial"/>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8FA6D4"/>
                </a:solidFill>
                <a:latin typeface="Arial"/>
                <a:cs typeface="Arial"/>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فصل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صورت مسئله</a:t>
            </a:r>
          </a:p>
        </p:txBody>
      </p:sp>
      <p:sp>
        <p:nvSpPr>
          <p:cNvPr id="4" name="Rounded Rectangle 3"/>
          <p:cNvSpPr/>
          <p:nvPr/>
        </p:nvSpPr>
        <p:spPr>
          <a:xfrm>
            <a:off x="548640" y="1600200"/>
            <a:ext cx="5394960" cy="19202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6A748C"/>
                </a:solidFill>
                <a:latin typeface="Arial"/>
                <a:cs typeface="Arial"/>
              </a:rPr>
              <a:t>مسئله متداول: تشخیص ناهنجاری</a:t>
            </a:r>
          </a:p>
        </p:txBody>
      </p:sp>
      <p:sp>
        <p:nvSpPr>
          <p:cNvPr id="6" name="TextBox 5"/>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Arial"/>
                <a:cs typeface="Arial"/>
              </a:rPr>
              <a:t>آیا این ویدیو ناهنجار است؟</a:t>
            </a:r>
          </a:p>
          <a:p>
            <a:pPr rtl="1" algn="r">
              <a:lnSpc>
                <a:spcPts val="2400"/>
              </a:lnSpc>
              <a:spcBef>
                <a:spcPts val="0"/>
              </a:spcBef>
              <a:spcAft>
                <a:spcPts val="0"/>
              </a:spcAft>
            </a:pPr>
            <a:r>
              <a:rPr sz="1500" b="0" i="0">
                <a:solidFill>
                  <a:srgbClr val="1B2236"/>
                </a:solidFill>
                <a:latin typeface="Arial"/>
                <a:cs typeface="Arial"/>
              </a:rPr>
              <a:t>جواب: بله یا خیر</a:t>
            </a:r>
          </a:p>
        </p:txBody>
      </p:sp>
      <p:sp>
        <p:nvSpPr>
          <p:cNvPr id="7" name="Rounded Rectangle 6"/>
          <p:cNvSpPr/>
          <p:nvPr/>
        </p:nvSpPr>
        <p:spPr>
          <a:xfrm>
            <a:off x="6217920" y="1600200"/>
            <a:ext cx="5394960" cy="19202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مسئله ما: تشخیص نوع ناهنجاری</a:t>
            </a:r>
          </a:p>
        </p:txBody>
      </p:sp>
      <p:sp>
        <p:nvSpPr>
          <p:cNvPr id="9" name="TextBox 8"/>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Arial"/>
                <a:cs typeface="Arial"/>
              </a:rPr>
              <a:t>کدام نوع ناهنجاری رخ داده؟</a:t>
            </a:r>
          </a:p>
          <a:p>
            <a:pPr rtl="1" algn="r">
              <a:lnSpc>
                <a:spcPts val="2400"/>
              </a:lnSpc>
              <a:spcBef>
                <a:spcPts val="0"/>
              </a:spcBef>
              <a:spcAft>
                <a:spcPts val="0"/>
              </a:spcAft>
            </a:pPr>
            <a:r>
              <a:rPr sz="1500" b="0" i="0">
                <a:solidFill>
                  <a:srgbClr val="1B2236"/>
                </a:solidFill>
                <a:latin typeface="Arial"/>
                <a:cs typeface="Arial"/>
              </a:rPr>
              <a:t>جواب: یکی از ۱۴ کلاس</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Arial"/>
                <a:cs typeface="Arial"/>
              </a:rPr>
              <a:t>چرا این تفاوت مهم است</a:t>
            </a:r>
          </a:p>
        </p:txBody>
      </p:sp>
      <p:sp>
        <p:nvSpPr>
          <p:cNvPr id="11" name="TextBox 10"/>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1B2236"/>
                </a:solidFill>
                <a:latin typeface="Arial"/>
                <a:cs typeface="Arial"/>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1B2236"/>
                </a:solidFill>
                <a:latin typeface="Arial"/>
                <a:cs typeface="Arial"/>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1B2236"/>
                </a:solidFill>
                <a:latin typeface="Arial"/>
                <a:cs typeface="Arial"/>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مجموعه داده UCF-Crime</a:t>
            </a:r>
          </a:p>
        </p:txBody>
      </p:sp>
      <p:sp>
        <p:nvSpPr>
          <p:cNvPr id="4" name="TextBox 3"/>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1900</a:t>
            </a:r>
          </a:p>
        </p:txBody>
      </p:sp>
      <p:sp>
        <p:nvSpPr>
          <p:cNvPr id="5" name="TextBox 4"/>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ویدیوها</a:t>
            </a:r>
          </a:p>
        </p:txBody>
      </p:sp>
      <p:sp>
        <p:nvSpPr>
          <p:cNvPr id="6" name="TextBox 5"/>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14</a:t>
            </a:r>
          </a:p>
        </p:txBody>
      </p:sp>
      <p:sp>
        <p:nvSpPr>
          <p:cNvPr id="7" name="TextBox 6"/>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کلاس</a:t>
            </a:r>
          </a:p>
        </p:txBody>
      </p:sp>
      <p:sp>
        <p:nvSpPr>
          <p:cNvPr id="8" name="TextBox 7"/>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1895</a:t>
            </a:r>
          </a:p>
        </p:txBody>
      </p:sp>
      <p:sp>
        <p:nvSpPr>
          <p:cNvPr id="9" name="TextBox 8"/>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رمزگشایی موفق</a:t>
            </a:r>
          </a:p>
        </p:txBody>
      </p:sp>
      <p:sp>
        <p:nvSpPr>
          <p:cNvPr id="10" name="TextBox 9"/>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Arial"/>
                <a:cs typeface="Arial"/>
              </a:rPr>
              <a:t>5</a:t>
            </a:r>
          </a:p>
        </p:txBody>
      </p:sp>
      <p:sp>
        <p:nvSpPr>
          <p:cNvPr id="11" name="TextBox 10"/>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فایل خراب</a:t>
            </a:r>
          </a:p>
        </p:txBody>
      </p:sp>
      <p:sp>
        <p:nvSpPr>
          <p:cNvPr id="12" name="Rounded Rectangle 11"/>
          <p:cNvSpPr/>
          <p:nvPr/>
        </p:nvSpPr>
        <p:spPr>
          <a:xfrm>
            <a:off x="548640" y="3200400"/>
            <a:ext cx="5394960" cy="2834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ویژگی‌های داده</a:t>
            </a:r>
          </a:p>
        </p:txBody>
      </p:sp>
      <p:sp>
        <p:nvSpPr>
          <p:cNvPr id="14" name="TextBox 13"/>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ویدیوی واقعی دوربین مداربسته، نه صحنه‌پردازی</a:t>
            </a:r>
          </a:p>
          <a:p>
            <a:pPr rtl="1" algn="r">
              <a:lnSpc>
                <a:spcPts val="1900"/>
              </a:lnSpc>
              <a:spcBef>
                <a:spcPts val="0"/>
              </a:spcBef>
              <a:spcAft>
                <a:spcPts val="700"/>
              </a:spcAft>
            </a:pPr>
            <a:r>
              <a:rPr sz="1300" b="0" i="0">
                <a:solidFill>
                  <a:srgbClr val="1B2236"/>
                </a:solidFill>
                <a:latin typeface="Arial"/>
                <a:cs typeface="Arial"/>
              </a:rPr>
              <a:t>●  وضوح پایین، نور ضعیف، زاویه نامناسب</a:t>
            </a:r>
          </a:p>
          <a:p>
            <a:pPr rtl="1" algn="r">
              <a:lnSpc>
                <a:spcPts val="1900"/>
              </a:lnSpc>
              <a:spcBef>
                <a:spcPts val="0"/>
              </a:spcBef>
              <a:spcAft>
                <a:spcPts val="700"/>
              </a:spcAft>
            </a:pPr>
            <a:r>
              <a:rPr sz="1300" b="0" i="0">
                <a:solidFill>
                  <a:srgbClr val="1B2236"/>
                </a:solidFill>
                <a:latin typeface="Arial"/>
                <a:cs typeface="Arial"/>
              </a:rPr>
              <a:t>●  مدت‌زمان از چند ثانیه تا چند دقیقه</a:t>
            </a:r>
          </a:p>
          <a:p>
            <a:pPr rtl="1" algn="r">
              <a:lnSpc>
                <a:spcPts val="1900"/>
              </a:lnSpc>
              <a:spcBef>
                <a:spcPts val="0"/>
              </a:spcBef>
              <a:spcAft>
                <a:spcPts val="700"/>
              </a:spcAft>
            </a:pPr>
            <a:r>
              <a:rPr sz="1300" b="0" i="0">
                <a:solidFill>
                  <a:srgbClr val="1B2236"/>
                </a:solidFill>
                <a:latin typeface="Arial"/>
                <a:cs typeface="Arial"/>
              </a:rPr>
              <a:t>●  برچسب فقط در سطح کل ویدیو</a:t>
            </a:r>
          </a:p>
        </p:txBody>
      </p:sp>
      <p:sp>
        <p:nvSpPr>
          <p:cNvPr id="15" name="Rounded Rectangle 14"/>
          <p:cNvSpPr/>
          <p:nvPr/>
        </p:nvSpPr>
        <p:spPr>
          <a:xfrm>
            <a:off x="6217920" y="3200400"/>
            <a:ext cx="5394960" cy="28346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چالش اصلی: نامتوازنی شدید</a:t>
            </a:r>
          </a:p>
        </p:txBody>
      </p:sp>
      <p:sp>
        <p:nvSpPr>
          <p:cNvPr id="17" name="TextBox 16"/>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کلاس عادی حدود نیمی از داده آموزش است</a:t>
            </a:r>
          </a:p>
          <a:p>
            <a:pPr rtl="1" algn="r">
              <a:lnSpc>
                <a:spcPts val="1900"/>
              </a:lnSpc>
              <a:spcBef>
                <a:spcPts val="0"/>
              </a:spcBef>
              <a:spcAft>
                <a:spcPts val="700"/>
              </a:spcAft>
            </a:pPr>
            <a:r>
              <a:rPr sz="1300" b="0" i="0">
                <a:solidFill>
                  <a:srgbClr val="1B2236"/>
                </a:solidFill>
                <a:latin typeface="Arial"/>
                <a:cs typeface="Arial"/>
              </a:rPr>
              <a:t>●  کلاس تیراندازی کمتر از دو درصد</a:t>
            </a:r>
          </a:p>
          <a:p>
            <a:pPr rtl="1" algn="r">
              <a:lnSpc>
                <a:spcPts val="1900"/>
              </a:lnSpc>
              <a:spcBef>
                <a:spcPts val="0"/>
              </a:spcBef>
              <a:spcAft>
                <a:spcPts val="700"/>
              </a:spcAft>
            </a:pPr>
            <a:r>
              <a:rPr sz="1300" b="0" i="0">
                <a:solidFill>
                  <a:srgbClr val="1B2236"/>
                </a:solidFill>
                <a:latin typeface="Arial"/>
                <a:cs typeface="Arial"/>
              </a:rPr>
              <a:t>●  در آزمون، هفت کلاس پنج ویدیو یا کمتر دارند</a:t>
            </a:r>
          </a:p>
          <a:p>
            <a:pPr rtl="1" algn="r">
              <a:lnSpc>
                <a:spcPts val="1900"/>
              </a:lnSpc>
              <a:spcBef>
                <a:spcPts val="0"/>
              </a:spcBef>
              <a:spcAft>
                <a:spcPts val="700"/>
              </a:spcAft>
            </a:pPr>
            <a:r>
              <a:rPr sz="1300" b="0" i="0">
                <a:solidFill>
                  <a:srgbClr val="1B2236"/>
                </a:solidFill>
                <a:latin typeface="Arial"/>
                <a:cs typeface="Arial"/>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تقسیم 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تعداد ویدیو در هر کلاس — مجموعه آموزش</a:t>
            </a:r>
          </a:p>
        </p:txBody>
      </p:sp>
      <p:graphicFrame>
        <p:nvGraphicFramePr>
          <p:cNvPr id="4" name="Table 3"/>
          <p:cNvGraphicFramePr>
            <a:graphicFrameLocks noGrp="1"/>
          </p:cNvGraphicFramePr>
          <p:nvPr/>
        </p:nvGraphicFramePr>
        <p:xfrm>
          <a:off x="54864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16264F"/>
                    </a:solidFill>
                  </a:tcPr>
                </a:tc>
              </a:tr>
              <a:tr h="310896">
                <a:tc>
                  <a:txBody>
                    <a:bodyPr wrap="square"/>
                    <a:lstStyle/>
                    <a:p>
                      <a:pPr rtl="1" algn="r">
                        <a:spcBef>
                          <a:spcPts val="0"/>
                        </a:spcBef>
                        <a:spcAft>
                          <a:spcPts val="0"/>
                        </a:spcAft>
                      </a:pPr>
                      <a:r>
                        <a:rPr sz="1200" b="0" i="0">
                          <a:solidFill>
                            <a:srgbClr val="1B2236"/>
                          </a:solidFill>
                          <a:latin typeface="Arial"/>
                          <a:cs typeface="Arial"/>
                        </a:rPr>
                        <a:t>Normal — عادی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800</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Robbery — سرقت</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127</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95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Burglary — سرقت از منزل</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87</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48</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Assault — تعرض</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47</a:t>
                      </a:r>
                    </a:p>
                  </a:txBody>
                  <a:tcPr marL="36576" marR="36576" marT="18288" marB="18288" anchor="ctr">
                    <a:solidFill>
                      <a:srgbClr val="EDF1F8"/>
                    </a:solidFill>
                  </a:tcPr>
                </a:tc>
              </a:tr>
            </a:tbl>
          </a:graphicData>
        </a:graphic>
      </p:graphicFrame>
      <p:graphicFrame>
        <p:nvGraphicFramePr>
          <p:cNvPr id="5" name="Table 4"/>
          <p:cNvGraphicFramePr>
            <a:graphicFrameLocks noGrp="1"/>
          </p:cNvGraphicFramePr>
          <p:nvPr/>
        </p:nvGraphicFramePr>
        <p:xfrm>
          <a:off x="621792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16264F"/>
                    </a:solidFill>
                  </a:tcPr>
                </a:tc>
              </a:tr>
              <a:tr h="310896">
                <a:tc>
                  <a:txBody>
                    <a:bodyPr wrap="square"/>
                    <a:lstStyle/>
                    <a:p>
                      <a:pPr rtl="1" algn="r">
                        <a:spcBef>
                          <a:spcPts val="0"/>
                        </a:spcBef>
                        <a:spcAft>
                          <a:spcPts val="0"/>
                        </a:spcAft>
                      </a:pPr>
                      <a:r>
                        <a:rPr sz="1200" b="0" i="0">
                          <a:solidFill>
                            <a:srgbClr val="1B2236"/>
                          </a:solidFill>
                          <a:latin typeface="Arial"/>
                          <a:cs typeface="Arial"/>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Fighting — درگیری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Arson — آتش‌افروزی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41</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Explosion — انفجار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29</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Shoplifting — دزدی از مغازه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29</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Shooting — تیراندازی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27</a:t>
                      </a:r>
                    </a:p>
                  </a:txBody>
                  <a:tcPr marL="36576" marR="36576" marT="18288" marB="18288" anchor="ctr">
                    <a:solidFill>
                      <a:srgbClr val="EDF1F8"/>
                    </a:solidFill>
                  </a:tcPr>
                </a:tc>
              </a:tr>
            </a:tbl>
          </a:graphicData>
        </a:graphic>
      </p:graphicFrame>
      <p:sp>
        <p:nvSpPr>
          <p:cNvPr id="6" name="Rounded Rectangle 5"/>
          <p:cNvSpPr/>
          <p:nvPr/>
        </p:nvSpPr>
        <p:spPr>
          <a:xfrm>
            <a:off x="548640" y="4709160"/>
            <a:ext cx="1106424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4892040"/>
            <a:ext cx="1042416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جمع: ۱۶۱۰ ویدیوی آموزش  ·  ۸۰۰ عادی و ۸۱۰ ناهنجار</a:t>
            </a:r>
          </a:p>
        </p:txBody>
      </p:sp>
      <p:sp>
        <p:nvSpPr>
          <p:cNvPr id="8" name="TextBox 7"/>
          <p:cNvSpPr txBox="1"/>
          <p:nvPr/>
        </p:nvSpPr>
        <p:spPr>
          <a:xfrm>
            <a:off x="868680" y="5303520"/>
            <a:ext cx="104241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نسبت کلاس عادی به کمیاب‌ترین کلاس حدود ۳۰ به ۱ است. همین نسبت است که وزن‌دهی معکوس فراوانی را ضروری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تقسیم 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تعداد ویدیو در هر کلاس — مجموعه آزمون</a:t>
            </a:r>
          </a:p>
        </p:txBody>
      </p:sp>
      <p:graphicFrame>
        <p:nvGraphicFramePr>
          <p:cNvPr id="4" name="Table 3"/>
          <p:cNvGraphicFramePr>
            <a:graphicFrameLocks noGrp="1"/>
          </p:cNvGraphicFramePr>
          <p:nvPr/>
        </p:nvGraphicFramePr>
        <p:xfrm>
          <a:off x="548640" y="1572768"/>
          <a:ext cx="6766560" cy="3703320"/>
        </p:xfrm>
        <a:graphic>
          <a:graphicData uri="http://schemas.openxmlformats.org/drawingml/2006/table">
            <a:tbl>
              <a:tblPr firstRow="0" bandRow="0">
                <a:tableStyleId>{5C22544A-7EE6-4342-B048-85BDC9FD1C3A}</a:tableStyleId>
              </a:tblPr>
              <a:tblGrid>
                <a:gridCol w="3291840"/>
                <a:gridCol w="1737360"/>
                <a:gridCol w="1737360"/>
              </a:tblGrid>
              <a:tr h="246888">
                <a:tc>
                  <a:txBody>
                    <a:bodyPr wrap="square"/>
                    <a:lstStyle/>
                    <a:p>
                      <a:pPr rtl="1" algn="ctr">
                        <a:spcBef>
                          <a:spcPts val="0"/>
                        </a:spcBef>
                        <a:spcAft>
                          <a:spcPts val="0"/>
                        </a:spcAft>
                      </a:pPr>
                      <a:r>
                        <a:rPr sz="115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تقسیم استاندارد</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تقسیم مسیر اول</a:t>
                      </a:r>
                    </a:p>
                  </a:txBody>
                  <a:tcPr marL="36576" marR="36576" marT="18288" marB="18288" anchor="ctr">
                    <a:solidFill>
                      <a:srgbClr val="16264F"/>
                    </a:solidFill>
                  </a:tcPr>
                </a:tc>
              </a:tr>
              <a:tr h="246888">
                <a:tc>
                  <a:txBody>
                    <a:bodyPr wrap="square"/>
                    <a:lstStyle/>
                    <a:p>
                      <a:pPr rtl="1" algn="r">
                        <a:spcBef>
                          <a:spcPts val="0"/>
                        </a:spcBef>
                        <a:spcAft>
                          <a:spcPts val="0"/>
                        </a:spcAft>
                      </a:pPr>
                      <a:r>
                        <a:rPr sz="1100" b="0" i="0">
                          <a:solidFill>
                            <a:srgbClr val="1B2236"/>
                          </a:solidFill>
                          <a:latin typeface="Arial"/>
                          <a:cs typeface="Arial"/>
                        </a:rPr>
                        <a:t>Normal — عادی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150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148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RoadAccidents — تصادف رانندگی</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Shooting — تیراندازی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Explosion — انفجار</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Shoplifting — دزدی از مغازه</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21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Burglary — سرقت از منزل</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15</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Arson — آتش‌افروزی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1" i="0">
                          <a:solidFill>
                            <a:srgbClr val="16264F"/>
                          </a:solidFill>
                          <a:latin typeface="Arial"/>
                          <a:cs typeface="Arial"/>
                        </a:rPr>
                        <a:t>Arrest — بازداشت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Robbery — سرقت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23</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Stealing — دزدی</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15</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Vandalism — تخریب اموال</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4</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Abuse — سوءاستفاده</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3</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Assault — تعرض</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3</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bl>
          </a:graphicData>
        </a:graphic>
      </p:graphicFrame>
      <p:sp>
        <p:nvSpPr>
          <p:cNvPr id="5" name="TextBox 4"/>
          <p:cNvSpPr txBox="1"/>
          <p:nvPr/>
        </p:nvSpPr>
        <p:spPr>
          <a:xfrm>
            <a:off x="548640" y="5358384"/>
            <a:ext cx="6766560" cy="36576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6A748C"/>
                </a:solidFill>
                <a:latin typeface="Arial"/>
                <a:cs typeface="Arial"/>
              </a:rPr>
              <a:t>جمع ستون دوم ۲۹۰ و جمع ستون سوم ۲۹۶ است. ردیف‌های پررنگ، هفت کلاسی هستند که پنج ویدیوی آزمون یا کمتر دارند.</a:t>
            </a:r>
          </a:p>
        </p:txBody>
      </p:sp>
      <p:sp>
        <p:nvSpPr>
          <p:cNvPr id="6" name="Rounded Rectangle 5"/>
          <p:cNvSpPr/>
          <p:nvPr/>
        </p:nvSpPr>
        <p:spPr>
          <a:xfrm>
            <a:off x="7589520" y="1572768"/>
            <a:ext cx="402336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63840" y="1737360"/>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دو تقسیم متفاوت</a:t>
            </a:r>
          </a:p>
        </p:txBody>
      </p:sp>
      <p:sp>
        <p:nvSpPr>
          <p:cNvPr id="8" name="TextBox 7"/>
          <p:cNvSpPr txBox="1"/>
          <p:nvPr/>
        </p:nvSpPr>
        <p:spPr>
          <a:xfrm>
            <a:off x="7863840" y="2103120"/>
            <a:ext cx="3474720" cy="114300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1B2236"/>
                </a:solidFill>
                <a:latin typeface="Arial"/>
                <a:cs typeface="Arial"/>
              </a:rPr>
              <a:t>مسیر X-CLIP روی تقسیمی با ۲۹۶ ویدیوی آزمون اجرا شد و مسیر VideoMAE روی تقسیم استاندارد با ۲۹۰ ویدیو.</a:t>
            </a:r>
          </a:p>
        </p:txBody>
      </p:sp>
      <p:sp>
        <p:nvSpPr>
          <p:cNvPr id="9" name="Rounded Rectangle 8"/>
          <p:cNvSpPr/>
          <p:nvPr/>
        </p:nvSpPr>
        <p:spPr>
          <a:xfrm>
            <a:off x="7589520" y="3520440"/>
            <a:ext cx="4023360" cy="1691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0" y="3685032"/>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چرا ارزیابی نوفه‌آلود است</a:t>
            </a:r>
          </a:p>
        </p:txBody>
      </p:sp>
      <p:sp>
        <p:nvSpPr>
          <p:cNvPr id="11" name="TextBox 10"/>
          <p:cNvSpPr txBox="1"/>
          <p:nvPr/>
        </p:nvSpPr>
        <p:spPr>
          <a:xfrm>
            <a:off x="7863840" y="4050791"/>
            <a:ext cx="3474720" cy="109728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1B2236"/>
                </a:solidFill>
                <a:latin typeface="Arial"/>
                <a:cs typeface="Arial"/>
              </a:rPr>
              <a:t>کلاس Assault تنها سه ویدیوی آزمون دارد. یک ویدیو یعنی یک‌سوم یادآوری آن کلاس، و ماکرو F1 به هر ۱۴ کلاس وزن یکسان می‌دهد.</a:t>
            </a:r>
          </a:p>
        </p:txBody>
      </p:sp>
      <p:sp>
        <p:nvSpPr>
          <p:cNvPr id="12" name="Rounded Rectangle 11"/>
          <p:cNvSpPr/>
          <p:nvPr/>
        </p:nvSpPr>
        <p:spPr>
          <a:xfrm>
            <a:off x="7589520" y="5394960"/>
            <a:ext cx="4023360" cy="96012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63840" y="5559552"/>
            <a:ext cx="3474720" cy="685800"/>
          </a:xfrm>
          <a:prstGeom prst="rect">
            <a:avLst/>
          </a:prstGeom>
          <a:noFill/>
        </p:spPr>
        <p:txBody>
          <a:bodyPr wrap="square" anchor="t" lIns="0" rIns="0" tIns="0" bIns="0">
            <a:spAutoFit/>
          </a:bodyPr>
          <a:lstStyle/>
          <a:p>
            <a:pPr rtl="1" algn="r">
              <a:lnSpc>
                <a:spcPts val="1700"/>
              </a:lnSpc>
              <a:spcBef>
                <a:spcPts val="0"/>
              </a:spcBef>
              <a:spcAft>
                <a:spcPts val="0"/>
              </a:spcAft>
            </a:pPr>
            <a:r>
              <a:rPr sz="1100" b="0" i="0">
                <a:solidFill>
                  <a:srgbClr val="C9483B"/>
                </a:solidFill>
                <a:latin typeface="Arial"/>
                <a:cs typeface="Arial"/>
              </a:rPr>
              <a:t>پیش از ارائه این اعداد را با فایل تقسیم خودتان بسنجید.</a:t>
            </a:r>
          </a:p>
        </p:txBody>
      </p:sp>
      <p:sp>
        <p:nvSpPr>
          <p:cNvPr id="14" name="TextBox 13"/>
          <p:cNvSpPr txBox="1"/>
          <p:nvPr/>
        </p:nvSpPr>
        <p:spPr>
          <a:xfrm>
            <a:off x="548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290</a:t>
            </a:r>
          </a:p>
        </p:txBody>
      </p:sp>
      <p:sp>
        <p:nvSpPr>
          <p:cNvPr id="15" name="TextBox 14"/>
          <p:cNvSpPr txBox="1"/>
          <p:nvPr/>
        </p:nvSpPr>
        <p:spPr>
          <a:xfrm>
            <a:off x="548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مجموعه آزمون</a:t>
            </a:r>
          </a:p>
        </p:txBody>
      </p:sp>
      <p:sp>
        <p:nvSpPr>
          <p:cNvPr id="16" name="TextBox 15"/>
          <p:cNvSpPr txBox="1"/>
          <p:nvPr/>
        </p:nvSpPr>
        <p:spPr>
          <a:xfrm>
            <a:off x="2834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1610</a:t>
            </a:r>
          </a:p>
        </p:txBody>
      </p:sp>
      <p:sp>
        <p:nvSpPr>
          <p:cNvPr id="17" name="TextBox 16"/>
          <p:cNvSpPr txBox="1"/>
          <p:nvPr/>
        </p:nvSpPr>
        <p:spPr>
          <a:xfrm>
            <a:off x="2834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مجموعه آموزش</a:t>
            </a:r>
          </a:p>
        </p:txBody>
      </p:sp>
      <p:sp>
        <p:nvSpPr>
          <p:cNvPr id="18" name="TextBox 17"/>
          <p:cNvSpPr txBox="1"/>
          <p:nvPr/>
        </p:nvSpPr>
        <p:spPr>
          <a:xfrm>
            <a:off x="5120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0%</a:t>
            </a:r>
          </a:p>
        </p:txBody>
      </p:sp>
      <p:sp>
        <p:nvSpPr>
          <p:cNvPr id="19" name="TextBox 18"/>
          <p:cNvSpPr txBox="1"/>
          <p:nvPr/>
        </p:nvSpPr>
        <p:spPr>
          <a:xfrm>
            <a:off x="5120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همپوشانی دو مجموعه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چارچوب</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نظارت ضعیف و یادگیری چندنمونه‌ای</a:t>
            </a:r>
          </a:p>
        </p:txBody>
      </p:sp>
      <p:graphicFrame>
        <p:nvGraphicFramePr>
          <p:cNvPr id="4" name="Table 3"/>
          <p:cNvGraphicFramePr>
            <a:graphicFrameLocks noGrp="1"/>
          </p:cNvGraphicFramePr>
          <p:nvPr/>
        </p:nvGraphicFramePr>
        <p:xfrm>
          <a:off x="548640" y="1645920"/>
          <a:ext cx="5669280" cy="1463040"/>
        </p:xfrm>
        <a:graphic>
          <a:graphicData uri="http://schemas.openxmlformats.org/drawingml/2006/table">
            <a:tbl>
              <a:tblPr firstRow="0" bandRow="0">
                <a:tableStyleId>{5C22544A-7EE6-4342-B048-85BDC9FD1C3A}</a:tableStyleId>
              </a:tblPr>
              <a:tblGrid>
                <a:gridCol w="1737360"/>
                <a:gridCol w="2651760"/>
                <a:gridCol w="1280160"/>
              </a:tblGrid>
              <a:tr h="365760">
                <a:tc>
                  <a:txBody>
                    <a:bodyPr wrap="square"/>
                    <a:lstStyle/>
                    <a:p>
                      <a:pPr rtl="1" algn="ctr">
                        <a:spcBef>
                          <a:spcPts val="0"/>
                        </a:spcBef>
                        <a:spcAft>
                          <a:spcPts val="0"/>
                        </a:spcAft>
                      </a:pPr>
                      <a:r>
                        <a:rPr sz="1200" b="1" i="0">
                          <a:solidFill>
                            <a:srgbClr val="FFFFFF"/>
                          </a:solidFill>
                          <a:latin typeface="Arial"/>
                          <a:cs typeface="Arial"/>
                        </a:rPr>
                        <a:t>سطح نظارت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برچسب چیست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هزینه</a:t>
                      </a:r>
                    </a:p>
                  </a:txBody>
                  <a:tcPr marL="36576" marR="36576" marT="18288" marB="18288" anchor="ctr">
                    <a:solidFill>
                      <a:srgbClr val="16264F"/>
                    </a:solidFill>
                  </a:tcPr>
                </a:tc>
              </a:tr>
              <a:tr h="365760">
                <a:tc>
                  <a:txBody>
                    <a:bodyPr wrap="square"/>
                    <a:lstStyle/>
                    <a:p>
                      <a:pPr rtl="1" algn="r">
                        <a:spcBef>
                          <a:spcPts val="0"/>
                        </a:spcBef>
                        <a:spcAft>
                          <a:spcPts val="0"/>
                        </a:spcAft>
                      </a:pPr>
                      <a:r>
                        <a:rPr sz="1200" b="0" i="0">
                          <a:solidFill>
                            <a:srgbClr val="1B2236"/>
                          </a:solidFill>
                          <a:latin typeface="Arial"/>
                          <a:cs typeface="Arial"/>
                        </a:rPr>
                        <a:t>نظارت کامل</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هر فریم برچسب دارد</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بسیار پرهزینه</a:t>
                      </a:r>
                    </a:p>
                  </a:txBody>
                  <a:tcPr marL="36576" marR="36576" marT="18288" marB="18288" anchor="ctr">
                    <a:solidFill>
                      <a:srgbClr val="EDF1F8"/>
                    </a:solidFill>
                  </a:tcPr>
                </a:tc>
              </a:tr>
              <a:tr h="365760">
                <a:tc>
                  <a:txBody>
                    <a:bodyPr wrap="square"/>
                    <a:lstStyle/>
                    <a:p>
                      <a:pPr rtl="1" algn="r">
                        <a:spcBef>
                          <a:spcPts val="0"/>
                        </a:spcBef>
                        <a:spcAft>
                          <a:spcPts val="0"/>
                        </a:spcAft>
                      </a:pPr>
                      <a:r>
                        <a:rPr sz="1200" b="1" i="0">
                          <a:solidFill>
                            <a:srgbClr val="16264F"/>
                          </a:solidFill>
                          <a:latin typeface="Arial"/>
                          <a:cs typeface="Arial"/>
                        </a:rPr>
                        <a:t>نظارت ضعیف</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فقط کل ویدیو برچسب دارد</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کم‌هزینه</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Arial"/>
                          <a:cs typeface="Arial"/>
                        </a:rPr>
                        <a:t>بدون نظارت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هیچ برچسبی نیست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رایگان</a:t>
                      </a:r>
                    </a:p>
                  </a:txBody>
                  <a:tcPr marL="36576" marR="36576" marT="18288" marB="18288" anchor="ctr">
                    <a:solidFill>
                      <a:srgbClr val="EDF1F8"/>
                    </a:solidFill>
                  </a:tcPr>
                </a:tc>
              </a:tr>
            </a:tbl>
          </a:graphicData>
        </a:graphic>
      </p:graphicFrame>
      <p:sp>
        <p:nvSpPr>
          <p:cNvPr id="5" name="Rounded Rectangle 4"/>
          <p:cNvSpPr/>
          <p:nvPr/>
        </p:nvSpPr>
        <p:spPr>
          <a:xfrm>
            <a:off x="6492240" y="1645920"/>
            <a:ext cx="5120640" cy="18288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766560" y="1810512"/>
            <a:ext cx="457200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مسئله ما</a:t>
            </a:r>
          </a:p>
        </p:txBody>
      </p:sp>
      <p:sp>
        <p:nvSpPr>
          <p:cNvPr id="7" name="TextBox 6"/>
          <p:cNvSpPr txBox="1"/>
          <p:nvPr/>
        </p:nvSpPr>
        <p:spPr>
          <a:xfrm>
            <a:off x="6766560" y="2194560"/>
            <a:ext cx="4572000" cy="109728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در یک ویدیوی سه‌دقیقه‌ای، سرقت شاید ۱۵ ثانیه باشد. بیش از ۹۰ درصد آنچه مدل می‌بیند، با وجود برچسب «سرقت»، عادی است.</a:t>
            </a:r>
          </a:p>
        </p:txBody>
      </p:sp>
      <p:sp>
        <p:nvSpPr>
          <p:cNvPr id="8" name="TextBox 7"/>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Arial"/>
                <a:cs typeface="Arial"/>
              </a:rPr>
              <a:t>راه حل: هر ویدیو یک کیف، هر قطعه یک نمونه</a:t>
            </a:r>
          </a:p>
        </p:txBody>
      </p:sp>
      <p:sp>
        <p:nvSpPr>
          <p:cNvPr id="9" name="Rounded Rectangle 8"/>
          <p:cNvSpPr/>
          <p:nvPr/>
        </p:nvSpPr>
        <p:spPr>
          <a:xfrm>
            <a:off x="905256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97280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11" name="TextBox 10"/>
          <p:cNvSpPr txBox="1"/>
          <p:nvPr/>
        </p:nvSpPr>
        <p:spPr>
          <a:xfrm>
            <a:off x="923544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ویدیو به ۱۶ قطعه شکسته می‌شود</a:t>
            </a:r>
          </a:p>
        </p:txBody>
      </p:sp>
      <p:sp>
        <p:nvSpPr>
          <p:cNvPr id="12" name="Rounded Rectangle 11"/>
          <p:cNvSpPr/>
          <p:nvPr/>
        </p:nvSpPr>
        <p:spPr>
          <a:xfrm>
            <a:off x="621792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13816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4" name="TextBox 13"/>
          <p:cNvSpPr txBox="1"/>
          <p:nvPr/>
        </p:nvSpPr>
        <p:spPr>
          <a:xfrm>
            <a:off x="640080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مدل به هر قطعه نمره می‌دهد</a:t>
            </a:r>
          </a:p>
        </p:txBody>
      </p:sp>
      <p:sp>
        <p:nvSpPr>
          <p:cNvPr id="15" name="Rounded Rectangle 14"/>
          <p:cNvSpPr/>
          <p:nvPr/>
        </p:nvSpPr>
        <p:spPr>
          <a:xfrm>
            <a:off x="338328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30352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7" name="TextBox 16"/>
          <p:cNvSpPr txBox="1"/>
          <p:nvPr/>
        </p:nvSpPr>
        <p:spPr>
          <a:xfrm>
            <a:off x="356616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مشکوک‌ترین قطعه‌ها انتخاب می‌شوند</a:t>
            </a:r>
          </a:p>
        </p:txBody>
      </p:sp>
      <p:sp>
        <p:nvSpPr>
          <p:cNvPr id="18" name="Rounded Rectangle 17"/>
          <p:cNvSpPr/>
          <p:nvPr/>
        </p:nvSpPr>
        <p:spPr>
          <a:xfrm>
            <a:off x="548639"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2468879" y="4526280"/>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20" name="TextBox 19"/>
          <p:cNvSpPr txBox="1"/>
          <p:nvPr/>
        </p:nvSpPr>
        <p:spPr>
          <a:xfrm>
            <a:off x="731519"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فرض: همان‌ها برچسب کیف را حمل می‌کنند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Arial"/>
                <a:cs typeface="Arial"/>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Arial"/>
                <a:cs typeface="Arial"/>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Arial"/>
                <a:cs typeface="Arial"/>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X-CLIP چطور کار می‌کند</a:t>
            </a:r>
          </a:p>
        </p:txBody>
      </p:sp>
      <p:sp>
        <p:nvSpPr>
          <p:cNvPr id="4" name="Rounded Rectangle 3"/>
          <p:cNvSpPr/>
          <p:nvPr/>
        </p:nvSpPr>
        <p:spPr>
          <a:xfrm>
            <a:off x="548640" y="1600200"/>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6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CLIP روی جفت عکس و متن آموزش دیده</a:t>
            </a:r>
          </a:p>
        </p:txBody>
      </p:sp>
      <p:sp>
        <p:nvSpPr>
          <p:cNvPr id="7" name="TextBox 6"/>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عکس و توضیحش در یک فضای مشترک نزدیک هم می‌افتند</a:t>
            </a:r>
          </a:p>
        </p:txBody>
      </p:sp>
      <p:sp>
        <p:nvSpPr>
          <p:cNvPr id="8" name="Rounded Rectangle 7"/>
          <p:cNvSpPr/>
          <p:nvPr/>
        </p:nvSpPr>
        <p:spPr>
          <a:xfrm>
            <a:off x="548640" y="2715768"/>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881360" y="296265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طبقه‌بندی بدون آموزش</a:t>
            </a:r>
          </a:p>
        </p:txBody>
      </p:sp>
      <p:sp>
        <p:nvSpPr>
          <p:cNvPr id="11" name="TextBox 10"/>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اسم هر کلاس به بردار تبدیل می‌شود و نزدیک‌ترین برنده است</a:t>
            </a:r>
          </a:p>
        </p:txBody>
      </p:sp>
      <p:sp>
        <p:nvSpPr>
          <p:cNvPr id="12" name="Rounded Rectangle 11"/>
          <p:cNvSpPr/>
          <p:nvPr/>
        </p:nvSpPr>
        <p:spPr>
          <a:xfrm>
            <a:off x="548640" y="3831335"/>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881360" y="4078223"/>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X-CLIP بخش زمانی اضافه می‌کند</a:t>
            </a:r>
          </a:p>
        </p:txBody>
      </p:sp>
      <p:sp>
        <p:nvSpPr>
          <p:cNvPr id="15" name="TextBox 14"/>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حالا ورودی ویدیو است، نه یک عکس تنها</a:t>
            </a:r>
          </a:p>
        </p:txBody>
      </p:sp>
      <p:sp>
        <p:nvSpPr>
          <p:cNvPr id="16" name="Rounded Rectangle 15"/>
          <p:cNvSpPr/>
          <p:nvPr/>
        </p:nvSpPr>
        <p:spPr>
          <a:xfrm>
            <a:off x="548640" y="4946904"/>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881360" y="519379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در پروژه ما</a:t>
            </a:r>
          </a:p>
        </p:txBody>
      </p:sp>
      <p:sp>
        <p:nvSpPr>
          <p:cNvPr id="19" name="TextBox 18"/>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بردار ویدیو با ۱۴ بردار متنی مقایسه می‌شود</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سه اشکال بنیادی که پیدا و اصلاح شد</a:t>
            </a:r>
          </a:p>
        </p:txBody>
      </p:sp>
      <p:sp>
        <p:nvSpPr>
          <p:cNvPr id="4" name="Rounded Rectangle 3"/>
          <p:cNvSpPr/>
          <p:nvPr/>
        </p:nvSpPr>
        <p:spPr>
          <a:xfrm>
            <a:off x="8092440"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59"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میانگین‌گیری در ارزیابی</a:t>
            </a:r>
          </a:p>
        </p:txBody>
      </p:sp>
      <p:sp>
        <p:nvSpPr>
          <p:cNvPr id="7" name="TextBox 6"/>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احتمال هر ۱۶ قطعه میانگین گرفته می‌شد. در ویدیوی ناهنجار، قطعه‌های عادی شواهد را خفه می‌کردند و تقریباً همه چیز عادی پیش‌بینی می‌شد.</a:t>
            </a:r>
          </a:p>
        </p:txBody>
      </p:sp>
      <p:sp>
        <p:nvSpPr>
          <p:cNvPr id="8" name="TextBox 7"/>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تصمیم دومرحله‌ای با بیشینه</a:t>
            </a:r>
          </a:p>
        </p:txBody>
      </p:sp>
      <p:sp>
        <p:nvSpPr>
          <p:cNvPr id="9" name="Rounded Rectangle 8"/>
          <p:cNvSpPr/>
          <p:nvPr/>
        </p:nvSpPr>
        <p:spPr>
          <a:xfrm>
            <a:off x="4315968"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104888"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1" name="TextBox 10"/>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فایل نمرات کهنه</a:t>
            </a:r>
          </a:p>
        </p:txBody>
      </p:sp>
      <p:sp>
        <p:nvSpPr>
          <p:cNvPr id="12" name="TextBox 11"/>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کد هر فایل نمرات موجود را بازاستفاده می‌کرد. در یک گزارش، ۲۸۸ ویدیو از ۲۹۸ کنار گذاشته شده و عدد روی ده ویدیو حساب شده بود.</a:t>
            </a:r>
          </a:p>
        </p:txBody>
      </p:sp>
      <p:sp>
        <p:nvSpPr>
          <p:cNvPr id="13" name="TextBox 12"/>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بازمحاسبه پیش‌فرض</a:t>
            </a:r>
          </a:p>
        </p:txBody>
      </p:sp>
      <p:sp>
        <p:nvSpPr>
          <p:cNvPr id="14" name="Rounded Rectangle 13"/>
          <p:cNvSpPr/>
          <p:nvPr/>
        </p:nvSpPr>
        <p:spPr>
          <a:xfrm>
            <a:off x="539495"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328415"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6" name="TextBox 15"/>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انتخاب قطعه برتر به تفکیک کلاس</a:t>
            </a:r>
          </a:p>
        </p:txBody>
      </p:sp>
      <p:sp>
        <p:nvSpPr>
          <p:cNvPr id="17" name="TextBox 16"/>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کانال عادی از عادی‌ترین قطعه‌های یک ویدیوی سرقت ساخته می‌شد. نویز برچسب سیستماتیک وارد آموزش می‌شد.</a:t>
            </a:r>
          </a:p>
        </p:txBody>
      </p:sp>
      <p:sp>
        <p:nvSpPr>
          <p:cNvPr id="18" name="TextBox 17"/>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تصمیم دومرحله‌ای</a:t>
            </a:r>
          </a:p>
        </p:txBody>
      </p:sp>
      <p:sp>
        <p:nvSpPr>
          <p:cNvPr id="4" name="Rounded Rectangle 3"/>
          <p:cNvSpPr/>
          <p:nvPr/>
        </p:nvSpPr>
        <p:spPr>
          <a:xfrm>
            <a:off x="548640" y="1600200"/>
            <a:ext cx="5394960" cy="22860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مرحله اول: آیا ناهنجار است؟</a:t>
            </a:r>
          </a:p>
        </p:txBody>
      </p:sp>
      <p:sp>
        <p:nvSpPr>
          <p:cNvPr id="6" name="TextBox 5"/>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بیشینه روی ۱۶ قطعه از مقدار «۱ منهای احتمال عادی»، در مقایسه با آستانه ۰٫۵</a:t>
            </a:r>
          </a:p>
        </p:txBody>
      </p:sp>
      <p:sp>
        <p:nvSpPr>
          <p:cNvPr id="7" name="TextBox 6"/>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Arial"/>
                <a:cs typeface="Arial"/>
              </a:rPr>
              <a:t>چرا بیشینه و نه میانگین: یک قطعه مشکوک کافی است، چون رویداد فقط چند ثانیه است</a:t>
            </a:r>
          </a:p>
        </p:txBody>
      </p:sp>
      <p:sp>
        <p:nvSpPr>
          <p:cNvPr id="8" name="Rounded Rectangle 7"/>
          <p:cNvSpPr/>
          <p:nvPr/>
        </p:nvSpPr>
        <p:spPr>
          <a:xfrm>
            <a:off x="6217920" y="1600200"/>
            <a:ext cx="5394960" cy="22860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مرحله دوم: کدام نوع؟</a:t>
            </a:r>
          </a:p>
        </p:txBody>
      </p:sp>
      <p:sp>
        <p:nvSpPr>
          <p:cNvPr id="10" name="TextBox 9"/>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رأی‌گیری میانگین چهار قطعه برتر، تنها میان ۱۳ کلاس ناهنجار</a:t>
            </a:r>
          </a:p>
        </p:txBody>
      </p:sp>
      <p:sp>
        <p:nvSpPr>
          <p:cNvPr id="11" name="TextBox 10"/>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Arial"/>
                <a:cs typeface="Arial"/>
              </a:rPr>
              <a:t>کلاس عادی در این مرحله اصلاً وارد رقابت نمی‌شود</a:t>
            </a:r>
          </a:p>
        </p:txBody>
      </p:sp>
      <p:sp>
        <p:nvSpPr>
          <p:cNvPr id="12" name="TextBox 11"/>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مثال عددی: ویدیوی سرقت، رویداد در قطعه‌های ۴ و ۵</a:t>
            </a:r>
          </a:p>
        </p:txBody>
      </p:sp>
      <p:graphicFrame>
        <p:nvGraphicFramePr>
          <p:cNvPr id="13" name="Table 12"/>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200" b="1" i="0">
                          <a:solidFill>
                            <a:srgbClr val="FFFFFF"/>
                          </a:solidFill>
                          <a:latin typeface="Arial"/>
                          <a:cs typeface="Arial"/>
                        </a:rPr>
                        <a:t>روش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نمره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در برابر آستانه ۰٫۵</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تصمیم</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Arial"/>
                          <a:cs typeface="Arial"/>
                        </a:rPr>
                        <a:t>میانگین‌گیری روی ۸ قطعه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0.26</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زیر آستانه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عادی — غلط</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Arial"/>
                          <a:cs typeface="Arial"/>
                        </a:rPr>
                        <a:t>بیشینه روی همان ۸ قطعه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0.85</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بالای آستانه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ناهنجار — درست</a:t>
                      </a:r>
                    </a:p>
                  </a:txBody>
                  <a:tcPr marL="36576" marR="36576" marT="18288" marB="18288" anchor="ctr">
                    <a:solidFill>
                      <a:srgbClr val="FFF2D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کلاسی که مدل یاد گرفت هرگز نگوید</a:t>
            </a:r>
          </a:p>
        </p:txBody>
      </p:sp>
      <p:sp>
        <p:nvSpPr>
          <p:cNvPr id="4" name="TextBox 3"/>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به‌جای شمردن پیش‌بینی‌های درست، شمردیم مدل هر کلاس را چند بار پیش‌بینی می‌کند.</a:t>
            </a:r>
          </a:p>
        </p:txBody>
      </p:sp>
      <p:graphicFrame>
        <p:nvGraphicFramePr>
          <p:cNvPr id="5" name="Table 4"/>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ویدیوی واقعی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چند بار پیش‌بینی شد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نسبت</a:t>
                      </a:r>
                    </a:p>
                  </a:txBody>
                  <a:tcPr marL="36576" marR="36576" marT="18288" marB="18288" anchor="ctr">
                    <a:solidFill>
                      <a:srgbClr val="16264F"/>
                    </a:solidFill>
                  </a:tcPr>
                </a:tc>
              </a:tr>
              <a:tr h="365760">
                <a:tc>
                  <a:txBody>
                    <a:bodyPr wrap="square"/>
                    <a:lstStyle/>
                    <a:p>
                      <a:pPr rtl="1" algn="r">
                        <a:spcBef>
                          <a:spcPts val="0"/>
                        </a:spcBef>
                        <a:spcAft>
                          <a:spcPts val="0"/>
                        </a:spcAft>
                      </a:pPr>
                      <a:r>
                        <a:rPr sz="1200" b="1" i="0">
                          <a:solidFill>
                            <a:srgbClr val="16264F"/>
                          </a:solidFill>
                          <a:latin typeface="Arial"/>
                          <a:cs typeface="Arial"/>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2</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0.25</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Arial"/>
                          <a:cs typeface="Arial"/>
                        </a:rPr>
                        <a:t>Assault — تعرض</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8</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3</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0.38</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Arial"/>
                          <a:cs typeface="Arial"/>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0.62</a:t>
                      </a:r>
                    </a:p>
                  </a:txBody>
                  <a:tcPr marL="36576" marR="36576" marT="18288" marB="18288" anchor="ctr">
                    <a:solidFill>
                      <a:srgbClr val="EDF1F8"/>
                    </a:solidFill>
                  </a:tcPr>
                </a:tc>
              </a:tr>
              <a:tr h="365760">
                <a:tc>
                  <a:txBody>
                    <a:bodyPr wrap="square"/>
                    <a:lstStyle/>
                    <a:p>
                      <a:pPr rtl="1" algn="r">
                        <a:spcBef>
                          <a:spcPts val="0"/>
                        </a:spcBef>
                        <a:spcAft>
                          <a:spcPts val="0"/>
                        </a:spcAft>
                      </a:pPr>
                      <a:r>
                        <a:rPr sz="1200" b="0" i="0">
                          <a:solidFill>
                            <a:srgbClr val="1B2236"/>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20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1.33</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Arial"/>
                          <a:cs typeface="Arial"/>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23</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39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1.70</a:t>
                      </a:r>
                    </a:p>
                  </a:txBody>
                  <a:tcPr marL="36576" marR="36576" marT="18288" marB="18288" anchor="ctr">
                    <a:solidFill>
                      <a:srgbClr val="EDF1F8"/>
                    </a:solidFill>
                  </a:tcPr>
                </a:tc>
              </a:tr>
            </a:tbl>
          </a:graphicData>
        </a:graphic>
      </p:graphicFrame>
      <p:sp>
        <p:nvSpPr>
          <p:cNvPr id="6" name="Rounded Rectangle 5"/>
          <p:cNvSpPr/>
          <p:nvPr/>
        </p:nvSpPr>
        <p:spPr>
          <a:xfrm>
            <a:off x="7498079" y="2148840"/>
            <a:ext cx="411480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تشخیص</a:t>
            </a:r>
          </a:p>
        </p:txBody>
      </p:sp>
      <p:sp>
        <p:nvSpPr>
          <p:cNvPr id="8" name="TextBox 7"/>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مدل روی درگیری شکست نخورده بود. یاد گرفته بود هرگز نگوید درگیری، چون گفتنش شرط‌بندی بدی بود.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علت ریشه‌ای</a:t>
            </a:r>
          </a:p>
        </p:txBody>
      </p:sp>
      <p:sp>
        <p:nvSpPr>
          <p:cNvPr id="10" name="TextBox 9"/>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تابع وزن‌دهی کلاس در کد وجود داشت ولی هیچ‌جا صدا زده نمی‌شد.</a:t>
            </a:r>
          </a:p>
          <a:p>
            <a:pPr rtl="1" algn="r">
              <a:lnSpc>
                <a:spcPts val="1900"/>
              </a:lnSpc>
              <a:spcBef>
                <a:spcPts val="0"/>
              </a:spcBef>
              <a:spcAft>
                <a:spcPts val="700"/>
              </a:spcAft>
            </a:pPr>
            <a:r>
              <a:rPr sz="1300" b="0" i="0">
                <a:solidFill>
                  <a:srgbClr val="1B2236"/>
                </a:solidFill>
                <a:latin typeface="Arial"/>
                <a:cs typeface="Arial"/>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1B2236"/>
                </a:solidFill>
                <a:latin typeface="Arial"/>
                <a:cs typeface="Arial"/>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محدودیت بنیادی: هندسه فضای متنی</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اسم خام کلاس‌ها در فضای زبانی CLIP تقریباً هم‌راستا هستند و سقفی مستقل از کیفیت تصویری تحمیل می‌کنند.</a:t>
            </a:r>
          </a:p>
        </p:txBody>
      </p:sp>
      <p:graphicFrame>
        <p:nvGraphicFramePr>
          <p:cNvPr id="5" name="Table 4"/>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200" b="1" i="0">
                          <a:solidFill>
                            <a:srgbClr val="FFFFFF"/>
                          </a:solidFill>
                          <a:latin typeface="Arial"/>
                          <a:cs typeface="Arial"/>
                        </a:rPr>
                        <a:t>جفت 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شباهت کسینوسی</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Arial"/>
                          <a:cs typeface="Arial"/>
                        </a:rPr>
                        <a:t>Abuse  /  Stealing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0.91</a:t>
                      </a:r>
                    </a:p>
                  </a:txBody>
                  <a:tcPr marL="36576" marR="36576" marT="18288" marB="18288" anchor="ctr">
                    <a:solidFill>
                      <a:srgbClr val="EDF1F8"/>
                    </a:solidFill>
                  </a:tcPr>
                </a:tc>
              </a:tr>
              <a:tr h="384048">
                <a:tc>
                  <a:txBody>
                    <a:bodyPr wrap="square"/>
                    <a:lstStyle/>
                    <a:p>
                      <a:pPr rtl="1" algn="r">
                        <a:spcBef>
                          <a:spcPts val="0"/>
                        </a:spcBef>
                        <a:spcAft>
                          <a:spcPts val="0"/>
                        </a:spcAft>
                      </a:pPr>
                      <a:r>
                        <a:rPr sz="1300" b="0" i="0">
                          <a:solidFill>
                            <a:srgbClr val="1B2236"/>
                          </a:solidFill>
                          <a:latin typeface="Arial"/>
                          <a:cs typeface="Arial"/>
                        </a:rPr>
                        <a:t>Assault  /  Arrest</a:t>
                      </a:r>
                    </a:p>
                  </a:txBody>
                  <a:tcPr marL="36576" marR="36576" marT="18288" marB="18288" anchor="ctr">
                    <a:solidFill>
                      <a:srgbClr val="FFFFFF"/>
                    </a:solidFill>
                  </a:tcPr>
                </a:tc>
                <a:tc>
                  <a:txBody>
                    <a:bodyPr wrap="square"/>
                    <a:lstStyle/>
                    <a:p>
                      <a:pPr rtl="1" algn="ctr">
                        <a:spcBef>
                          <a:spcPts val="0"/>
                        </a:spcBef>
                        <a:spcAft>
                          <a:spcPts val="0"/>
                        </a:spcAft>
                      </a:pPr>
                      <a:r>
                        <a:rPr sz="1300" b="0" i="0">
                          <a:solidFill>
                            <a:srgbClr val="1B2236"/>
                          </a:solidFill>
                          <a:latin typeface="Arial"/>
                          <a:cs typeface="Arial"/>
                        </a:rPr>
                        <a:t>0.91</a:t>
                      </a:r>
                    </a:p>
                  </a:txBody>
                  <a:tcPr marL="36576" marR="36576" marT="18288" marB="18288" anchor="ctr">
                    <a:solidFill>
                      <a:srgbClr val="FFFFFF"/>
                    </a:solidFill>
                  </a:tcPr>
                </a:tc>
              </a:tr>
              <a:tr h="384048">
                <a:tc>
                  <a:txBody>
                    <a:bodyPr wrap="square"/>
                    <a:lstStyle/>
                    <a:p>
                      <a:pPr rtl="1" algn="r">
                        <a:spcBef>
                          <a:spcPts val="0"/>
                        </a:spcBef>
                        <a:spcAft>
                          <a:spcPts val="0"/>
                        </a:spcAft>
                      </a:pPr>
                      <a:r>
                        <a:rPr sz="1300" b="0" i="0">
                          <a:solidFill>
                            <a:srgbClr val="1B2236"/>
                          </a:solidFill>
                          <a:latin typeface="Arial"/>
                          <a:cs typeface="Arial"/>
                        </a:rPr>
                        <a:t>Fighting  /  Shooting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0.90</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Arial"/>
                          <a:cs typeface="Arial"/>
                        </a:rPr>
                        <a:t>میانگین همه جفت‌ها</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0.83</a:t>
                      </a:r>
                    </a:p>
                  </a:txBody>
                  <a:tcPr marL="36576" marR="36576" marT="18288" marB="18288" anchor="ctr">
                    <a:solidFill>
                      <a:srgbClr val="FFF2DC"/>
                    </a:solidFill>
                  </a:tcPr>
                </a:tc>
              </a:tr>
            </a:tbl>
          </a:graphicData>
        </a:graphic>
      </p:graphicFrame>
      <p:sp>
        <p:nvSpPr>
          <p:cNvPr id="6" name="Rounded Rectangle 5"/>
          <p:cNvSpPr/>
          <p:nvPr/>
        </p:nvSpPr>
        <p:spPr>
          <a:xfrm>
            <a:off x="5852160" y="2148840"/>
            <a:ext cx="576072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آزمایش تعیین‌کننده</a:t>
            </a:r>
          </a:p>
        </p:txBody>
      </p:sp>
      <p:sp>
        <p:nvSpPr>
          <p:cNvPr id="8" name="TextBox 7"/>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راه حل: توصیف بصری به‌جای اسم حقوقی</a:t>
            </a:r>
          </a:p>
        </p:txBody>
      </p:sp>
      <p:sp>
        <p:nvSpPr>
          <p:cNvPr id="10" name="Rounded Rectangle 9"/>
          <p:cNvSpPr/>
          <p:nvPr/>
        </p:nvSpPr>
        <p:spPr>
          <a:xfrm>
            <a:off x="548640" y="4663440"/>
            <a:ext cx="5486400" cy="12801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پیش از تغییر</a:t>
            </a:r>
          </a:p>
        </p:txBody>
      </p:sp>
      <p:sp>
        <p:nvSpPr>
          <p:cNvPr id="12" name="TextBox 11"/>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C9483B"/>
                </a:solidFill>
                <a:latin typeface="Arial"/>
                <a:cs typeface="Arial"/>
              </a:rPr>
              <a:t>"Burglary"</a:t>
            </a:r>
          </a:p>
        </p:txBody>
      </p:sp>
      <p:sp>
        <p:nvSpPr>
          <p:cNvPr id="13" name="TextBox 12"/>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Arial"/>
                <a:cs typeface="Arial"/>
              </a:rPr>
              <a:t>سقف اندازه‌گیری‌شده: 0.44</a:t>
            </a:r>
          </a:p>
        </p:txBody>
      </p:sp>
      <p:sp>
        <p:nvSpPr>
          <p:cNvPr id="14" name="Rounded Rectangle 13"/>
          <p:cNvSpPr/>
          <p:nvPr/>
        </p:nvSpPr>
        <p:spPr>
          <a:xfrm>
            <a:off x="6309360" y="4663440"/>
            <a:ext cx="5303520" cy="128016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پس از تغییر</a:t>
            </a:r>
          </a:p>
        </p:txBody>
      </p:sp>
      <p:sp>
        <p:nvSpPr>
          <p:cNvPr id="16" name="TextBox 15"/>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3FA7A0"/>
                </a:solidFill>
                <a:latin typeface="Arial"/>
                <a:cs typeface="Arial"/>
              </a:rPr>
              <a:t>"a burglar climbing through a broken window"</a:t>
            </a:r>
          </a:p>
        </p:txBody>
      </p:sp>
      <p:sp>
        <p:nvSpPr>
          <p:cNvPr id="17" name="TextBox 16"/>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Arial"/>
                <a:cs typeface="Arial"/>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نتایج مسیر اول</a:t>
            </a:r>
          </a:p>
        </p:txBody>
      </p:sp>
      <p:graphicFrame>
        <p:nvGraphicFramePr>
          <p:cNvPr id="4" name="Table 3"/>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AUC دودویی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کلی</a:t>
                      </a:r>
                    </a:p>
                  </a:txBody>
                  <a:tcPr marL="36576" marR="36576" marT="18288" marB="18288" anchor="ctr">
                    <a:solidFill>
                      <a:srgbClr val="16264F"/>
                    </a:solidFill>
                  </a:tcPr>
                </a:tc>
              </a:tr>
              <a:tr h="402336">
                <a:tc>
                  <a:txBody>
                    <a:bodyPr wrap="square"/>
                    <a:lstStyle/>
                    <a:p>
                      <a:pPr rtl="1" algn="r">
                        <a:spcBef>
                          <a:spcPts val="0"/>
                        </a:spcBef>
                        <a:spcAft>
                          <a:spcPts val="0"/>
                        </a:spcAft>
                      </a:pPr>
                      <a:r>
                        <a:rPr sz="1250" b="0" i="0">
                          <a:solidFill>
                            <a:srgbClr val="1B2236"/>
                          </a:solidFill>
                          <a:latin typeface="Arial"/>
                          <a:cs typeface="Arial"/>
                        </a:rPr>
                        <a:t>اجرای پایه — اسم خام، وزن دستی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0.9473</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0.3327</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0.3716</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0.6385</a:t>
                      </a:r>
                    </a:p>
                  </a:txBody>
                  <a:tcPr marL="36576" marR="36576" marT="18288" marB="18288" anchor="ctr">
                    <a:solidFill>
                      <a:srgbClr val="EDF1F8"/>
                    </a:solidFill>
                  </a:tcPr>
                </a:tc>
              </a:tr>
              <a:tr h="402336">
                <a:tc>
                  <a:txBody>
                    <a:bodyPr wrap="square"/>
                    <a:lstStyle/>
                    <a:p>
                      <a:pPr rtl="1" algn="r">
                        <a:spcBef>
                          <a:spcPts val="0"/>
                        </a:spcBef>
                        <a:spcAft>
                          <a:spcPts val="0"/>
                        </a:spcAft>
                      </a:pPr>
                      <a:r>
                        <a:rPr sz="1250" b="0" i="0">
                          <a:solidFill>
                            <a:srgbClr val="1B2236"/>
                          </a:solidFill>
                          <a:latin typeface="Arial"/>
                          <a:cs typeface="Arial"/>
                        </a:rPr>
                        <a:t>توصیف بصری + وزن معکوس فراوانی</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0.9637</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0.6351</a:t>
                      </a:r>
                    </a:p>
                  </a:txBody>
                  <a:tcPr marL="36576" marR="36576" marT="18288" marB="18288" anchor="ctr">
                    <a:solidFill>
                      <a:srgbClr val="FFFFFF"/>
                    </a:solidFill>
                  </a:tcPr>
                </a:tc>
              </a:tr>
              <a:tr h="402336">
                <a:tc>
                  <a:txBody>
                    <a:bodyPr wrap="square"/>
                    <a:lstStyle/>
                    <a:p>
                      <a:pPr rtl="1" algn="r">
                        <a:spcBef>
                          <a:spcPts val="0"/>
                        </a:spcBef>
                        <a:spcAft>
                          <a:spcPts val="0"/>
                        </a:spcAft>
                      </a:pPr>
                      <a:r>
                        <a:rPr sz="1250" b="1" i="0">
                          <a:solidFill>
                            <a:srgbClr val="16264F"/>
                          </a:solidFill>
                          <a:latin typeface="Arial"/>
                          <a:cs typeface="Arial"/>
                        </a:rPr>
                        <a:t>افزودن چهار نمای زمانی در آزمون</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0.9629</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0.3881</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0.4257</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0.6419</a:t>
                      </a:r>
                    </a:p>
                  </a:txBody>
                  <a:tcPr marL="36576" marR="36576" marT="18288" marB="18288" anchor="ctr">
                    <a:solidFill>
                      <a:srgbClr val="FFF2DC"/>
                    </a:solidFill>
                  </a:tcPr>
                </a:tc>
              </a:tr>
            </a:tbl>
          </a:graphicData>
        </a:graphic>
      </p:graphicFrame>
      <p:sp>
        <p:nvSpPr>
          <p:cNvPr id="5" name="TextBox 4"/>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کلاس‌هایی که از مرگ برگشتند</a:t>
            </a:r>
          </a:p>
        </p:txBody>
      </p:sp>
      <p:graphicFrame>
        <p:nvGraphicFramePr>
          <p:cNvPr id="6" name="Table 5"/>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F1 پیش از تغییر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F1 پس از تغییر</a:t>
                      </a:r>
                    </a:p>
                  </a:txBody>
                  <a:tcPr marL="36576" marR="36576" marT="18288" marB="18288" anchor="ctr">
                    <a:solidFill>
                      <a:srgbClr val="16264F"/>
                    </a:solidFill>
                  </a:tcPr>
                </a:tc>
              </a:tr>
              <a:tr h="329184">
                <a:tc>
                  <a:txBody>
                    <a:bodyPr wrap="square"/>
                    <a:lstStyle/>
                    <a:p>
                      <a:pPr rtl="1" algn="r">
                        <a:spcBef>
                          <a:spcPts val="0"/>
                        </a:spcBef>
                        <a:spcAft>
                          <a:spcPts val="0"/>
                        </a:spcAft>
                      </a:pPr>
                      <a:r>
                        <a:rPr sz="1150" b="0" i="0">
                          <a:solidFill>
                            <a:srgbClr val="1B2236"/>
                          </a:solidFill>
                          <a:latin typeface="Arial"/>
                          <a:cs typeface="Arial"/>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0.000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0.556</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0.462</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0.714</a:t>
                      </a:r>
                    </a:p>
                  </a:txBody>
                  <a:tcPr marL="36576" marR="36576" marT="18288" marB="18288" anchor="ctr">
                    <a:solidFill>
                      <a:srgbClr val="FFFFFF"/>
                    </a:solidFill>
                  </a:tcPr>
                </a:tc>
              </a:tr>
              <a:tr h="329184">
                <a:tc>
                  <a:txBody>
                    <a:bodyPr wrap="square"/>
                    <a:lstStyle/>
                    <a:p>
                      <a:pPr rtl="1" algn="r">
                        <a:spcBef>
                          <a:spcPts val="0"/>
                        </a:spcBef>
                        <a:spcAft>
                          <a:spcPts val="0"/>
                        </a:spcAft>
                      </a:pPr>
                      <a:r>
                        <a:rPr sz="1150" b="0" i="0">
                          <a:solidFill>
                            <a:srgbClr val="1B2236"/>
                          </a:solidFill>
                          <a:latin typeface="Arial"/>
                          <a:cs typeface="Arial"/>
                        </a:rPr>
                        <a:t>Stealing — دزدی</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0.200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0.350</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Arial"/>
                          <a:cs typeface="Arial"/>
                        </a:rPr>
                        <a:t>Vandalism — تخریب</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0.000</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0.167</a:t>
                      </a:r>
                    </a:p>
                  </a:txBody>
                  <a:tcPr marL="36576" marR="36576" marT="18288" marB="18288" anchor="ctr">
                    <a:solidFill>
                      <a:srgbClr val="FFFFFF"/>
                    </a:solidFill>
                  </a:tcPr>
                </a:tc>
              </a:tr>
            </a:tbl>
          </a:graphicData>
        </a:graphic>
      </p:graphicFrame>
      <p:sp>
        <p:nvSpPr>
          <p:cNvPr id="7" name="Rounded Rectangle 6"/>
          <p:cNvSpPr/>
          <p:nvPr/>
        </p:nvSpPr>
        <p:spPr>
          <a:xfrm>
            <a:off x="6400800" y="3611880"/>
            <a:ext cx="5212080" cy="23317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چرا از این مسیر فاصله گرفتیم</a:t>
            </a:r>
          </a:p>
        </p:txBody>
      </p:sp>
      <p:sp>
        <p:nvSpPr>
          <p:cNvPr id="9" name="TextBox 8"/>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1B2236"/>
                </a:solidFill>
                <a:latin typeface="Arial"/>
                <a:cs typeface="Arial"/>
              </a:rPr>
              <a:t>●  هر پیکربندی حدود ۱۶ ساعت طول می‌کشید</a:t>
            </a:r>
          </a:p>
          <a:p>
            <a:pPr rtl="1" algn="r">
              <a:lnSpc>
                <a:spcPts val="1900"/>
              </a:lnSpc>
              <a:spcBef>
                <a:spcPts val="0"/>
              </a:spcBef>
              <a:spcAft>
                <a:spcPts val="700"/>
              </a:spcAft>
            </a:pPr>
            <a:r>
              <a:rPr sz="1200" b="0" i="0">
                <a:solidFill>
                  <a:srgbClr val="1B2236"/>
                </a:solidFill>
                <a:latin typeface="Arial"/>
                <a:cs typeface="Arial"/>
              </a:rPr>
              <a:t>●  با این هزینه، آزمون سیستماتیک فرضیه‌ها ناممکن بود</a:t>
            </a:r>
          </a:p>
          <a:p>
            <a:pPr rtl="1" algn="r">
              <a:lnSpc>
                <a:spcPts val="1900"/>
              </a:lnSpc>
              <a:spcBef>
                <a:spcPts val="0"/>
              </a:spcBef>
              <a:spcAft>
                <a:spcPts val="700"/>
              </a:spcAft>
            </a:pPr>
            <a:r>
              <a:rPr sz="1200" b="0" i="0">
                <a:solidFill>
                  <a:srgbClr val="1B2236"/>
                </a:solidFill>
                <a:latin typeface="Arial"/>
                <a:cs typeface="Arial"/>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Arial"/>
                <a:cs typeface="Arial"/>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Arial"/>
                <a:cs typeface="Arial"/>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Arial"/>
                <a:cs typeface="Arial"/>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VideoMAE چطور یاد گرفت</a:t>
            </a:r>
          </a:p>
        </p:txBody>
      </p:sp>
      <p:sp>
        <p:nvSpPr>
          <p:cNvPr id="4" name="Rounded Rectangle 3"/>
          <p:cNvSpPr/>
          <p:nvPr/>
        </p:nvSpPr>
        <p:spPr>
          <a:xfrm>
            <a:off x="548640" y="1645920"/>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0664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پوشاندن</a:t>
            </a:r>
          </a:p>
        </p:txBody>
      </p:sp>
      <p:sp>
        <p:nvSpPr>
          <p:cNvPr id="7" name="TextBox 6"/>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حدود ۹۰ درصد مکعب‌های فضازمانی پوشانده می‌شوند</a:t>
            </a:r>
          </a:p>
        </p:txBody>
      </p:sp>
      <p:sp>
        <p:nvSpPr>
          <p:cNvPr id="8" name="Rounded Rectangle 7"/>
          <p:cNvSpPr/>
          <p:nvPr/>
        </p:nvSpPr>
        <p:spPr>
          <a:xfrm>
            <a:off x="548640" y="2670048"/>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06640" y="287121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بازسازی</a:t>
            </a:r>
          </a:p>
        </p:txBody>
      </p:sp>
      <p:sp>
        <p:nvSpPr>
          <p:cNvPr id="11" name="TextBox 10"/>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رمزگذار فقط ۱۰ درصد باقی‌مانده را می‌بیند و رمزگشا جای خالی‌ها را حدس می‌زند</a:t>
            </a:r>
          </a:p>
        </p:txBody>
      </p:sp>
      <p:sp>
        <p:nvSpPr>
          <p:cNvPr id="12" name="Rounded Rectangle 11"/>
          <p:cNvSpPr/>
          <p:nvPr/>
        </p:nvSpPr>
        <p:spPr>
          <a:xfrm>
            <a:off x="548640" y="3694176"/>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06640" y="3895344"/>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بدون برچسب</a:t>
            </a:r>
          </a:p>
        </p:txBody>
      </p:sp>
      <p:sp>
        <p:nvSpPr>
          <p:cNvPr id="15" name="TextBox 14"/>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خود ویدیو هم سؤال است و هم جواب، پس روی حجم عظیمی از داده ممکن است</a:t>
            </a:r>
          </a:p>
        </p:txBody>
      </p:sp>
      <p:sp>
        <p:nvSpPr>
          <p:cNvPr id="16" name="Rounded Rectangle 15"/>
          <p:cNvSpPr/>
          <p:nvPr/>
        </p:nvSpPr>
        <p:spPr>
          <a:xfrm>
            <a:off x="548640" y="4718304"/>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406640" y="491947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دور انداختن رمزگشا</a:t>
            </a:r>
          </a:p>
        </p:txBody>
      </p:sp>
      <p:sp>
        <p:nvSpPr>
          <p:cNvPr id="19" name="TextBox 18"/>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پس از پیش‌آموزش تنها رمزگذار می‌ماند و روی Kinetics تنظیم می‌شود</a:t>
            </a:r>
          </a:p>
        </p:txBody>
      </p:sp>
      <p:sp>
        <p:nvSpPr>
          <p:cNvPr id="20" name="Rounded Rectangle 19"/>
          <p:cNvSpPr/>
          <p:nvPr/>
        </p:nvSpPr>
        <p:spPr>
          <a:xfrm>
            <a:off x="8412480" y="1645920"/>
            <a:ext cx="3200400" cy="40233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تفاوت با X-CLIP</a:t>
            </a:r>
          </a:p>
        </p:txBody>
      </p:sp>
      <p:sp>
        <p:nvSpPr>
          <p:cNvPr id="22" name="TextBox 21"/>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1B2236"/>
                </a:solidFill>
                <a:latin typeface="Arial"/>
                <a:cs typeface="Arial"/>
              </a:rPr>
              <a:t>X-CLIP از متن یاد گرفت.</a:t>
            </a:r>
          </a:p>
          <a:p>
            <a:pPr rtl="1" algn="r">
              <a:lnSpc>
                <a:spcPts val="2000"/>
              </a:lnSpc>
              <a:spcBef>
                <a:spcPts val="0"/>
              </a:spcBef>
              <a:spcAft>
                <a:spcPts val="0"/>
              </a:spcAft>
            </a:pPr>
            <a:r>
              <a:rPr sz="1250" b="0" i="0">
                <a:solidFill>
                  <a:srgbClr val="1B2236"/>
                </a:solidFill>
                <a:latin typeface="Arial"/>
                <a:cs typeface="Arial"/>
              </a:rPr>
              <a:t/>
            </a:r>
          </a:p>
          <a:p>
            <a:pPr rtl="1" algn="r">
              <a:lnSpc>
                <a:spcPts val="2000"/>
              </a:lnSpc>
              <a:spcBef>
                <a:spcPts val="0"/>
              </a:spcBef>
              <a:spcAft>
                <a:spcPts val="0"/>
              </a:spcAft>
            </a:pPr>
            <a:r>
              <a:rPr sz="1250" b="0" i="0">
                <a:solidFill>
                  <a:srgbClr val="1B2236"/>
                </a:solidFill>
                <a:latin typeface="Arial"/>
                <a:cs typeface="Arial"/>
              </a:rPr>
              <a:t>VideoMAE از خود ویدیو.</a:t>
            </a:r>
          </a:p>
          <a:p>
            <a:pPr rtl="1" algn="r">
              <a:lnSpc>
                <a:spcPts val="2000"/>
              </a:lnSpc>
              <a:spcBef>
                <a:spcPts val="0"/>
              </a:spcBef>
              <a:spcAft>
                <a:spcPts val="0"/>
              </a:spcAft>
            </a:pPr>
            <a:r>
              <a:rPr sz="1250" b="0" i="0">
                <a:solidFill>
                  <a:srgbClr val="1B2236"/>
                </a:solidFill>
                <a:latin typeface="Arial"/>
                <a:cs typeface="Arial"/>
              </a:rPr>
              <a:t/>
            </a:r>
          </a:p>
          <a:p>
            <a:pPr rtl="1" algn="r">
              <a:lnSpc>
                <a:spcPts val="2000"/>
              </a:lnSpc>
              <a:spcBef>
                <a:spcPts val="0"/>
              </a:spcBef>
              <a:spcAft>
                <a:spcPts val="0"/>
              </a:spcAft>
            </a:pPr>
            <a:r>
              <a:rPr sz="1250" b="0" i="0">
                <a:solidFill>
                  <a:srgbClr val="1B2236"/>
                </a:solidFill>
                <a:latin typeface="Arial"/>
                <a:cs typeface="Arial"/>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مهم‌ترین تصمیم پروژه: یخ زدن رمزگذار</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چون رمزگذار آموزش نمی‌بیند، خروجی‌اش ثابت است. پس محاسبه مجددش در هر دوره کار تکراری محض است.</a:t>
            </a:r>
          </a:p>
        </p:txBody>
      </p:sp>
      <p:sp>
        <p:nvSpPr>
          <p:cNvPr id="5" name="TextBox 4"/>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Arial"/>
                <a:cs typeface="Arial"/>
              </a:rPr>
              <a:t>16</a:t>
            </a:r>
          </a:p>
        </p:txBody>
      </p:sp>
      <p:sp>
        <p:nvSpPr>
          <p:cNvPr id="6" name="TextBox 5"/>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ساعت برای هر آزمایش — روش قدیم</a:t>
            </a:r>
          </a:p>
        </p:txBody>
      </p:sp>
      <p:sp>
        <p:nvSpPr>
          <p:cNvPr id="7" name="Left Arrow 6"/>
          <p:cNvSpPr/>
          <p:nvPr/>
        </p:nvSpPr>
        <p:spPr>
          <a:xfrm>
            <a:off x="6675120" y="2377440"/>
            <a:ext cx="1188720" cy="5029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80</a:t>
            </a:r>
          </a:p>
        </p:txBody>
      </p:sp>
      <p:sp>
        <p:nvSpPr>
          <p:cNvPr id="9" name="TextBox 8"/>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ثانیه برای هر آزمایش — روش جدید</a:t>
            </a:r>
          </a:p>
        </p:txBody>
      </p:sp>
      <p:sp>
        <p:nvSpPr>
          <p:cNvPr id="10" name="TextBox 9"/>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200</a:t>
            </a:r>
          </a:p>
        </p:txBody>
      </p:sp>
      <p:sp>
        <p:nvSpPr>
          <p:cNvPr id="11" name="TextBox 10"/>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ارزیابی انجام‌شده</a:t>
            </a:r>
          </a:p>
        </p:txBody>
      </p:sp>
      <p:graphicFrame>
        <p:nvGraphicFramePr>
          <p:cNvPr id="12" name="Table 11"/>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روش قدیم</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روش جدید</a:t>
                      </a:r>
                    </a:p>
                  </a:txBody>
                  <a:tcPr marL="36576" marR="36576" marT="18288" marB="18288" anchor="ctr">
                    <a:solidFill>
                      <a:srgbClr val="16264F"/>
                    </a:solidFill>
                  </a:tcPr>
                </a:tc>
              </a:tr>
              <a:tr h="320040">
                <a:tc>
                  <a:txBody>
                    <a:bodyPr wrap="square"/>
                    <a:lstStyle/>
                    <a:p>
                      <a:pPr rtl="1" algn="r">
                        <a:spcBef>
                          <a:spcPts val="0"/>
                        </a:spcBef>
                        <a:spcAft>
                          <a:spcPts val="0"/>
                        </a:spcAft>
                      </a:pPr>
                      <a:r>
                        <a:rPr sz="1250" b="0" i="0">
                          <a:solidFill>
                            <a:srgbClr val="1B2236"/>
                          </a:solidFill>
                          <a:latin typeface="Arial"/>
                          <a:cs typeface="Arial"/>
                        </a:rPr>
                        <a:t>رمزگشایی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هر دوره تکرار می‌شد</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یک بار، هرگز دوباره</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Arial"/>
                          <a:cs typeface="Arial"/>
                        </a:rPr>
                        <a:t>اجرای رمزگذار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هر دوره تکرار می‌شد</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یک بار، هرگز دوباره</a:t>
                      </a:r>
                    </a:p>
                  </a:txBody>
                  <a:tcPr marL="36576" marR="36576" marT="18288" marB="18288" anchor="ctr">
                    <a:solidFill>
                      <a:srgbClr val="FFFFFF"/>
                    </a:solidFill>
                  </a:tcPr>
                </a:tc>
              </a:tr>
              <a:tr h="320040">
                <a:tc>
                  <a:txBody>
                    <a:bodyPr wrap="square"/>
                    <a:lstStyle/>
                    <a:p>
                      <a:pPr rtl="1" algn="r">
                        <a:spcBef>
                          <a:spcPts val="0"/>
                        </a:spcBef>
                        <a:spcAft>
                          <a:spcPts val="0"/>
                        </a:spcAft>
                      </a:pPr>
                      <a:r>
                        <a:rPr sz="1250" b="0" i="0">
                          <a:solidFill>
                            <a:srgbClr val="1B2236"/>
                          </a:solidFill>
                          <a:latin typeface="Arial"/>
                          <a:cs typeface="Arial"/>
                        </a:rPr>
                        <a:t>حجم داده ورودی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۷۰ گیگابایت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۹۳ مگابایت عدد</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Arial"/>
                          <a:cs typeface="Arial"/>
                        </a:rPr>
                        <a:t>پارامترهای آموزش‌پذیر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حدود ۳۰۰ میلیون</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۴٫۸ میلیون</a:t>
                      </a:r>
                    </a:p>
                  </a:txBody>
                  <a:tcPr marL="36576" marR="36576" marT="18288" marB="18288" anchor="ctr">
                    <a:solidFill>
                      <a:srgbClr val="FFFFFF"/>
                    </a:solidFill>
                  </a:tcPr>
                </a:tc>
              </a:tr>
              <a:tr h="320040">
                <a:tc>
                  <a:txBody>
                    <a:bodyPr wrap="square"/>
                    <a:lstStyle/>
                    <a:p>
                      <a:pPr rtl="1" algn="r">
                        <a:spcBef>
                          <a:spcPts val="0"/>
                        </a:spcBef>
                        <a:spcAft>
                          <a:spcPts val="0"/>
                        </a:spcAft>
                      </a:pPr>
                      <a:r>
                        <a:rPr sz="1250" b="1" i="0">
                          <a:solidFill>
                            <a:srgbClr val="16264F"/>
                          </a:solidFill>
                          <a:latin typeface="Arial"/>
                          <a:cs typeface="Arial"/>
                        </a:rPr>
                        <a:t>زمان ۲۰۰ آزمایش</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حدود ۱۳۳ روز</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حدود ۴ ساعت</a:t>
                      </a:r>
                    </a:p>
                  </a:txBody>
                  <a:tcPr marL="36576" marR="36576" marT="18288" marB="18288" anchor="ctr">
                    <a:solidFill>
                      <a:srgbClr val="FFF2DC"/>
                    </a:solidFill>
                  </a:tcPr>
                </a:tc>
              </a:tr>
            </a:tbl>
          </a:graphicData>
        </a:graphic>
      </p:graphicFrame>
      <p:sp>
        <p:nvSpPr>
          <p:cNvPr id="13" name="TextBox 12"/>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خط لوله نهایی</a:t>
            </a:r>
          </a:p>
        </p:txBody>
      </p:sp>
      <p:sp>
        <p:nvSpPr>
          <p:cNvPr id="4" name="Rounded Rectangle 3"/>
          <p:cNvSpPr/>
          <p:nvPr/>
        </p:nvSpPr>
        <p:spPr>
          <a:xfrm>
            <a:off x="909828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ویدیوی خام</a:t>
            </a:r>
          </a:p>
        </p:txBody>
      </p:sp>
      <p:sp>
        <p:nvSpPr>
          <p:cNvPr id="6" name="TextBox 5"/>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۹۰۰۰ فریم</a:t>
            </a:r>
          </a:p>
          <a:p>
            <a:pPr rtl="1" algn="ctr">
              <a:lnSpc>
                <a:spcPts val="1700"/>
              </a:lnSpc>
              <a:spcBef>
                <a:spcPts val="0"/>
              </a:spcBef>
              <a:spcAft>
                <a:spcPts val="0"/>
              </a:spcAft>
            </a:pPr>
            <a:r>
              <a:rPr sz="1150" b="0" i="0">
                <a:solidFill>
                  <a:srgbClr val="6A748C"/>
                </a:solidFill>
                <a:latin typeface="Arial"/>
                <a:cs typeface="Arial"/>
              </a:rPr>
              <a:t>۴۰ مگابایت</a:t>
            </a:r>
          </a:p>
        </p:txBody>
      </p:sp>
      <p:sp>
        <p:nvSpPr>
          <p:cNvPr id="7" name="Left Arrow 6"/>
          <p:cNvSpPr/>
          <p:nvPr/>
        </p:nvSpPr>
        <p:spPr>
          <a:xfrm>
            <a:off x="8842248"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217919"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۱۶ قطعه</a:t>
            </a:r>
          </a:p>
        </p:txBody>
      </p:sp>
      <p:sp>
        <p:nvSpPr>
          <p:cNvPr id="10" name="TextBox 9"/>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هر قطعه ۱۶ فریم</a:t>
            </a:r>
          </a:p>
          <a:p>
            <a:pPr rtl="1" algn="ctr">
              <a:lnSpc>
                <a:spcPts val="1700"/>
              </a:lnSpc>
              <a:spcBef>
                <a:spcPts val="0"/>
              </a:spcBef>
              <a:spcAft>
                <a:spcPts val="0"/>
              </a:spcAft>
            </a:pPr>
            <a:r>
              <a:rPr sz="1150" b="0" i="0">
                <a:solidFill>
                  <a:srgbClr val="6A748C"/>
                </a:solidFill>
                <a:latin typeface="Arial"/>
                <a:cs typeface="Arial"/>
              </a:rPr>
              <a:t>۲۲۴ در ۲۲۴</a:t>
            </a:r>
          </a:p>
        </p:txBody>
      </p:sp>
      <p:sp>
        <p:nvSpPr>
          <p:cNvPr id="11" name="Left Arrow 10"/>
          <p:cNvSpPr/>
          <p:nvPr/>
        </p:nvSpPr>
        <p:spPr>
          <a:xfrm>
            <a:off x="596188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337559" y="173736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Arial"/>
                <a:cs typeface="Arial"/>
              </a:rPr>
              <a:t>رمزگذار ViT-L</a:t>
            </a:r>
          </a:p>
        </p:txBody>
      </p:sp>
      <p:sp>
        <p:nvSpPr>
          <p:cNvPr id="14" name="TextBox 13"/>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منجمد</a:t>
            </a:r>
          </a:p>
          <a:p>
            <a:pPr rtl="1" algn="ctr">
              <a:lnSpc>
                <a:spcPts val="1700"/>
              </a:lnSpc>
              <a:spcBef>
                <a:spcPts val="0"/>
              </a:spcBef>
              <a:spcAft>
                <a:spcPts val="0"/>
              </a:spcAft>
            </a:pPr>
            <a:r>
              <a:rPr sz="1150" b="0" i="0">
                <a:solidFill>
                  <a:srgbClr val="6A748C"/>
                </a:solidFill>
                <a:latin typeface="Arial"/>
                <a:cs typeface="Arial"/>
              </a:rPr>
              <a:t>یک بار اجرا</a:t>
            </a:r>
          </a:p>
        </p:txBody>
      </p:sp>
      <p:sp>
        <p:nvSpPr>
          <p:cNvPr id="15" name="Left Arrow 14"/>
          <p:cNvSpPr/>
          <p:nvPr/>
        </p:nvSpPr>
        <p:spPr>
          <a:xfrm>
            <a:off x="308152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720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Arial"/>
                <a:cs typeface="Arial"/>
              </a:rPr>
              <a:t>ویژگی ذخیره‌شده</a:t>
            </a:r>
          </a:p>
        </p:txBody>
      </p:sp>
      <p:sp>
        <p:nvSpPr>
          <p:cNvPr id="18" name="TextBox 17"/>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۱۶ در ۱۰۲۴</a:t>
            </a:r>
          </a:p>
          <a:p>
            <a:pPr rtl="1" algn="ctr">
              <a:lnSpc>
                <a:spcPts val="1700"/>
              </a:lnSpc>
              <a:spcBef>
                <a:spcPts val="0"/>
              </a:spcBef>
              <a:spcAft>
                <a:spcPts val="0"/>
              </a:spcAft>
            </a:pPr>
            <a:r>
              <a:rPr sz="1150" b="0" i="0">
                <a:solidFill>
                  <a:srgbClr val="6A748C"/>
                </a:solidFill>
                <a:latin typeface="Arial"/>
                <a:cs typeface="Arial"/>
              </a:rPr>
              <a:t>۶۴ کیلوبایت</a:t>
            </a:r>
          </a:p>
        </p:txBody>
      </p:sp>
      <p:sp>
        <p:nvSpPr>
          <p:cNvPr id="19" name="TextBox 18"/>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Arial"/>
                <a:cs typeface="Arial"/>
              </a:rPr>
              <a:t>مرحله اول — یک بار برای ۱۸۹۵ ویدیو، ۱۵۰ دقیقه</a:t>
            </a:r>
          </a:p>
        </p:txBody>
      </p:sp>
      <p:sp>
        <p:nvSpPr>
          <p:cNvPr id="20" name="Rounded Rectangle 19"/>
          <p:cNvSpPr/>
          <p:nvPr/>
        </p:nvSpPr>
        <p:spPr>
          <a:xfrm>
            <a:off x="909828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سر ترنسفورمر</a:t>
            </a:r>
          </a:p>
        </p:txBody>
      </p:sp>
      <p:sp>
        <p:nvSpPr>
          <p:cNvPr id="22" name="TextBox 21"/>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دو لایه توجه</a:t>
            </a:r>
          </a:p>
          <a:p>
            <a:pPr rtl="1" algn="ctr">
              <a:lnSpc>
                <a:spcPts val="1700"/>
              </a:lnSpc>
              <a:spcBef>
                <a:spcPts val="0"/>
              </a:spcBef>
              <a:spcAft>
                <a:spcPts val="0"/>
              </a:spcAft>
            </a:pPr>
            <a:r>
              <a:rPr sz="1150" b="0" i="0">
                <a:solidFill>
                  <a:srgbClr val="6A748C"/>
                </a:solidFill>
                <a:latin typeface="Arial"/>
                <a:cs typeface="Arial"/>
              </a:rPr>
              <a:t>روی محور زمان</a:t>
            </a:r>
          </a:p>
        </p:txBody>
      </p:sp>
      <p:sp>
        <p:nvSpPr>
          <p:cNvPr id="23" name="Left Arrow 22"/>
          <p:cNvSpPr/>
          <p:nvPr/>
        </p:nvSpPr>
        <p:spPr>
          <a:xfrm>
            <a:off x="8842248"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217919"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نمره هر قطعه</a:t>
            </a:r>
          </a:p>
        </p:txBody>
      </p:sp>
      <p:sp>
        <p:nvSpPr>
          <p:cNvPr id="26" name="TextBox 25"/>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۱۶ در ۱۴</a:t>
            </a:r>
          </a:p>
        </p:txBody>
      </p:sp>
      <p:sp>
        <p:nvSpPr>
          <p:cNvPr id="27" name="Left Arrow 26"/>
          <p:cNvSpPr/>
          <p:nvPr/>
        </p:nvSpPr>
        <p:spPr>
          <a:xfrm>
            <a:off x="596188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337559" y="384048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Arial"/>
                <a:cs typeface="Arial"/>
              </a:rPr>
              <a:t>تصمیم دومرحله‌ای</a:t>
            </a:r>
          </a:p>
        </p:txBody>
      </p:sp>
      <p:sp>
        <p:nvSpPr>
          <p:cNvPr id="30" name="TextBox 29"/>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وجود، سپس نوع</a:t>
            </a:r>
          </a:p>
        </p:txBody>
      </p:sp>
      <p:sp>
        <p:nvSpPr>
          <p:cNvPr id="31" name="Left Arrow 30"/>
          <p:cNvSpPr/>
          <p:nvPr/>
        </p:nvSpPr>
        <p:spPr>
          <a:xfrm>
            <a:off x="308152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720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Arial"/>
                <a:cs typeface="Arial"/>
              </a:rPr>
              <a:t>برچسب نهایی</a:t>
            </a:r>
          </a:p>
        </p:txBody>
      </p:sp>
      <p:sp>
        <p:nvSpPr>
          <p:cNvPr id="34" name="TextBox 33"/>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یکی از ۱۴ کلاس</a:t>
            </a:r>
          </a:p>
        </p:txBody>
      </p:sp>
      <p:sp>
        <p:nvSpPr>
          <p:cNvPr id="35" name="TextBox 34"/>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Arial"/>
                <a:cs typeface="Arial"/>
              </a:rPr>
              <a:t>مرحله دوم — هر پیکربندی، ۸۰ ثانیه</a:t>
            </a:r>
          </a:p>
        </p:txBody>
      </p:sp>
      <p:sp>
        <p:nvSpPr>
          <p:cNvPr id="36" name="TextBox 35"/>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E8A33D"/>
                </a:solidFill>
                <a:latin typeface="Arial"/>
                <a:cs typeface="Arial"/>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سر ترنسفورمر روی محور زمان</a:t>
            </a:r>
          </a:p>
        </p:txBody>
      </p:sp>
      <p:sp>
        <p:nvSpPr>
          <p:cNvPr id="4" name="Rounded Rectangle 3"/>
          <p:cNvSpPr/>
          <p:nvPr/>
        </p:nvSpPr>
        <p:spPr>
          <a:xfrm>
            <a:off x="548640" y="1645920"/>
            <a:ext cx="5394960" cy="2103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6A748C"/>
                </a:solidFill>
                <a:latin typeface="Arial"/>
                <a:cs typeface="Arial"/>
              </a:rPr>
              <a:t>مشکل: قطعه تنها مبهم است</a:t>
            </a:r>
          </a:p>
        </p:txBody>
      </p:sp>
      <p:sp>
        <p:nvSpPr>
          <p:cNvPr id="6" name="TextBox 5"/>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یک قطعه سه‌ثانیه‌ای داخل مغازه، در دزدی از مغازه و سرقت مسلحانه ظاهر یکسانی دارد. سر نقطه‌ای اطلاعات لازم را اصولاً در اختیار ندارد.</a:t>
            </a:r>
          </a:p>
        </p:txBody>
      </p:sp>
      <p:sp>
        <p:nvSpPr>
          <p:cNvPr id="7" name="Rounded Rectangle 6"/>
          <p:cNvSpPr/>
          <p:nvPr/>
        </p:nvSpPr>
        <p:spPr>
          <a:xfrm>
            <a:off x="6217920" y="1645920"/>
            <a:ext cx="5394960" cy="21031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راه حل: خودتوجهی میان قطعه‌ها</a:t>
            </a:r>
          </a:p>
        </p:txBody>
      </p:sp>
      <p:sp>
        <p:nvSpPr>
          <p:cNvPr id="9" name="TextBox 8"/>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یک جدول ۱۶ در ۱۶ می‌گوید هر قطعه چقدر به هر قطعه دیگر توجه کند. بردار جدید هر قطعه، جمع وزن‌دار همه قطعه‌هاست.</a:t>
            </a:r>
          </a:p>
        </p:txBody>
      </p:sp>
      <p:sp>
        <p:nvSpPr>
          <p:cNvPr id="10" name="TextBox 9"/>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پیکربندی</a:t>
            </a:r>
          </a:p>
        </p:txBody>
      </p:sp>
      <p:graphicFrame>
        <p:nvGraphicFramePr>
          <p:cNvPr id="11" name="Table 10"/>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200" b="1" i="0">
                          <a:solidFill>
                            <a:srgbClr val="FFFFFF"/>
                          </a:solidFill>
                          <a:latin typeface="Arial"/>
                          <a:cs typeface="Arial"/>
                        </a:rPr>
                        <a:t>پارامتر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مقدار</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Arial"/>
                          <a:cs typeface="Arial"/>
                        </a:rPr>
                        <a:t>بعد پنهان</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512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سرهای توجه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Arial"/>
                          <a:cs typeface="Arial"/>
                        </a:rPr>
                        <a:t>لایه‌ها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حذف تصادفی</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0.3</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Arial"/>
                          <a:cs typeface="Arial"/>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4,772,366</a:t>
                      </a:r>
                    </a:p>
                  </a:txBody>
                  <a:tcPr marL="36576" marR="36576" marT="18288" marB="18288" anchor="ctr">
                    <a:solidFill>
                      <a:srgbClr val="EDF1F8"/>
                    </a:solidFill>
                  </a:tcPr>
                </a:tc>
              </a:tr>
            </a:tbl>
          </a:graphicData>
        </a:graphic>
      </p:graphicFrame>
      <p:sp>
        <p:nvSpPr>
          <p:cNvPr id="12" name="TextBox 11"/>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نتیجه</a:t>
            </a:r>
          </a:p>
        </p:txBody>
      </p:sp>
      <p:graphicFrame>
        <p:nvGraphicFramePr>
          <p:cNvPr id="13" name="Table 12"/>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00" b="1" i="0">
                          <a:solidFill>
                            <a:srgbClr val="FFFFFF"/>
                          </a:solidFill>
                          <a:latin typeface="Arial"/>
                          <a:cs typeface="Arial"/>
                        </a:rPr>
                        <a:t>سر طبقه‌بند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ماکرو F1، میانگین ۵ بذر</a:t>
                      </a:r>
                    </a:p>
                  </a:txBody>
                  <a:tcPr marL="36576" marR="36576" marT="18288" marB="18288" anchor="ctr">
                    <a:solidFill>
                      <a:srgbClr val="16264F"/>
                    </a:solidFill>
                  </a:tcPr>
                </a:tc>
              </a:tr>
              <a:tr h="384048">
                <a:tc>
                  <a:txBody>
                    <a:bodyPr wrap="square"/>
                    <a:lstStyle/>
                    <a:p>
                      <a:pPr rtl="1" algn="r">
                        <a:spcBef>
                          <a:spcPts val="0"/>
                        </a:spcBef>
                        <a:spcAft>
                          <a:spcPts val="0"/>
                        </a:spcAft>
                      </a:pPr>
                      <a:r>
                        <a:rPr sz="1250" b="0" i="0">
                          <a:solidFill>
                            <a:srgbClr val="1B2236"/>
                          </a:solidFill>
                          <a:latin typeface="Arial"/>
                          <a:cs typeface="Arial"/>
                        </a:rPr>
                        <a:t>سر نقطه‌ای — خط پایه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0.3049</a:t>
                      </a:r>
                    </a:p>
                  </a:txBody>
                  <a:tcPr marL="36576" marR="36576" marT="18288" marB="18288" anchor="ctr">
                    <a:solidFill>
                      <a:srgbClr val="EDF1F8"/>
                    </a:solidFill>
                  </a:tcPr>
                </a:tc>
              </a:tr>
              <a:tr h="384048">
                <a:tc>
                  <a:txBody>
                    <a:bodyPr wrap="square"/>
                    <a:lstStyle/>
                    <a:p>
                      <a:pPr rtl="1" algn="r">
                        <a:spcBef>
                          <a:spcPts val="0"/>
                        </a:spcBef>
                        <a:spcAft>
                          <a:spcPts val="0"/>
                        </a:spcAft>
                      </a:pPr>
                      <a:r>
                        <a:rPr sz="1250" b="1" i="0">
                          <a:solidFill>
                            <a:srgbClr val="16264F"/>
                          </a:solidFill>
                          <a:latin typeface="Arial"/>
                          <a:cs typeface="Arial"/>
                        </a:rPr>
                        <a:t>سر ترنسفورمر زمانی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0.3480</a:t>
                      </a:r>
                    </a:p>
                  </a:txBody>
                  <a:tcPr marL="36576" marR="36576" marT="18288" marB="18288" anchor="ctr">
                    <a:solidFill>
                      <a:srgbClr val="FFF2DC"/>
                    </a:solidFill>
                  </a:tcPr>
                </a:tc>
              </a:tr>
            </a:tbl>
          </a:graphicData>
        </a:graphic>
      </p:graphicFrame>
      <p:sp>
        <p:nvSpPr>
          <p:cNvPr id="14" name="TextBox 13"/>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ارتقای ظرفیت رمزگذار</a:t>
            </a:r>
          </a:p>
        </p:txBody>
      </p:sp>
      <p:graphicFrame>
        <p:nvGraphicFramePr>
          <p:cNvPr id="4" name="Table 3"/>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ViT-B</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ViT-L</a:t>
                      </a:r>
                    </a:p>
                  </a:txBody>
                  <a:tcPr marL="36576" marR="36576" marT="18288" marB="18288" anchor="ctr">
                    <a:solidFill>
                      <a:srgbClr val="16264F"/>
                    </a:solidFill>
                  </a:tcPr>
                </a:tc>
              </a:tr>
              <a:tr h="365760">
                <a:tc>
                  <a:txBody>
                    <a:bodyPr wrap="square"/>
                    <a:lstStyle/>
                    <a:p>
                      <a:pPr rtl="1" algn="r">
                        <a:spcBef>
                          <a:spcPts val="0"/>
                        </a:spcBef>
                        <a:spcAft>
                          <a:spcPts val="0"/>
                        </a:spcAft>
                      </a:pPr>
                      <a:r>
                        <a:rPr sz="1250" b="0" i="0">
                          <a:solidFill>
                            <a:srgbClr val="1B2236"/>
                          </a:solidFill>
                          <a:latin typeface="Arial"/>
                          <a:cs typeface="Arial"/>
                        </a:rPr>
                        <a:t>تعداد لایه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12</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24</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Arial"/>
                          <a:cs typeface="Arial"/>
                        </a:rPr>
                        <a:t>پهنای بردار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768</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1024</a:t>
                      </a:r>
                    </a:p>
                  </a:txBody>
                  <a:tcPr marL="36576" marR="36576" marT="18288" marB="18288" anchor="ctr">
                    <a:solidFill>
                      <a:srgbClr val="FFFFFF"/>
                    </a:solidFill>
                  </a:tcPr>
                </a:tc>
              </a:tr>
              <a:tr h="365760">
                <a:tc>
                  <a:txBody>
                    <a:bodyPr wrap="square"/>
                    <a:lstStyle/>
                    <a:p>
                      <a:pPr rtl="1" algn="r">
                        <a:spcBef>
                          <a:spcPts val="0"/>
                        </a:spcBef>
                        <a:spcAft>
                          <a:spcPts val="0"/>
                        </a:spcAft>
                      </a:pPr>
                      <a:r>
                        <a:rPr sz="1250" b="0" i="0">
                          <a:solidFill>
                            <a:srgbClr val="1B2236"/>
                          </a:solidFill>
                          <a:latin typeface="Arial"/>
                          <a:cs typeface="Arial"/>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 87 میلیون</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 300 میلیون</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Arial"/>
                          <a:cs typeface="Arial"/>
                        </a:rPr>
                        <a:t>اندازه وصله</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16 × 16</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16 × 16</a:t>
                      </a:r>
                    </a:p>
                  </a:txBody>
                  <a:tcPr marL="36576" marR="36576" marT="18288" marB="18288" anchor="ctr">
                    <a:solidFill>
                      <a:srgbClr val="FFFFFF"/>
                    </a:solidFill>
                  </a:tcPr>
                </a:tc>
              </a:tr>
              <a:tr h="365760">
                <a:tc>
                  <a:txBody>
                    <a:bodyPr wrap="square"/>
                    <a:lstStyle/>
                    <a:p>
                      <a:pPr rtl="1" algn="r">
                        <a:spcBef>
                          <a:spcPts val="0"/>
                        </a:spcBef>
                        <a:spcAft>
                          <a:spcPts val="0"/>
                        </a:spcAft>
                      </a:pPr>
                      <a:r>
                        <a:rPr sz="1250" b="1" i="0">
                          <a:solidFill>
                            <a:srgbClr val="16264F"/>
                          </a:solidFill>
                          <a:latin typeface="Arial"/>
                          <a:cs typeface="Arial"/>
                        </a:rPr>
                        <a:t>ماکرو F1، میانگین ۵ بذر</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0.3405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0.3955</a:t>
                      </a:r>
                    </a:p>
                  </a:txBody>
                  <a:tcPr marL="36576" marR="36576" marT="18288" marB="18288" anchor="ctr">
                    <a:solidFill>
                      <a:srgbClr val="FFF2DC"/>
                    </a:solidFill>
                  </a:tcPr>
                </a:tc>
              </a:tr>
              <a:tr h="365760">
                <a:tc>
                  <a:txBody>
                    <a:bodyPr wrap="square"/>
                    <a:lstStyle/>
                    <a:p>
                      <a:pPr rtl="1" algn="r">
                        <a:spcBef>
                          <a:spcPts val="0"/>
                        </a:spcBef>
                        <a:spcAft>
                          <a:spcPts val="0"/>
                        </a:spcAft>
                      </a:pPr>
                      <a:r>
                        <a:rPr sz="1250" b="1" i="0">
                          <a:solidFill>
                            <a:srgbClr val="16264F"/>
                          </a:solidFill>
                          <a:latin typeface="Arial"/>
                          <a:cs typeface="Arial"/>
                        </a:rPr>
                        <a:t>ماکرو F1، نتیجه گروهی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0.3645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0.4122</a:t>
                      </a:r>
                    </a:p>
                  </a:txBody>
                  <a:tcPr marL="36576" marR="36576" marT="18288" marB="18288" anchor="ctr">
                    <a:solidFill>
                      <a:srgbClr val="FFF2DC"/>
                    </a:solidFill>
                  </a:tcPr>
                </a:tc>
              </a:tr>
            </a:tbl>
          </a:graphicData>
        </a:graphic>
      </p:graphicFrame>
      <p:sp>
        <p:nvSpPr>
          <p:cNvPr id="5" name="Rounded Rectangle 4"/>
          <p:cNvSpPr/>
          <p:nvPr/>
        </p:nvSpPr>
        <p:spPr>
          <a:xfrm>
            <a:off x="7406640" y="1691640"/>
            <a:ext cx="4206240" cy="21488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نکته‌ای که نباید اشتباه گفت</a:t>
            </a:r>
          </a:p>
        </p:txBody>
      </p:sp>
      <p:sp>
        <p:nvSpPr>
          <p:cNvPr id="7" name="TextBox 6"/>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اندازه وصله در هر دو یکسان است، پس تعداد وصله‌ها فرق نمی‌کند. بهبود از ظرفیت مدل می‌آید، نه از وضوح مکانی بیشتر.</a:t>
            </a:r>
          </a:p>
        </p:txBody>
      </p:sp>
      <p:sp>
        <p:nvSpPr>
          <p:cNvPr id="8" name="TextBox 7"/>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چرا این تنها بهبود قطعی پروژه است</a:t>
            </a:r>
          </a:p>
        </p:txBody>
      </p:sp>
      <p:sp>
        <p:nvSpPr>
          <p:cNvPr id="9" name="Rounded Rectangle 8"/>
          <p:cNvSpPr/>
          <p:nvPr/>
        </p:nvSpPr>
        <p:spPr>
          <a:xfrm>
            <a:off x="548640" y="4663440"/>
            <a:ext cx="356616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بازه پنج بذر ViT-B</a:t>
            </a:r>
          </a:p>
        </p:txBody>
      </p:sp>
      <p:sp>
        <p:nvSpPr>
          <p:cNvPr id="11" name="TextBox 10"/>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C9483B"/>
                </a:solidFill>
                <a:latin typeface="Arial"/>
                <a:cs typeface="Arial"/>
              </a:rPr>
              <a:t>0.310 — 0.354</a:t>
            </a:r>
          </a:p>
        </p:txBody>
      </p:sp>
      <p:sp>
        <p:nvSpPr>
          <p:cNvPr id="12" name="Rounded Rectangle 11"/>
          <p:cNvSpPr/>
          <p:nvPr/>
        </p:nvSpPr>
        <p:spPr>
          <a:xfrm>
            <a:off x="4297680" y="4663440"/>
            <a:ext cx="3566160" cy="137160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بازه پنج بذر ViT-L</a:t>
            </a:r>
          </a:p>
        </p:txBody>
      </p:sp>
      <p:sp>
        <p:nvSpPr>
          <p:cNvPr id="14" name="TextBox 13"/>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3FA7A0"/>
                </a:solidFill>
                <a:latin typeface="Arial"/>
                <a:cs typeface="Arial"/>
              </a:rPr>
              <a:t>0.370 — 0.423</a:t>
            </a:r>
          </a:p>
        </p:txBody>
      </p:sp>
      <p:sp>
        <p:nvSpPr>
          <p:cNvPr id="15" name="Rounded Rectangle 14"/>
          <p:cNvSpPr/>
          <p:nvPr/>
        </p:nvSpPr>
        <p:spPr>
          <a:xfrm>
            <a:off x="8046720" y="4663440"/>
            <a:ext cx="356616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آزمون من-ویتنی</a:t>
            </a:r>
          </a:p>
        </p:txBody>
      </p:sp>
      <p:sp>
        <p:nvSpPr>
          <p:cNvPr id="17" name="TextBox 16"/>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E8A33D"/>
                </a:solidFill>
                <a:latin typeface="Arial"/>
                <a:cs typeface="Arial"/>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آمیزش و تنظیم لاجیت</a:t>
            </a:r>
          </a:p>
        </p:txBody>
      </p:sp>
      <p:sp>
        <p:nvSpPr>
          <p:cNvPr id="4" name="Rounded Rectangle 3"/>
          <p:cNvSpPr/>
          <p:nvPr/>
        </p:nvSpPr>
        <p:spPr>
          <a:xfrm>
            <a:off x="548640" y="1645920"/>
            <a:ext cx="5394960" cy="19659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آمیزش در فضای ویژگی</a:t>
            </a:r>
          </a:p>
        </p:txBody>
      </p:sp>
      <p:sp>
        <p:nvSpPr>
          <p:cNvPr id="6" name="TextBox 5"/>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مدل تا دوره دهم زیان آموزش را تقریباً صفر می‌کرد، یعنی حفظ می‌کرد. ترکیب محدب دو ویدیو نمونه‌هایی می‌سازد که در داده نیستند.</a:t>
            </a:r>
          </a:p>
        </p:txBody>
      </p:sp>
      <p:sp>
        <p:nvSpPr>
          <p:cNvPr id="7" name="Rounded Rectangle 6"/>
          <p:cNvSpPr/>
          <p:nvPr/>
        </p:nvSpPr>
        <p:spPr>
          <a:xfrm>
            <a:off x="6217920" y="1645920"/>
            <a:ext cx="539496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تنظیم لاجیت برای دم بلند</a:t>
            </a:r>
          </a:p>
        </p:txBody>
      </p:sp>
      <p:sp>
        <p:nvSpPr>
          <p:cNvPr id="9" name="TextBox 8"/>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مقداری متناسب با لگاریتم احتمال پیشین از لاجیت هر کلاس کسر می‌شود تا مرز تصمیم به سود کلاس‌های کمیاب جابه‌جا شود.</a:t>
            </a:r>
          </a:p>
        </p:txBody>
      </p:sp>
      <p:sp>
        <p:nvSpPr>
          <p:cNvPr id="10" name="Rounded Rectangle 9"/>
          <p:cNvSpPr/>
          <p:nvPr/>
        </p:nvSpPr>
        <p:spPr>
          <a:xfrm>
            <a:off x="548640" y="3794760"/>
            <a:ext cx="11064240" cy="105156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C9483B"/>
                </a:solidFill>
                <a:latin typeface="Arial"/>
                <a:cs typeface="Arial"/>
              </a:rPr>
              <a:t>آزمایشی که شکست خورد و از آن یاد گرفتیم</a:t>
            </a:r>
          </a:p>
        </p:txBody>
      </p:sp>
      <p:sp>
        <p:nvSpPr>
          <p:cNvPr id="12" name="TextBox 11"/>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3" name="Table 12"/>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میانگین بذرها</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نتیجه گروهی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Arial"/>
                          <a:cs typeface="Arial"/>
                        </a:rPr>
                        <a:t>پایه ViT-L</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0.4122</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0.6897</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0.4786</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آمیزش ۰٫۲</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0.4203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0.4714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1" i="0">
                          <a:solidFill>
                            <a:srgbClr val="16264F"/>
                          </a:solidFill>
                          <a:latin typeface="Arial"/>
                          <a:cs typeface="Arial"/>
                        </a:rPr>
                        <a:t>آمیزش ۰٫۲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0.4147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0.6897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0.5000</a:t>
                      </a:r>
                    </a:p>
                  </a:txBody>
                  <a:tcPr marL="36576" marR="36576" marT="18288" marB="18288" anchor="ctr">
                    <a:solidFill>
                      <a:srgbClr val="FFF2DC"/>
                    </a:solidFill>
                  </a:tcPr>
                </a:tc>
              </a:tr>
              <a:tr h="274320">
                <a:tc>
                  <a:txBody>
                    <a:bodyPr wrap="square"/>
                    <a:lstStyle/>
                    <a:p>
                      <a:pPr rtl="1" algn="r">
                        <a:spcBef>
                          <a:spcPts val="0"/>
                        </a:spcBef>
                        <a:spcAft>
                          <a:spcPts val="0"/>
                        </a:spcAft>
                      </a:pPr>
                      <a:r>
                        <a:rPr sz="1150" b="0" i="0">
                          <a:solidFill>
                            <a:srgbClr val="1B2236"/>
                          </a:solidFill>
                          <a:latin typeface="Arial"/>
                          <a:cs typeface="Arial"/>
                        </a:rPr>
                        <a:t>آمیزش ۰٫۴ + تنظیم لاجیت</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0.4135</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0.4248</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0.6759</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0.4929</a:t>
                      </a:r>
                    </a:p>
                  </a:txBody>
                  <a:tcPr marL="36576" marR="36576" marT="18288" marB="18288"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مسیر بهبود، گام به گام</a:t>
            </a:r>
          </a:p>
        </p:txBody>
      </p:sp>
      <p:sp>
        <p:nvSpPr>
          <p:cNvPr id="4" name="Rectangle 3"/>
          <p:cNvSpPr/>
          <p:nvPr/>
        </p:nvSpPr>
        <p:spPr>
          <a:xfrm>
            <a:off x="1325880" y="4116977"/>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0.30</a:t>
            </a:r>
          </a:p>
        </p:txBody>
      </p:sp>
      <p:sp>
        <p:nvSpPr>
          <p:cNvPr id="6" name="Rectangle 5"/>
          <p:cNvSpPr/>
          <p:nvPr/>
        </p:nvSpPr>
        <p:spPr>
          <a:xfrm>
            <a:off x="1325880" y="3387634"/>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0.35</a:t>
            </a:r>
          </a:p>
        </p:txBody>
      </p:sp>
      <p:sp>
        <p:nvSpPr>
          <p:cNvPr id="8" name="Rectangle 7"/>
          <p:cNvSpPr/>
          <p:nvPr/>
        </p:nvSpPr>
        <p:spPr>
          <a:xfrm>
            <a:off x="1325880" y="2658291"/>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0.40</a:t>
            </a:r>
          </a:p>
        </p:txBody>
      </p:sp>
      <p:sp>
        <p:nvSpPr>
          <p:cNvPr id="10" name="Rectangle 9"/>
          <p:cNvSpPr/>
          <p:nvPr/>
        </p:nvSpPr>
        <p:spPr>
          <a:xfrm>
            <a:off x="1325880" y="1928948"/>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0.45</a:t>
            </a:r>
          </a:p>
        </p:txBody>
      </p:sp>
      <p:sp>
        <p:nvSpPr>
          <p:cNvPr id="12" name="Rectangle 11"/>
          <p:cNvSpPr/>
          <p:nvPr/>
        </p:nvSpPr>
        <p:spPr>
          <a:xfrm>
            <a:off x="1325880" y="4846320"/>
            <a:ext cx="10287000" cy="22860"/>
          </a:xfrm>
          <a:prstGeom prst="rect">
            <a:avLst/>
          </a:prstGeom>
          <a:solidFill>
            <a:srgbClr val="C7D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588769" y="4153444"/>
            <a:ext cx="1188720" cy="69287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0.2975</a:t>
            </a:r>
          </a:p>
        </p:txBody>
      </p:sp>
      <p:sp>
        <p:nvSpPr>
          <p:cNvPr id="15" name="TextBox 14"/>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MLP / ViT-B</a:t>
            </a:r>
          </a:p>
        </p:txBody>
      </p:sp>
      <p:sp>
        <p:nvSpPr>
          <p:cNvPr id="16" name="Rectangle 15"/>
          <p:cNvSpPr/>
          <p:nvPr/>
        </p:nvSpPr>
        <p:spPr>
          <a:xfrm>
            <a:off x="3303270" y="3469320"/>
            <a:ext cx="1188720" cy="1376999"/>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0.3444</a:t>
            </a:r>
          </a:p>
        </p:txBody>
      </p:sp>
      <p:sp>
        <p:nvSpPr>
          <p:cNvPr id="18" name="TextBox 17"/>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Temporal</a:t>
            </a:r>
          </a:p>
        </p:txBody>
      </p:sp>
      <p:sp>
        <p:nvSpPr>
          <p:cNvPr id="19" name="Rectangle 18"/>
          <p:cNvSpPr/>
          <p:nvPr/>
        </p:nvSpPr>
        <p:spPr>
          <a:xfrm>
            <a:off x="5017770" y="3176124"/>
            <a:ext cx="1188720" cy="167019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0.3645</a:t>
            </a:r>
          </a:p>
        </p:txBody>
      </p:sp>
      <p:sp>
        <p:nvSpPr>
          <p:cNvPr id="21" name="TextBox 20"/>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lr 3e-4</a:t>
            </a:r>
          </a:p>
        </p:txBody>
      </p:sp>
      <p:sp>
        <p:nvSpPr>
          <p:cNvPr id="22" name="Rectangle 21"/>
          <p:cNvSpPr/>
          <p:nvPr/>
        </p:nvSpPr>
        <p:spPr>
          <a:xfrm>
            <a:off x="6732270" y="2480331"/>
            <a:ext cx="1188720" cy="23659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0.4122</a:t>
            </a:r>
          </a:p>
        </p:txBody>
      </p:sp>
      <p:sp>
        <p:nvSpPr>
          <p:cNvPr id="24" name="TextBox 23"/>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ViT-L</a:t>
            </a:r>
          </a:p>
        </p:txBody>
      </p:sp>
      <p:sp>
        <p:nvSpPr>
          <p:cNvPr id="25" name="Rectangle 24"/>
          <p:cNvSpPr/>
          <p:nvPr/>
        </p:nvSpPr>
        <p:spPr>
          <a:xfrm>
            <a:off x="8446769" y="2423443"/>
            <a:ext cx="1188720" cy="24228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0.4161</a:t>
            </a:r>
          </a:p>
        </p:txBody>
      </p:sp>
      <p:sp>
        <p:nvSpPr>
          <p:cNvPr id="27" name="TextBox 26"/>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Mixup</a:t>
            </a:r>
          </a:p>
        </p:txBody>
      </p:sp>
      <p:sp>
        <p:nvSpPr>
          <p:cNvPr id="28" name="Rectangle 27"/>
          <p:cNvSpPr/>
          <p:nvPr/>
        </p:nvSpPr>
        <p:spPr>
          <a:xfrm>
            <a:off x="10161269" y="2223603"/>
            <a:ext cx="1188720" cy="262271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0.4298</a:t>
            </a:r>
          </a:p>
        </p:txBody>
      </p:sp>
      <p:sp>
        <p:nvSpPr>
          <p:cNvPr id="30" name="TextBox 29"/>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Logit adj.</a:t>
            </a:r>
          </a:p>
        </p:txBody>
      </p:sp>
      <p:sp>
        <p:nvSpPr>
          <p:cNvPr id="31" name="TextBox 30"/>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+0.1323</a:t>
            </a:r>
          </a:p>
        </p:txBody>
      </p:sp>
      <p:sp>
        <p:nvSpPr>
          <p:cNvPr id="32" name="TextBox 31"/>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بهبود مطلق ماکرو F1</a:t>
            </a:r>
          </a:p>
        </p:txBody>
      </p:sp>
      <p:sp>
        <p:nvSpPr>
          <p:cNvPr id="33" name="TextBox 32"/>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+44%</a:t>
            </a:r>
          </a:p>
        </p:txBody>
      </p:sp>
      <p:sp>
        <p:nvSpPr>
          <p:cNvPr id="34" name="TextBox 33"/>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بهبود نسبی</a:t>
            </a:r>
          </a:p>
        </p:txBody>
      </p:sp>
      <p:sp>
        <p:nvSpPr>
          <p:cNvPr id="35" name="TextBox 34"/>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Arial"/>
                <a:cs typeface="Arial"/>
              </a:rPr>
              <a:t>0.075</a:t>
            </a:r>
          </a:p>
        </p:txBody>
      </p:sp>
      <p:sp>
        <p:nvSpPr>
          <p:cNvPr id="36" name="TextBox 35"/>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صداقت روش‌شناختی</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آزمایش‌هایی که نتیجه ندادند</a:t>
            </a:r>
          </a:p>
        </p:txBody>
      </p:sp>
      <p:graphicFrame>
        <p:nvGraphicFramePr>
          <p:cNvPr id="4" name="Table 3"/>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FFFF"/>
                          </a:solidFill>
                          <a:latin typeface="Arial"/>
                          <a:cs typeface="Arial"/>
                        </a:rPr>
                        <a:t>آزمایش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نتیجه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مرجع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داوری</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Arial"/>
                          <a:cs typeface="Arial"/>
                        </a:rPr>
                        <a:t>نمونه‌برداری سبک Kinetics با گام ۴ فریم</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0.3089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0.3405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دو برابر کردن تعداد قطعه‌ها به ۳۲</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0.3875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الحاق ویژگی دو رمزگذار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آموزش با یک قطعه برتر</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تنظیم لاجیت به‌تنهایی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0.4114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میانگین‌گیری بذرها برای ماکرو F1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بازنویسی توصیف‌های متنی کلاس‌ها</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0.86</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EDF1F8"/>
                    </a:solidFill>
                  </a:tcPr>
                </a:tc>
              </a:tr>
            </a:tbl>
          </a:graphicData>
        </a:graphic>
      </p:graphicFrame>
      <p:sp>
        <p:nvSpPr>
          <p:cNvPr id="5" name="Rounded Rectangle 4"/>
          <p:cNvSpPr/>
          <p:nvPr/>
        </p:nvSpPr>
        <p:spPr>
          <a:xfrm>
            <a:off x="548640" y="4343400"/>
            <a:ext cx="1106424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چرا نمونه‌برداری استاندارد بدتر شد — مهم‌ترین یافته منفی</a:t>
            </a:r>
          </a:p>
        </p:txBody>
      </p:sp>
      <p:sp>
        <p:nvSpPr>
          <p:cNvPr id="7" name="TextBox 6"/>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1B2236"/>
                </a:solidFill>
                <a:latin typeface="Arial"/>
                <a:cs typeface="Arial"/>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1B2236"/>
                </a:solidFill>
                <a:latin typeface="Arial"/>
                <a:cs typeface="Arial"/>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اعتبارسنجی آماری</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چقدر از این اعداد نوفه است؟</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مجموعه آزمون با ۴۰۰۰ بار بازنمونه‌گیری خودگردان تحلیل شد تا پراکندگی مورد انتظار تخمین زده شود.</a:t>
            </a:r>
          </a:p>
        </p:txBody>
      </p:sp>
      <p:graphicFrame>
        <p:nvGraphicFramePr>
          <p:cNvPr id="5" name="Table 4"/>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FFFF"/>
                          </a:solidFill>
                          <a:latin typeface="Arial"/>
                          <a:cs typeface="Arial"/>
                        </a:rPr>
                        <a:t>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مقدار نقطه‌ای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انحراف 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بازه اطمینان ۹۵ درصد</a:t>
                      </a:r>
                    </a:p>
                  </a:txBody>
                  <a:tcPr marL="36576" marR="36576" marT="18288" marB="18288" anchor="ctr">
                    <a:solidFill>
                      <a:srgbClr val="16264F"/>
                    </a:solidFill>
                  </a:tcPr>
                </a:tc>
              </a:tr>
              <a:tr h="384048">
                <a:tc>
                  <a:txBody>
                    <a:bodyPr wrap="square"/>
                    <a:lstStyle/>
                    <a:p>
                      <a:pPr rtl="1" algn="r">
                        <a:spcBef>
                          <a:spcPts val="0"/>
                        </a:spcBef>
                        <a:spcAft>
                          <a:spcPts val="0"/>
                        </a:spcAft>
                      </a:pPr>
                      <a:r>
                        <a:rPr sz="1200" b="1" i="0">
                          <a:solidFill>
                            <a:srgbClr val="16264F"/>
                          </a:solidFill>
                          <a:latin typeface="Arial"/>
                          <a:cs typeface="Arial"/>
                        </a:rPr>
                        <a:t>ماکرو F1</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0.037</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[0.339 , 0.503]</a:t>
                      </a:r>
                    </a:p>
                  </a:txBody>
                  <a:tcPr marL="36576" marR="36576" marT="18288" marB="18288" anchor="ctr">
                    <a:solidFill>
                      <a:srgbClr val="FFF2DC"/>
                    </a:solidFill>
                  </a:tcPr>
                </a:tc>
              </a:tr>
              <a:tr h="384048">
                <a:tc>
                  <a:txBody>
                    <a:bodyPr wrap="square"/>
                    <a:lstStyle/>
                    <a:p>
                      <a:pPr rtl="1" algn="r">
                        <a:spcBef>
                          <a:spcPts val="0"/>
                        </a:spcBef>
                        <a:spcAft>
                          <a:spcPts val="0"/>
                        </a:spcAft>
                      </a:pPr>
                      <a:r>
                        <a:rPr sz="1200" b="0" i="0">
                          <a:solidFill>
                            <a:srgbClr val="1B2236"/>
                          </a:solidFill>
                          <a:latin typeface="Arial"/>
                          <a:cs typeface="Arial"/>
                        </a:rPr>
                        <a:t>صحت چندکلاسه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0.6897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0.027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[0.635 , 0.745]</a:t>
                      </a:r>
                    </a:p>
                  </a:txBody>
                  <a:tcPr marL="36576" marR="36576" marT="18288" marB="18288" anchor="ctr">
                    <a:solidFill>
                      <a:srgbClr val="FFFFFF"/>
                    </a:solidFill>
                  </a:tcPr>
                </a:tc>
              </a:tr>
              <a:tr h="384048">
                <a:tc>
                  <a:txBody>
                    <a:bodyPr wrap="square"/>
                    <a:lstStyle/>
                    <a:p>
                      <a:pPr rtl="1" algn="r">
                        <a:spcBef>
                          <a:spcPts val="0"/>
                        </a:spcBef>
                        <a:spcAft>
                          <a:spcPts val="0"/>
                        </a:spcAft>
                      </a:pPr>
                      <a:r>
                        <a:rPr sz="1200" b="0" i="0">
                          <a:solidFill>
                            <a:srgbClr val="1B2236"/>
                          </a:solidFill>
                          <a:latin typeface="Arial"/>
                          <a:cs typeface="Arial"/>
                        </a:rPr>
                        <a:t>صحت نوع ناهنجاری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0.5000</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0.041</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[0.420 , 0.585]</a:t>
                      </a:r>
                    </a:p>
                  </a:txBody>
                  <a:tcPr marL="36576" marR="36576" marT="18288" marB="18288" anchor="ctr">
                    <a:solidFill>
                      <a:srgbClr val="EDF1F8"/>
                    </a:solidFill>
                  </a:tcPr>
                </a:tc>
              </a:tr>
              <a:tr h="384048">
                <a:tc>
                  <a:txBody>
                    <a:bodyPr wrap="square"/>
                    <a:lstStyle/>
                    <a:p>
                      <a:pPr rtl="1" algn="r">
                        <a:spcBef>
                          <a:spcPts val="0"/>
                        </a:spcBef>
                        <a:spcAft>
                          <a:spcPts val="0"/>
                        </a:spcAft>
                      </a:pPr>
                      <a:r>
                        <a:rPr sz="1200" b="0" i="0">
                          <a:solidFill>
                            <a:srgbClr val="1B2236"/>
                          </a:solidFill>
                          <a:latin typeface="Arial"/>
                          <a:cs typeface="Arial"/>
                        </a:rPr>
                        <a:t>AUC دودویی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0.9610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0.011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[0.938 , 0.980]</a:t>
                      </a:r>
                    </a:p>
                  </a:txBody>
                  <a:tcPr marL="36576" marR="36576" marT="18288" marB="18288" anchor="ctr">
                    <a:solidFill>
                      <a:srgbClr val="FFFFFF"/>
                    </a:solidFill>
                  </a:tcPr>
                </a:tc>
              </a:tr>
            </a:tbl>
          </a:graphicData>
        </a:graphic>
      </p:graphicFrame>
      <p:sp>
        <p:nvSpPr>
          <p:cNvPr id="6" name="Rounded Rectangle 5"/>
          <p:cNvSpPr/>
          <p:nvPr/>
        </p:nvSpPr>
        <p:spPr>
          <a:xfrm>
            <a:off x="7498079" y="2148840"/>
            <a:ext cx="411480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کف نوفه</a:t>
            </a:r>
          </a:p>
        </p:txBody>
      </p:sp>
      <p:sp>
        <p:nvSpPr>
          <p:cNvPr id="8" name="TextBox 7"/>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E8A33D"/>
                </a:solidFill>
                <a:latin typeface="Arial"/>
                <a:cs typeface="Arial"/>
              </a:rPr>
              <a:t>0.075</a:t>
            </a:r>
          </a:p>
        </p:txBody>
      </p:sp>
      <p:sp>
        <p:nvSpPr>
          <p:cNvPr id="9" name="TextBox 8"/>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اختلاف کمتر از این مقدار در ماکرو F1 روی این تقسیم از نوفه قابل تفکیک نیست.</a:t>
            </a:r>
          </a:p>
        </p:txBody>
      </p:sp>
      <p:sp>
        <p:nvSpPr>
          <p:cNvPr id="10" name="TextBox 9"/>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سقف تنظیم روی یک مجموعه آزمون کوچک</a:t>
            </a:r>
          </a:p>
        </p:txBody>
      </p:sp>
      <p:graphicFrame>
        <p:nvGraphicFramePr>
          <p:cNvPr id="11" name="Table 10"/>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FFFF"/>
                          </a:solidFill>
                          <a:latin typeface="Arial"/>
                          <a:cs typeface="Arial"/>
                        </a:rPr>
                        <a:t>تعداد ارزیابی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تورم مورد انتظار</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Arial"/>
                          <a:cs typeface="Arial"/>
                        </a:rPr>
                        <a:t>۸</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+0.069</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۵۰</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+0.095</a:t>
                      </a:r>
                    </a:p>
                  </a:txBody>
                  <a:tcPr marL="36576" marR="36576" marT="18288" marB="18288" anchor="ctr">
                    <a:solidFill>
                      <a:srgbClr val="FFFFFF"/>
                    </a:solidFill>
                  </a:tcPr>
                </a:tc>
              </a:tr>
              <a:tr h="301752">
                <a:tc>
                  <a:txBody>
                    <a:bodyPr wrap="square"/>
                    <a:lstStyle/>
                    <a:p>
                      <a:pPr rtl="1" algn="r">
                        <a:spcBef>
                          <a:spcPts val="0"/>
                        </a:spcBef>
                        <a:spcAft>
                          <a:spcPts val="0"/>
                        </a:spcAft>
                      </a:pPr>
                      <a:r>
                        <a:rPr sz="1200" b="1" i="0">
                          <a:solidFill>
                            <a:srgbClr val="16264F"/>
                          </a:solidFill>
                          <a:latin typeface="Arial"/>
                          <a:cs typeface="Arial"/>
                        </a:rPr>
                        <a:t>۲۰۰</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+0.111</a:t>
                      </a:r>
                    </a:p>
                  </a:txBody>
                  <a:tcPr marL="36576" marR="36576" marT="18288" marB="18288" anchor="ctr">
                    <a:solidFill>
                      <a:srgbClr val="FFF2DC"/>
                    </a:solidFill>
                  </a:tcPr>
                </a:tc>
              </a:tr>
            </a:tbl>
          </a:graphicData>
        </a:graphic>
      </p:graphicFrame>
      <p:sp>
        <p:nvSpPr>
          <p:cNvPr id="12" name="Rounded Rectangle 11"/>
          <p:cNvSpPr/>
          <p:nvPr/>
        </p:nvSpPr>
        <p:spPr>
          <a:xfrm>
            <a:off x="5120640" y="4754880"/>
            <a:ext cx="6492240" cy="13258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جمع‌بندی نتایج</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جدول کامل نتایج</a:t>
            </a:r>
          </a:p>
        </p:txBody>
      </p:sp>
      <p:graphicFrame>
        <p:nvGraphicFramePr>
          <p:cNvPr id="4" name="Table 3"/>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5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رمزگذار</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صحت کلی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AUC</a:t>
                      </a:r>
                    </a:p>
                  </a:txBody>
                  <a:tcPr marL="36576" marR="36576" marT="18288" marB="18288" anchor="ctr">
                    <a:solidFill>
                      <a:srgbClr val="16264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اسم خام کلاس، وزن دستی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0.3327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0.3716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0.6385</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0.9473</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توصیف بصری + وزن معکوس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0.6351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0.9637</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چهار نمای زمانی در آزمون</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0.3881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0.4257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0.6419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0.9629</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سر نقطه‌ای، خط پایه</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0.2975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0.3860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0.5660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سر ترنسفورمر زمانی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0.3444</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0.3930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0.6350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نرخ یادگیری ۰٫۰۰۰۳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0.3645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0.4210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0.6550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ارتقا به رمزگذار بزرگ</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VideoMAE ViT-L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0.4122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0.4786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0.6897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افزودن آمیزش</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ViT-L</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0.4714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1" i="0">
                          <a:solidFill>
                            <a:srgbClr val="16264F"/>
                          </a:solidFill>
                          <a:latin typeface="Arial"/>
                          <a:cs typeface="Arial"/>
                        </a:rPr>
                        <a:t>مسیر دوم — آمیزش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VideoMAE ViT-L</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0.5000</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0.6897</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0.9610</a:t>
                      </a:r>
                    </a:p>
                  </a:txBody>
                  <a:tcPr marL="36576" marR="36576" marT="18288" marB="18288" anchor="ctr">
                    <a:solidFill>
                      <a:srgbClr val="FFF2DC"/>
                    </a:solidFill>
                  </a:tcPr>
                </a:tc>
              </a:tr>
            </a:tbl>
          </a:graphicData>
        </a:graphic>
      </p:graphicFrame>
      <p:sp>
        <p:nvSpPr>
          <p:cNvPr id="5" name="TextBox 4"/>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6A748C"/>
                </a:solidFill>
                <a:latin typeface="Arial"/>
                <a:cs typeface="Arial"/>
              </a:rPr>
              <a:t>مسیر اول روی تقسیمی با ۲۹۶ ویدیوی آزمون و مسیر دوم روی تقسیم استاندارد با ۲۹۰ ویدیو اجرا شده‌اند.</a:t>
            </a:r>
          </a:p>
        </p:txBody>
      </p:sp>
      <p:sp>
        <p:nvSpPr>
          <p:cNvPr id="6" name="TextBox 5"/>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Arial"/>
                <a:cs typeface="Arial"/>
              </a:rPr>
              <a:t>0.4298</a:t>
            </a:r>
          </a:p>
        </p:txBody>
      </p:sp>
      <p:sp>
        <p:nvSpPr>
          <p:cNvPr id="7" name="TextBox 6"/>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ماکرو F1 نهایی</a:t>
            </a:r>
          </a:p>
        </p:txBody>
      </p:sp>
      <p:sp>
        <p:nvSpPr>
          <p:cNvPr id="8" name="TextBox 7"/>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0.5000</a:t>
            </a:r>
          </a:p>
        </p:txBody>
      </p:sp>
      <p:sp>
        <p:nvSpPr>
          <p:cNvPr id="9" name="TextBox 8"/>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صحت نوع ناهنجاری</a:t>
            </a:r>
          </a:p>
        </p:txBody>
      </p:sp>
      <p:sp>
        <p:nvSpPr>
          <p:cNvPr id="10" name="TextBox 9"/>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0.6897</a:t>
            </a:r>
          </a:p>
        </p:txBody>
      </p:sp>
      <p:sp>
        <p:nvSpPr>
          <p:cNvPr id="11" name="TextBox 10"/>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Arial"/>
                <a:cs typeface="Arial"/>
              </a:rPr>
              <a:t>جمع‌بندی و کارهای آینده</a:t>
            </a:r>
          </a:p>
        </p:txBody>
      </p:sp>
      <p:sp>
        <p:nvSpPr>
          <p:cNvPr id="4" name="Rounded Rectangle 3"/>
          <p:cNvSpPr/>
          <p:nvPr/>
        </p:nvSpPr>
        <p:spPr>
          <a:xfrm>
            <a:off x="640080" y="1600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7FD3CC"/>
                </a:solidFill>
                <a:latin typeface="Arial"/>
                <a:cs typeface="Arial"/>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5C27A"/>
                </a:solidFill>
                <a:latin typeface="Arial"/>
                <a:cs typeface="Arial"/>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BFD4F2"/>
                </a:solidFill>
                <a:latin typeface="Arial"/>
                <a:cs typeface="Arial"/>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1B1300"/>
                </a:solidFill>
                <a:latin typeface="Arial"/>
                <a:cs typeface="Arial"/>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