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macro F1</c:v>
                </c:pt>
              </c:strCache>
            </c:strRef>
          </c:tx>
          <c:spPr>
            <a:solidFill>
              <a:srgbClr val="16264F"/>
            </a:solidFill>
            <a:effectLst/>
          </c:spPr>
          <c:invertIfNegative val="0"/>
          <c:dLbls>
            <c:numFmt formatCode="0.0000" sourceLinked="0"/>
            <c:txPr>
              <a:bodyPr/>
              <a:lstStyle/>
              <a:p>
                <a:pPr>
                  <a:defRPr b="0" i="0" strike="noStrike" sz="1100" u="none">
                    <a:solidFill>
                      <a:srgbClr val="1B2236"/>
                    </a:solidFill>
                    <a:latin typeface="Arial"/>
                  </a:defRPr>
                </a:pPr>
              </a:p>
            </c:txPr>
            <c:showLegendKey val="0"/>
            <c:showVal val="1"/>
            <c:showCatName val="0"/>
            <c:showSerName val="0"/>
            <c:showPercent val="0"/>
            <c:showBubbleSize val="0"/>
            <c:showLeaderLines val="0"/>
          </c:dLbls>
          <c:dPt>
            <c:idx val="0"/>
            <c:invertIfNegative val="0"/>
            <c:bubble3D val="0"/>
            <c:spPr>
              <a:solidFill>
                <a:srgbClr val="16264F"/>
              </a:solidFill>
              <a:effectLst/>
            </c:spPr>
          </c:dPt>
          <c:dPt>
            <c:idx val="1"/>
            <c:invertIfNegative val="0"/>
            <c:bubble3D val="0"/>
            <c:spPr>
              <a:solidFill>
                <a:srgbClr val="16264F"/>
              </a:solidFill>
              <a:effectLst/>
            </c:spPr>
          </c:dPt>
          <c:dPt>
            <c:idx val="2"/>
            <c:invertIfNegative val="0"/>
            <c:bubble3D val="0"/>
            <c:spPr>
              <a:solidFill>
                <a:srgbClr val="16264F"/>
              </a:solidFill>
              <a:effectLst/>
            </c:spPr>
          </c:dPt>
          <c:dPt>
            <c:idx val="3"/>
            <c:invertIfNegative val="0"/>
            <c:bubble3D val="0"/>
            <c:spPr>
              <a:solidFill>
                <a:srgbClr val="E8A33D"/>
              </a:solidFill>
              <a:effectLst/>
            </c:spPr>
          </c:dPt>
          <c:dPt>
            <c:idx val="4"/>
            <c:invertIfNegative val="0"/>
            <c:bubble3D val="0"/>
            <c:spPr>
              <a:solidFill>
                <a:srgbClr val="E8A33D"/>
              </a:solidFill>
              <a:effectLst/>
            </c:spPr>
          </c:dPt>
          <c:dPt>
            <c:idx val="5"/>
            <c:invertIfNegative val="0"/>
            <c:bubble3D val="0"/>
            <c:spPr>
              <a:solidFill>
                <a:srgbClr val="E8A33D"/>
              </a:solidFill>
              <a:effectLst/>
            </c:spPr>
          </c:dPt>
          <c:cat>
            <c:multiLvlStrRef>
              <c:f>Sheet1!$A$2:$A$7</c:f>
              <c:multiLvlStrCache>
                <c:ptCount val="6"/>
                <c:lvl>
                  <c:pt idx="0">
                    <c:v>MLP / ViT-B</c:v>
                  </c:pt>
                  <c:pt idx="1">
                    <c:v>+ Temporal</c:v>
                  </c:pt>
                  <c:pt idx="2">
                    <c:v>+ lr 3e-4</c:v>
                  </c:pt>
                  <c:pt idx="3">
                    <c:v>+ ViT-L</c:v>
                  </c:pt>
                  <c:pt idx="4">
                    <c:v>+ Mixup</c:v>
                  </c:pt>
                  <c:pt idx="5">
                    <c:v>+ Logit adj.</c:v>
                  </c:pt>
                </c:lvl>
              </c:multiLvlStrCache>
            </c:multiLvlStrRef>
          </c:cat>
          <c:val>
            <c:numRef>
              <c:f>Sheet1!$B$2:$B$7</c:f>
              <c:numCache>
                <c:formatCode>General</c:formatCode>
                <c:ptCount val="6"/>
                <c:pt idx="0">
                  <c:v>0.2975</c:v>
                </c:pt>
                <c:pt idx="1">
                  <c:v>0.3444</c:v>
                </c:pt>
                <c:pt idx="2">
                  <c:v>0.3645</c:v>
                </c:pt>
                <c:pt idx="3">
                  <c:v>0.4122</c:v>
                </c:pt>
                <c:pt idx="4">
                  <c:v>0.4161</c:v>
                </c:pt>
                <c:pt idx="5">
                  <c:v>0.4298</c:v>
                </c:pt>
              </c:numCache>
            </c:numRef>
          </c:val>
        </c:ser>
        <c:dLbls>
          <c:numFmt formatCode="0.0000" sourceLinked="0"/>
          <c:txPr>
            <a:bodyPr/>
            <a:lstStyle/>
            <a:p>
              <a:pPr>
                <a:defRPr b="0" i="0" strike="noStrike" sz="1100" u="none">
                  <a:solidFill>
                    <a:srgbClr val="1B2236"/>
                  </a:solidFill>
                  <a:latin typeface="Arial"/>
                </a:defRPr>
              </a:pPr>
            </a:p>
          </c:txPr>
          <c:showLegendKey val="0"/>
          <c:showVal val="1"/>
          <c:showCatName val="0"/>
          <c:showSerName val="0"/>
          <c:showPercent val="0"/>
          <c:showBubbleSize val="0"/>
          <c:showLeaderLines val="0"/>
        </c:dLbls>
        <c:gapWidth val="5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236"/>
                </a:solidFill>
                <a:latin typeface="Arial"/>
              </a:defRPr>
            </a:pPr>
            <a:endParaRPr lang="en-US"/>
          </a:p>
        </c:txPr>
        <c:crossAx val="2094734552"/>
        <c:crosses val="autoZero"/>
        <c:auto val="1"/>
        <c:lblAlgn val="ctr"/>
        <c:noMultiLvlLbl val="1"/>
      </c:catAx>
      <c:valAx>
        <c:axId val="2094734552"/>
        <c:scaling>
          <c:orientation val="minMax"/>
          <c:max val="0.46"/>
          <c:min val="0.25"/>
        </c:scaling>
        <c:delete val="0"/>
        <c:axPos val="l"/>
        <c:majorGridlines>
          <c:spPr>
            <a:ln w="12700" cap="flat">
              <a:solidFill>
                <a:srgbClr val="E4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A748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معرفی: پروژه تبدیل یک سامانه تشخیص ناهنجاری دودویی به سامانه چهارده‌کلاسه است. عدد نهایی ماکرو F1 برابر 0.4298 در برابر خط پایه 0.2975.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تفاوت کلیدی: بیشتر پژوهش‌ها مسئله را دودویی تعریف می‌کنند. ما یک گام جلوتر رفتیم.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نامتوازنی هم آموزش را دشوار می‌کند و هم ارزیابی را نوفه‌آلود. این نکته در تفسیر همه اعداد برمی‌گردد.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توزیع استاندارد UCF-Crime است و جمعش دقیقا 1610 می‌شود. پیش از جلسه اعداد را از فایل تقسیم خودتان تایید کنید.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مهم: پیش از جلسه اعداد دقیق هر کلاس را از فایل‌های تقسیم خودتان چاپ کنید. ستون دوم از گزارش آزمایش‌ها بازسازی شده و ستون سوم تقریبی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نظارت ضعیف یک معامله است: داده بیشتر با کیفیت برچسب کمتر. MIL چارچوب استانداردی است که با آن کار 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مسیر اول روی کد UMIL بنا شد. ماکرو F1 از 0.3327 به 0.3881 رسید.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نکته کلیدی: در X-CLIP، وزن‌های طبقه‌بند از متن ساخته می‌شوند. این همان جایی است که بعدا سقف پیدا شد.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سه اصلاح مقدم بر هر ایده جدیدی بود. بدون آن‌ها هیچ اندازه‌گیری قابل اعتماد نبود.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اصلاح، ریشه‌ای‌ترین تغییر در ارزیابی بود. مدل درست کار می‌کرد و مرحله تجمیع نتیجه را نابود می‌کرد.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نکته صادقانه: با وجود ۹ پیش‌بینی، هنوز هیچ‌کدام درست نبود. مشکل دوم بصری بود، نه وزنی.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اصطلاحات حقوقی انتزاعی در فضای زبانی خوشه می‌شوند؛ توصیف آنچه دوربین می‌بیند نه. این مهم‌ترین کشف مسیر اول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مسیر اول به 0.3881 رسید. دو دیوار باقی ماند: هزینه آزمایش و ماهیت مکانی خطای خوشه دزدی.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مسیر دوم از صفر نوشته شد. ماکرو F1 از 0.2975 به 0.4298 رسید.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پوشاندن لوله‌ای است: اگر جایی پوشانده شود، در همه فریم‌ها پوشانده می‌شود، تا مدل از فریم بغلی کپی نکند.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تصمیم خودش نتیجه را بهتر نکرد. اجازه داد بقیه چیزها را پیدا کنیم. با ۱۶ ساعت، هیچ‌کدام از یافته‌های بعدی ممکن نبود.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ویدیوی ۴۰ مگابایتی به آرایه ۶۴ کیلوبایتی تبدیل می‌شود. این فشرده‌سازی، کل معماری را ممکن کرده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تغییر از تحلیل خطا آمد، نه از جستجوی ابرپارامتر. تعبیه جایگاهی لازم است چون خودتوجهی نسبت به جایگشت هم‌ارز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دو بازه هیچ همپوشانی ندارند. بدترین بذر ViT-L از بهترین بذر ViT-B بالاتر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ترکیب روی هر سه معیار بهترین یا هم‌ارز بهترین است. سه ترکیب مقایسه شد، پس تورم انتخاب حدود ۰٫۰۵ است؛ دفاع مکانیزمی است نه آماری.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دو گام از شش گام بیشترین سهم را داشتند: توجه زمانی و ارتقای رمزگذار. هر دو از تحلیل خطا آمدند.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گزارش نتایج منفی بخشی از نتیجه است، نه حاشیه آن. هر کدام یک فرضیه معقول را رد 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تحلیل تفسیر کل پروژه را عوض کرد. ارتقای رمزگذار از کف نوفه عبور می‌کند؛ بقیه بهبودها با احتیاط گزارش می‌شوند.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جدول کامل نتایج هر دو مسیر است. عدد قابل دفاع نهایی 0.4298 با بودجه ثابت و بدون انتخاب روی مجموعه آزمون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پایان. سوال‌های محتمل: چرا رمزگذار را تنظیم دقیق نکردید، چرا عدد از مقالات پیشرفته پایین‌تر است، و از کجا معلوم آستانه روی تست تنظیم نشده.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4F"/>
        </a:solidFill>
      </p:bgPr>
    </p:bg>
    <p:spTree>
      <p:nvGrpSpPr>
        <p:cNvPr id="1" name=""/>
        <p:cNvGrpSpPr/>
        <p:nvPr/>
      </p:nvGrpSpPr>
      <p:grpSpPr>
        <a:xfrm>
          <a:off x="0" y="0"/>
          <a:ext cx="0" cy="0"/>
          <a:chOff x="0" y="0"/>
          <a:chExt cx="0" cy="0"/>
        </a:xfrm>
      </p:grpSpPr>
      <p:sp>
        <p:nvSpPr>
          <p:cNvPr id="2" name="Shape 0"/>
          <p:cNvSpPr/>
          <p:nvPr/>
        </p:nvSpPr>
        <p:spPr>
          <a:xfrm>
            <a:off x="8503920" y="-1463040"/>
            <a:ext cx="5669280" cy="5669280"/>
          </a:xfrm>
          <a:prstGeom prst="ellipse">
            <a:avLst/>
          </a:prstGeom>
          <a:solidFill>
            <a:srgbClr val="1E3566"/>
          </a:solidFill>
          <a:ln w="12700">
            <a:solidFill>
              <a:srgbClr val="333333"/>
            </a:solidFill>
            <a:prstDash val="solid"/>
          </a:ln>
        </p:spPr>
      </p:sp>
      <p:sp>
        <p:nvSpPr>
          <p:cNvPr id="3" name="Shape 1"/>
          <p:cNvSpPr/>
          <p:nvPr/>
        </p:nvSpPr>
        <p:spPr>
          <a:xfrm>
            <a:off x="9966960" y="3291840"/>
            <a:ext cx="3291840" cy="3291840"/>
          </a:xfrm>
          <a:prstGeom prst="ellipse">
            <a:avLst/>
          </a:prstGeom>
          <a:solidFill>
            <a:srgbClr val="24427D"/>
          </a:solidFill>
          <a:ln w="12700">
            <a:solidFill>
              <a:srgbClr val="333333"/>
            </a:solidFill>
            <a:prstDash val="solid"/>
          </a:ln>
        </p:spPr>
      </p:sp>
      <p:sp>
        <p:nvSpPr>
          <p:cNvPr id="4" name="Text 2"/>
          <p:cNvSpPr txBox="1"/>
          <p:nvPr/>
        </p:nvSpPr>
        <p:spPr>
          <a:xfrm>
            <a:off x="731520" y="1371600"/>
            <a:ext cx="7680960" cy="365760"/>
          </a:xfrm>
          <a:prstGeom prst="rect">
            <a:avLst/>
          </a:prstGeom>
          <a:noFill/>
          <a:ln/>
        </p:spPr>
        <p:txBody>
          <a:bodyPr wrap="square" lIns="0" tIns="0" rIns="0" bIns="0" rtlCol="0" anchor="t"/>
          <a:lstStyle/>
          <a:p>
            <a:pPr rtl="1" algn="r" indent="0" marL="0">
              <a:buNone/>
            </a:pPr>
            <a:r>
              <a:rPr lang="en-US" sz="1400" b="1" dirty="0">
                <a:solidFill>
                  <a:srgbClr val="E8A33D"/>
                </a:solidFill>
                <a:latin typeface="Arial" pitchFamily="34" charset="0"/>
                <a:ea typeface="Arial" pitchFamily="34" charset="-122"/>
                <a:cs typeface="Arial" pitchFamily="34" charset="-120"/>
              </a:rPr>
              <a:t>پایان‌نامه کارشناسی مهندسی کامپیوتر</a:t>
            </a:r>
            <a:endParaRPr lang="en-US" sz="1400" dirty="0"/>
          </a:p>
        </p:txBody>
      </p:sp>
      <p:sp>
        <p:nvSpPr>
          <p:cNvPr id="5" name="Text 3"/>
          <p:cNvSpPr txBox="1"/>
          <p:nvPr/>
        </p:nvSpPr>
        <p:spPr>
          <a:xfrm>
            <a:off x="731520" y="1874520"/>
            <a:ext cx="7680960" cy="1737360"/>
          </a:xfrm>
          <a:prstGeom prst="rect">
            <a:avLst/>
          </a:prstGeom>
          <a:noFill/>
          <a:ln/>
        </p:spPr>
        <p:txBody>
          <a:bodyPr wrap="square" lIns="0" tIns="0" rIns="0" bIns="0" rtlCol="0" anchor="t"/>
          <a:lstStyle/>
          <a:p>
            <a:pPr rtl="1" algn="r" indent="0" marL="0">
              <a:lnSpc>
                <a:spcPts val="4800"/>
              </a:lnSpc>
              <a:buNone/>
            </a:pPr>
            <a:r>
              <a:rPr lang="en-US" sz="4000" b="1" dirty="0">
                <a:solidFill>
                  <a:srgbClr val="FFFFFF"/>
                </a:solidFill>
                <a:latin typeface="Arial" pitchFamily="34" charset="0"/>
                <a:ea typeface="Arial" pitchFamily="34" charset="-122"/>
                <a:cs typeface="Arial" pitchFamily="34" charset="-120"/>
              </a:rPr>
              <a:t>تشخیص نوع ناهنجاری</a:t>
            </a:r>
            <a:endParaRPr lang="en-US" sz="4000" dirty="0"/>
          </a:p>
          <a:p>
            <a:pPr rtl="1" algn="r" indent="0" marL="0">
              <a:lnSpc>
                <a:spcPts val="4800"/>
              </a:lnSpc>
              <a:buNone/>
            </a:pPr>
            <a:r>
              <a:rPr lang="en-US" sz="4000" b="1" dirty="0">
                <a:solidFill>
                  <a:srgbClr val="FFFFFF"/>
                </a:solidFill>
                <a:latin typeface="Arial" pitchFamily="34" charset="0"/>
                <a:ea typeface="Arial" pitchFamily="34" charset="-122"/>
                <a:cs typeface="Arial" pitchFamily="34" charset="-120"/>
              </a:rPr>
              <a:t>در ویدیوهای نظارتی</a:t>
            </a:r>
            <a:endParaRPr lang="en-US" sz="4000" dirty="0"/>
          </a:p>
        </p:txBody>
      </p:sp>
      <p:sp>
        <p:nvSpPr>
          <p:cNvPr id="6" name="Text 4"/>
          <p:cNvSpPr txBox="1"/>
          <p:nvPr/>
        </p:nvSpPr>
        <p:spPr>
          <a:xfrm>
            <a:off x="731520" y="3703320"/>
            <a:ext cx="7680960" cy="457200"/>
          </a:xfrm>
          <a:prstGeom prst="rect">
            <a:avLst/>
          </a:prstGeom>
          <a:noFill/>
          <a:ln/>
        </p:spPr>
        <p:txBody>
          <a:bodyPr wrap="square" lIns="0" tIns="0" rIns="0" bIns="0" rtlCol="0" anchor="t"/>
          <a:lstStyle/>
          <a:p>
            <a:pPr rtl="1" algn="r" indent="0" marL="0">
              <a:buNone/>
            </a:pPr>
            <a:r>
              <a:rPr lang="en-US" sz="1600" dirty="0">
                <a:solidFill>
                  <a:srgbClr val="BFD4F2"/>
                </a:solidFill>
                <a:latin typeface="Arial" pitchFamily="34" charset="0"/>
                <a:ea typeface="Arial" pitchFamily="34" charset="-122"/>
                <a:cs typeface="Arial" pitchFamily="34" charset="-120"/>
              </a:rPr>
              <a:t>یادگیری چندنمونه‌ای ضعیف‌نظارت با ستون فقرات ترنسفورمر ویدیویی</a:t>
            </a:r>
            <a:endParaRPr lang="en-US" sz="1600" dirty="0"/>
          </a:p>
        </p:txBody>
      </p:sp>
      <p:sp>
        <p:nvSpPr>
          <p:cNvPr id="7" name="Text 5"/>
          <p:cNvSpPr txBox="1"/>
          <p:nvPr/>
        </p:nvSpPr>
        <p:spPr>
          <a:xfrm>
            <a:off x="731520" y="4709160"/>
            <a:ext cx="2743200" cy="274320"/>
          </a:xfrm>
          <a:prstGeom prst="rect">
            <a:avLst/>
          </a:prstGeom>
          <a:noFill/>
          <a:ln/>
        </p:spPr>
        <p:txBody>
          <a:bodyPr wrap="square" lIns="0" tIns="0" rIns="0" bIns="0" rtlCol="0" anchor="t"/>
          <a:lstStyle/>
          <a:p>
            <a:pPr rtl="1" algn="r" indent="0" marL="0">
              <a:buNone/>
            </a:pPr>
            <a:r>
              <a:rPr lang="en-US" sz="1200" dirty="0">
                <a:solidFill>
                  <a:srgbClr val="BFD4F2"/>
                </a:solidFill>
                <a:latin typeface="Arial" pitchFamily="34" charset="0"/>
                <a:ea typeface="Arial" pitchFamily="34" charset="-122"/>
                <a:cs typeface="Arial" pitchFamily="34" charset="-120"/>
              </a:rPr>
              <a:t>ماکرو F1 نهایی</a:t>
            </a:r>
            <a:endParaRPr lang="en-US" sz="1200" dirty="0"/>
          </a:p>
        </p:txBody>
      </p:sp>
      <p:sp>
        <p:nvSpPr>
          <p:cNvPr id="8" name="Text 6"/>
          <p:cNvSpPr txBox="1"/>
          <p:nvPr/>
        </p:nvSpPr>
        <p:spPr>
          <a:xfrm>
            <a:off x="731520" y="4983480"/>
            <a:ext cx="2743200" cy="731520"/>
          </a:xfrm>
          <a:prstGeom prst="rect">
            <a:avLst/>
          </a:prstGeom>
          <a:noFill/>
          <a:ln/>
        </p:spPr>
        <p:txBody>
          <a:bodyPr wrap="square" lIns="0" tIns="0" rIns="0" bIns="0" rtlCol="0" anchor="t"/>
          <a:lstStyle/>
          <a:p>
            <a:pPr algn="l" indent="0" marL="0">
              <a:buNone/>
            </a:pPr>
            <a:r>
              <a:rPr lang="en-US" sz="4200" b="1" dirty="0">
                <a:solidFill>
                  <a:srgbClr val="E8A33D"/>
                </a:solidFill>
                <a:latin typeface="Arial" pitchFamily="34" charset="0"/>
                <a:ea typeface="Arial" pitchFamily="34" charset="-122"/>
                <a:cs typeface="Arial" pitchFamily="34" charset="-120"/>
              </a:rPr>
              <a:t>0.4298</a:t>
            </a:r>
            <a:endParaRPr lang="en-US" sz="4200" dirty="0"/>
          </a:p>
        </p:txBody>
      </p:sp>
      <p:sp>
        <p:nvSpPr>
          <p:cNvPr id="9" name="Text 7"/>
          <p:cNvSpPr txBox="1"/>
          <p:nvPr/>
        </p:nvSpPr>
        <p:spPr>
          <a:xfrm>
            <a:off x="3657600" y="5230368"/>
            <a:ext cx="2926080" cy="365760"/>
          </a:xfrm>
          <a:prstGeom prst="rect">
            <a:avLst/>
          </a:prstGeom>
          <a:noFill/>
          <a:ln/>
        </p:spPr>
        <p:txBody>
          <a:bodyPr wrap="square" lIns="0" tIns="0" rIns="0" bIns="0" rtlCol="0" anchor="t"/>
          <a:lstStyle/>
          <a:p>
            <a:pPr rtl="1" algn="r" indent="0" marL="0">
              <a:buNone/>
            </a:pPr>
            <a:r>
              <a:rPr lang="en-US" sz="1300" dirty="0">
                <a:solidFill>
                  <a:srgbClr val="BFD4F2"/>
                </a:solidFill>
                <a:latin typeface="Arial" pitchFamily="34" charset="0"/>
                <a:ea typeface="Arial" pitchFamily="34" charset="-122"/>
                <a:cs typeface="Arial" pitchFamily="34" charset="-120"/>
              </a:rPr>
              <a:t>از خط پایه 0.2975</a:t>
            </a:r>
            <a:endParaRPr lang="en-US" sz="1300" dirty="0"/>
          </a:p>
        </p:txBody>
      </p:sp>
      <p:sp>
        <p:nvSpPr>
          <p:cNvPr id="10" name="Text 8"/>
          <p:cNvSpPr txBox="1"/>
          <p:nvPr/>
        </p:nvSpPr>
        <p:spPr>
          <a:xfrm>
            <a:off x="731520" y="6035040"/>
            <a:ext cx="7680960" cy="320040"/>
          </a:xfrm>
          <a:prstGeom prst="rect">
            <a:avLst/>
          </a:prstGeom>
          <a:noFill/>
          <a:ln/>
        </p:spPr>
        <p:txBody>
          <a:bodyPr wrap="square" lIns="0" tIns="0" rIns="0" bIns="0" rtlCol="0" anchor="t"/>
          <a:lstStyle/>
          <a:p>
            <a:pPr rtl="1" algn="r" indent="0" marL="0">
              <a:buNone/>
            </a:pPr>
            <a:r>
              <a:rPr lang="en-US" sz="1200" dirty="0">
                <a:solidFill>
                  <a:srgbClr val="8FA6D4"/>
                </a:solidFill>
                <a:latin typeface="Arial" pitchFamily="34" charset="0"/>
                <a:ea typeface="Arial" pitchFamily="34" charset="-122"/>
                <a:cs typeface="Arial" pitchFamily="34" charset="-120"/>
              </a:rPr>
              <a:t>دانشگاه صنعتی همدان  ·  گروه مهندسی کامپیوتر</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فصل اول</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صورت مسئله</a:t>
            </a:r>
            <a:endParaRPr lang="en-US" sz="3000" dirty="0"/>
          </a:p>
        </p:txBody>
      </p:sp>
      <p:sp>
        <p:nvSpPr>
          <p:cNvPr id="4" name="Shape 2"/>
          <p:cNvSpPr/>
          <p:nvPr/>
        </p:nvSpPr>
        <p:spPr>
          <a:xfrm>
            <a:off x="548640" y="1600200"/>
            <a:ext cx="5394960" cy="1920240"/>
          </a:xfrm>
          <a:prstGeom prst="roundRect">
            <a:avLst>
              <a:gd name="adj" fmla="val 4762"/>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5" name="Text 3"/>
          <p:cNvSpPr txBox="1"/>
          <p:nvPr/>
        </p:nvSpPr>
        <p:spPr>
          <a:xfrm>
            <a:off x="868680" y="1783080"/>
            <a:ext cx="4754880" cy="365760"/>
          </a:xfrm>
          <a:prstGeom prst="rect">
            <a:avLst/>
          </a:prstGeom>
          <a:noFill/>
          <a:ln/>
        </p:spPr>
        <p:txBody>
          <a:bodyPr wrap="square" lIns="0" tIns="0" rIns="0" bIns="0" rtlCol="0" anchor="t"/>
          <a:lstStyle/>
          <a:p>
            <a:pPr rtl="1" algn="r" indent="0" marL="0">
              <a:buNone/>
            </a:pPr>
            <a:r>
              <a:rPr lang="en-US" sz="1700" b="1" dirty="0">
                <a:solidFill>
                  <a:srgbClr val="6A748C"/>
                </a:solidFill>
                <a:latin typeface="Arial" pitchFamily="34" charset="0"/>
                <a:ea typeface="Arial" pitchFamily="34" charset="-122"/>
                <a:cs typeface="Arial" pitchFamily="34" charset="-120"/>
              </a:rPr>
              <a:t>مسئله متداول: تشخیص ناهنجاری</a:t>
            </a:r>
            <a:endParaRPr lang="en-US" sz="1700" dirty="0"/>
          </a:p>
        </p:txBody>
      </p:sp>
      <p:sp>
        <p:nvSpPr>
          <p:cNvPr id="6" name="Text 4"/>
          <p:cNvSpPr txBox="1"/>
          <p:nvPr/>
        </p:nvSpPr>
        <p:spPr>
          <a:xfrm>
            <a:off x="868680" y="2240280"/>
            <a:ext cx="4754880" cy="914400"/>
          </a:xfrm>
          <a:prstGeom prst="rect">
            <a:avLst/>
          </a:prstGeom>
          <a:noFill/>
          <a:ln/>
        </p:spPr>
        <p:txBody>
          <a:bodyPr wrap="square" lIns="0" tIns="0" rIns="0" bIns="0" rtlCol="0" anchor="t"/>
          <a:lstStyle/>
          <a:p>
            <a:pPr rtl="1" algn="r" indent="0" marL="0">
              <a:lnSpc>
                <a:spcPts val="2400"/>
              </a:lnSpc>
              <a:buNone/>
            </a:pPr>
            <a:r>
              <a:rPr lang="en-US" sz="1500" dirty="0">
                <a:solidFill>
                  <a:srgbClr val="1B2236"/>
                </a:solidFill>
                <a:latin typeface="Arial" pitchFamily="34" charset="0"/>
                <a:ea typeface="Arial" pitchFamily="34" charset="-122"/>
                <a:cs typeface="Arial" pitchFamily="34" charset="-120"/>
              </a:rPr>
              <a:t>آیا این ویدیو ناهنجار است؟</a:t>
            </a:r>
            <a:endParaRPr lang="en-US" sz="1500" dirty="0"/>
          </a:p>
          <a:p>
            <a:pPr rtl="1" algn="r" indent="0" marL="0">
              <a:lnSpc>
                <a:spcPts val="2400"/>
              </a:lnSpc>
              <a:buNone/>
            </a:pPr>
            <a:r>
              <a:rPr lang="en-US" sz="1500" dirty="0">
                <a:solidFill>
                  <a:srgbClr val="1B2236"/>
                </a:solidFill>
                <a:latin typeface="Arial" pitchFamily="34" charset="0"/>
                <a:ea typeface="Arial" pitchFamily="34" charset="-122"/>
                <a:cs typeface="Arial" pitchFamily="34" charset="-120"/>
              </a:rPr>
              <a:t>جواب: بله یا خیر</a:t>
            </a:r>
            <a:endParaRPr lang="en-US" sz="1500" dirty="0"/>
          </a:p>
        </p:txBody>
      </p:sp>
      <p:sp>
        <p:nvSpPr>
          <p:cNvPr id="7" name="Shape 5"/>
          <p:cNvSpPr/>
          <p:nvPr/>
        </p:nvSpPr>
        <p:spPr>
          <a:xfrm>
            <a:off x="6217920" y="1600200"/>
            <a:ext cx="5394960" cy="1920240"/>
          </a:xfrm>
          <a:prstGeom prst="roundRect">
            <a:avLst>
              <a:gd name="adj" fmla="val 4762"/>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8" name="Text 6"/>
          <p:cNvSpPr txBox="1"/>
          <p:nvPr/>
        </p:nvSpPr>
        <p:spPr>
          <a:xfrm>
            <a:off x="6537960" y="1783080"/>
            <a:ext cx="4754880" cy="365760"/>
          </a:xfrm>
          <a:prstGeom prst="rect">
            <a:avLst/>
          </a:prstGeom>
          <a:noFill/>
          <a:ln/>
        </p:spPr>
        <p:txBody>
          <a:bodyPr wrap="square" lIns="0" tIns="0" rIns="0" bIns="0" rtlCol="0" anchor="t"/>
          <a:lstStyle/>
          <a:p>
            <a:pPr rtl="1" algn="r" indent="0" marL="0">
              <a:buNone/>
            </a:pPr>
            <a:r>
              <a:rPr lang="en-US" sz="1700" b="1" dirty="0">
                <a:solidFill>
                  <a:srgbClr val="E8A33D"/>
                </a:solidFill>
                <a:latin typeface="Arial" pitchFamily="34" charset="0"/>
                <a:ea typeface="Arial" pitchFamily="34" charset="-122"/>
                <a:cs typeface="Arial" pitchFamily="34" charset="-120"/>
              </a:rPr>
              <a:t>مسئله ما: تشخیص نوع ناهنجاری</a:t>
            </a:r>
            <a:endParaRPr lang="en-US" sz="1700" dirty="0"/>
          </a:p>
        </p:txBody>
      </p:sp>
      <p:sp>
        <p:nvSpPr>
          <p:cNvPr id="9" name="Text 7"/>
          <p:cNvSpPr txBox="1"/>
          <p:nvPr/>
        </p:nvSpPr>
        <p:spPr>
          <a:xfrm>
            <a:off x="6537960" y="2240280"/>
            <a:ext cx="4754880" cy="914400"/>
          </a:xfrm>
          <a:prstGeom prst="rect">
            <a:avLst/>
          </a:prstGeom>
          <a:noFill/>
          <a:ln/>
        </p:spPr>
        <p:txBody>
          <a:bodyPr wrap="square" lIns="0" tIns="0" rIns="0" bIns="0" rtlCol="0" anchor="t"/>
          <a:lstStyle/>
          <a:p>
            <a:pPr rtl="1" algn="r" indent="0" marL="0">
              <a:lnSpc>
                <a:spcPts val="2400"/>
              </a:lnSpc>
              <a:buNone/>
            </a:pPr>
            <a:r>
              <a:rPr lang="en-US" sz="1500" dirty="0">
                <a:solidFill>
                  <a:srgbClr val="1B2236"/>
                </a:solidFill>
                <a:latin typeface="Arial" pitchFamily="34" charset="0"/>
                <a:ea typeface="Arial" pitchFamily="34" charset="-122"/>
                <a:cs typeface="Arial" pitchFamily="34" charset="-120"/>
              </a:rPr>
              <a:t>کدام نوع ناهنجاری رخ داده؟</a:t>
            </a:r>
            <a:endParaRPr lang="en-US" sz="1500" dirty="0"/>
          </a:p>
          <a:p>
            <a:pPr rtl="1" algn="r" indent="0" marL="0">
              <a:lnSpc>
                <a:spcPts val="2400"/>
              </a:lnSpc>
              <a:buNone/>
            </a:pPr>
            <a:r>
              <a:rPr lang="en-US" sz="1500" dirty="0">
                <a:solidFill>
                  <a:srgbClr val="1B2236"/>
                </a:solidFill>
                <a:latin typeface="Arial" pitchFamily="34" charset="0"/>
                <a:ea typeface="Arial" pitchFamily="34" charset="-122"/>
                <a:cs typeface="Arial" pitchFamily="34" charset="-120"/>
              </a:rPr>
              <a:t>جواب: یکی از ۱۴ کلاس</a:t>
            </a:r>
            <a:endParaRPr lang="en-US" sz="1500" dirty="0"/>
          </a:p>
        </p:txBody>
      </p:sp>
      <p:sp>
        <p:nvSpPr>
          <p:cNvPr id="10" name="Text 8"/>
          <p:cNvSpPr txBox="1"/>
          <p:nvPr/>
        </p:nvSpPr>
        <p:spPr>
          <a:xfrm>
            <a:off x="548640" y="3794760"/>
            <a:ext cx="11064240" cy="365760"/>
          </a:xfrm>
          <a:prstGeom prst="rect">
            <a:avLst/>
          </a:prstGeom>
          <a:noFill/>
          <a:ln/>
        </p:spPr>
        <p:txBody>
          <a:bodyPr wrap="square" lIns="0" tIns="0" rIns="0" bIns="0" rtlCol="0" anchor="t"/>
          <a:lstStyle/>
          <a:p>
            <a:pPr rtl="1" algn="r" indent="0" marL="0">
              <a:buNone/>
            </a:pPr>
            <a:r>
              <a:rPr lang="en-US" sz="1800" b="1" dirty="0">
                <a:solidFill>
                  <a:srgbClr val="16264F"/>
                </a:solidFill>
                <a:latin typeface="Arial" pitchFamily="34" charset="0"/>
                <a:ea typeface="Arial" pitchFamily="34" charset="-122"/>
                <a:cs typeface="Arial" pitchFamily="34" charset="-120"/>
              </a:rPr>
              <a:t>چرا این تفاوت مهم است</a:t>
            </a:r>
            <a:endParaRPr lang="en-US" sz="1800" dirty="0"/>
          </a:p>
        </p:txBody>
      </p:sp>
      <p:sp>
        <p:nvSpPr>
          <p:cNvPr id="11" name="Text 9"/>
          <p:cNvSpPr txBox="1"/>
          <p:nvPr/>
        </p:nvSpPr>
        <p:spPr>
          <a:xfrm>
            <a:off x="548640" y="4251960"/>
            <a:ext cx="11064240" cy="1463040"/>
          </a:xfrm>
          <a:prstGeom prst="rect">
            <a:avLst/>
          </a:prstGeom>
          <a:noFill/>
          <a:ln/>
        </p:spPr>
        <p:txBody>
          <a:bodyPr wrap="square" lIns="0" tIns="0" rIns="0" bIns="0" rtlCol="0" anchor="t"/>
          <a:lstStyle/>
          <a:p>
            <a:pPr algn="r" indent="0" marL="0">
              <a:lnSpc>
                <a:spcPts val="2200"/>
              </a:lnSpc>
              <a:spcAft>
                <a:spcPts val="700"/>
              </a:spcAft>
              <a:buNone/>
            </a:pPr>
            <a:r>
              <a:rPr lang="en-US" sz="1400" dirty="0">
                <a:solidFill>
                  <a:srgbClr val="1B2236"/>
                </a:solidFill>
                <a:latin typeface="Arial" pitchFamily="34" charset="0"/>
                <a:ea typeface="Arial" pitchFamily="34" charset="-122"/>
                <a:cs typeface="Arial" pitchFamily="34" charset="-120"/>
              </a:rPr>
              <a:t>●  پاسخ عملیاتی به تصادف رانندگی، آمبولانس است؛ به سرقت مسلحانه، نیروی مسلح.</a:t>
            </a:r>
            <a:endParaRPr lang="en-US" sz="1400" dirty="0"/>
          </a:p>
          <a:p>
            <a:pPr algn="r" indent="0" marL="0">
              <a:lnSpc>
                <a:spcPts val="2200"/>
              </a:lnSpc>
              <a:spcAft>
                <a:spcPts val="700"/>
              </a:spcAft>
              <a:buNone/>
            </a:pPr>
            <a:r>
              <a:rPr lang="en-US" sz="1400" dirty="0">
                <a:solidFill>
                  <a:srgbClr val="1B2236"/>
                </a:solidFill>
                <a:latin typeface="Arial" pitchFamily="34" charset="0"/>
                <a:ea typeface="Arial" pitchFamily="34" charset="-122"/>
                <a:cs typeface="Arial" pitchFamily="34" charset="-120"/>
              </a:rPr>
              <a:t>●  یک هشدار خام «ناهنجاری رخ داد» برای اپراتور قابل اقدام نیست.</a:t>
            </a:r>
            <a:endParaRPr lang="en-US" sz="1400" dirty="0"/>
          </a:p>
          <a:p>
            <a:pPr algn="r" indent="0" marL="0">
              <a:lnSpc>
                <a:spcPts val="2200"/>
              </a:lnSpc>
              <a:spcAft>
                <a:spcPts val="700"/>
              </a:spcAft>
              <a:buNone/>
            </a:pPr>
            <a:r>
              <a:rPr lang="en-US" sz="1400" dirty="0">
                <a:solidFill>
                  <a:srgbClr val="1B2236"/>
                </a:solidFill>
                <a:latin typeface="Arial" pitchFamily="34" charset="0"/>
                <a:ea typeface="Arial" pitchFamily="34" charset="-122"/>
                <a:cs typeface="Arial" pitchFamily="34" charset="-120"/>
              </a:rPr>
              <a:t>●  از نظر دشواری، مسئله چهارده‌کلاسه با نسخه دودویی قابل مقایسه نیست.</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داده</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مجموعه داده UCF-Crime</a:t>
            </a:r>
            <a:endParaRPr lang="en-US" sz="3000" dirty="0"/>
          </a:p>
        </p:txBody>
      </p:sp>
      <p:sp>
        <p:nvSpPr>
          <p:cNvPr id="4" name="Text 2"/>
          <p:cNvSpPr txBox="1"/>
          <p:nvPr/>
        </p:nvSpPr>
        <p:spPr>
          <a:xfrm>
            <a:off x="548640" y="1645920"/>
            <a:ext cx="2651760" cy="777240"/>
          </a:xfrm>
          <a:prstGeom prst="rect">
            <a:avLst/>
          </a:prstGeom>
          <a:noFill/>
          <a:ln/>
        </p:spPr>
        <p:txBody>
          <a:bodyPr wrap="square" lIns="0" tIns="0" rIns="0" bIns="0" rtlCol="0" anchor="ctr"/>
          <a:lstStyle/>
          <a:p>
            <a:pPr algn="ctr" indent="0" marL="0">
              <a:buNone/>
            </a:pPr>
            <a:r>
              <a:rPr lang="en-US" sz="4000" b="1" dirty="0">
                <a:solidFill>
                  <a:srgbClr val="16264F"/>
                </a:solidFill>
                <a:latin typeface="Arial" pitchFamily="34" charset="0"/>
                <a:ea typeface="Arial" pitchFamily="34" charset="-122"/>
                <a:cs typeface="Arial" pitchFamily="34" charset="-120"/>
              </a:rPr>
              <a:t>1900</a:t>
            </a:r>
            <a:endParaRPr lang="en-US" sz="4000" dirty="0"/>
          </a:p>
        </p:txBody>
      </p:sp>
      <p:sp>
        <p:nvSpPr>
          <p:cNvPr id="5" name="Text 3"/>
          <p:cNvSpPr txBox="1"/>
          <p:nvPr/>
        </p:nvSpPr>
        <p:spPr>
          <a:xfrm>
            <a:off x="548640" y="2395728"/>
            <a:ext cx="2651760" cy="457200"/>
          </a:xfrm>
          <a:prstGeom prst="rect">
            <a:avLst/>
          </a:prstGeom>
          <a:noFill/>
          <a:ln/>
        </p:spPr>
        <p:txBody>
          <a:bodyPr wrap="square" lIns="0" tIns="0" rIns="0" bIns="0" rtlCol="0" anchor="t"/>
          <a:lstStyle/>
          <a:p>
            <a:pPr rtl="1" algn="ctr" indent="0" marL="0">
              <a:buNone/>
            </a:pPr>
            <a:r>
              <a:rPr lang="en-US" sz="1200" dirty="0">
                <a:solidFill>
                  <a:srgbClr val="6A748C"/>
                </a:solidFill>
                <a:latin typeface="Arial" pitchFamily="34" charset="0"/>
                <a:ea typeface="Arial" pitchFamily="34" charset="-122"/>
                <a:cs typeface="Arial" pitchFamily="34" charset="-120"/>
              </a:rPr>
              <a:t>کل ویدیوها</a:t>
            </a:r>
            <a:endParaRPr lang="en-US" sz="1200" dirty="0"/>
          </a:p>
        </p:txBody>
      </p:sp>
      <p:sp>
        <p:nvSpPr>
          <p:cNvPr id="6" name="Text 4"/>
          <p:cNvSpPr txBox="1"/>
          <p:nvPr/>
        </p:nvSpPr>
        <p:spPr>
          <a:xfrm>
            <a:off x="3383280" y="1645920"/>
            <a:ext cx="2651760" cy="777240"/>
          </a:xfrm>
          <a:prstGeom prst="rect">
            <a:avLst/>
          </a:prstGeom>
          <a:noFill/>
          <a:ln/>
        </p:spPr>
        <p:txBody>
          <a:bodyPr wrap="square" lIns="0" tIns="0" rIns="0" bIns="0" rtlCol="0" anchor="ctr"/>
          <a:lstStyle/>
          <a:p>
            <a:pPr algn="ctr" indent="0" marL="0">
              <a:buNone/>
            </a:pPr>
            <a:r>
              <a:rPr lang="en-US" sz="4000" b="1" dirty="0">
                <a:solidFill>
                  <a:srgbClr val="16264F"/>
                </a:solidFill>
                <a:latin typeface="Arial" pitchFamily="34" charset="0"/>
                <a:ea typeface="Arial" pitchFamily="34" charset="-122"/>
                <a:cs typeface="Arial" pitchFamily="34" charset="-120"/>
              </a:rPr>
              <a:t>14</a:t>
            </a:r>
            <a:endParaRPr lang="en-US" sz="4000" dirty="0"/>
          </a:p>
        </p:txBody>
      </p:sp>
      <p:sp>
        <p:nvSpPr>
          <p:cNvPr id="7" name="Text 5"/>
          <p:cNvSpPr txBox="1"/>
          <p:nvPr/>
        </p:nvSpPr>
        <p:spPr>
          <a:xfrm>
            <a:off x="3383280" y="2395728"/>
            <a:ext cx="2651760" cy="457200"/>
          </a:xfrm>
          <a:prstGeom prst="rect">
            <a:avLst/>
          </a:prstGeom>
          <a:noFill/>
          <a:ln/>
        </p:spPr>
        <p:txBody>
          <a:bodyPr wrap="square" lIns="0" tIns="0" rIns="0" bIns="0" rtlCol="0" anchor="t"/>
          <a:lstStyle/>
          <a:p>
            <a:pPr rtl="1" algn="ctr" indent="0" marL="0">
              <a:buNone/>
            </a:pPr>
            <a:r>
              <a:rPr lang="en-US" sz="1200" dirty="0">
                <a:solidFill>
                  <a:srgbClr val="6A748C"/>
                </a:solidFill>
                <a:latin typeface="Arial" pitchFamily="34" charset="0"/>
                <a:ea typeface="Arial" pitchFamily="34" charset="-122"/>
                <a:cs typeface="Arial" pitchFamily="34" charset="-120"/>
              </a:rPr>
              <a:t>کلاس</a:t>
            </a:r>
            <a:endParaRPr lang="en-US" sz="1200" dirty="0"/>
          </a:p>
        </p:txBody>
      </p:sp>
      <p:sp>
        <p:nvSpPr>
          <p:cNvPr id="8" name="Text 6"/>
          <p:cNvSpPr txBox="1"/>
          <p:nvPr/>
        </p:nvSpPr>
        <p:spPr>
          <a:xfrm>
            <a:off x="6217920" y="1645920"/>
            <a:ext cx="2651760" cy="777240"/>
          </a:xfrm>
          <a:prstGeom prst="rect">
            <a:avLst/>
          </a:prstGeom>
          <a:noFill/>
          <a:ln/>
        </p:spPr>
        <p:txBody>
          <a:bodyPr wrap="square" lIns="0" tIns="0" rIns="0" bIns="0" rtlCol="0" anchor="ctr"/>
          <a:lstStyle/>
          <a:p>
            <a:pPr algn="ctr" indent="0" marL="0">
              <a:buNone/>
            </a:pPr>
            <a:r>
              <a:rPr lang="en-US" sz="4000" b="1" dirty="0">
                <a:solidFill>
                  <a:srgbClr val="3FA7A0"/>
                </a:solidFill>
                <a:latin typeface="Arial" pitchFamily="34" charset="0"/>
                <a:ea typeface="Arial" pitchFamily="34" charset="-122"/>
                <a:cs typeface="Arial" pitchFamily="34" charset="-120"/>
              </a:rPr>
              <a:t>1895</a:t>
            </a:r>
            <a:endParaRPr lang="en-US" sz="4000" dirty="0"/>
          </a:p>
        </p:txBody>
      </p:sp>
      <p:sp>
        <p:nvSpPr>
          <p:cNvPr id="9" name="Text 7"/>
          <p:cNvSpPr txBox="1"/>
          <p:nvPr/>
        </p:nvSpPr>
        <p:spPr>
          <a:xfrm>
            <a:off x="6217920" y="2395728"/>
            <a:ext cx="2651760" cy="457200"/>
          </a:xfrm>
          <a:prstGeom prst="rect">
            <a:avLst/>
          </a:prstGeom>
          <a:noFill/>
          <a:ln/>
        </p:spPr>
        <p:txBody>
          <a:bodyPr wrap="square" lIns="0" tIns="0" rIns="0" bIns="0" rtlCol="0" anchor="t"/>
          <a:lstStyle/>
          <a:p>
            <a:pPr rtl="1" algn="ctr" indent="0" marL="0">
              <a:buNone/>
            </a:pPr>
            <a:r>
              <a:rPr lang="en-US" sz="1200" dirty="0">
                <a:solidFill>
                  <a:srgbClr val="6A748C"/>
                </a:solidFill>
                <a:latin typeface="Arial" pitchFamily="34" charset="0"/>
                <a:ea typeface="Arial" pitchFamily="34" charset="-122"/>
                <a:cs typeface="Arial" pitchFamily="34" charset="-120"/>
              </a:rPr>
              <a:t>رمزگشایی موفق</a:t>
            </a:r>
            <a:endParaRPr lang="en-US" sz="1200" dirty="0"/>
          </a:p>
        </p:txBody>
      </p:sp>
      <p:sp>
        <p:nvSpPr>
          <p:cNvPr id="10" name="Text 8"/>
          <p:cNvSpPr txBox="1"/>
          <p:nvPr/>
        </p:nvSpPr>
        <p:spPr>
          <a:xfrm>
            <a:off x="9052560" y="1645920"/>
            <a:ext cx="2651760" cy="777240"/>
          </a:xfrm>
          <a:prstGeom prst="rect">
            <a:avLst/>
          </a:prstGeom>
          <a:noFill/>
          <a:ln/>
        </p:spPr>
        <p:txBody>
          <a:bodyPr wrap="square" lIns="0" tIns="0" rIns="0" bIns="0" rtlCol="0" anchor="ctr"/>
          <a:lstStyle/>
          <a:p>
            <a:pPr algn="ctr" indent="0" marL="0">
              <a:buNone/>
            </a:pPr>
            <a:r>
              <a:rPr lang="en-US" sz="4000" b="1" dirty="0">
                <a:solidFill>
                  <a:srgbClr val="C9483B"/>
                </a:solidFill>
                <a:latin typeface="Arial" pitchFamily="34" charset="0"/>
                <a:ea typeface="Arial" pitchFamily="34" charset="-122"/>
                <a:cs typeface="Arial" pitchFamily="34" charset="-120"/>
              </a:rPr>
              <a:t>5</a:t>
            </a:r>
            <a:endParaRPr lang="en-US" sz="4000" dirty="0"/>
          </a:p>
        </p:txBody>
      </p:sp>
      <p:sp>
        <p:nvSpPr>
          <p:cNvPr id="11" name="Text 9"/>
          <p:cNvSpPr txBox="1"/>
          <p:nvPr/>
        </p:nvSpPr>
        <p:spPr>
          <a:xfrm>
            <a:off x="9052560" y="2395728"/>
            <a:ext cx="2651760" cy="457200"/>
          </a:xfrm>
          <a:prstGeom prst="rect">
            <a:avLst/>
          </a:prstGeom>
          <a:noFill/>
          <a:ln/>
        </p:spPr>
        <p:txBody>
          <a:bodyPr wrap="square" lIns="0" tIns="0" rIns="0" bIns="0" rtlCol="0" anchor="t"/>
          <a:lstStyle/>
          <a:p>
            <a:pPr rtl="1" algn="ctr" indent="0" marL="0">
              <a:buNone/>
            </a:pPr>
            <a:r>
              <a:rPr lang="en-US" sz="1200" dirty="0">
                <a:solidFill>
                  <a:srgbClr val="6A748C"/>
                </a:solidFill>
                <a:latin typeface="Arial" pitchFamily="34" charset="0"/>
                <a:ea typeface="Arial" pitchFamily="34" charset="-122"/>
                <a:cs typeface="Arial" pitchFamily="34" charset="-120"/>
              </a:rPr>
              <a:t>فایل خراب</a:t>
            </a:r>
            <a:endParaRPr lang="en-US" sz="1200" dirty="0"/>
          </a:p>
        </p:txBody>
      </p:sp>
      <p:sp>
        <p:nvSpPr>
          <p:cNvPr id="12" name="Shape 10"/>
          <p:cNvSpPr/>
          <p:nvPr/>
        </p:nvSpPr>
        <p:spPr>
          <a:xfrm>
            <a:off x="548640" y="3200400"/>
            <a:ext cx="5394960" cy="2926080"/>
          </a:xfrm>
          <a:prstGeom prst="roundRect">
            <a:avLst>
              <a:gd name="adj" fmla="val 3125"/>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3" name="Text 11"/>
          <p:cNvSpPr txBox="1"/>
          <p:nvPr/>
        </p:nvSpPr>
        <p:spPr>
          <a:xfrm>
            <a:off x="868680" y="3383280"/>
            <a:ext cx="4754880" cy="365760"/>
          </a:xfrm>
          <a:prstGeom prst="rect">
            <a:avLst/>
          </a:prstGeom>
          <a:noFill/>
          <a:ln/>
        </p:spPr>
        <p:txBody>
          <a:bodyPr wrap="square" lIns="0" tIns="0" rIns="0" bIns="0" rtlCol="0" anchor="t"/>
          <a:lstStyle/>
          <a:p>
            <a:pPr rtl="1" algn="r" indent="0" marL="0">
              <a:buNone/>
            </a:pPr>
            <a:r>
              <a:rPr lang="en-US" sz="1700" b="1" dirty="0">
                <a:solidFill>
                  <a:srgbClr val="16264F"/>
                </a:solidFill>
                <a:latin typeface="Arial" pitchFamily="34" charset="0"/>
                <a:ea typeface="Arial" pitchFamily="34" charset="-122"/>
                <a:cs typeface="Arial" pitchFamily="34" charset="-120"/>
              </a:rPr>
              <a:t>ویژگی‌های داده</a:t>
            </a:r>
            <a:endParaRPr lang="en-US" sz="1700" dirty="0"/>
          </a:p>
        </p:txBody>
      </p:sp>
      <p:sp>
        <p:nvSpPr>
          <p:cNvPr id="14" name="Text 12"/>
          <p:cNvSpPr txBox="1"/>
          <p:nvPr/>
        </p:nvSpPr>
        <p:spPr>
          <a:xfrm>
            <a:off x="868680" y="3840480"/>
            <a:ext cx="4754880" cy="1828800"/>
          </a:xfrm>
          <a:prstGeom prst="rect">
            <a:avLst/>
          </a:prstGeom>
          <a:noFill/>
          <a:ln/>
        </p:spPr>
        <p:txBody>
          <a:bodyPr wrap="square" lIns="0" tIns="0" rIns="0" bIns="0" rtlCol="0" anchor="t"/>
          <a:lstStyle/>
          <a:p>
            <a:pPr algn="r" indent="0" marL="0">
              <a:lnSpc>
                <a:spcPts val="2200"/>
              </a:lnSpc>
              <a:spcAft>
                <a:spcPts val="700"/>
              </a:spcAft>
              <a:buNone/>
            </a:pPr>
            <a:r>
              <a:rPr lang="en-US" sz="1300" dirty="0">
                <a:solidFill>
                  <a:srgbClr val="1B2236"/>
                </a:solidFill>
                <a:latin typeface="Arial" pitchFamily="34" charset="0"/>
                <a:ea typeface="Arial" pitchFamily="34" charset="-122"/>
                <a:cs typeface="Arial" pitchFamily="34" charset="-120"/>
              </a:rPr>
              <a:t>●  ویدیوی واقعی دوربین مداربسته، نه صحنه‌پردازی</a:t>
            </a:r>
            <a:endParaRPr lang="en-US" sz="1300" dirty="0"/>
          </a:p>
          <a:p>
            <a:pPr algn="r" indent="0" marL="0">
              <a:lnSpc>
                <a:spcPts val="2200"/>
              </a:lnSpc>
              <a:spcAft>
                <a:spcPts val="700"/>
              </a:spcAft>
              <a:buNone/>
            </a:pPr>
            <a:r>
              <a:rPr lang="en-US" sz="1300" dirty="0">
                <a:solidFill>
                  <a:srgbClr val="1B2236"/>
                </a:solidFill>
                <a:latin typeface="Arial" pitchFamily="34" charset="0"/>
                <a:ea typeface="Arial" pitchFamily="34" charset="-122"/>
                <a:cs typeface="Arial" pitchFamily="34" charset="-120"/>
              </a:rPr>
              <a:t>●  وضوح پایین، نور ضعیف، زاویه نامناسب</a:t>
            </a:r>
            <a:endParaRPr lang="en-US" sz="1300" dirty="0"/>
          </a:p>
          <a:p>
            <a:pPr algn="r" indent="0" marL="0">
              <a:lnSpc>
                <a:spcPts val="2200"/>
              </a:lnSpc>
              <a:spcAft>
                <a:spcPts val="700"/>
              </a:spcAft>
              <a:buNone/>
            </a:pPr>
            <a:r>
              <a:rPr lang="en-US" sz="1300" dirty="0">
                <a:solidFill>
                  <a:srgbClr val="1B2236"/>
                </a:solidFill>
                <a:latin typeface="Arial" pitchFamily="34" charset="0"/>
                <a:ea typeface="Arial" pitchFamily="34" charset="-122"/>
                <a:cs typeface="Arial" pitchFamily="34" charset="-120"/>
              </a:rPr>
              <a:t>●  مدت‌زمان از چند ثانیه تا چند دقیقه</a:t>
            </a:r>
            <a:endParaRPr lang="en-US" sz="1300" dirty="0"/>
          </a:p>
          <a:p>
            <a:pPr algn="r" indent="0" marL="0">
              <a:lnSpc>
                <a:spcPts val="2200"/>
              </a:lnSpc>
              <a:spcAft>
                <a:spcPts val="700"/>
              </a:spcAft>
              <a:buNone/>
            </a:pPr>
            <a:r>
              <a:rPr lang="en-US" sz="1300" dirty="0">
                <a:solidFill>
                  <a:srgbClr val="1B2236"/>
                </a:solidFill>
                <a:latin typeface="Arial" pitchFamily="34" charset="0"/>
                <a:ea typeface="Arial" pitchFamily="34" charset="-122"/>
                <a:cs typeface="Arial" pitchFamily="34" charset="-120"/>
              </a:rPr>
              <a:t>●  برچسب فقط در سطح کل ویدیو</a:t>
            </a:r>
            <a:endParaRPr lang="en-US" sz="1300" dirty="0"/>
          </a:p>
        </p:txBody>
      </p:sp>
      <p:sp>
        <p:nvSpPr>
          <p:cNvPr id="15" name="Shape 13"/>
          <p:cNvSpPr/>
          <p:nvPr/>
        </p:nvSpPr>
        <p:spPr>
          <a:xfrm>
            <a:off x="6217920" y="3200400"/>
            <a:ext cx="5394960" cy="2926080"/>
          </a:xfrm>
          <a:prstGeom prst="roundRect">
            <a:avLst>
              <a:gd name="adj" fmla="val 3125"/>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6" name="Text 14"/>
          <p:cNvSpPr txBox="1"/>
          <p:nvPr/>
        </p:nvSpPr>
        <p:spPr>
          <a:xfrm>
            <a:off x="6537960" y="3383280"/>
            <a:ext cx="4754880" cy="365760"/>
          </a:xfrm>
          <a:prstGeom prst="rect">
            <a:avLst/>
          </a:prstGeom>
          <a:noFill/>
          <a:ln/>
        </p:spPr>
        <p:txBody>
          <a:bodyPr wrap="square" lIns="0" tIns="0" rIns="0" bIns="0" rtlCol="0" anchor="t"/>
          <a:lstStyle/>
          <a:p>
            <a:pPr rtl="1" algn="r" indent="0" marL="0">
              <a:buNone/>
            </a:pPr>
            <a:r>
              <a:rPr lang="en-US" sz="1700" b="1" dirty="0">
                <a:solidFill>
                  <a:srgbClr val="E8A33D"/>
                </a:solidFill>
                <a:latin typeface="Arial" pitchFamily="34" charset="0"/>
                <a:ea typeface="Arial" pitchFamily="34" charset="-122"/>
                <a:cs typeface="Arial" pitchFamily="34" charset="-120"/>
              </a:rPr>
              <a:t>چالش اصلی: نامتوازنی شدید</a:t>
            </a:r>
            <a:endParaRPr lang="en-US" sz="1700" dirty="0"/>
          </a:p>
        </p:txBody>
      </p:sp>
      <p:sp>
        <p:nvSpPr>
          <p:cNvPr id="17" name="Text 15"/>
          <p:cNvSpPr txBox="1"/>
          <p:nvPr/>
        </p:nvSpPr>
        <p:spPr>
          <a:xfrm>
            <a:off x="6537960" y="3840480"/>
            <a:ext cx="4754880" cy="1828800"/>
          </a:xfrm>
          <a:prstGeom prst="rect">
            <a:avLst/>
          </a:prstGeom>
          <a:noFill/>
          <a:ln/>
        </p:spPr>
        <p:txBody>
          <a:bodyPr wrap="square" lIns="0" tIns="0" rIns="0" bIns="0" rtlCol="0" anchor="t"/>
          <a:lstStyle/>
          <a:p>
            <a:pPr algn="r" indent="0" marL="0">
              <a:lnSpc>
                <a:spcPts val="2200"/>
              </a:lnSpc>
              <a:spcAft>
                <a:spcPts val="700"/>
              </a:spcAft>
              <a:buNone/>
            </a:pPr>
            <a:r>
              <a:rPr lang="en-US" sz="1300" dirty="0">
                <a:solidFill>
                  <a:srgbClr val="1B2236"/>
                </a:solidFill>
                <a:latin typeface="Arial" pitchFamily="34" charset="0"/>
                <a:ea typeface="Arial" pitchFamily="34" charset="-122"/>
                <a:cs typeface="Arial" pitchFamily="34" charset="-120"/>
              </a:rPr>
              <a:t>●  کلاس عادی حدود نیمی از داده آموزش است</a:t>
            </a:r>
            <a:endParaRPr lang="en-US" sz="1300" dirty="0"/>
          </a:p>
          <a:p>
            <a:pPr algn="r" indent="0" marL="0">
              <a:lnSpc>
                <a:spcPts val="2200"/>
              </a:lnSpc>
              <a:spcAft>
                <a:spcPts val="700"/>
              </a:spcAft>
              <a:buNone/>
            </a:pPr>
            <a:r>
              <a:rPr lang="en-US" sz="1300" dirty="0">
                <a:solidFill>
                  <a:srgbClr val="1B2236"/>
                </a:solidFill>
                <a:latin typeface="Arial" pitchFamily="34" charset="0"/>
                <a:ea typeface="Arial" pitchFamily="34" charset="-122"/>
                <a:cs typeface="Arial" pitchFamily="34" charset="-120"/>
              </a:rPr>
              <a:t>●  کلاس تیراندازی کمتر از دو درصد</a:t>
            </a:r>
            <a:endParaRPr lang="en-US" sz="1300" dirty="0"/>
          </a:p>
          <a:p>
            <a:pPr algn="r" indent="0" marL="0">
              <a:lnSpc>
                <a:spcPts val="2200"/>
              </a:lnSpc>
              <a:spcAft>
                <a:spcPts val="700"/>
              </a:spcAft>
              <a:buNone/>
            </a:pPr>
            <a:r>
              <a:rPr lang="en-US" sz="1300" dirty="0">
                <a:solidFill>
                  <a:srgbClr val="1B2236"/>
                </a:solidFill>
                <a:latin typeface="Arial" pitchFamily="34" charset="0"/>
                <a:ea typeface="Arial" pitchFamily="34" charset="-122"/>
                <a:cs typeface="Arial" pitchFamily="34" charset="-120"/>
              </a:rPr>
              <a:t>●  در آزمون، نه کلاس تنها هشت ویدیو دارند</a:t>
            </a:r>
            <a:endParaRPr lang="en-US" sz="1300" dirty="0"/>
          </a:p>
          <a:p>
            <a:pPr algn="r" indent="0" marL="0">
              <a:lnSpc>
                <a:spcPts val="2200"/>
              </a:lnSpc>
              <a:spcAft>
                <a:spcPts val="700"/>
              </a:spcAft>
              <a:buNone/>
            </a:pPr>
            <a:r>
              <a:rPr lang="en-US" sz="1300" dirty="0">
                <a:solidFill>
                  <a:srgbClr val="1B2236"/>
                </a:solidFill>
                <a:latin typeface="Arial" pitchFamily="34" charset="0"/>
                <a:ea typeface="Arial" pitchFamily="34" charset="-122"/>
                <a:cs typeface="Arial" pitchFamily="34" charset="-120"/>
              </a:rPr>
              <a:t>●  کلاس Abuse تنها دو ویدیوی آزمون دارد</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تقسیم داده</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تعداد ویدیو در هر کلاس — مجموعه آموزش</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394960" cy="914400"/>
        </p:xfrm>
        <a:graphic>
          <a:graphicData uri="http://schemas.openxmlformats.org/drawingml/2006/table">
            <a:tbl>
              <a:tblPr/>
              <a:tblGrid>
                <a:gridCol w="3749040"/>
                <a:gridCol w="1645920"/>
              </a:tblGrid>
              <a:tr h="310896">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کلاس</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تعداد ویدیو</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310896">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Normal — عادی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800</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10896">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Robbery — سرقت</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145</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10896">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RoadAccidents — تصادف</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127</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10896">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Stealing — دزدی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95</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10896">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Burglary — سرقت از منزل</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87</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10896">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Abuse — سوءاستفاده</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48</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10896">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Assault — تعرض</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47</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217920" y="1600200"/>
          <a:ext cx="5394960" cy="914400"/>
        </p:xfrm>
        <a:graphic>
          <a:graphicData uri="http://schemas.openxmlformats.org/drawingml/2006/table">
            <a:tbl>
              <a:tblPr/>
              <a:tblGrid>
                <a:gridCol w="3749040"/>
                <a:gridCol w="1645920"/>
              </a:tblGrid>
              <a:tr h="310896">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کلاس</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تعداد ویدیو</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310896">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Arrest — بازداشت</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45</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10896">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Fighting — درگیری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45</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10896">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Vandalism — تخریب</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45</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10896">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Arson — آتش‌افروزی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41</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10896">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Explosion — انفجار</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29</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10896">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Shoplifting — دزدی از مغازه</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29</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10896">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Shooting — تیراندازی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bl>
          </a:graphicData>
        </a:graphic>
      </p:graphicFrame>
      <p:sp>
        <p:nvSpPr>
          <p:cNvPr id="6" name="Shape 2"/>
          <p:cNvSpPr/>
          <p:nvPr/>
        </p:nvSpPr>
        <p:spPr>
          <a:xfrm>
            <a:off x="548640" y="4709160"/>
            <a:ext cx="11064240" cy="1371600"/>
          </a:xfrm>
          <a:prstGeom prst="roundRect">
            <a:avLst>
              <a:gd name="adj" fmla="val 6667"/>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7" name="Text 3"/>
          <p:cNvSpPr txBox="1"/>
          <p:nvPr/>
        </p:nvSpPr>
        <p:spPr>
          <a:xfrm>
            <a:off x="868680" y="4892040"/>
            <a:ext cx="10424160" cy="365760"/>
          </a:xfrm>
          <a:prstGeom prst="rect">
            <a:avLst/>
          </a:prstGeom>
          <a:noFill/>
          <a:ln/>
        </p:spPr>
        <p:txBody>
          <a:bodyPr wrap="square" lIns="0" tIns="0" rIns="0" bIns="0" rtlCol="0" anchor="t"/>
          <a:lstStyle/>
          <a:p>
            <a:pPr rtl="1" algn="r" indent="0" marL="0">
              <a:buNone/>
            </a:pPr>
            <a:r>
              <a:rPr lang="en-US" sz="1600" b="1" dirty="0">
                <a:solidFill>
                  <a:srgbClr val="16264F"/>
                </a:solidFill>
                <a:latin typeface="Arial" pitchFamily="34" charset="0"/>
                <a:ea typeface="Arial" pitchFamily="34" charset="-122"/>
                <a:cs typeface="Arial" pitchFamily="34" charset="-120"/>
              </a:rPr>
              <a:t>جمع: ۱۶۱۰ ویدیوی آموزش  ·  ۸۰۰ عادی و ۸۱۰ ناهنجار</a:t>
            </a:r>
            <a:endParaRPr lang="en-US" sz="1600" dirty="0"/>
          </a:p>
        </p:txBody>
      </p:sp>
      <p:sp>
        <p:nvSpPr>
          <p:cNvPr id="8" name="Text 4"/>
          <p:cNvSpPr txBox="1"/>
          <p:nvPr/>
        </p:nvSpPr>
        <p:spPr>
          <a:xfrm>
            <a:off x="868680" y="5303520"/>
            <a:ext cx="10424160" cy="640080"/>
          </a:xfrm>
          <a:prstGeom prst="rect">
            <a:avLst/>
          </a:prstGeom>
          <a:noFill/>
          <a:ln/>
        </p:spPr>
        <p:txBody>
          <a:bodyPr wrap="square" lIns="0" tIns="0" rIns="0" bIns="0" rtlCol="0" anchor="t"/>
          <a:lstStyle/>
          <a:p>
            <a:pPr rtl="1" algn="r" indent="0" marL="0">
              <a:lnSpc>
                <a:spcPts val="1900"/>
              </a:lnSpc>
              <a:buNone/>
            </a:pPr>
            <a:r>
              <a:rPr lang="en-US" sz="1250" dirty="0">
                <a:solidFill>
                  <a:srgbClr val="1B2236"/>
                </a:solidFill>
                <a:latin typeface="Arial" pitchFamily="34" charset="0"/>
                <a:ea typeface="Arial" pitchFamily="34" charset="-122"/>
                <a:cs typeface="Arial" pitchFamily="34" charset="-120"/>
              </a:rPr>
              <a:t>نسبت پرتکرارترین به کم‌تکرارترین کلاس ناهنجار حدود ۵ به ۱ است و نسبت کلاس عادی به کمیاب‌ترین کلاس حدود ۳۰ به ۱. همین نسبت است که وزن‌دهی معکوس فراوانی را ضروری می‌کند.</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تقسیم داده</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تعداد ویدیو در هر کلاس — مجموعه آزمون</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6766560" cy="914400"/>
        </p:xfrm>
        <a:graphic>
          <a:graphicData uri="http://schemas.openxmlformats.org/drawingml/2006/table">
            <a:tbl>
              <a:tblPr/>
              <a:tblGrid>
                <a:gridCol w="3291840"/>
                <a:gridCol w="1737360"/>
                <a:gridCol w="1737360"/>
              </a:tblGrid>
              <a:tr h="246888">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کلاس</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تقسیم استاندارد</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تقسیم مسیر اول</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246888">
                <a:tc>
                  <a:txBody>
                    <a:bodyPr/>
                    <a:lstStyle/>
                    <a:p>
                      <a:pPr algn="r" indent="0" marL="0">
                        <a:buNone/>
                      </a:pPr>
                      <a:r>
                        <a:rPr lang="en-US" sz="1100" dirty="0">
                          <a:solidFill>
                            <a:srgbClr val="1B2236"/>
                          </a:solidFill>
                          <a:latin typeface="Arial" pitchFamily="34" charset="0"/>
                          <a:ea typeface="Arial" pitchFamily="34" charset="-122"/>
                          <a:cs typeface="Arial" pitchFamily="34" charset="-120"/>
                        </a:rPr>
                        <a:t>Normal — عادی</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150</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148</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246888">
                <a:tc>
                  <a:txBody>
                    <a:bodyPr/>
                    <a:lstStyle/>
                    <a:p>
                      <a:pPr algn="r" indent="0" marL="0">
                        <a:buNone/>
                      </a:pPr>
                      <a:r>
                        <a:rPr lang="en-US" sz="1100" dirty="0">
                          <a:solidFill>
                            <a:srgbClr val="1B2236"/>
                          </a:solidFill>
                          <a:latin typeface="Arial" pitchFamily="34" charset="0"/>
                          <a:ea typeface="Arial" pitchFamily="34" charset="-122"/>
                          <a:cs typeface="Arial" pitchFamily="34" charset="-120"/>
                        </a:rPr>
                        <a:t>RoadAccidents — تصادف رانندگی</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23</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23</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246888">
                <a:tc>
                  <a:txBody>
                    <a:bodyPr/>
                    <a:lstStyle/>
                    <a:p>
                      <a:pPr algn="r" indent="0" marL="0">
                        <a:buNone/>
                      </a:pPr>
                      <a:r>
                        <a:rPr lang="en-US" sz="1100" dirty="0">
                          <a:solidFill>
                            <a:srgbClr val="1B2236"/>
                          </a:solidFill>
                          <a:latin typeface="Arial" pitchFamily="34" charset="0"/>
                          <a:ea typeface="Arial" pitchFamily="34" charset="-122"/>
                          <a:cs typeface="Arial" pitchFamily="34" charset="-120"/>
                        </a:rPr>
                        <a:t>Shooting — تیراندازی</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23</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246888">
                <a:tc>
                  <a:txBody>
                    <a:bodyPr/>
                    <a:lstStyle/>
                    <a:p>
                      <a:pPr algn="r" indent="0" marL="0">
                        <a:buNone/>
                      </a:pPr>
                      <a:r>
                        <a:rPr lang="en-US" sz="1100" dirty="0">
                          <a:solidFill>
                            <a:srgbClr val="1B2236"/>
                          </a:solidFill>
                          <a:latin typeface="Arial" pitchFamily="34" charset="0"/>
                          <a:ea typeface="Arial" pitchFamily="34" charset="-122"/>
                          <a:cs typeface="Arial" pitchFamily="34" charset="-120"/>
                        </a:rPr>
                        <a:t>Explosion — انفجار</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21</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246888">
                <a:tc>
                  <a:txBody>
                    <a:bodyPr/>
                    <a:lstStyle/>
                    <a:p>
                      <a:pPr algn="r" indent="0" marL="0">
                        <a:buNone/>
                      </a:pPr>
                      <a:r>
                        <a:rPr lang="en-US" sz="1100" dirty="0">
                          <a:solidFill>
                            <a:srgbClr val="1B2236"/>
                          </a:solidFill>
                          <a:latin typeface="Arial" pitchFamily="34" charset="0"/>
                          <a:ea typeface="Arial" pitchFamily="34" charset="-122"/>
                          <a:cs typeface="Arial" pitchFamily="34" charset="-120"/>
                        </a:rPr>
                        <a:t>Shoplifting — دزدی از مغازه</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21</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246888">
                <a:tc>
                  <a:txBody>
                    <a:bodyPr/>
                    <a:lstStyle/>
                    <a:p>
                      <a:pPr algn="r" indent="0" marL="0">
                        <a:buNone/>
                      </a:pPr>
                      <a:r>
                        <a:rPr lang="en-US" sz="1100" dirty="0">
                          <a:solidFill>
                            <a:srgbClr val="1B2236"/>
                          </a:solidFill>
                          <a:latin typeface="Arial" pitchFamily="34" charset="0"/>
                          <a:ea typeface="Arial" pitchFamily="34" charset="-122"/>
                          <a:cs typeface="Arial" pitchFamily="34" charset="-120"/>
                        </a:rPr>
                        <a:t>Burglary — سرقت از منزل</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13</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15</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246888">
                <a:tc>
                  <a:txBody>
                    <a:bodyPr/>
                    <a:lstStyle/>
                    <a:p>
                      <a:pPr algn="r" indent="0" marL="0">
                        <a:buNone/>
                      </a:pPr>
                      <a:r>
                        <a:rPr lang="en-US" sz="1100" dirty="0">
                          <a:solidFill>
                            <a:srgbClr val="1B2236"/>
                          </a:solidFill>
                          <a:latin typeface="Arial" pitchFamily="34" charset="0"/>
                          <a:ea typeface="Arial" pitchFamily="34" charset="-122"/>
                          <a:cs typeface="Arial" pitchFamily="34" charset="-120"/>
                        </a:rPr>
                        <a:t>Arson — آتش‌افروزی</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9</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246888">
                <a:tc>
                  <a:txBody>
                    <a:bodyPr/>
                    <a:lstStyle/>
                    <a:p>
                      <a:pPr algn="r" indent="0" marL="0">
                        <a:buNone/>
                      </a:pPr>
                      <a:r>
                        <a:rPr lang="en-US" sz="1100" b="1" dirty="0">
                          <a:solidFill>
                            <a:srgbClr val="16264F"/>
                          </a:solidFill>
                          <a:latin typeface="Arial" pitchFamily="34" charset="0"/>
                          <a:ea typeface="Arial" pitchFamily="34" charset="-122"/>
                          <a:cs typeface="Arial" pitchFamily="34" charset="-120"/>
                        </a:rPr>
                        <a:t>Arrest — بازداشت</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r h="246888">
                <a:tc>
                  <a:txBody>
                    <a:bodyPr/>
                    <a:lstStyle/>
                    <a:p>
                      <a:pPr algn="r" indent="0" marL="0">
                        <a:buNone/>
                      </a:pPr>
                      <a:r>
                        <a:rPr lang="en-US" sz="1100" b="1" dirty="0">
                          <a:solidFill>
                            <a:srgbClr val="16264F"/>
                          </a:solidFill>
                          <a:latin typeface="Arial" pitchFamily="34" charset="0"/>
                          <a:ea typeface="Arial" pitchFamily="34" charset="-122"/>
                          <a:cs typeface="Arial" pitchFamily="34" charset="-120"/>
                        </a:rPr>
                        <a:t>Fighting — درگیری</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r h="246888">
                <a:tc>
                  <a:txBody>
                    <a:bodyPr/>
                    <a:lstStyle/>
                    <a:p>
                      <a:pPr algn="r" indent="0" marL="0">
                        <a:buNone/>
                      </a:pPr>
                      <a:r>
                        <a:rPr lang="en-US" sz="1100" b="1" dirty="0">
                          <a:solidFill>
                            <a:srgbClr val="16264F"/>
                          </a:solidFill>
                          <a:latin typeface="Arial" pitchFamily="34" charset="0"/>
                          <a:ea typeface="Arial" pitchFamily="34" charset="-122"/>
                          <a:cs typeface="Arial" pitchFamily="34" charset="-120"/>
                        </a:rPr>
                        <a:t>Robbery — سرقت</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23</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r h="246888">
                <a:tc>
                  <a:txBody>
                    <a:bodyPr/>
                    <a:lstStyle/>
                    <a:p>
                      <a:pPr algn="r" indent="0" marL="0">
                        <a:buNone/>
                      </a:pPr>
                      <a:r>
                        <a:rPr lang="en-US" sz="1100" b="1" dirty="0">
                          <a:solidFill>
                            <a:srgbClr val="16264F"/>
                          </a:solidFill>
                          <a:latin typeface="Arial" pitchFamily="34" charset="0"/>
                          <a:ea typeface="Arial" pitchFamily="34" charset="-122"/>
                          <a:cs typeface="Arial" pitchFamily="34" charset="-120"/>
                        </a:rPr>
                        <a:t>Stealing — دزدی</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15</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r h="246888">
                <a:tc>
                  <a:txBody>
                    <a:bodyPr/>
                    <a:lstStyle/>
                    <a:p>
                      <a:pPr algn="r" indent="0" marL="0">
                        <a:buNone/>
                      </a:pPr>
                      <a:r>
                        <a:rPr lang="en-US" sz="1100" b="1" dirty="0">
                          <a:solidFill>
                            <a:srgbClr val="16264F"/>
                          </a:solidFill>
                          <a:latin typeface="Arial" pitchFamily="34" charset="0"/>
                          <a:ea typeface="Arial" pitchFamily="34" charset="-122"/>
                          <a:cs typeface="Arial" pitchFamily="34" charset="-120"/>
                        </a:rPr>
                        <a:t>Vandalism — تخریب اموال</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r h="246888">
                <a:tc>
                  <a:txBody>
                    <a:bodyPr/>
                    <a:lstStyle/>
                    <a:p>
                      <a:pPr algn="r" indent="0" marL="0">
                        <a:buNone/>
                      </a:pPr>
                      <a:r>
                        <a:rPr lang="en-US" sz="1100" b="1" dirty="0">
                          <a:solidFill>
                            <a:srgbClr val="16264F"/>
                          </a:solidFill>
                          <a:latin typeface="Arial" pitchFamily="34" charset="0"/>
                          <a:ea typeface="Arial" pitchFamily="34" charset="-122"/>
                          <a:cs typeface="Arial" pitchFamily="34" charset="-120"/>
                        </a:rPr>
                        <a:t>Abuse — سوءاستفاده</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r h="246888">
                <a:tc>
                  <a:txBody>
                    <a:bodyPr/>
                    <a:lstStyle/>
                    <a:p>
                      <a:pPr algn="r" indent="0" marL="0">
                        <a:buNone/>
                      </a:pPr>
                      <a:r>
                        <a:rPr lang="en-US" sz="1100" b="1" dirty="0">
                          <a:solidFill>
                            <a:srgbClr val="16264F"/>
                          </a:solidFill>
                          <a:latin typeface="Arial" pitchFamily="34" charset="0"/>
                          <a:ea typeface="Arial" pitchFamily="34" charset="-122"/>
                          <a:cs typeface="Arial" pitchFamily="34" charset="-120"/>
                        </a:rPr>
                        <a:t>Assault — تعرض</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bl>
          </a:graphicData>
        </a:graphic>
      </p:graphicFrame>
      <p:sp>
        <p:nvSpPr>
          <p:cNvPr id="5" name="Text 2"/>
          <p:cNvSpPr txBox="1"/>
          <p:nvPr/>
        </p:nvSpPr>
        <p:spPr>
          <a:xfrm>
            <a:off x="548640" y="5358384"/>
            <a:ext cx="6766560" cy="365760"/>
          </a:xfrm>
          <a:prstGeom prst="rect">
            <a:avLst/>
          </a:prstGeom>
          <a:noFill/>
          <a:ln/>
        </p:spPr>
        <p:txBody>
          <a:bodyPr wrap="square" lIns="0" tIns="0" rIns="0" bIns="0" rtlCol="0" anchor="t"/>
          <a:lstStyle/>
          <a:p>
            <a:pPr rtl="1" algn="r" indent="0" marL="0">
              <a:lnSpc>
                <a:spcPts val="1600"/>
              </a:lnSpc>
              <a:buNone/>
            </a:pPr>
            <a:r>
              <a:rPr lang="en-US" sz="1100" dirty="0">
                <a:solidFill>
                  <a:srgbClr val="6A748C"/>
                </a:solidFill>
                <a:latin typeface="Arial" pitchFamily="34" charset="0"/>
                <a:ea typeface="Arial" pitchFamily="34" charset="-122"/>
                <a:cs typeface="Arial" pitchFamily="34" charset="-120"/>
              </a:rPr>
              <a:t>جمع ستون دوم ۲۹۰ و جمع ستون سوم ۲۹۶ است. ردیف‌های پررنگ، هفت کلاسی هستند که پنج ویدیوی آزمون یا کمتر دارند.</a:t>
            </a:r>
            <a:endParaRPr lang="en-US" sz="1100" dirty="0"/>
          </a:p>
        </p:txBody>
      </p:sp>
      <p:sp>
        <p:nvSpPr>
          <p:cNvPr id="6" name="Shape 3"/>
          <p:cNvSpPr/>
          <p:nvPr/>
        </p:nvSpPr>
        <p:spPr>
          <a:xfrm>
            <a:off x="7589520" y="1572768"/>
            <a:ext cx="4023360" cy="1783080"/>
          </a:xfrm>
          <a:prstGeom prst="roundRect">
            <a:avLst>
              <a:gd name="adj" fmla="val 5128"/>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7" name="Text 4"/>
          <p:cNvSpPr txBox="1"/>
          <p:nvPr/>
        </p:nvSpPr>
        <p:spPr>
          <a:xfrm>
            <a:off x="7863840" y="1737360"/>
            <a:ext cx="3474720" cy="320040"/>
          </a:xfrm>
          <a:prstGeom prst="rect">
            <a:avLst/>
          </a:prstGeom>
          <a:noFill/>
          <a:ln/>
        </p:spPr>
        <p:txBody>
          <a:bodyPr wrap="square" lIns="0" tIns="0" rIns="0" bIns="0" rtlCol="0" anchor="t"/>
          <a:lstStyle/>
          <a:p>
            <a:pPr rtl="1" algn="r" indent="0" marL="0">
              <a:buNone/>
            </a:pPr>
            <a:r>
              <a:rPr lang="en-US" sz="1500" b="1" dirty="0">
                <a:solidFill>
                  <a:srgbClr val="E8A33D"/>
                </a:solidFill>
                <a:latin typeface="Arial" pitchFamily="34" charset="0"/>
                <a:ea typeface="Arial" pitchFamily="34" charset="-122"/>
                <a:cs typeface="Arial" pitchFamily="34" charset="-120"/>
              </a:rPr>
              <a:t>دو تقسیم متفاوت</a:t>
            </a:r>
            <a:endParaRPr lang="en-US" sz="1500" dirty="0"/>
          </a:p>
        </p:txBody>
      </p:sp>
      <p:sp>
        <p:nvSpPr>
          <p:cNvPr id="8" name="Text 5"/>
          <p:cNvSpPr txBox="1"/>
          <p:nvPr/>
        </p:nvSpPr>
        <p:spPr>
          <a:xfrm>
            <a:off x="7863840" y="2103120"/>
            <a:ext cx="3474720" cy="1143000"/>
          </a:xfrm>
          <a:prstGeom prst="rect">
            <a:avLst/>
          </a:prstGeom>
          <a:noFill/>
          <a:ln/>
        </p:spPr>
        <p:txBody>
          <a:bodyPr wrap="square" lIns="0" tIns="0" rIns="0" bIns="0" rtlCol="0" anchor="t"/>
          <a:lstStyle/>
          <a:p>
            <a:pPr rtl="1" algn="r" indent="0" marL="0">
              <a:lnSpc>
                <a:spcPts val="1800"/>
              </a:lnSpc>
              <a:buNone/>
            </a:pPr>
            <a:r>
              <a:rPr lang="en-US" sz="1150" dirty="0">
                <a:solidFill>
                  <a:srgbClr val="1B2236"/>
                </a:solidFill>
                <a:latin typeface="Arial" pitchFamily="34" charset="0"/>
                <a:ea typeface="Arial" pitchFamily="34" charset="-122"/>
                <a:cs typeface="Arial" pitchFamily="34" charset="-120"/>
              </a:rPr>
              <a:t>مسیر X-CLIP روی تقسیمی با ۲۹۶ ویدیوی آزمون اجرا شد و مسیر VideoMAE روی تقسیم استاندارد با ۲۹۰ ویدیو. اعداد دو مسیر با این قید خوانده شوند.</a:t>
            </a:r>
            <a:endParaRPr lang="en-US" sz="1150" dirty="0"/>
          </a:p>
        </p:txBody>
      </p:sp>
      <p:sp>
        <p:nvSpPr>
          <p:cNvPr id="9" name="Shape 6"/>
          <p:cNvSpPr/>
          <p:nvPr/>
        </p:nvSpPr>
        <p:spPr>
          <a:xfrm>
            <a:off x="7589520" y="3520440"/>
            <a:ext cx="4023360" cy="1691640"/>
          </a:xfrm>
          <a:prstGeom prst="roundRect">
            <a:avLst>
              <a:gd name="adj" fmla="val 5405"/>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0" name="Text 7"/>
          <p:cNvSpPr txBox="1"/>
          <p:nvPr/>
        </p:nvSpPr>
        <p:spPr>
          <a:xfrm>
            <a:off x="7863840" y="3685032"/>
            <a:ext cx="3474720" cy="320040"/>
          </a:xfrm>
          <a:prstGeom prst="rect">
            <a:avLst/>
          </a:prstGeom>
          <a:noFill/>
          <a:ln/>
        </p:spPr>
        <p:txBody>
          <a:bodyPr wrap="square" lIns="0" tIns="0" rIns="0" bIns="0" rtlCol="0" anchor="t"/>
          <a:lstStyle/>
          <a:p>
            <a:pPr rtl="1" algn="r" indent="0" marL="0">
              <a:buNone/>
            </a:pPr>
            <a:r>
              <a:rPr lang="en-US" sz="1500" b="1" dirty="0">
                <a:solidFill>
                  <a:srgbClr val="16264F"/>
                </a:solidFill>
                <a:latin typeface="Arial" pitchFamily="34" charset="0"/>
                <a:ea typeface="Arial" pitchFamily="34" charset="-122"/>
                <a:cs typeface="Arial" pitchFamily="34" charset="-120"/>
              </a:rPr>
              <a:t>چرا ارزیابی نوفه‌آلود است</a:t>
            </a:r>
            <a:endParaRPr lang="en-US" sz="1500" dirty="0"/>
          </a:p>
        </p:txBody>
      </p:sp>
      <p:sp>
        <p:nvSpPr>
          <p:cNvPr id="11" name="Text 8"/>
          <p:cNvSpPr txBox="1"/>
          <p:nvPr/>
        </p:nvSpPr>
        <p:spPr>
          <a:xfrm>
            <a:off x="7863840" y="4050792"/>
            <a:ext cx="3474720" cy="1097280"/>
          </a:xfrm>
          <a:prstGeom prst="rect">
            <a:avLst/>
          </a:prstGeom>
          <a:noFill/>
          <a:ln/>
        </p:spPr>
        <p:txBody>
          <a:bodyPr wrap="square" lIns="0" tIns="0" rIns="0" bIns="0" rtlCol="0" anchor="t"/>
          <a:lstStyle/>
          <a:p>
            <a:pPr rtl="1" algn="r" indent="0" marL="0">
              <a:lnSpc>
                <a:spcPts val="1800"/>
              </a:lnSpc>
              <a:buNone/>
            </a:pPr>
            <a:r>
              <a:rPr lang="en-US" sz="1150" dirty="0">
                <a:solidFill>
                  <a:srgbClr val="1B2236"/>
                </a:solidFill>
                <a:latin typeface="Arial" pitchFamily="34" charset="0"/>
                <a:ea typeface="Arial" pitchFamily="34" charset="-122"/>
                <a:cs typeface="Arial" pitchFamily="34" charset="-120"/>
              </a:rPr>
              <a:t>کلاس Assault تنها سه ویدیوی آزمون دارد. یک ویدیو یعنی یک‌سوم یادآوری آن کلاس، و ماکرو F1 به هر ۱۴ کلاس وزن یکسان می‌دهد.</a:t>
            </a:r>
            <a:endParaRPr lang="en-US" sz="1150" dirty="0"/>
          </a:p>
        </p:txBody>
      </p:sp>
      <p:sp>
        <p:nvSpPr>
          <p:cNvPr id="12" name="Shape 9"/>
          <p:cNvSpPr/>
          <p:nvPr/>
        </p:nvSpPr>
        <p:spPr>
          <a:xfrm>
            <a:off x="7589520" y="5394960"/>
            <a:ext cx="4023360" cy="960120"/>
          </a:xfrm>
          <a:prstGeom prst="roundRect">
            <a:avLst>
              <a:gd name="adj" fmla="val 9524"/>
            </a:avLst>
          </a:prstGeom>
          <a:solidFill>
            <a:srgbClr val="FDEEEC"/>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3" name="Text 10"/>
          <p:cNvSpPr txBox="1"/>
          <p:nvPr/>
        </p:nvSpPr>
        <p:spPr>
          <a:xfrm>
            <a:off x="7863840" y="5559552"/>
            <a:ext cx="3474720" cy="685800"/>
          </a:xfrm>
          <a:prstGeom prst="rect">
            <a:avLst/>
          </a:prstGeom>
          <a:noFill/>
          <a:ln/>
        </p:spPr>
        <p:txBody>
          <a:bodyPr wrap="square" lIns="0" tIns="0" rIns="0" bIns="0" rtlCol="0" anchor="t"/>
          <a:lstStyle/>
          <a:p>
            <a:pPr rtl="1" algn="r" indent="0" marL="0">
              <a:lnSpc>
                <a:spcPts val="1700"/>
              </a:lnSpc>
              <a:buNone/>
            </a:pPr>
            <a:r>
              <a:rPr lang="en-US" sz="1100" dirty="0">
                <a:solidFill>
                  <a:srgbClr val="C9483B"/>
                </a:solidFill>
                <a:latin typeface="Arial" pitchFamily="34" charset="0"/>
                <a:ea typeface="Arial" pitchFamily="34" charset="-122"/>
                <a:cs typeface="Arial" pitchFamily="34" charset="-120"/>
              </a:rPr>
              <a:t>پیش از ارائه، این اعداد را با فایل تقسیم خودتان بسنجید؛ فرمان در سربرگ build_slides.js است.</a:t>
            </a:r>
            <a:endParaRPr lang="en-US" sz="1100" dirty="0"/>
          </a:p>
        </p:txBody>
      </p:sp>
      <p:sp>
        <p:nvSpPr>
          <p:cNvPr id="14" name="Text 11"/>
          <p:cNvSpPr txBox="1"/>
          <p:nvPr/>
        </p:nvSpPr>
        <p:spPr>
          <a:xfrm>
            <a:off x="548640" y="5669280"/>
            <a:ext cx="2194560" cy="777240"/>
          </a:xfrm>
          <a:prstGeom prst="rect">
            <a:avLst/>
          </a:prstGeom>
          <a:noFill/>
          <a:ln/>
        </p:spPr>
        <p:txBody>
          <a:bodyPr wrap="square" lIns="0" tIns="0" rIns="0" bIns="0" rtlCol="0" anchor="ctr"/>
          <a:lstStyle/>
          <a:p>
            <a:pPr algn="ctr" indent="0" marL="0">
              <a:buNone/>
            </a:pPr>
            <a:r>
              <a:rPr lang="en-US" sz="4000" b="1" dirty="0">
                <a:solidFill>
                  <a:srgbClr val="16264F"/>
                </a:solidFill>
                <a:latin typeface="Arial" pitchFamily="34" charset="0"/>
                <a:ea typeface="Arial" pitchFamily="34" charset="-122"/>
                <a:cs typeface="Arial" pitchFamily="34" charset="-120"/>
              </a:rPr>
              <a:t>290</a:t>
            </a:r>
            <a:endParaRPr lang="en-US" sz="4000" dirty="0"/>
          </a:p>
        </p:txBody>
      </p:sp>
      <p:sp>
        <p:nvSpPr>
          <p:cNvPr id="15" name="Text 12"/>
          <p:cNvSpPr txBox="1"/>
          <p:nvPr/>
        </p:nvSpPr>
        <p:spPr>
          <a:xfrm>
            <a:off x="548640" y="6419088"/>
            <a:ext cx="2194560" cy="457200"/>
          </a:xfrm>
          <a:prstGeom prst="rect">
            <a:avLst/>
          </a:prstGeom>
          <a:noFill/>
          <a:ln/>
        </p:spPr>
        <p:txBody>
          <a:bodyPr wrap="square" lIns="0" tIns="0" rIns="0" bIns="0" rtlCol="0" anchor="t"/>
          <a:lstStyle/>
          <a:p>
            <a:pPr rtl="1" algn="ctr" indent="0" marL="0">
              <a:buNone/>
            </a:pPr>
            <a:r>
              <a:rPr lang="en-US" sz="1200" dirty="0">
                <a:solidFill>
                  <a:srgbClr val="6A748C"/>
                </a:solidFill>
                <a:latin typeface="Arial" pitchFamily="34" charset="0"/>
                <a:ea typeface="Arial" pitchFamily="34" charset="-122"/>
                <a:cs typeface="Arial" pitchFamily="34" charset="-120"/>
              </a:rPr>
              <a:t>کل مجموعه آزمون</a:t>
            </a:r>
            <a:endParaRPr lang="en-US" sz="1200" dirty="0"/>
          </a:p>
        </p:txBody>
      </p:sp>
      <p:sp>
        <p:nvSpPr>
          <p:cNvPr id="16" name="Text 13"/>
          <p:cNvSpPr txBox="1"/>
          <p:nvPr/>
        </p:nvSpPr>
        <p:spPr>
          <a:xfrm>
            <a:off x="2834640" y="5669280"/>
            <a:ext cx="2194560" cy="777240"/>
          </a:xfrm>
          <a:prstGeom prst="rect">
            <a:avLst/>
          </a:prstGeom>
          <a:noFill/>
          <a:ln/>
        </p:spPr>
        <p:txBody>
          <a:bodyPr wrap="square" lIns="0" tIns="0" rIns="0" bIns="0" rtlCol="0" anchor="ctr"/>
          <a:lstStyle/>
          <a:p>
            <a:pPr algn="ctr" indent="0" marL="0">
              <a:buNone/>
            </a:pPr>
            <a:r>
              <a:rPr lang="en-US" sz="4000" b="1" dirty="0">
                <a:solidFill>
                  <a:srgbClr val="16264F"/>
                </a:solidFill>
                <a:latin typeface="Arial" pitchFamily="34" charset="0"/>
                <a:ea typeface="Arial" pitchFamily="34" charset="-122"/>
                <a:cs typeface="Arial" pitchFamily="34" charset="-120"/>
              </a:rPr>
              <a:t>1610</a:t>
            </a:r>
            <a:endParaRPr lang="en-US" sz="4000" dirty="0"/>
          </a:p>
        </p:txBody>
      </p:sp>
      <p:sp>
        <p:nvSpPr>
          <p:cNvPr id="17" name="Text 14"/>
          <p:cNvSpPr txBox="1"/>
          <p:nvPr/>
        </p:nvSpPr>
        <p:spPr>
          <a:xfrm>
            <a:off x="2834640" y="6419088"/>
            <a:ext cx="2194560" cy="457200"/>
          </a:xfrm>
          <a:prstGeom prst="rect">
            <a:avLst/>
          </a:prstGeom>
          <a:noFill/>
          <a:ln/>
        </p:spPr>
        <p:txBody>
          <a:bodyPr wrap="square" lIns="0" tIns="0" rIns="0" bIns="0" rtlCol="0" anchor="t"/>
          <a:lstStyle/>
          <a:p>
            <a:pPr rtl="1" algn="ctr" indent="0" marL="0">
              <a:buNone/>
            </a:pPr>
            <a:r>
              <a:rPr lang="en-US" sz="1200" dirty="0">
                <a:solidFill>
                  <a:srgbClr val="6A748C"/>
                </a:solidFill>
                <a:latin typeface="Arial" pitchFamily="34" charset="0"/>
                <a:ea typeface="Arial" pitchFamily="34" charset="-122"/>
                <a:cs typeface="Arial" pitchFamily="34" charset="-120"/>
              </a:rPr>
              <a:t>کل مجموعه آموزش</a:t>
            </a:r>
            <a:endParaRPr lang="en-US" sz="1200" dirty="0"/>
          </a:p>
        </p:txBody>
      </p:sp>
      <p:sp>
        <p:nvSpPr>
          <p:cNvPr id="18" name="Text 15"/>
          <p:cNvSpPr txBox="1"/>
          <p:nvPr/>
        </p:nvSpPr>
        <p:spPr>
          <a:xfrm>
            <a:off x="5120640" y="5669280"/>
            <a:ext cx="2194560" cy="777240"/>
          </a:xfrm>
          <a:prstGeom prst="rect">
            <a:avLst/>
          </a:prstGeom>
          <a:noFill/>
          <a:ln/>
        </p:spPr>
        <p:txBody>
          <a:bodyPr wrap="square" lIns="0" tIns="0" rIns="0" bIns="0" rtlCol="0" anchor="ctr"/>
          <a:lstStyle/>
          <a:p>
            <a:pPr algn="ctr" indent="0" marL="0">
              <a:buNone/>
            </a:pPr>
            <a:r>
              <a:rPr lang="en-US" sz="4000" b="1" dirty="0">
                <a:solidFill>
                  <a:srgbClr val="3FA7A0"/>
                </a:solidFill>
                <a:latin typeface="Arial" pitchFamily="34" charset="0"/>
                <a:ea typeface="Arial" pitchFamily="34" charset="-122"/>
                <a:cs typeface="Arial" pitchFamily="34" charset="-120"/>
              </a:rPr>
              <a:t>0%</a:t>
            </a:r>
            <a:endParaRPr lang="en-US" sz="4000" dirty="0"/>
          </a:p>
        </p:txBody>
      </p:sp>
      <p:sp>
        <p:nvSpPr>
          <p:cNvPr id="19" name="Text 16"/>
          <p:cNvSpPr txBox="1"/>
          <p:nvPr/>
        </p:nvSpPr>
        <p:spPr>
          <a:xfrm>
            <a:off x="5120640" y="6419088"/>
            <a:ext cx="2194560" cy="457200"/>
          </a:xfrm>
          <a:prstGeom prst="rect">
            <a:avLst/>
          </a:prstGeom>
          <a:noFill/>
          <a:ln/>
        </p:spPr>
        <p:txBody>
          <a:bodyPr wrap="square" lIns="0" tIns="0" rIns="0" bIns="0" rtlCol="0" anchor="t"/>
          <a:lstStyle/>
          <a:p>
            <a:pPr rtl="1" algn="ctr" indent="0" marL="0">
              <a:buNone/>
            </a:pPr>
            <a:r>
              <a:rPr lang="en-US" sz="1200" dirty="0">
                <a:solidFill>
                  <a:srgbClr val="6A748C"/>
                </a:solidFill>
                <a:latin typeface="Arial" pitchFamily="34" charset="0"/>
                <a:ea typeface="Arial" pitchFamily="34" charset="-122"/>
                <a:cs typeface="Arial" pitchFamily="34" charset="-120"/>
              </a:rPr>
              <a:t>همپوشانی دو مجموعه</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چارچوب</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نظارت ضعیف و یادگیری چندنمونه‌ای</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669280" cy="914400"/>
        </p:xfrm>
        <a:graphic>
          <a:graphicData uri="http://schemas.openxmlformats.org/drawingml/2006/table">
            <a:tbl>
              <a:tblPr/>
              <a:tblGrid>
                <a:gridCol w="1737360"/>
                <a:gridCol w="2651760"/>
                <a:gridCol w="1280160"/>
              </a:tblGrid>
              <a:tr h="36576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سطح نظارت</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برچسب چیست</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هزینه</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365760">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نظارت کامل</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هر فریم برچسب دارد</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بسیار پرهزینه</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65760">
                <a:tc>
                  <a:txBody>
                    <a:bodyPr/>
                    <a:lstStyle/>
                    <a:p>
                      <a:pPr algn="r" indent="0" marL="0">
                        <a:buNone/>
                      </a:pPr>
                      <a:r>
                        <a:rPr lang="en-US" sz="1200" b="1" dirty="0">
                          <a:solidFill>
                            <a:srgbClr val="16264F"/>
                          </a:solidFill>
                          <a:latin typeface="Arial" pitchFamily="34" charset="0"/>
                          <a:ea typeface="Arial" pitchFamily="34" charset="-122"/>
                          <a:cs typeface="Arial" pitchFamily="34" charset="-120"/>
                        </a:rPr>
                        <a:t>نظارت ضعیف</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00" b="1" dirty="0">
                          <a:solidFill>
                            <a:srgbClr val="16264F"/>
                          </a:solidFill>
                          <a:latin typeface="Arial" pitchFamily="34" charset="0"/>
                          <a:ea typeface="Arial" pitchFamily="34" charset="-122"/>
                          <a:cs typeface="Arial" pitchFamily="34" charset="-120"/>
                        </a:rPr>
                        <a:t>فقط کل ویدیو برچسب دارد</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00" b="1" dirty="0">
                          <a:solidFill>
                            <a:srgbClr val="16264F"/>
                          </a:solidFill>
                          <a:latin typeface="Arial" pitchFamily="34" charset="0"/>
                          <a:ea typeface="Arial" pitchFamily="34" charset="-122"/>
                          <a:cs typeface="Arial" pitchFamily="34" charset="-120"/>
                        </a:rPr>
                        <a:t>کم‌هزینه</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r h="365760">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بدون نظارت</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هیچ برچسبی نیست</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رایگان</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bl>
          </a:graphicData>
        </a:graphic>
      </p:graphicFrame>
      <p:sp>
        <p:nvSpPr>
          <p:cNvPr id="5" name="Shape 2"/>
          <p:cNvSpPr/>
          <p:nvPr/>
        </p:nvSpPr>
        <p:spPr>
          <a:xfrm>
            <a:off x="6492240" y="1645920"/>
            <a:ext cx="5120640" cy="1828800"/>
          </a:xfrm>
          <a:prstGeom prst="roundRect">
            <a:avLst>
              <a:gd name="adj" fmla="val 5000"/>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6" name="Text 3"/>
          <p:cNvSpPr txBox="1"/>
          <p:nvPr/>
        </p:nvSpPr>
        <p:spPr>
          <a:xfrm>
            <a:off x="6766560" y="1810512"/>
            <a:ext cx="4572000" cy="320040"/>
          </a:xfrm>
          <a:prstGeom prst="rect">
            <a:avLst/>
          </a:prstGeom>
          <a:noFill/>
          <a:ln/>
        </p:spPr>
        <p:txBody>
          <a:bodyPr wrap="square" lIns="0" tIns="0" rIns="0" bIns="0" rtlCol="0" anchor="t"/>
          <a:lstStyle/>
          <a:p>
            <a:pPr rtl="1" algn="r" indent="0" marL="0">
              <a:buNone/>
            </a:pPr>
            <a:r>
              <a:rPr lang="en-US" sz="1600" b="1" dirty="0">
                <a:solidFill>
                  <a:srgbClr val="E8A33D"/>
                </a:solidFill>
                <a:latin typeface="Arial" pitchFamily="34" charset="0"/>
                <a:ea typeface="Arial" pitchFamily="34" charset="-122"/>
                <a:cs typeface="Arial" pitchFamily="34" charset="-120"/>
              </a:rPr>
              <a:t>مسئله ما</a:t>
            </a:r>
            <a:endParaRPr lang="en-US" sz="1600" dirty="0"/>
          </a:p>
        </p:txBody>
      </p:sp>
      <p:sp>
        <p:nvSpPr>
          <p:cNvPr id="7" name="Text 4"/>
          <p:cNvSpPr txBox="1"/>
          <p:nvPr/>
        </p:nvSpPr>
        <p:spPr>
          <a:xfrm>
            <a:off x="6766560" y="2194560"/>
            <a:ext cx="4572000" cy="1097280"/>
          </a:xfrm>
          <a:prstGeom prst="rect">
            <a:avLst/>
          </a:prstGeom>
          <a:noFill/>
          <a:ln/>
        </p:spPr>
        <p:txBody>
          <a:bodyPr wrap="square" lIns="0" tIns="0" rIns="0" bIns="0" rtlCol="0" anchor="t"/>
          <a:lstStyle/>
          <a:p>
            <a:pPr rtl="1" algn="r" indent="0" marL="0">
              <a:lnSpc>
                <a:spcPts val="2000"/>
              </a:lnSpc>
              <a:buNone/>
            </a:pPr>
            <a:r>
              <a:rPr lang="en-US" sz="1300" dirty="0">
                <a:solidFill>
                  <a:srgbClr val="1B2236"/>
                </a:solidFill>
                <a:latin typeface="Arial" pitchFamily="34" charset="0"/>
                <a:ea typeface="Arial" pitchFamily="34" charset="-122"/>
                <a:cs typeface="Arial" pitchFamily="34" charset="-120"/>
              </a:rPr>
              <a:t>در یک ویدیوی سه‌دقیقه‌ای، سرقت شاید ۱۵ ثانیه باشد. بیش از ۹۰ درصد آنچه مدل می‌بیند، با وجود برچسب «سرقت»، عادی است.</a:t>
            </a:r>
            <a:endParaRPr lang="en-US" sz="1300" dirty="0"/>
          </a:p>
        </p:txBody>
      </p:sp>
      <p:sp>
        <p:nvSpPr>
          <p:cNvPr id="8" name="Text 5"/>
          <p:cNvSpPr txBox="1"/>
          <p:nvPr/>
        </p:nvSpPr>
        <p:spPr>
          <a:xfrm>
            <a:off x="548640" y="3794760"/>
            <a:ext cx="11064240" cy="365760"/>
          </a:xfrm>
          <a:prstGeom prst="rect">
            <a:avLst/>
          </a:prstGeom>
          <a:noFill/>
          <a:ln/>
        </p:spPr>
        <p:txBody>
          <a:bodyPr wrap="square" lIns="0" tIns="0" rIns="0" bIns="0" rtlCol="0" anchor="t"/>
          <a:lstStyle/>
          <a:p>
            <a:pPr rtl="1" algn="r" indent="0" marL="0">
              <a:buNone/>
            </a:pPr>
            <a:r>
              <a:rPr lang="en-US" sz="1800" b="1" dirty="0">
                <a:solidFill>
                  <a:srgbClr val="16264F"/>
                </a:solidFill>
                <a:latin typeface="Arial" pitchFamily="34" charset="0"/>
                <a:ea typeface="Arial" pitchFamily="34" charset="-122"/>
                <a:cs typeface="Arial" pitchFamily="34" charset="-120"/>
              </a:rPr>
              <a:t>راه حل: هر ویدیو یک کیف، هر قطعه یک نمونه</a:t>
            </a:r>
            <a:endParaRPr lang="en-US" sz="1800" dirty="0"/>
          </a:p>
        </p:txBody>
      </p:sp>
      <p:sp>
        <p:nvSpPr>
          <p:cNvPr id="9" name="Shape 6"/>
          <p:cNvSpPr/>
          <p:nvPr/>
        </p:nvSpPr>
        <p:spPr>
          <a:xfrm>
            <a:off x="9052560" y="4343400"/>
            <a:ext cx="2606040" cy="1508760"/>
          </a:xfrm>
          <a:prstGeom prst="roundRect">
            <a:avLst>
              <a:gd name="adj" fmla="val 6061"/>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0" name="Shape 7"/>
          <p:cNvSpPr/>
          <p:nvPr/>
        </p:nvSpPr>
        <p:spPr>
          <a:xfrm>
            <a:off x="10972800" y="4526280"/>
            <a:ext cx="475488" cy="475488"/>
          </a:xfrm>
          <a:prstGeom prst="ellipse">
            <a:avLst/>
          </a:prstGeom>
          <a:solidFill>
            <a:srgbClr val="16264F"/>
          </a:solidFill>
          <a:ln w="12700">
            <a:solidFill>
              <a:srgbClr val="16264F"/>
            </a:solidFill>
            <a:prstDash val="solid"/>
          </a:ln>
        </p:spPr>
      </p:sp>
      <p:sp>
        <p:nvSpPr>
          <p:cNvPr id="11" name="Text 8"/>
          <p:cNvSpPr txBox="1"/>
          <p:nvPr/>
        </p:nvSpPr>
        <p:spPr>
          <a:xfrm>
            <a:off x="10972800" y="45262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2" name="Text 9"/>
          <p:cNvSpPr txBox="1"/>
          <p:nvPr/>
        </p:nvSpPr>
        <p:spPr>
          <a:xfrm>
            <a:off x="9235440" y="5074920"/>
            <a:ext cx="2240280" cy="731520"/>
          </a:xfrm>
          <a:prstGeom prst="rect">
            <a:avLst/>
          </a:prstGeom>
          <a:noFill/>
          <a:ln/>
        </p:spPr>
        <p:txBody>
          <a:bodyPr wrap="square" lIns="0" tIns="0" rIns="0" bIns="0" rtlCol="0" anchor="t"/>
          <a:lstStyle/>
          <a:p>
            <a:pPr rtl="1" algn="r" indent="0" marL="0">
              <a:lnSpc>
                <a:spcPts val="1800"/>
              </a:lnSpc>
              <a:buNone/>
            </a:pPr>
            <a:r>
              <a:rPr lang="en-US" sz="1250" dirty="0">
                <a:solidFill>
                  <a:srgbClr val="1B2236"/>
                </a:solidFill>
                <a:latin typeface="Arial" pitchFamily="34" charset="0"/>
                <a:ea typeface="Arial" pitchFamily="34" charset="-122"/>
                <a:cs typeface="Arial" pitchFamily="34" charset="-120"/>
              </a:rPr>
              <a:t>ویدیو به ۱۶ قطعه شکسته می‌شود</a:t>
            </a:r>
            <a:endParaRPr lang="en-US" sz="1250" dirty="0"/>
          </a:p>
        </p:txBody>
      </p:sp>
      <p:sp>
        <p:nvSpPr>
          <p:cNvPr id="13" name="Shape 10"/>
          <p:cNvSpPr/>
          <p:nvPr/>
        </p:nvSpPr>
        <p:spPr>
          <a:xfrm>
            <a:off x="6217920" y="4343400"/>
            <a:ext cx="2606040" cy="1508760"/>
          </a:xfrm>
          <a:prstGeom prst="roundRect">
            <a:avLst>
              <a:gd name="adj" fmla="val 6061"/>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4" name="Shape 11"/>
          <p:cNvSpPr/>
          <p:nvPr/>
        </p:nvSpPr>
        <p:spPr>
          <a:xfrm>
            <a:off x="8138160" y="4526280"/>
            <a:ext cx="475488" cy="475488"/>
          </a:xfrm>
          <a:prstGeom prst="ellipse">
            <a:avLst/>
          </a:prstGeom>
          <a:solidFill>
            <a:srgbClr val="16264F"/>
          </a:solidFill>
          <a:ln w="12700">
            <a:solidFill>
              <a:srgbClr val="16264F"/>
            </a:solidFill>
            <a:prstDash val="solid"/>
          </a:ln>
        </p:spPr>
      </p:sp>
      <p:sp>
        <p:nvSpPr>
          <p:cNvPr id="15" name="Text 12"/>
          <p:cNvSpPr txBox="1"/>
          <p:nvPr/>
        </p:nvSpPr>
        <p:spPr>
          <a:xfrm>
            <a:off x="8138160" y="45262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6" name="Text 13"/>
          <p:cNvSpPr txBox="1"/>
          <p:nvPr/>
        </p:nvSpPr>
        <p:spPr>
          <a:xfrm>
            <a:off x="6400800" y="5074920"/>
            <a:ext cx="2240280" cy="731520"/>
          </a:xfrm>
          <a:prstGeom prst="rect">
            <a:avLst/>
          </a:prstGeom>
          <a:noFill/>
          <a:ln/>
        </p:spPr>
        <p:txBody>
          <a:bodyPr wrap="square" lIns="0" tIns="0" rIns="0" bIns="0" rtlCol="0" anchor="t"/>
          <a:lstStyle/>
          <a:p>
            <a:pPr rtl="1" algn="r" indent="0" marL="0">
              <a:lnSpc>
                <a:spcPts val="1800"/>
              </a:lnSpc>
              <a:buNone/>
            </a:pPr>
            <a:r>
              <a:rPr lang="en-US" sz="1250" dirty="0">
                <a:solidFill>
                  <a:srgbClr val="1B2236"/>
                </a:solidFill>
                <a:latin typeface="Arial" pitchFamily="34" charset="0"/>
                <a:ea typeface="Arial" pitchFamily="34" charset="-122"/>
                <a:cs typeface="Arial" pitchFamily="34" charset="-120"/>
              </a:rPr>
              <a:t>مدل به هر قطعه نمره می‌دهد</a:t>
            </a:r>
            <a:endParaRPr lang="en-US" sz="1250" dirty="0"/>
          </a:p>
        </p:txBody>
      </p:sp>
      <p:sp>
        <p:nvSpPr>
          <p:cNvPr id="17" name="Shape 14"/>
          <p:cNvSpPr/>
          <p:nvPr/>
        </p:nvSpPr>
        <p:spPr>
          <a:xfrm>
            <a:off x="3383280" y="4343400"/>
            <a:ext cx="2606040" cy="1508760"/>
          </a:xfrm>
          <a:prstGeom prst="roundRect">
            <a:avLst>
              <a:gd name="adj" fmla="val 6061"/>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8" name="Shape 15"/>
          <p:cNvSpPr/>
          <p:nvPr/>
        </p:nvSpPr>
        <p:spPr>
          <a:xfrm>
            <a:off x="5303520" y="4526280"/>
            <a:ext cx="475488" cy="475488"/>
          </a:xfrm>
          <a:prstGeom prst="ellipse">
            <a:avLst/>
          </a:prstGeom>
          <a:solidFill>
            <a:srgbClr val="16264F"/>
          </a:solidFill>
          <a:ln w="12700">
            <a:solidFill>
              <a:srgbClr val="16264F"/>
            </a:solidFill>
            <a:prstDash val="solid"/>
          </a:ln>
        </p:spPr>
      </p:sp>
      <p:sp>
        <p:nvSpPr>
          <p:cNvPr id="19" name="Text 16"/>
          <p:cNvSpPr txBox="1"/>
          <p:nvPr/>
        </p:nvSpPr>
        <p:spPr>
          <a:xfrm>
            <a:off x="5303520" y="45262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0" name="Text 17"/>
          <p:cNvSpPr txBox="1"/>
          <p:nvPr/>
        </p:nvSpPr>
        <p:spPr>
          <a:xfrm>
            <a:off x="3566160" y="5074920"/>
            <a:ext cx="2240280" cy="731520"/>
          </a:xfrm>
          <a:prstGeom prst="rect">
            <a:avLst/>
          </a:prstGeom>
          <a:noFill/>
          <a:ln/>
        </p:spPr>
        <p:txBody>
          <a:bodyPr wrap="square" lIns="0" tIns="0" rIns="0" bIns="0" rtlCol="0" anchor="t"/>
          <a:lstStyle/>
          <a:p>
            <a:pPr rtl="1" algn="r" indent="0" marL="0">
              <a:lnSpc>
                <a:spcPts val="1800"/>
              </a:lnSpc>
              <a:buNone/>
            </a:pPr>
            <a:r>
              <a:rPr lang="en-US" sz="1250" dirty="0">
                <a:solidFill>
                  <a:srgbClr val="1B2236"/>
                </a:solidFill>
                <a:latin typeface="Arial" pitchFamily="34" charset="0"/>
                <a:ea typeface="Arial" pitchFamily="34" charset="-122"/>
                <a:cs typeface="Arial" pitchFamily="34" charset="-120"/>
              </a:rPr>
              <a:t>مشکوک‌ترین قطعه‌ها انتخاب می‌شوند</a:t>
            </a:r>
            <a:endParaRPr lang="en-US" sz="1250" dirty="0"/>
          </a:p>
        </p:txBody>
      </p:sp>
      <p:sp>
        <p:nvSpPr>
          <p:cNvPr id="21" name="Shape 18"/>
          <p:cNvSpPr/>
          <p:nvPr/>
        </p:nvSpPr>
        <p:spPr>
          <a:xfrm>
            <a:off x="548640" y="4343400"/>
            <a:ext cx="2606040" cy="1508760"/>
          </a:xfrm>
          <a:prstGeom prst="roundRect">
            <a:avLst>
              <a:gd name="adj" fmla="val 6061"/>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22" name="Shape 19"/>
          <p:cNvSpPr/>
          <p:nvPr/>
        </p:nvSpPr>
        <p:spPr>
          <a:xfrm>
            <a:off x="2468880" y="4526280"/>
            <a:ext cx="475488" cy="475488"/>
          </a:xfrm>
          <a:prstGeom prst="ellipse">
            <a:avLst/>
          </a:prstGeom>
          <a:solidFill>
            <a:srgbClr val="E8A33D"/>
          </a:solidFill>
          <a:ln w="12700">
            <a:solidFill>
              <a:srgbClr val="E8A33D"/>
            </a:solidFill>
            <a:prstDash val="solid"/>
          </a:ln>
        </p:spPr>
      </p:sp>
      <p:sp>
        <p:nvSpPr>
          <p:cNvPr id="23" name="Text 20"/>
          <p:cNvSpPr txBox="1"/>
          <p:nvPr/>
        </p:nvSpPr>
        <p:spPr>
          <a:xfrm>
            <a:off x="2468880" y="45262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4" name="Text 21"/>
          <p:cNvSpPr txBox="1"/>
          <p:nvPr/>
        </p:nvSpPr>
        <p:spPr>
          <a:xfrm>
            <a:off x="731520" y="5074920"/>
            <a:ext cx="2240280" cy="731520"/>
          </a:xfrm>
          <a:prstGeom prst="rect">
            <a:avLst/>
          </a:prstGeom>
          <a:noFill/>
          <a:ln/>
        </p:spPr>
        <p:txBody>
          <a:bodyPr wrap="square" lIns="0" tIns="0" rIns="0" bIns="0" rtlCol="0" anchor="t"/>
          <a:lstStyle/>
          <a:p>
            <a:pPr rtl="1" algn="r" indent="0" marL="0">
              <a:lnSpc>
                <a:spcPts val="1800"/>
              </a:lnSpc>
              <a:buNone/>
            </a:pPr>
            <a:r>
              <a:rPr lang="en-US" sz="1250" dirty="0">
                <a:solidFill>
                  <a:srgbClr val="1B2236"/>
                </a:solidFill>
                <a:latin typeface="Arial" pitchFamily="34" charset="0"/>
                <a:ea typeface="Arial" pitchFamily="34" charset="-122"/>
                <a:cs typeface="Arial" pitchFamily="34" charset="-120"/>
              </a:rPr>
              <a:t>فرض: همان‌ها برچسب کیف را حمل می‌کنند</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64F"/>
        </a:solidFill>
      </p:bgPr>
    </p:bg>
    <p:spTree>
      <p:nvGrpSpPr>
        <p:cNvPr id="1" name=""/>
        <p:cNvGrpSpPr/>
        <p:nvPr/>
      </p:nvGrpSpPr>
      <p:grpSpPr>
        <a:xfrm>
          <a:off x="0" y="0"/>
          <a:ext cx="0" cy="0"/>
          <a:chOff x="0" y="0"/>
          <a:chExt cx="0" cy="0"/>
        </a:xfrm>
      </p:grpSpPr>
      <p:sp>
        <p:nvSpPr>
          <p:cNvPr id="2" name="Shape 0"/>
          <p:cNvSpPr/>
          <p:nvPr/>
        </p:nvSpPr>
        <p:spPr>
          <a:xfrm>
            <a:off x="-1645920" y="-1371600"/>
            <a:ext cx="5120640" cy="5120640"/>
          </a:xfrm>
          <a:prstGeom prst="ellipse">
            <a:avLst/>
          </a:prstGeom>
          <a:solidFill>
            <a:srgbClr val="1E3566"/>
          </a:solidFill>
          <a:ln w="12700">
            <a:solidFill>
              <a:srgbClr val="333333"/>
            </a:solidFill>
            <a:prstDash val="solid"/>
          </a:ln>
        </p:spPr>
      </p:sp>
      <p:sp>
        <p:nvSpPr>
          <p:cNvPr id="3" name="Text 1"/>
          <p:cNvSpPr txBox="1"/>
          <p:nvPr/>
        </p:nvSpPr>
        <p:spPr>
          <a:xfrm>
            <a:off x="4572000" y="2194560"/>
            <a:ext cx="6858000" cy="548640"/>
          </a:xfrm>
          <a:prstGeom prst="rect">
            <a:avLst/>
          </a:prstGeom>
          <a:noFill/>
          <a:ln/>
        </p:spPr>
        <p:txBody>
          <a:bodyPr wrap="square" lIns="0" tIns="0" rIns="0" bIns="0" rtlCol="0" anchor="t"/>
          <a:lstStyle/>
          <a:p>
            <a:pPr rtl="1" algn="r" indent="0" marL="0">
              <a:buNone/>
            </a:pPr>
            <a:r>
              <a:rPr lang="en-US" sz="1800" b="1" dirty="0">
                <a:solidFill>
                  <a:srgbClr val="E8A33D"/>
                </a:solidFill>
                <a:latin typeface="Arial" pitchFamily="34" charset="0"/>
                <a:ea typeface="Arial" pitchFamily="34" charset="-122"/>
                <a:cs typeface="Arial" pitchFamily="34" charset="-120"/>
              </a:rPr>
              <a:t>مسیر اول</a:t>
            </a:r>
            <a:endParaRPr lang="en-US" sz="1800" dirty="0"/>
          </a:p>
        </p:txBody>
      </p:sp>
      <p:sp>
        <p:nvSpPr>
          <p:cNvPr id="4" name="Text 2"/>
          <p:cNvSpPr txBox="1"/>
          <p:nvPr/>
        </p:nvSpPr>
        <p:spPr>
          <a:xfrm>
            <a:off x="4572000" y="2743200"/>
            <a:ext cx="6858000" cy="1097280"/>
          </a:xfrm>
          <a:prstGeom prst="rect">
            <a:avLst/>
          </a:prstGeom>
          <a:noFill/>
          <a:ln/>
        </p:spPr>
        <p:txBody>
          <a:bodyPr wrap="square" lIns="0" tIns="0" rIns="0" bIns="0" rtlCol="0" anchor="t"/>
          <a:lstStyle/>
          <a:p>
            <a:pPr algn="r" indent="0" marL="0">
              <a:buNone/>
            </a:pPr>
            <a:r>
              <a:rPr lang="en-US" sz="6000" b="1" dirty="0">
                <a:solidFill>
                  <a:srgbClr val="FFFFFF"/>
                </a:solidFill>
                <a:latin typeface="Arial" pitchFamily="34" charset="0"/>
                <a:ea typeface="Arial" pitchFamily="34" charset="-122"/>
                <a:cs typeface="Arial" pitchFamily="34" charset="-120"/>
              </a:rPr>
              <a:t>X-CLIP</a:t>
            </a:r>
            <a:endParaRPr lang="en-US" sz="6000" dirty="0"/>
          </a:p>
        </p:txBody>
      </p:sp>
      <p:sp>
        <p:nvSpPr>
          <p:cNvPr id="5" name="Text 3"/>
          <p:cNvSpPr txBox="1"/>
          <p:nvPr/>
        </p:nvSpPr>
        <p:spPr>
          <a:xfrm>
            <a:off x="4572000" y="3931920"/>
            <a:ext cx="6858000" cy="457200"/>
          </a:xfrm>
          <a:prstGeom prst="rect">
            <a:avLst/>
          </a:prstGeom>
          <a:noFill/>
          <a:ln/>
        </p:spPr>
        <p:txBody>
          <a:bodyPr wrap="square" lIns="0" tIns="0" rIns="0" bIns="0" rtlCol="0" anchor="t"/>
          <a:lstStyle/>
          <a:p>
            <a:pPr rtl="1" algn="r" indent="0" marL="0">
              <a:buNone/>
            </a:pPr>
            <a:r>
              <a:rPr lang="en-US" sz="1700" dirty="0">
                <a:solidFill>
                  <a:srgbClr val="BFD4F2"/>
                </a:solidFill>
                <a:latin typeface="Arial" pitchFamily="34" charset="0"/>
                <a:ea typeface="Arial" pitchFamily="34" charset="-122"/>
                <a:cs typeface="Arial" pitchFamily="34" charset="-120"/>
              </a:rPr>
              <a:t>تبدیل کد UMIL از دودویی به چهارده‌کلاسه</a:t>
            </a:r>
            <a:endParaRPr lang="en-US" sz="1700" dirty="0"/>
          </a:p>
        </p:txBody>
      </p:sp>
      <p:sp>
        <p:nvSpPr>
          <p:cNvPr id="6" name="Text 4"/>
          <p:cNvSpPr txBox="1"/>
          <p:nvPr/>
        </p:nvSpPr>
        <p:spPr>
          <a:xfrm>
            <a:off x="4572000" y="4663440"/>
            <a:ext cx="6858000" cy="640080"/>
          </a:xfrm>
          <a:prstGeom prst="rect">
            <a:avLst/>
          </a:prstGeom>
          <a:noFill/>
          <a:ln/>
        </p:spPr>
        <p:txBody>
          <a:bodyPr wrap="square" lIns="0" tIns="0" rIns="0" bIns="0" rtlCol="0" anchor="t"/>
          <a:lstStyle/>
          <a:p>
            <a:pPr algn="r" indent="0" marL="0">
              <a:buNone/>
            </a:pPr>
            <a:r>
              <a:rPr lang="en-US" sz="2600" b="1" dirty="0">
                <a:solidFill>
                  <a:srgbClr val="E8A33D"/>
                </a:solidFill>
                <a:latin typeface="Arial" pitchFamily="34" charset="0"/>
                <a:ea typeface="Arial" pitchFamily="34" charset="-122"/>
                <a:cs typeface="Arial" pitchFamily="34" charset="-120"/>
              </a:rPr>
              <a:t>0.3327  ←  0.3881</a:t>
            </a:r>
            <a:endParaRPr lang="en-US" sz="2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مسیر اول</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X-CLIP چطور کار می‌کند</a:t>
            </a:r>
            <a:endParaRPr lang="en-US" sz="3000" dirty="0"/>
          </a:p>
        </p:txBody>
      </p:sp>
      <p:sp>
        <p:nvSpPr>
          <p:cNvPr id="4" name="Shape 2"/>
          <p:cNvSpPr/>
          <p:nvPr/>
        </p:nvSpPr>
        <p:spPr>
          <a:xfrm>
            <a:off x="548640" y="1600200"/>
            <a:ext cx="11064240" cy="960120"/>
          </a:xfrm>
          <a:prstGeom prst="roundRect">
            <a:avLst>
              <a:gd name="adj" fmla="val 9524"/>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5" name="Shape 3"/>
          <p:cNvSpPr/>
          <p:nvPr/>
        </p:nvSpPr>
        <p:spPr>
          <a:xfrm>
            <a:off x="10881360" y="1847088"/>
            <a:ext cx="475488" cy="475488"/>
          </a:xfrm>
          <a:prstGeom prst="ellipse">
            <a:avLst/>
          </a:prstGeom>
          <a:solidFill>
            <a:srgbClr val="16264F"/>
          </a:solidFill>
          <a:ln w="12700">
            <a:solidFill>
              <a:srgbClr val="16264F"/>
            </a:solidFill>
            <a:prstDash val="solid"/>
          </a:ln>
        </p:spPr>
      </p:sp>
      <p:sp>
        <p:nvSpPr>
          <p:cNvPr id="6" name="Text 4"/>
          <p:cNvSpPr txBox="1"/>
          <p:nvPr/>
        </p:nvSpPr>
        <p:spPr>
          <a:xfrm>
            <a:off x="10881360" y="184708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914400" y="1728216"/>
            <a:ext cx="9692640" cy="320040"/>
          </a:xfrm>
          <a:prstGeom prst="rect">
            <a:avLst/>
          </a:prstGeom>
          <a:noFill/>
          <a:ln/>
        </p:spPr>
        <p:txBody>
          <a:bodyPr wrap="square" lIns="0" tIns="0" rIns="0" bIns="0" rtlCol="0" anchor="t"/>
          <a:lstStyle/>
          <a:p>
            <a:pPr rtl="1" algn="r" indent="0" marL="0">
              <a:buNone/>
            </a:pPr>
            <a:r>
              <a:rPr lang="en-US" sz="1550" b="1" dirty="0">
                <a:solidFill>
                  <a:srgbClr val="16264F"/>
                </a:solidFill>
                <a:latin typeface="Arial" pitchFamily="34" charset="0"/>
                <a:ea typeface="Arial" pitchFamily="34" charset="-122"/>
                <a:cs typeface="Arial" pitchFamily="34" charset="-120"/>
              </a:rPr>
              <a:t>CLIP روی جفت عکس و متن آموزش دیده</a:t>
            </a:r>
            <a:endParaRPr lang="en-US" sz="1550" dirty="0"/>
          </a:p>
        </p:txBody>
      </p:sp>
      <p:sp>
        <p:nvSpPr>
          <p:cNvPr id="8" name="Text 6"/>
          <p:cNvSpPr txBox="1"/>
          <p:nvPr/>
        </p:nvSpPr>
        <p:spPr>
          <a:xfrm>
            <a:off x="914400" y="2075688"/>
            <a:ext cx="9692640" cy="320040"/>
          </a:xfrm>
          <a:prstGeom prst="rect">
            <a:avLst/>
          </a:prstGeom>
          <a:noFill/>
          <a:ln/>
        </p:spPr>
        <p:txBody>
          <a:bodyPr wrap="square" lIns="0" tIns="0" rIns="0" bIns="0" rtlCol="0" anchor="t"/>
          <a:lstStyle/>
          <a:p>
            <a:pPr rtl="1" algn="r" indent="0" marL="0">
              <a:buNone/>
            </a:pPr>
            <a:r>
              <a:rPr lang="en-US" sz="1250" dirty="0">
                <a:solidFill>
                  <a:srgbClr val="6A748C"/>
                </a:solidFill>
                <a:latin typeface="Arial" pitchFamily="34" charset="0"/>
                <a:ea typeface="Arial" pitchFamily="34" charset="-122"/>
                <a:cs typeface="Arial" pitchFamily="34" charset="-120"/>
              </a:rPr>
              <a:t>عکس و توضیحش در یک فضای مشترک نزدیک هم می‌افتند</a:t>
            </a:r>
            <a:endParaRPr lang="en-US" sz="1250" dirty="0"/>
          </a:p>
        </p:txBody>
      </p:sp>
      <p:sp>
        <p:nvSpPr>
          <p:cNvPr id="9" name="Shape 7"/>
          <p:cNvSpPr/>
          <p:nvPr/>
        </p:nvSpPr>
        <p:spPr>
          <a:xfrm>
            <a:off x="548640" y="2715768"/>
            <a:ext cx="11064240" cy="960120"/>
          </a:xfrm>
          <a:prstGeom prst="roundRect">
            <a:avLst>
              <a:gd name="adj" fmla="val 9524"/>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0" name="Shape 8"/>
          <p:cNvSpPr/>
          <p:nvPr/>
        </p:nvSpPr>
        <p:spPr>
          <a:xfrm>
            <a:off x="10881360" y="2962656"/>
            <a:ext cx="475488" cy="475488"/>
          </a:xfrm>
          <a:prstGeom prst="ellipse">
            <a:avLst/>
          </a:prstGeom>
          <a:solidFill>
            <a:srgbClr val="16264F"/>
          </a:solidFill>
          <a:ln w="12700">
            <a:solidFill>
              <a:srgbClr val="16264F"/>
            </a:solidFill>
            <a:prstDash val="solid"/>
          </a:ln>
        </p:spPr>
      </p:sp>
      <p:sp>
        <p:nvSpPr>
          <p:cNvPr id="11" name="Text 9"/>
          <p:cNvSpPr txBox="1"/>
          <p:nvPr/>
        </p:nvSpPr>
        <p:spPr>
          <a:xfrm>
            <a:off x="10881360" y="296265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914400" y="2843784"/>
            <a:ext cx="9692640" cy="320040"/>
          </a:xfrm>
          <a:prstGeom prst="rect">
            <a:avLst/>
          </a:prstGeom>
          <a:noFill/>
          <a:ln/>
        </p:spPr>
        <p:txBody>
          <a:bodyPr wrap="square" lIns="0" tIns="0" rIns="0" bIns="0" rtlCol="0" anchor="t"/>
          <a:lstStyle/>
          <a:p>
            <a:pPr rtl="1" algn="r" indent="0" marL="0">
              <a:buNone/>
            </a:pPr>
            <a:r>
              <a:rPr lang="en-US" sz="1550" b="1" dirty="0">
                <a:solidFill>
                  <a:srgbClr val="16264F"/>
                </a:solidFill>
                <a:latin typeface="Arial" pitchFamily="34" charset="0"/>
                <a:ea typeface="Arial" pitchFamily="34" charset="-122"/>
                <a:cs typeface="Arial" pitchFamily="34" charset="-120"/>
              </a:rPr>
              <a:t>طبقه‌بندی بدون آموزش</a:t>
            </a:r>
            <a:endParaRPr lang="en-US" sz="1550" dirty="0"/>
          </a:p>
        </p:txBody>
      </p:sp>
      <p:sp>
        <p:nvSpPr>
          <p:cNvPr id="13" name="Text 11"/>
          <p:cNvSpPr txBox="1"/>
          <p:nvPr/>
        </p:nvSpPr>
        <p:spPr>
          <a:xfrm>
            <a:off x="914400" y="3191256"/>
            <a:ext cx="9692640" cy="320040"/>
          </a:xfrm>
          <a:prstGeom prst="rect">
            <a:avLst/>
          </a:prstGeom>
          <a:noFill/>
          <a:ln/>
        </p:spPr>
        <p:txBody>
          <a:bodyPr wrap="square" lIns="0" tIns="0" rIns="0" bIns="0" rtlCol="0" anchor="t"/>
          <a:lstStyle/>
          <a:p>
            <a:pPr rtl="1" algn="r" indent="0" marL="0">
              <a:buNone/>
            </a:pPr>
            <a:r>
              <a:rPr lang="en-US" sz="1250" dirty="0">
                <a:solidFill>
                  <a:srgbClr val="6A748C"/>
                </a:solidFill>
                <a:latin typeface="Arial" pitchFamily="34" charset="0"/>
                <a:ea typeface="Arial" pitchFamily="34" charset="-122"/>
                <a:cs typeface="Arial" pitchFamily="34" charset="-120"/>
              </a:rPr>
              <a:t>اسم هر کلاس به بردار تبدیل می‌شود و نزدیک‌ترین برنده است</a:t>
            </a:r>
            <a:endParaRPr lang="en-US" sz="1250" dirty="0"/>
          </a:p>
        </p:txBody>
      </p:sp>
      <p:sp>
        <p:nvSpPr>
          <p:cNvPr id="14" name="Shape 12"/>
          <p:cNvSpPr/>
          <p:nvPr/>
        </p:nvSpPr>
        <p:spPr>
          <a:xfrm>
            <a:off x="548640" y="3831336"/>
            <a:ext cx="11064240" cy="960120"/>
          </a:xfrm>
          <a:prstGeom prst="roundRect">
            <a:avLst>
              <a:gd name="adj" fmla="val 9524"/>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5" name="Shape 13"/>
          <p:cNvSpPr/>
          <p:nvPr/>
        </p:nvSpPr>
        <p:spPr>
          <a:xfrm>
            <a:off x="10881360" y="4078224"/>
            <a:ext cx="475488" cy="475488"/>
          </a:xfrm>
          <a:prstGeom prst="ellipse">
            <a:avLst/>
          </a:prstGeom>
          <a:solidFill>
            <a:srgbClr val="16264F"/>
          </a:solidFill>
          <a:ln w="12700">
            <a:solidFill>
              <a:srgbClr val="16264F"/>
            </a:solidFill>
            <a:prstDash val="solid"/>
          </a:ln>
        </p:spPr>
      </p:sp>
      <p:sp>
        <p:nvSpPr>
          <p:cNvPr id="16" name="Text 14"/>
          <p:cNvSpPr txBox="1"/>
          <p:nvPr/>
        </p:nvSpPr>
        <p:spPr>
          <a:xfrm>
            <a:off x="10881360" y="407822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914400" y="3959352"/>
            <a:ext cx="9692640" cy="320040"/>
          </a:xfrm>
          <a:prstGeom prst="rect">
            <a:avLst/>
          </a:prstGeom>
          <a:noFill/>
          <a:ln/>
        </p:spPr>
        <p:txBody>
          <a:bodyPr wrap="square" lIns="0" tIns="0" rIns="0" bIns="0" rtlCol="0" anchor="t"/>
          <a:lstStyle/>
          <a:p>
            <a:pPr rtl="1" algn="r" indent="0" marL="0">
              <a:buNone/>
            </a:pPr>
            <a:r>
              <a:rPr lang="en-US" sz="1550" b="1" dirty="0">
                <a:solidFill>
                  <a:srgbClr val="16264F"/>
                </a:solidFill>
                <a:latin typeface="Arial" pitchFamily="34" charset="0"/>
                <a:ea typeface="Arial" pitchFamily="34" charset="-122"/>
                <a:cs typeface="Arial" pitchFamily="34" charset="-120"/>
              </a:rPr>
              <a:t>X-CLIP بخش زمانی اضافه می‌کند</a:t>
            </a:r>
            <a:endParaRPr lang="en-US" sz="1550" dirty="0"/>
          </a:p>
        </p:txBody>
      </p:sp>
      <p:sp>
        <p:nvSpPr>
          <p:cNvPr id="18" name="Text 16"/>
          <p:cNvSpPr txBox="1"/>
          <p:nvPr/>
        </p:nvSpPr>
        <p:spPr>
          <a:xfrm>
            <a:off x="914400" y="4306824"/>
            <a:ext cx="9692640" cy="320040"/>
          </a:xfrm>
          <a:prstGeom prst="rect">
            <a:avLst/>
          </a:prstGeom>
          <a:noFill/>
          <a:ln/>
        </p:spPr>
        <p:txBody>
          <a:bodyPr wrap="square" lIns="0" tIns="0" rIns="0" bIns="0" rtlCol="0" anchor="t"/>
          <a:lstStyle/>
          <a:p>
            <a:pPr rtl="1" algn="r" indent="0" marL="0">
              <a:buNone/>
            </a:pPr>
            <a:r>
              <a:rPr lang="en-US" sz="1250" dirty="0">
                <a:solidFill>
                  <a:srgbClr val="6A748C"/>
                </a:solidFill>
                <a:latin typeface="Arial" pitchFamily="34" charset="0"/>
                <a:ea typeface="Arial" pitchFamily="34" charset="-122"/>
                <a:cs typeface="Arial" pitchFamily="34" charset="-120"/>
              </a:rPr>
              <a:t>حالا ورودی ویدیو است، نه یک عکس تنها</a:t>
            </a:r>
            <a:endParaRPr lang="en-US" sz="1250" dirty="0"/>
          </a:p>
        </p:txBody>
      </p:sp>
      <p:sp>
        <p:nvSpPr>
          <p:cNvPr id="19" name="Shape 17"/>
          <p:cNvSpPr/>
          <p:nvPr/>
        </p:nvSpPr>
        <p:spPr>
          <a:xfrm>
            <a:off x="548640" y="4946904"/>
            <a:ext cx="11064240" cy="960120"/>
          </a:xfrm>
          <a:prstGeom prst="roundRect">
            <a:avLst>
              <a:gd name="adj" fmla="val 9524"/>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20" name="Shape 18"/>
          <p:cNvSpPr/>
          <p:nvPr/>
        </p:nvSpPr>
        <p:spPr>
          <a:xfrm>
            <a:off x="10881360" y="5193792"/>
            <a:ext cx="475488" cy="475488"/>
          </a:xfrm>
          <a:prstGeom prst="ellipse">
            <a:avLst/>
          </a:prstGeom>
          <a:solidFill>
            <a:srgbClr val="E8A33D"/>
          </a:solidFill>
          <a:ln w="12700">
            <a:solidFill>
              <a:srgbClr val="E8A33D"/>
            </a:solidFill>
            <a:prstDash val="solid"/>
          </a:ln>
        </p:spPr>
      </p:sp>
      <p:sp>
        <p:nvSpPr>
          <p:cNvPr id="21" name="Text 19"/>
          <p:cNvSpPr txBox="1"/>
          <p:nvPr/>
        </p:nvSpPr>
        <p:spPr>
          <a:xfrm>
            <a:off x="10881360" y="519379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txBox="1"/>
          <p:nvPr/>
        </p:nvSpPr>
        <p:spPr>
          <a:xfrm>
            <a:off x="914400" y="5074920"/>
            <a:ext cx="9692640" cy="320040"/>
          </a:xfrm>
          <a:prstGeom prst="rect">
            <a:avLst/>
          </a:prstGeom>
          <a:noFill/>
          <a:ln/>
        </p:spPr>
        <p:txBody>
          <a:bodyPr wrap="square" lIns="0" tIns="0" rIns="0" bIns="0" rtlCol="0" anchor="t"/>
          <a:lstStyle/>
          <a:p>
            <a:pPr rtl="1" algn="r" indent="0" marL="0">
              <a:buNone/>
            </a:pPr>
            <a:r>
              <a:rPr lang="en-US" sz="1550" b="1" dirty="0">
                <a:solidFill>
                  <a:srgbClr val="16264F"/>
                </a:solidFill>
                <a:latin typeface="Arial" pitchFamily="34" charset="0"/>
                <a:ea typeface="Arial" pitchFamily="34" charset="-122"/>
                <a:cs typeface="Arial" pitchFamily="34" charset="-120"/>
              </a:rPr>
              <a:t>در پروژه ما</a:t>
            </a:r>
            <a:endParaRPr lang="en-US" sz="1550" dirty="0"/>
          </a:p>
        </p:txBody>
      </p:sp>
      <p:sp>
        <p:nvSpPr>
          <p:cNvPr id="23" name="Text 21"/>
          <p:cNvSpPr txBox="1"/>
          <p:nvPr/>
        </p:nvSpPr>
        <p:spPr>
          <a:xfrm>
            <a:off x="914400" y="5422392"/>
            <a:ext cx="9692640" cy="320040"/>
          </a:xfrm>
          <a:prstGeom prst="rect">
            <a:avLst/>
          </a:prstGeom>
          <a:noFill/>
          <a:ln/>
        </p:spPr>
        <p:txBody>
          <a:bodyPr wrap="square" lIns="0" tIns="0" rIns="0" bIns="0" rtlCol="0" anchor="t"/>
          <a:lstStyle/>
          <a:p>
            <a:pPr rtl="1" algn="r" indent="0" marL="0">
              <a:buNone/>
            </a:pPr>
            <a:r>
              <a:rPr lang="en-US" sz="1250" dirty="0">
                <a:solidFill>
                  <a:srgbClr val="6A748C"/>
                </a:solidFill>
                <a:latin typeface="Arial" pitchFamily="34" charset="0"/>
                <a:ea typeface="Arial" pitchFamily="34" charset="-122"/>
                <a:cs typeface="Arial" pitchFamily="34" charset="-120"/>
              </a:rPr>
              <a:t>بردار ویدیو با ۱۴ بردار متنی مقایسه می‌شود</a:t>
            </a:r>
            <a:endParaRPr lang="en-US" sz="1250" dirty="0"/>
          </a:p>
        </p:txBody>
      </p:sp>
      <p:sp>
        <p:nvSpPr>
          <p:cNvPr id="24" name="Text 22"/>
          <p:cNvSpPr txBox="1"/>
          <p:nvPr/>
        </p:nvSpPr>
        <p:spPr>
          <a:xfrm>
            <a:off x="548640" y="6080760"/>
            <a:ext cx="11064240" cy="365760"/>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آن ۱۴ بردار متنی نقش وزن‌های طبقه‌بند را بازی می‌کنند و هرگز آموزش نمی‌بینند.</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مسیر اول</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سه اشکال بنیادی که پیدا و اصلاح شد</a:t>
            </a:r>
            <a:endParaRPr lang="en-US" sz="3000" dirty="0"/>
          </a:p>
        </p:txBody>
      </p:sp>
      <p:sp>
        <p:nvSpPr>
          <p:cNvPr id="4" name="Shape 2"/>
          <p:cNvSpPr/>
          <p:nvPr/>
        </p:nvSpPr>
        <p:spPr>
          <a:xfrm>
            <a:off x="8092440" y="1645920"/>
            <a:ext cx="3520440" cy="4069080"/>
          </a:xfrm>
          <a:prstGeom prst="roundRect">
            <a:avLst>
              <a:gd name="adj" fmla="val 2597"/>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5" name="Shape 3"/>
          <p:cNvSpPr/>
          <p:nvPr/>
        </p:nvSpPr>
        <p:spPr>
          <a:xfrm>
            <a:off x="10881360" y="1874520"/>
            <a:ext cx="475488" cy="475488"/>
          </a:xfrm>
          <a:prstGeom prst="ellipse">
            <a:avLst/>
          </a:prstGeom>
          <a:solidFill>
            <a:srgbClr val="C9483B"/>
          </a:solidFill>
          <a:ln w="12700">
            <a:solidFill>
              <a:srgbClr val="C9483B"/>
            </a:solidFill>
            <a:prstDash val="solid"/>
          </a:ln>
        </p:spPr>
      </p:sp>
      <p:sp>
        <p:nvSpPr>
          <p:cNvPr id="6" name="Text 4"/>
          <p:cNvSpPr txBox="1"/>
          <p:nvPr/>
        </p:nvSpPr>
        <p:spPr>
          <a:xfrm>
            <a:off x="10881360" y="18745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8321040" y="2514600"/>
            <a:ext cx="3063240" cy="685800"/>
          </a:xfrm>
          <a:prstGeom prst="rect">
            <a:avLst/>
          </a:prstGeom>
          <a:noFill/>
          <a:ln/>
        </p:spPr>
        <p:txBody>
          <a:bodyPr wrap="square" lIns="0" tIns="0" rIns="0" bIns="0" rtlCol="0" anchor="t"/>
          <a:lstStyle/>
          <a:p>
            <a:pPr rtl="1" algn="r" indent="0" marL="0">
              <a:lnSpc>
                <a:spcPts val="2100"/>
              </a:lnSpc>
              <a:buNone/>
            </a:pPr>
            <a:r>
              <a:rPr lang="en-US" sz="1500" b="1" dirty="0">
                <a:solidFill>
                  <a:srgbClr val="16264F"/>
                </a:solidFill>
                <a:latin typeface="Arial" pitchFamily="34" charset="0"/>
                <a:ea typeface="Arial" pitchFamily="34" charset="-122"/>
                <a:cs typeface="Arial" pitchFamily="34" charset="-120"/>
              </a:rPr>
              <a:t>میانگین‌گیری در ارزیابی</a:t>
            </a:r>
            <a:endParaRPr lang="en-US" sz="1500" dirty="0"/>
          </a:p>
        </p:txBody>
      </p:sp>
      <p:sp>
        <p:nvSpPr>
          <p:cNvPr id="8" name="Text 6"/>
          <p:cNvSpPr txBox="1"/>
          <p:nvPr/>
        </p:nvSpPr>
        <p:spPr>
          <a:xfrm>
            <a:off x="8321040" y="3200400"/>
            <a:ext cx="3063240" cy="1645920"/>
          </a:xfrm>
          <a:prstGeom prst="rect">
            <a:avLst/>
          </a:prstGeom>
          <a:noFill/>
          <a:ln/>
        </p:spPr>
        <p:txBody>
          <a:bodyPr wrap="square" lIns="0" tIns="0" rIns="0" bIns="0" rtlCol="0" anchor="t"/>
          <a:lstStyle/>
          <a:p>
            <a:pPr rtl="1" algn="r" indent="0" marL="0">
              <a:lnSpc>
                <a:spcPts val="1900"/>
              </a:lnSpc>
              <a:buNone/>
            </a:pPr>
            <a:r>
              <a:rPr lang="en-US" sz="1200" dirty="0">
                <a:solidFill>
                  <a:srgbClr val="1B2236"/>
                </a:solidFill>
                <a:latin typeface="Arial" pitchFamily="34" charset="0"/>
                <a:ea typeface="Arial" pitchFamily="34" charset="-122"/>
                <a:cs typeface="Arial" pitchFamily="34" charset="-120"/>
              </a:rPr>
              <a:t>احتمال هر ۱۶ قطعه میانگین گرفته می‌شد. در ویدیوی ناهنجار، قطعه‌های عادی شواهد را خفه می‌کردند و تقریباً همه چیز عادی پیش‌بینی می‌شد.</a:t>
            </a:r>
            <a:endParaRPr lang="en-US" sz="1200" dirty="0"/>
          </a:p>
        </p:txBody>
      </p:sp>
      <p:sp>
        <p:nvSpPr>
          <p:cNvPr id="9" name="Text 7"/>
          <p:cNvSpPr txBox="1"/>
          <p:nvPr/>
        </p:nvSpPr>
        <p:spPr>
          <a:xfrm>
            <a:off x="8321040" y="4937760"/>
            <a:ext cx="3063240" cy="640080"/>
          </a:xfrm>
          <a:prstGeom prst="rect">
            <a:avLst/>
          </a:prstGeom>
          <a:noFill/>
          <a:ln/>
        </p:spPr>
        <p:txBody>
          <a:bodyPr wrap="square" lIns="0" tIns="0" rIns="0" bIns="0" rtlCol="0" anchor="t"/>
          <a:lstStyle/>
          <a:p>
            <a:pPr rtl="1" algn="r" indent="0" marL="0">
              <a:lnSpc>
                <a:spcPts val="1800"/>
              </a:lnSpc>
              <a:buNone/>
            </a:pPr>
            <a:r>
              <a:rPr lang="en-US" sz="1200" b="1" dirty="0">
                <a:solidFill>
                  <a:srgbClr val="3FA7A0"/>
                </a:solidFill>
                <a:latin typeface="Arial" pitchFamily="34" charset="0"/>
                <a:ea typeface="Arial" pitchFamily="34" charset="-122"/>
                <a:cs typeface="Arial" pitchFamily="34" charset="-120"/>
              </a:rPr>
              <a:t>اصلاح: تصمیم دومرحله‌ای با بیشینه</a:t>
            </a:r>
            <a:endParaRPr lang="en-US" sz="1200" dirty="0"/>
          </a:p>
        </p:txBody>
      </p:sp>
      <p:sp>
        <p:nvSpPr>
          <p:cNvPr id="10" name="Shape 8"/>
          <p:cNvSpPr/>
          <p:nvPr/>
        </p:nvSpPr>
        <p:spPr>
          <a:xfrm>
            <a:off x="4315968" y="1645920"/>
            <a:ext cx="3520440" cy="4069080"/>
          </a:xfrm>
          <a:prstGeom prst="roundRect">
            <a:avLst>
              <a:gd name="adj" fmla="val 2597"/>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1" name="Shape 9"/>
          <p:cNvSpPr/>
          <p:nvPr/>
        </p:nvSpPr>
        <p:spPr>
          <a:xfrm>
            <a:off x="7104888" y="1874520"/>
            <a:ext cx="475488" cy="475488"/>
          </a:xfrm>
          <a:prstGeom prst="ellipse">
            <a:avLst/>
          </a:prstGeom>
          <a:solidFill>
            <a:srgbClr val="C9483B"/>
          </a:solidFill>
          <a:ln w="12700">
            <a:solidFill>
              <a:srgbClr val="C9483B"/>
            </a:solidFill>
            <a:prstDash val="solid"/>
          </a:ln>
        </p:spPr>
      </p:sp>
      <p:sp>
        <p:nvSpPr>
          <p:cNvPr id="12" name="Text 10"/>
          <p:cNvSpPr txBox="1"/>
          <p:nvPr/>
        </p:nvSpPr>
        <p:spPr>
          <a:xfrm>
            <a:off x="7104888" y="18745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4544568" y="2514600"/>
            <a:ext cx="3063240" cy="685800"/>
          </a:xfrm>
          <a:prstGeom prst="rect">
            <a:avLst/>
          </a:prstGeom>
          <a:noFill/>
          <a:ln/>
        </p:spPr>
        <p:txBody>
          <a:bodyPr wrap="square" lIns="0" tIns="0" rIns="0" bIns="0" rtlCol="0" anchor="t"/>
          <a:lstStyle/>
          <a:p>
            <a:pPr rtl="1" algn="r" indent="0" marL="0">
              <a:lnSpc>
                <a:spcPts val="2100"/>
              </a:lnSpc>
              <a:buNone/>
            </a:pPr>
            <a:r>
              <a:rPr lang="en-US" sz="1500" b="1" dirty="0">
                <a:solidFill>
                  <a:srgbClr val="16264F"/>
                </a:solidFill>
                <a:latin typeface="Arial" pitchFamily="34" charset="0"/>
                <a:ea typeface="Arial" pitchFamily="34" charset="-122"/>
                <a:cs typeface="Arial" pitchFamily="34" charset="-120"/>
              </a:rPr>
              <a:t>فایل نمرات کهنه</a:t>
            </a:r>
            <a:endParaRPr lang="en-US" sz="1500" dirty="0"/>
          </a:p>
        </p:txBody>
      </p:sp>
      <p:sp>
        <p:nvSpPr>
          <p:cNvPr id="14" name="Text 12"/>
          <p:cNvSpPr txBox="1"/>
          <p:nvPr/>
        </p:nvSpPr>
        <p:spPr>
          <a:xfrm>
            <a:off x="4544568" y="3200400"/>
            <a:ext cx="3063240" cy="1645920"/>
          </a:xfrm>
          <a:prstGeom prst="rect">
            <a:avLst/>
          </a:prstGeom>
          <a:noFill/>
          <a:ln/>
        </p:spPr>
        <p:txBody>
          <a:bodyPr wrap="square" lIns="0" tIns="0" rIns="0" bIns="0" rtlCol="0" anchor="t"/>
          <a:lstStyle/>
          <a:p>
            <a:pPr rtl="1" algn="r" indent="0" marL="0">
              <a:lnSpc>
                <a:spcPts val="1900"/>
              </a:lnSpc>
              <a:buNone/>
            </a:pPr>
            <a:r>
              <a:rPr lang="en-US" sz="1200" dirty="0">
                <a:solidFill>
                  <a:srgbClr val="1B2236"/>
                </a:solidFill>
                <a:latin typeface="Arial" pitchFamily="34" charset="0"/>
                <a:ea typeface="Arial" pitchFamily="34" charset="-122"/>
                <a:cs typeface="Arial" pitchFamily="34" charset="-120"/>
              </a:rPr>
              <a:t>کد هر فایل نمرات موجود را بازاستفاده می‌کرد. در یک گزارش، ۲۸۸ ویدیو از ۲۹۸ کنار گذاشته شده و عدد روی ده ویدیو حساب شده بود.</a:t>
            </a:r>
            <a:endParaRPr lang="en-US" sz="1200" dirty="0"/>
          </a:p>
        </p:txBody>
      </p:sp>
      <p:sp>
        <p:nvSpPr>
          <p:cNvPr id="15" name="Text 13"/>
          <p:cNvSpPr txBox="1"/>
          <p:nvPr/>
        </p:nvSpPr>
        <p:spPr>
          <a:xfrm>
            <a:off x="4544568" y="4937760"/>
            <a:ext cx="3063240" cy="640080"/>
          </a:xfrm>
          <a:prstGeom prst="rect">
            <a:avLst/>
          </a:prstGeom>
          <a:noFill/>
          <a:ln/>
        </p:spPr>
        <p:txBody>
          <a:bodyPr wrap="square" lIns="0" tIns="0" rIns="0" bIns="0" rtlCol="0" anchor="t"/>
          <a:lstStyle/>
          <a:p>
            <a:pPr rtl="1" algn="r" indent="0" marL="0">
              <a:lnSpc>
                <a:spcPts val="1800"/>
              </a:lnSpc>
              <a:buNone/>
            </a:pPr>
            <a:r>
              <a:rPr lang="en-US" sz="1200" b="1" dirty="0">
                <a:solidFill>
                  <a:srgbClr val="3FA7A0"/>
                </a:solidFill>
                <a:latin typeface="Arial" pitchFamily="34" charset="0"/>
                <a:ea typeface="Arial" pitchFamily="34" charset="-122"/>
                <a:cs typeface="Arial" pitchFamily="34" charset="-120"/>
              </a:rPr>
              <a:t>اصلاح: بازمحاسبه پیش‌فرض</a:t>
            </a:r>
            <a:endParaRPr lang="en-US" sz="1200" dirty="0"/>
          </a:p>
        </p:txBody>
      </p:sp>
      <p:sp>
        <p:nvSpPr>
          <p:cNvPr id="16" name="Shape 14"/>
          <p:cNvSpPr/>
          <p:nvPr/>
        </p:nvSpPr>
        <p:spPr>
          <a:xfrm>
            <a:off x="539496" y="1645920"/>
            <a:ext cx="3520440" cy="4069080"/>
          </a:xfrm>
          <a:prstGeom prst="roundRect">
            <a:avLst>
              <a:gd name="adj" fmla="val 2597"/>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7" name="Shape 15"/>
          <p:cNvSpPr/>
          <p:nvPr/>
        </p:nvSpPr>
        <p:spPr>
          <a:xfrm>
            <a:off x="3328416" y="1874520"/>
            <a:ext cx="475488" cy="475488"/>
          </a:xfrm>
          <a:prstGeom prst="ellipse">
            <a:avLst/>
          </a:prstGeom>
          <a:solidFill>
            <a:srgbClr val="C9483B"/>
          </a:solidFill>
          <a:ln w="12700">
            <a:solidFill>
              <a:srgbClr val="C9483B"/>
            </a:solidFill>
            <a:prstDash val="solid"/>
          </a:ln>
        </p:spPr>
      </p:sp>
      <p:sp>
        <p:nvSpPr>
          <p:cNvPr id="18" name="Text 16"/>
          <p:cNvSpPr txBox="1"/>
          <p:nvPr/>
        </p:nvSpPr>
        <p:spPr>
          <a:xfrm>
            <a:off x="3328416" y="18745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 17"/>
          <p:cNvSpPr txBox="1"/>
          <p:nvPr/>
        </p:nvSpPr>
        <p:spPr>
          <a:xfrm>
            <a:off x="768096" y="2514600"/>
            <a:ext cx="3063240" cy="685800"/>
          </a:xfrm>
          <a:prstGeom prst="rect">
            <a:avLst/>
          </a:prstGeom>
          <a:noFill/>
          <a:ln/>
        </p:spPr>
        <p:txBody>
          <a:bodyPr wrap="square" lIns="0" tIns="0" rIns="0" bIns="0" rtlCol="0" anchor="t"/>
          <a:lstStyle/>
          <a:p>
            <a:pPr rtl="1" algn="r" indent="0" marL="0">
              <a:lnSpc>
                <a:spcPts val="2100"/>
              </a:lnSpc>
              <a:buNone/>
            </a:pPr>
            <a:r>
              <a:rPr lang="en-US" sz="1500" b="1" dirty="0">
                <a:solidFill>
                  <a:srgbClr val="16264F"/>
                </a:solidFill>
                <a:latin typeface="Arial" pitchFamily="34" charset="0"/>
                <a:ea typeface="Arial" pitchFamily="34" charset="-122"/>
                <a:cs typeface="Arial" pitchFamily="34" charset="-120"/>
              </a:rPr>
              <a:t>انتخاب قطعه برتر به تفکیک کلاس</a:t>
            </a:r>
            <a:endParaRPr lang="en-US" sz="1500" dirty="0"/>
          </a:p>
        </p:txBody>
      </p:sp>
      <p:sp>
        <p:nvSpPr>
          <p:cNvPr id="20" name="Text 18"/>
          <p:cNvSpPr txBox="1"/>
          <p:nvPr/>
        </p:nvSpPr>
        <p:spPr>
          <a:xfrm>
            <a:off x="768096" y="3200400"/>
            <a:ext cx="3063240" cy="1645920"/>
          </a:xfrm>
          <a:prstGeom prst="rect">
            <a:avLst/>
          </a:prstGeom>
          <a:noFill/>
          <a:ln/>
        </p:spPr>
        <p:txBody>
          <a:bodyPr wrap="square" lIns="0" tIns="0" rIns="0" bIns="0" rtlCol="0" anchor="t"/>
          <a:lstStyle/>
          <a:p>
            <a:pPr rtl="1" algn="r" indent="0" marL="0">
              <a:lnSpc>
                <a:spcPts val="1900"/>
              </a:lnSpc>
              <a:buNone/>
            </a:pPr>
            <a:r>
              <a:rPr lang="en-US" sz="1200" dirty="0">
                <a:solidFill>
                  <a:srgbClr val="1B2236"/>
                </a:solidFill>
                <a:latin typeface="Arial" pitchFamily="34" charset="0"/>
                <a:ea typeface="Arial" pitchFamily="34" charset="-122"/>
                <a:cs typeface="Arial" pitchFamily="34" charset="-120"/>
              </a:rPr>
              <a:t>کانال عادی از عادی‌ترین قطعه‌های یک ویدیوی سرقت ساخته می‌شد. نویز برچسب سیستماتیک وارد آموزش می‌شد.</a:t>
            </a:r>
            <a:endParaRPr lang="en-US" sz="1200" dirty="0"/>
          </a:p>
        </p:txBody>
      </p:sp>
      <p:sp>
        <p:nvSpPr>
          <p:cNvPr id="21" name="Text 19"/>
          <p:cNvSpPr txBox="1"/>
          <p:nvPr/>
        </p:nvSpPr>
        <p:spPr>
          <a:xfrm>
            <a:off x="768096" y="4937760"/>
            <a:ext cx="3063240" cy="640080"/>
          </a:xfrm>
          <a:prstGeom prst="rect">
            <a:avLst/>
          </a:prstGeom>
          <a:noFill/>
          <a:ln/>
        </p:spPr>
        <p:txBody>
          <a:bodyPr wrap="square" lIns="0" tIns="0" rIns="0" bIns="0" rtlCol="0" anchor="t"/>
          <a:lstStyle/>
          <a:p>
            <a:pPr rtl="1" algn="r" indent="0" marL="0">
              <a:lnSpc>
                <a:spcPts val="1800"/>
              </a:lnSpc>
              <a:buNone/>
            </a:pPr>
            <a:r>
              <a:rPr lang="en-US" sz="1200" b="1" dirty="0">
                <a:solidFill>
                  <a:srgbClr val="3FA7A0"/>
                </a:solidFill>
                <a:latin typeface="Arial" pitchFamily="34" charset="0"/>
                <a:ea typeface="Arial" pitchFamily="34" charset="-122"/>
                <a:cs typeface="Arial" pitchFamily="34" charset="-120"/>
              </a:rPr>
              <a:t>اصلاح: یک رتبه‌بندی برای همه کلاس‌ها</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مسیر اول</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تصمیم دومرحله‌ای</a:t>
            </a:r>
            <a:endParaRPr lang="en-US" sz="3000" dirty="0"/>
          </a:p>
        </p:txBody>
      </p:sp>
      <p:sp>
        <p:nvSpPr>
          <p:cNvPr id="4" name="Shape 2"/>
          <p:cNvSpPr/>
          <p:nvPr/>
        </p:nvSpPr>
        <p:spPr>
          <a:xfrm>
            <a:off x="548640" y="1600200"/>
            <a:ext cx="5394960" cy="2286000"/>
          </a:xfrm>
          <a:prstGeom prst="roundRect">
            <a:avLst>
              <a:gd name="adj" fmla="val 4000"/>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5" name="Text 3"/>
          <p:cNvSpPr txBox="1"/>
          <p:nvPr/>
        </p:nvSpPr>
        <p:spPr>
          <a:xfrm>
            <a:off x="868680" y="1783080"/>
            <a:ext cx="4754880" cy="365760"/>
          </a:xfrm>
          <a:prstGeom prst="rect">
            <a:avLst/>
          </a:prstGeom>
          <a:noFill/>
          <a:ln/>
        </p:spPr>
        <p:txBody>
          <a:bodyPr wrap="square" lIns="0" tIns="0" rIns="0" bIns="0" rtlCol="0" anchor="t"/>
          <a:lstStyle/>
          <a:p>
            <a:pPr rtl="1" algn="r" indent="0" marL="0">
              <a:buNone/>
            </a:pPr>
            <a:r>
              <a:rPr lang="en-US" sz="1700" b="1" dirty="0">
                <a:solidFill>
                  <a:srgbClr val="E8A33D"/>
                </a:solidFill>
                <a:latin typeface="Arial" pitchFamily="34" charset="0"/>
                <a:ea typeface="Arial" pitchFamily="34" charset="-122"/>
                <a:cs typeface="Arial" pitchFamily="34" charset="-120"/>
              </a:rPr>
              <a:t>مرحله اول: آیا ناهنجار است؟</a:t>
            </a:r>
            <a:endParaRPr lang="en-US" sz="1700" dirty="0"/>
          </a:p>
        </p:txBody>
      </p:sp>
      <p:sp>
        <p:nvSpPr>
          <p:cNvPr id="6" name="Text 4"/>
          <p:cNvSpPr txBox="1"/>
          <p:nvPr/>
        </p:nvSpPr>
        <p:spPr>
          <a:xfrm>
            <a:off x="868680" y="2194560"/>
            <a:ext cx="4754880" cy="731520"/>
          </a:xfrm>
          <a:prstGeom prst="rect">
            <a:avLst/>
          </a:prstGeom>
          <a:noFill/>
          <a:ln/>
        </p:spPr>
        <p:txBody>
          <a:bodyPr wrap="square" lIns="0" tIns="0" rIns="0" bIns="0" rtlCol="0" anchor="t"/>
          <a:lstStyle/>
          <a:p>
            <a:pPr rtl="1" algn="r" indent="0" marL="0">
              <a:lnSpc>
                <a:spcPts val="2000"/>
              </a:lnSpc>
              <a:buNone/>
            </a:pPr>
            <a:r>
              <a:rPr lang="en-US" sz="1300" dirty="0">
                <a:solidFill>
                  <a:srgbClr val="1B2236"/>
                </a:solidFill>
                <a:latin typeface="Arial" pitchFamily="34" charset="0"/>
                <a:ea typeface="Arial" pitchFamily="34" charset="-122"/>
                <a:cs typeface="Arial" pitchFamily="34" charset="-120"/>
              </a:rPr>
              <a:t>بیشینه روی ۱۶ قطعه از مقدار «۱ منهای احتمال عادی»، در مقایسه با آستانه ۰٫۵</a:t>
            </a:r>
            <a:endParaRPr lang="en-US" sz="1300" dirty="0"/>
          </a:p>
        </p:txBody>
      </p:sp>
      <p:sp>
        <p:nvSpPr>
          <p:cNvPr id="7" name="Text 5"/>
          <p:cNvSpPr txBox="1"/>
          <p:nvPr/>
        </p:nvSpPr>
        <p:spPr>
          <a:xfrm>
            <a:off x="868680" y="2926080"/>
            <a:ext cx="4754880" cy="777240"/>
          </a:xfrm>
          <a:prstGeom prst="rect">
            <a:avLst/>
          </a:prstGeom>
          <a:noFill/>
          <a:ln/>
        </p:spPr>
        <p:txBody>
          <a:bodyPr wrap="square" lIns="0" tIns="0" rIns="0" bIns="0" rtlCol="0" anchor="t"/>
          <a:lstStyle/>
          <a:p>
            <a:pPr rtl="1" algn="r" indent="0" marL="0">
              <a:lnSpc>
                <a:spcPts val="1900"/>
              </a:lnSpc>
              <a:buNone/>
            </a:pPr>
            <a:r>
              <a:rPr lang="en-US" sz="1200" dirty="0">
                <a:solidFill>
                  <a:srgbClr val="6A748C"/>
                </a:solidFill>
                <a:latin typeface="Arial" pitchFamily="34" charset="0"/>
                <a:ea typeface="Arial" pitchFamily="34" charset="-122"/>
                <a:cs typeface="Arial" pitchFamily="34" charset="-120"/>
              </a:rPr>
              <a:t>چرا بیشینه و نه میانگین: یک قطعه مشکوک کافی است، چون رویداد فقط چند ثانیه است</a:t>
            </a:r>
            <a:endParaRPr lang="en-US" sz="1200" dirty="0"/>
          </a:p>
        </p:txBody>
      </p:sp>
      <p:sp>
        <p:nvSpPr>
          <p:cNvPr id="8" name="Shape 6"/>
          <p:cNvSpPr/>
          <p:nvPr/>
        </p:nvSpPr>
        <p:spPr>
          <a:xfrm>
            <a:off x="6217920" y="1600200"/>
            <a:ext cx="5394960" cy="2286000"/>
          </a:xfrm>
          <a:prstGeom prst="roundRect">
            <a:avLst>
              <a:gd name="adj" fmla="val 4000"/>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9" name="Text 7"/>
          <p:cNvSpPr txBox="1"/>
          <p:nvPr/>
        </p:nvSpPr>
        <p:spPr>
          <a:xfrm>
            <a:off x="6537960" y="1783080"/>
            <a:ext cx="4754880" cy="365760"/>
          </a:xfrm>
          <a:prstGeom prst="rect">
            <a:avLst/>
          </a:prstGeom>
          <a:noFill/>
          <a:ln/>
        </p:spPr>
        <p:txBody>
          <a:bodyPr wrap="square" lIns="0" tIns="0" rIns="0" bIns="0" rtlCol="0" anchor="t"/>
          <a:lstStyle/>
          <a:p>
            <a:pPr rtl="1" algn="r" indent="0" marL="0">
              <a:buNone/>
            </a:pPr>
            <a:r>
              <a:rPr lang="en-US" sz="1700" b="1" dirty="0">
                <a:solidFill>
                  <a:srgbClr val="16264F"/>
                </a:solidFill>
                <a:latin typeface="Arial" pitchFamily="34" charset="0"/>
                <a:ea typeface="Arial" pitchFamily="34" charset="-122"/>
                <a:cs typeface="Arial" pitchFamily="34" charset="-120"/>
              </a:rPr>
              <a:t>مرحله دوم: کدام نوع؟</a:t>
            </a:r>
            <a:endParaRPr lang="en-US" sz="1700" dirty="0"/>
          </a:p>
        </p:txBody>
      </p:sp>
      <p:sp>
        <p:nvSpPr>
          <p:cNvPr id="10" name="Text 8"/>
          <p:cNvSpPr txBox="1"/>
          <p:nvPr/>
        </p:nvSpPr>
        <p:spPr>
          <a:xfrm>
            <a:off x="6537960" y="2194560"/>
            <a:ext cx="4754880" cy="731520"/>
          </a:xfrm>
          <a:prstGeom prst="rect">
            <a:avLst/>
          </a:prstGeom>
          <a:noFill/>
          <a:ln/>
        </p:spPr>
        <p:txBody>
          <a:bodyPr wrap="square" lIns="0" tIns="0" rIns="0" bIns="0" rtlCol="0" anchor="t"/>
          <a:lstStyle/>
          <a:p>
            <a:pPr rtl="1" algn="r" indent="0" marL="0">
              <a:lnSpc>
                <a:spcPts val="2000"/>
              </a:lnSpc>
              <a:buNone/>
            </a:pPr>
            <a:r>
              <a:rPr lang="en-US" sz="1300" dirty="0">
                <a:solidFill>
                  <a:srgbClr val="1B2236"/>
                </a:solidFill>
                <a:latin typeface="Arial" pitchFamily="34" charset="0"/>
                <a:ea typeface="Arial" pitchFamily="34" charset="-122"/>
                <a:cs typeface="Arial" pitchFamily="34" charset="-120"/>
              </a:rPr>
              <a:t>رأی‌گیری میانگین چهار قطعه برتر، تنها میان ۱۳ کلاس ناهنجار</a:t>
            </a:r>
            <a:endParaRPr lang="en-US" sz="1300" dirty="0"/>
          </a:p>
        </p:txBody>
      </p:sp>
      <p:sp>
        <p:nvSpPr>
          <p:cNvPr id="11" name="Text 9"/>
          <p:cNvSpPr txBox="1"/>
          <p:nvPr/>
        </p:nvSpPr>
        <p:spPr>
          <a:xfrm>
            <a:off x="6537960" y="2926080"/>
            <a:ext cx="4754880" cy="777240"/>
          </a:xfrm>
          <a:prstGeom prst="rect">
            <a:avLst/>
          </a:prstGeom>
          <a:noFill/>
          <a:ln/>
        </p:spPr>
        <p:txBody>
          <a:bodyPr wrap="square" lIns="0" tIns="0" rIns="0" bIns="0" rtlCol="0" anchor="t"/>
          <a:lstStyle/>
          <a:p>
            <a:pPr rtl="1" algn="r" indent="0" marL="0">
              <a:lnSpc>
                <a:spcPts val="1900"/>
              </a:lnSpc>
              <a:buNone/>
            </a:pPr>
            <a:r>
              <a:rPr lang="en-US" sz="1200" dirty="0">
                <a:solidFill>
                  <a:srgbClr val="6A748C"/>
                </a:solidFill>
                <a:latin typeface="Arial" pitchFamily="34" charset="0"/>
                <a:ea typeface="Arial" pitchFamily="34" charset="-122"/>
                <a:cs typeface="Arial" pitchFamily="34" charset="-120"/>
              </a:rPr>
              <a:t>کلاس عادی در این مرحله اصلاً وارد رقابت نمی‌شود</a:t>
            </a:r>
            <a:endParaRPr lang="en-US" sz="1200" dirty="0"/>
          </a:p>
        </p:txBody>
      </p:sp>
      <p:sp>
        <p:nvSpPr>
          <p:cNvPr id="12" name="Text 10"/>
          <p:cNvSpPr txBox="1"/>
          <p:nvPr/>
        </p:nvSpPr>
        <p:spPr>
          <a:xfrm>
            <a:off x="548640" y="4114800"/>
            <a:ext cx="11064240" cy="365760"/>
          </a:xfrm>
          <a:prstGeom prst="rect">
            <a:avLst/>
          </a:prstGeom>
          <a:noFill/>
          <a:ln/>
        </p:spPr>
        <p:txBody>
          <a:bodyPr wrap="square" lIns="0" tIns="0" rIns="0" bIns="0" rtlCol="0" anchor="t"/>
          <a:lstStyle/>
          <a:p>
            <a:pPr rtl="1" algn="r" indent="0" marL="0">
              <a:buNone/>
            </a:pPr>
            <a:r>
              <a:rPr lang="en-US" sz="1600" b="1" dirty="0">
                <a:solidFill>
                  <a:srgbClr val="16264F"/>
                </a:solidFill>
                <a:latin typeface="Arial" pitchFamily="34" charset="0"/>
                <a:ea typeface="Arial" pitchFamily="34" charset="-122"/>
                <a:cs typeface="Arial" pitchFamily="34" charset="-120"/>
              </a:rPr>
              <a:t>مثال عددی: ویدیوی سرقت، رویداد در قطعه‌های ۴ و ۵</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4572000"/>
          <a:ext cx="11064240" cy="914400"/>
        </p:xfrm>
        <a:graphic>
          <a:graphicData uri="http://schemas.openxmlformats.org/drawingml/2006/table">
            <a:tbl>
              <a:tblPr/>
              <a:tblGrid>
                <a:gridCol w="3474720"/>
                <a:gridCol w="2103120"/>
                <a:gridCol w="2743200"/>
                <a:gridCol w="2743200"/>
              </a:tblGrid>
              <a:tr h="384048">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روش</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نمره</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در برابر آستانه ۰٫۵</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تصمیم</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384048">
                <a:tc>
                  <a:txBody>
                    <a:bodyPr/>
                    <a:lstStyle/>
                    <a:p>
                      <a:pPr algn="r" indent="0" marL="0">
                        <a:buNone/>
                      </a:pPr>
                      <a:r>
                        <a:rPr lang="en-US" sz="1300" dirty="0">
                          <a:solidFill>
                            <a:srgbClr val="1B2236"/>
                          </a:solidFill>
                          <a:latin typeface="Arial" pitchFamily="34" charset="0"/>
                          <a:ea typeface="Arial" pitchFamily="34" charset="-122"/>
                          <a:cs typeface="Arial" pitchFamily="34" charset="-120"/>
                        </a:rPr>
                        <a:t>میانگین‌گیری روی ۸ قطعه</a:t>
                      </a:r>
                      <a:endParaRPr lang="en-US" sz="13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300" dirty="0">
                          <a:solidFill>
                            <a:srgbClr val="1B2236"/>
                          </a:solidFill>
                          <a:latin typeface="Arial" pitchFamily="34" charset="0"/>
                          <a:ea typeface="Arial" pitchFamily="34" charset="-122"/>
                          <a:cs typeface="Arial" pitchFamily="34" charset="-120"/>
                        </a:rPr>
                        <a:t>0.26</a:t>
                      </a:r>
                      <a:endParaRPr lang="en-US" sz="13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300" dirty="0">
                          <a:solidFill>
                            <a:srgbClr val="1B2236"/>
                          </a:solidFill>
                          <a:latin typeface="Arial" pitchFamily="34" charset="0"/>
                          <a:ea typeface="Arial" pitchFamily="34" charset="-122"/>
                          <a:cs typeface="Arial" pitchFamily="34" charset="-120"/>
                        </a:rPr>
                        <a:t>زیر آستانه</a:t>
                      </a:r>
                      <a:endParaRPr lang="en-US" sz="13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300" dirty="0">
                          <a:solidFill>
                            <a:srgbClr val="1B2236"/>
                          </a:solidFill>
                          <a:latin typeface="Arial" pitchFamily="34" charset="0"/>
                          <a:ea typeface="Arial" pitchFamily="34" charset="-122"/>
                          <a:cs typeface="Arial" pitchFamily="34" charset="-120"/>
                        </a:rPr>
                        <a:t>عادی — غلط</a:t>
                      </a:r>
                      <a:endParaRPr lang="en-US" sz="13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84048">
                <a:tc>
                  <a:txBody>
                    <a:bodyPr/>
                    <a:lstStyle/>
                    <a:p>
                      <a:pPr algn="r" indent="0" marL="0">
                        <a:buNone/>
                      </a:pPr>
                      <a:r>
                        <a:rPr lang="en-US" sz="1300" b="1" dirty="0">
                          <a:solidFill>
                            <a:srgbClr val="16264F"/>
                          </a:solidFill>
                          <a:latin typeface="Arial" pitchFamily="34" charset="0"/>
                          <a:ea typeface="Arial" pitchFamily="34" charset="-122"/>
                          <a:cs typeface="Arial" pitchFamily="34" charset="-120"/>
                        </a:rPr>
                        <a:t>بیشینه روی همان ۸ قطعه</a:t>
                      </a:r>
                      <a:endParaRPr lang="en-US" sz="13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300" b="1" dirty="0">
                          <a:solidFill>
                            <a:srgbClr val="16264F"/>
                          </a:solidFill>
                          <a:latin typeface="Arial" pitchFamily="34" charset="0"/>
                          <a:ea typeface="Arial" pitchFamily="34" charset="-122"/>
                          <a:cs typeface="Arial" pitchFamily="34" charset="-120"/>
                        </a:rPr>
                        <a:t>0.85</a:t>
                      </a:r>
                      <a:endParaRPr lang="en-US" sz="13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300" b="1" dirty="0">
                          <a:solidFill>
                            <a:srgbClr val="16264F"/>
                          </a:solidFill>
                          <a:latin typeface="Arial" pitchFamily="34" charset="0"/>
                          <a:ea typeface="Arial" pitchFamily="34" charset="-122"/>
                          <a:cs typeface="Arial" pitchFamily="34" charset="-120"/>
                        </a:rPr>
                        <a:t>بالای آستانه</a:t>
                      </a:r>
                      <a:endParaRPr lang="en-US" sz="13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300" b="1" dirty="0">
                          <a:solidFill>
                            <a:srgbClr val="16264F"/>
                          </a:solidFill>
                          <a:latin typeface="Arial" pitchFamily="34" charset="0"/>
                          <a:ea typeface="Arial" pitchFamily="34" charset="-122"/>
                          <a:cs typeface="Arial" pitchFamily="34" charset="-120"/>
                        </a:rPr>
                        <a:t>ناهنجار — درست</a:t>
                      </a:r>
                      <a:endParaRPr lang="en-US" sz="13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مسیر اول</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کلاسی که مدل یاد گرفت هرگز نگوید</a:t>
            </a:r>
            <a:endParaRPr lang="en-US" sz="3000" dirty="0"/>
          </a:p>
        </p:txBody>
      </p:sp>
      <p:sp>
        <p:nvSpPr>
          <p:cNvPr id="4" name="Text 2"/>
          <p:cNvSpPr txBox="1"/>
          <p:nvPr/>
        </p:nvSpPr>
        <p:spPr>
          <a:xfrm>
            <a:off x="548640" y="1645920"/>
            <a:ext cx="11064240" cy="365760"/>
          </a:xfrm>
          <a:prstGeom prst="rect">
            <a:avLst/>
          </a:prstGeom>
          <a:noFill/>
          <a:ln/>
        </p:spPr>
        <p:txBody>
          <a:bodyPr wrap="square" lIns="0" tIns="0" rIns="0" bIns="0" rtlCol="0" anchor="t"/>
          <a:lstStyle/>
          <a:p>
            <a:pPr rtl="1" algn="r" indent="0" marL="0">
              <a:buNone/>
            </a:pPr>
            <a:r>
              <a:rPr lang="en-US" sz="1400" dirty="0">
                <a:solidFill>
                  <a:srgbClr val="1B2236"/>
                </a:solidFill>
                <a:latin typeface="Arial" pitchFamily="34" charset="0"/>
                <a:ea typeface="Arial" pitchFamily="34" charset="-122"/>
                <a:cs typeface="Arial" pitchFamily="34" charset="-120"/>
              </a:rPr>
              <a:t>به‌جای شمردن پیش‌بینی‌های درست، شمردیم مدل هر کلاس را چند بار پیش‌بینی می‌کند.</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6675120" cy="914400"/>
        </p:xfrm>
        <a:graphic>
          <a:graphicData uri="http://schemas.openxmlformats.org/drawingml/2006/table">
            <a:tbl>
              <a:tblPr/>
              <a:tblGrid>
                <a:gridCol w="2560320"/>
                <a:gridCol w="1371600"/>
                <a:gridCol w="1737360"/>
                <a:gridCol w="1005840"/>
              </a:tblGrid>
              <a:tr h="36576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کلاس</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ویدیوی واقعی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چند بار پیش‌بینی شد</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نسبت</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365760">
                <a:tc>
                  <a:txBody>
                    <a:bodyPr/>
                    <a:lstStyle/>
                    <a:p>
                      <a:pPr algn="r" indent="0" marL="0">
                        <a:buNone/>
                      </a:pPr>
                      <a:r>
                        <a:rPr lang="en-US" sz="1200" b="1" dirty="0">
                          <a:solidFill>
                            <a:srgbClr val="16264F"/>
                          </a:solidFill>
                          <a:latin typeface="Arial" pitchFamily="34" charset="0"/>
                          <a:ea typeface="Arial" pitchFamily="34" charset="-122"/>
                          <a:cs typeface="Arial" pitchFamily="34" charset="-120"/>
                        </a:rPr>
                        <a:t>Fighting — درگیری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00" b="1" dirty="0">
                          <a:solidFill>
                            <a:srgbClr val="16264F"/>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00" b="1" dirty="0">
                          <a:solidFill>
                            <a:srgbClr val="16264F"/>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00" b="1" dirty="0">
                          <a:solidFill>
                            <a:srgbClr val="16264F"/>
                          </a:solidFill>
                          <a:latin typeface="Arial" pitchFamily="34" charset="0"/>
                          <a:ea typeface="Arial" pitchFamily="34" charset="-122"/>
                          <a:cs typeface="Arial" pitchFamily="34" charset="-120"/>
                        </a:rPr>
                        <a:t>0.25</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r h="365760">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Assault — تعرض</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0.38</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65760">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Vandalism — تخریب</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0.62</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65760">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Stealing — دزدی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1.33</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65760">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RoadAccidents — تصادف</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39</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1.70</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bl>
          </a:graphicData>
        </a:graphic>
      </p:graphicFrame>
      <p:sp>
        <p:nvSpPr>
          <p:cNvPr id="6" name="Shape 3"/>
          <p:cNvSpPr/>
          <p:nvPr/>
        </p:nvSpPr>
        <p:spPr>
          <a:xfrm>
            <a:off x="7498080" y="2148840"/>
            <a:ext cx="4114800" cy="1874520"/>
          </a:xfrm>
          <a:prstGeom prst="roundRect">
            <a:avLst>
              <a:gd name="adj" fmla="val 4878"/>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7" name="Text 4"/>
          <p:cNvSpPr txBox="1"/>
          <p:nvPr/>
        </p:nvSpPr>
        <p:spPr>
          <a:xfrm>
            <a:off x="7772400" y="2313432"/>
            <a:ext cx="3566160" cy="320040"/>
          </a:xfrm>
          <a:prstGeom prst="rect">
            <a:avLst/>
          </a:prstGeom>
          <a:noFill/>
          <a:ln/>
        </p:spPr>
        <p:txBody>
          <a:bodyPr wrap="square" lIns="0" tIns="0" rIns="0" bIns="0" rtlCol="0" anchor="t"/>
          <a:lstStyle/>
          <a:p>
            <a:pPr rtl="1" algn="r" indent="0" marL="0">
              <a:buNone/>
            </a:pPr>
            <a:r>
              <a:rPr lang="en-US" sz="1600" b="1" dirty="0">
                <a:solidFill>
                  <a:srgbClr val="E8A33D"/>
                </a:solidFill>
                <a:latin typeface="Arial" pitchFamily="34" charset="0"/>
                <a:ea typeface="Arial" pitchFamily="34" charset="-122"/>
                <a:cs typeface="Arial" pitchFamily="34" charset="-120"/>
              </a:rPr>
              <a:t>تشخیص</a:t>
            </a:r>
            <a:endParaRPr lang="en-US" sz="1600" dirty="0"/>
          </a:p>
        </p:txBody>
      </p:sp>
      <p:sp>
        <p:nvSpPr>
          <p:cNvPr id="8" name="Text 5"/>
          <p:cNvSpPr txBox="1"/>
          <p:nvPr/>
        </p:nvSpPr>
        <p:spPr>
          <a:xfrm>
            <a:off x="7772400" y="2697480"/>
            <a:ext cx="3566160" cy="1188720"/>
          </a:xfrm>
          <a:prstGeom prst="rect">
            <a:avLst/>
          </a:prstGeom>
          <a:noFill/>
          <a:ln/>
        </p:spPr>
        <p:txBody>
          <a:bodyPr wrap="square" lIns="0" tIns="0" rIns="0" bIns="0" rtlCol="0" anchor="t"/>
          <a:lstStyle/>
          <a:p>
            <a:pPr rtl="1" algn="r" indent="0" marL="0">
              <a:lnSpc>
                <a:spcPts val="1900"/>
              </a:lnSpc>
              <a:buNone/>
            </a:pPr>
            <a:r>
              <a:rPr lang="en-US" sz="1250" dirty="0">
                <a:solidFill>
                  <a:srgbClr val="1B2236"/>
                </a:solidFill>
                <a:latin typeface="Arial" pitchFamily="34" charset="0"/>
                <a:ea typeface="Arial" pitchFamily="34" charset="-122"/>
                <a:cs typeface="Arial" pitchFamily="34" charset="-120"/>
              </a:rPr>
              <a:t>مدل روی درگیری «شکست نخورده» بود. یاد گرفته بود هرگز نگوید درگیری، چون گفتنش شرط‌بندی بدی بود.</a:t>
            </a:r>
            <a:endParaRPr lang="en-US" sz="1250" dirty="0"/>
          </a:p>
        </p:txBody>
      </p:sp>
      <p:sp>
        <p:nvSpPr>
          <p:cNvPr id="9" name="Text 6"/>
          <p:cNvSpPr txBox="1"/>
          <p:nvPr/>
        </p:nvSpPr>
        <p:spPr>
          <a:xfrm>
            <a:off x="548640" y="4206240"/>
            <a:ext cx="11064240" cy="365760"/>
          </a:xfrm>
          <a:prstGeom prst="rect">
            <a:avLst/>
          </a:prstGeom>
          <a:noFill/>
          <a:ln/>
        </p:spPr>
        <p:txBody>
          <a:bodyPr wrap="square" lIns="0" tIns="0" rIns="0" bIns="0" rtlCol="0" anchor="t"/>
          <a:lstStyle/>
          <a:p>
            <a:pPr rtl="1" algn="r" indent="0" marL="0">
              <a:buNone/>
            </a:pPr>
            <a:r>
              <a:rPr lang="en-US" sz="1700" b="1" dirty="0">
                <a:solidFill>
                  <a:srgbClr val="16264F"/>
                </a:solidFill>
                <a:latin typeface="Arial" pitchFamily="34" charset="0"/>
                <a:ea typeface="Arial" pitchFamily="34" charset="-122"/>
                <a:cs typeface="Arial" pitchFamily="34" charset="-120"/>
              </a:rPr>
              <a:t>علت ریشه‌ای</a:t>
            </a:r>
            <a:endParaRPr lang="en-US" sz="1700" dirty="0"/>
          </a:p>
        </p:txBody>
      </p:sp>
      <p:sp>
        <p:nvSpPr>
          <p:cNvPr id="10" name="Text 7"/>
          <p:cNvSpPr txBox="1"/>
          <p:nvPr/>
        </p:nvSpPr>
        <p:spPr>
          <a:xfrm>
            <a:off x="548640" y="4663440"/>
            <a:ext cx="11064240" cy="1463040"/>
          </a:xfrm>
          <a:prstGeom prst="rect">
            <a:avLst/>
          </a:prstGeom>
          <a:noFill/>
          <a:ln/>
        </p:spPr>
        <p:txBody>
          <a:bodyPr wrap="square" lIns="0" tIns="0" rIns="0" bIns="0" rtlCol="0" anchor="t"/>
          <a:lstStyle/>
          <a:p>
            <a:pPr algn="r" indent="0" marL="0">
              <a:lnSpc>
                <a:spcPts val="2200"/>
              </a:lnSpc>
              <a:spcAft>
                <a:spcPts val="700"/>
              </a:spcAft>
              <a:buNone/>
            </a:pPr>
            <a:r>
              <a:rPr lang="en-US" sz="1300" dirty="0">
                <a:solidFill>
                  <a:srgbClr val="1B2236"/>
                </a:solidFill>
                <a:latin typeface="Arial" pitchFamily="34" charset="0"/>
                <a:ea typeface="Arial" pitchFamily="34" charset="-122"/>
                <a:cs typeface="Arial" pitchFamily="34" charset="-120"/>
              </a:rPr>
              <a:t>●  تابع وزن‌دهی کلاس در کد وجود داشت ولی هیچ‌جا صدا زده نمی‌شد.</a:t>
            </a:r>
            <a:endParaRPr lang="en-US" sz="1300" dirty="0"/>
          </a:p>
          <a:p>
            <a:pPr algn="r" indent="0" marL="0">
              <a:lnSpc>
                <a:spcPts val="2200"/>
              </a:lnSpc>
              <a:spcAft>
                <a:spcPts val="700"/>
              </a:spcAft>
              <a:buNone/>
            </a:pPr>
            <a:r>
              <a:rPr lang="en-US" sz="1300" dirty="0">
                <a:solidFill>
                  <a:srgbClr val="1B2236"/>
                </a:solidFill>
                <a:latin typeface="Arial" pitchFamily="34" charset="0"/>
                <a:ea typeface="Arial" pitchFamily="34" charset="-122"/>
                <a:cs typeface="Arial" pitchFamily="34" charset="-120"/>
              </a:rPr>
              <a:t>●  وزن‌ها همه‌جا ۱٫۰ بودند، جز دو عدد دستی ۲٫۰. کلاس عادی حدود ۱۹ برابر کلاس درگیری گرادیان تولید می‌کرد.</a:t>
            </a:r>
            <a:endParaRPr lang="en-US" sz="1300" dirty="0"/>
          </a:p>
          <a:p>
            <a:pPr algn="r" indent="0" marL="0">
              <a:lnSpc>
                <a:spcPts val="2200"/>
              </a:lnSpc>
              <a:spcAft>
                <a:spcPts val="700"/>
              </a:spcAft>
              <a:buNone/>
            </a:pPr>
            <a:r>
              <a:rPr lang="en-US" sz="1300" dirty="0">
                <a:solidFill>
                  <a:srgbClr val="1B2236"/>
                </a:solidFill>
                <a:latin typeface="Arial" pitchFamily="34" charset="0"/>
                <a:ea typeface="Arial" pitchFamily="34" charset="-122"/>
                <a:cs typeface="Arial" pitchFamily="34" charset="-120"/>
              </a:rPr>
              <a:t>●  با وزن‌دهی معکوس فراوانی آن نسبت به ۳٫۶ رسید و درگیری ۹ بار پیش‌بینی شد به‌جای ۲ بار.</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مسیر اول</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محدودیت بنیادی: هندسه فضای متنی</a:t>
            </a:r>
            <a:endParaRPr lang="en-US" sz="3000" dirty="0"/>
          </a:p>
        </p:txBody>
      </p:sp>
      <p:sp>
        <p:nvSpPr>
          <p:cNvPr id="4" name="Text 2"/>
          <p:cNvSpPr txBox="1"/>
          <p:nvPr/>
        </p:nvSpPr>
        <p:spPr>
          <a:xfrm>
            <a:off x="548640" y="1627632"/>
            <a:ext cx="11064240" cy="365760"/>
          </a:xfrm>
          <a:prstGeom prst="rect">
            <a:avLst/>
          </a:prstGeom>
          <a:noFill/>
          <a:ln/>
        </p:spPr>
        <p:txBody>
          <a:bodyPr wrap="square" lIns="0" tIns="0" rIns="0" bIns="0" rtlCol="0" anchor="t"/>
          <a:lstStyle/>
          <a:p>
            <a:pPr rtl="1" algn="r" indent="0" marL="0">
              <a:buNone/>
            </a:pPr>
            <a:r>
              <a:rPr lang="en-US" sz="1400" dirty="0">
                <a:solidFill>
                  <a:srgbClr val="1B2236"/>
                </a:solidFill>
                <a:latin typeface="Arial" pitchFamily="34" charset="0"/>
                <a:ea typeface="Arial" pitchFamily="34" charset="-122"/>
                <a:cs typeface="Arial" pitchFamily="34" charset="-120"/>
              </a:rPr>
              <a:t>اسم خام کلاس‌ها در فضای زبانی CLIP تقریباً هم‌راستا هستند و سقفی مستقل از کیفیت تصویری تحمیل می‌کنند.</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5029200" cy="914400"/>
        </p:xfrm>
        <a:graphic>
          <a:graphicData uri="http://schemas.openxmlformats.org/drawingml/2006/table">
            <a:tbl>
              <a:tblPr/>
              <a:tblGrid>
                <a:gridCol w="3200400"/>
                <a:gridCol w="1828800"/>
              </a:tblGrid>
              <a:tr h="384048">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جفت کلاس</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شباهت کسینوسی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384048">
                <a:tc>
                  <a:txBody>
                    <a:bodyPr/>
                    <a:lstStyle/>
                    <a:p>
                      <a:pPr algn="r" indent="0" marL="0">
                        <a:buNone/>
                      </a:pPr>
                      <a:r>
                        <a:rPr lang="en-US" sz="1300" dirty="0">
                          <a:solidFill>
                            <a:srgbClr val="1B2236"/>
                          </a:solidFill>
                          <a:latin typeface="Arial" pitchFamily="34" charset="0"/>
                          <a:ea typeface="Arial" pitchFamily="34" charset="-122"/>
                          <a:cs typeface="Arial" pitchFamily="34" charset="-120"/>
                        </a:rPr>
                        <a:t>Abuse  /  Stealing</a:t>
                      </a:r>
                      <a:endParaRPr lang="en-US" sz="13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300" dirty="0">
                          <a:solidFill>
                            <a:srgbClr val="1B2236"/>
                          </a:solidFill>
                          <a:latin typeface="Arial" pitchFamily="34" charset="0"/>
                          <a:ea typeface="Arial" pitchFamily="34" charset="-122"/>
                          <a:cs typeface="Arial" pitchFamily="34" charset="-120"/>
                        </a:rPr>
                        <a:t>0.91</a:t>
                      </a:r>
                      <a:endParaRPr lang="en-US" sz="13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84048">
                <a:tc>
                  <a:txBody>
                    <a:bodyPr/>
                    <a:lstStyle/>
                    <a:p>
                      <a:pPr algn="r" indent="0" marL="0">
                        <a:buNone/>
                      </a:pPr>
                      <a:r>
                        <a:rPr lang="en-US" sz="1300" dirty="0">
                          <a:solidFill>
                            <a:srgbClr val="1B2236"/>
                          </a:solidFill>
                          <a:latin typeface="Arial" pitchFamily="34" charset="0"/>
                          <a:ea typeface="Arial" pitchFamily="34" charset="-122"/>
                          <a:cs typeface="Arial" pitchFamily="34" charset="-120"/>
                        </a:rPr>
                        <a:t>Assault  /  Arrest</a:t>
                      </a:r>
                      <a:endParaRPr lang="en-US" sz="13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236"/>
                          </a:solidFill>
                          <a:latin typeface="Arial" pitchFamily="34" charset="0"/>
                          <a:ea typeface="Arial" pitchFamily="34" charset="-122"/>
                          <a:cs typeface="Arial" pitchFamily="34" charset="-120"/>
                        </a:rPr>
                        <a:t>0.91</a:t>
                      </a:r>
                      <a:endParaRPr lang="en-US" sz="13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84048">
                <a:tc>
                  <a:txBody>
                    <a:bodyPr/>
                    <a:lstStyle/>
                    <a:p>
                      <a:pPr algn="r" indent="0" marL="0">
                        <a:buNone/>
                      </a:pPr>
                      <a:r>
                        <a:rPr lang="en-US" sz="1300" dirty="0">
                          <a:solidFill>
                            <a:srgbClr val="1B2236"/>
                          </a:solidFill>
                          <a:latin typeface="Arial" pitchFamily="34" charset="0"/>
                          <a:ea typeface="Arial" pitchFamily="34" charset="-122"/>
                          <a:cs typeface="Arial" pitchFamily="34" charset="-120"/>
                        </a:rPr>
                        <a:t>Fighting  /  Shooting</a:t>
                      </a:r>
                      <a:endParaRPr lang="en-US" sz="13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300" dirty="0">
                          <a:solidFill>
                            <a:srgbClr val="1B2236"/>
                          </a:solidFill>
                          <a:latin typeface="Arial" pitchFamily="34" charset="0"/>
                          <a:ea typeface="Arial" pitchFamily="34" charset="-122"/>
                          <a:cs typeface="Arial" pitchFamily="34" charset="-120"/>
                        </a:rPr>
                        <a:t>0.90</a:t>
                      </a:r>
                      <a:endParaRPr lang="en-US" sz="13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84048">
                <a:tc>
                  <a:txBody>
                    <a:bodyPr/>
                    <a:lstStyle/>
                    <a:p>
                      <a:pPr algn="r" indent="0" marL="0">
                        <a:buNone/>
                      </a:pPr>
                      <a:r>
                        <a:rPr lang="en-US" sz="1300" b="1" dirty="0">
                          <a:solidFill>
                            <a:srgbClr val="16264F"/>
                          </a:solidFill>
                          <a:latin typeface="Arial" pitchFamily="34" charset="0"/>
                          <a:ea typeface="Arial" pitchFamily="34" charset="-122"/>
                          <a:cs typeface="Arial" pitchFamily="34" charset="-120"/>
                        </a:rPr>
                        <a:t>میانگین همه جفت‌ها</a:t>
                      </a:r>
                      <a:endParaRPr lang="en-US" sz="13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300" b="1" dirty="0">
                          <a:solidFill>
                            <a:srgbClr val="16264F"/>
                          </a:solidFill>
                          <a:latin typeface="Arial" pitchFamily="34" charset="0"/>
                          <a:ea typeface="Arial" pitchFamily="34" charset="-122"/>
                          <a:cs typeface="Arial" pitchFamily="34" charset="-120"/>
                        </a:rPr>
                        <a:t>0.83</a:t>
                      </a:r>
                      <a:endParaRPr lang="en-US" sz="13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bl>
          </a:graphicData>
        </a:graphic>
      </p:graphicFrame>
      <p:sp>
        <p:nvSpPr>
          <p:cNvPr id="6" name="Shape 3"/>
          <p:cNvSpPr/>
          <p:nvPr/>
        </p:nvSpPr>
        <p:spPr>
          <a:xfrm>
            <a:off x="5852160" y="2148840"/>
            <a:ext cx="5760720" cy="1874520"/>
          </a:xfrm>
          <a:prstGeom prst="roundRect">
            <a:avLst>
              <a:gd name="adj" fmla="val 4878"/>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7" name="Text 4"/>
          <p:cNvSpPr txBox="1"/>
          <p:nvPr/>
        </p:nvSpPr>
        <p:spPr>
          <a:xfrm>
            <a:off x="6126480" y="2313432"/>
            <a:ext cx="5212080" cy="320040"/>
          </a:xfrm>
          <a:prstGeom prst="rect">
            <a:avLst/>
          </a:prstGeom>
          <a:noFill/>
          <a:ln/>
        </p:spPr>
        <p:txBody>
          <a:bodyPr wrap="square" lIns="0" tIns="0" rIns="0" bIns="0" rtlCol="0" anchor="t"/>
          <a:lstStyle/>
          <a:p>
            <a:pPr rtl="1" algn="r" indent="0" marL="0">
              <a:buNone/>
            </a:pPr>
            <a:r>
              <a:rPr lang="en-US" sz="1600" b="1" dirty="0">
                <a:solidFill>
                  <a:srgbClr val="E8A33D"/>
                </a:solidFill>
                <a:latin typeface="Arial" pitchFamily="34" charset="0"/>
                <a:ea typeface="Arial" pitchFamily="34" charset="-122"/>
                <a:cs typeface="Arial" pitchFamily="34" charset="-120"/>
              </a:rPr>
              <a:t>آزمایش تعیین‌کننده</a:t>
            </a:r>
            <a:endParaRPr lang="en-US" sz="1600" dirty="0"/>
          </a:p>
        </p:txBody>
      </p:sp>
      <p:sp>
        <p:nvSpPr>
          <p:cNvPr id="8" name="Text 5"/>
          <p:cNvSpPr txBox="1"/>
          <p:nvPr/>
        </p:nvSpPr>
        <p:spPr>
          <a:xfrm>
            <a:off x="6126480" y="2697480"/>
            <a:ext cx="5212080" cy="1188720"/>
          </a:xfrm>
          <a:prstGeom prst="rect">
            <a:avLst/>
          </a:prstGeom>
          <a:noFill/>
          <a:ln/>
        </p:spPr>
        <p:txBody>
          <a:bodyPr wrap="square" lIns="0" tIns="0" rIns="0" bIns="0" rtlCol="0" anchor="t"/>
          <a:lstStyle/>
          <a:p>
            <a:pPr rtl="1" algn="r" indent="0" marL="0">
              <a:lnSpc>
                <a:spcPts val="1900"/>
              </a:lnSpc>
              <a:buNone/>
            </a:pPr>
            <a:r>
              <a:rPr lang="en-US" sz="1250" dirty="0">
                <a:solidFill>
                  <a:srgbClr val="1B2236"/>
                </a:solidFill>
                <a:latin typeface="Arial" pitchFamily="34" charset="0"/>
                <a:ea typeface="Arial" pitchFamily="34" charset="-122"/>
                <a:cs typeface="Arial" pitchFamily="34" charset="-120"/>
              </a:rPr>
              <a:t>فرض کنید بخش تصویری کاملاً بی‌نقص باشد، یعنی بردار ویدیو دقیقاً برابر بردار کلاس خودش. در این حالت آرمانی، احتمال کلاس درست تنها ۰٫۴۴ درمی‌آید.</a:t>
            </a:r>
            <a:endParaRPr lang="en-US" sz="1250" dirty="0"/>
          </a:p>
        </p:txBody>
      </p:sp>
      <p:sp>
        <p:nvSpPr>
          <p:cNvPr id="9" name="Text 6"/>
          <p:cNvSpPr txBox="1"/>
          <p:nvPr/>
        </p:nvSpPr>
        <p:spPr>
          <a:xfrm>
            <a:off x="548640" y="4206240"/>
            <a:ext cx="11064240" cy="365760"/>
          </a:xfrm>
          <a:prstGeom prst="rect">
            <a:avLst/>
          </a:prstGeom>
          <a:noFill/>
          <a:ln/>
        </p:spPr>
        <p:txBody>
          <a:bodyPr wrap="square" lIns="0" tIns="0" rIns="0" bIns="0" rtlCol="0" anchor="t"/>
          <a:lstStyle/>
          <a:p>
            <a:pPr rtl="1" algn="r" indent="0" marL="0">
              <a:buNone/>
            </a:pPr>
            <a:r>
              <a:rPr lang="en-US" sz="1700" b="1" dirty="0">
                <a:solidFill>
                  <a:srgbClr val="16264F"/>
                </a:solidFill>
                <a:latin typeface="Arial" pitchFamily="34" charset="0"/>
                <a:ea typeface="Arial" pitchFamily="34" charset="-122"/>
                <a:cs typeface="Arial" pitchFamily="34" charset="-120"/>
              </a:rPr>
              <a:t>راه حل: توصیف بصری به‌جای اسم حقوقی</a:t>
            </a:r>
            <a:endParaRPr lang="en-US" sz="1700" dirty="0"/>
          </a:p>
        </p:txBody>
      </p:sp>
      <p:sp>
        <p:nvSpPr>
          <p:cNvPr id="10" name="Shape 7"/>
          <p:cNvSpPr/>
          <p:nvPr/>
        </p:nvSpPr>
        <p:spPr>
          <a:xfrm>
            <a:off x="548640" y="4663440"/>
            <a:ext cx="5486400" cy="1280160"/>
          </a:xfrm>
          <a:prstGeom prst="roundRect">
            <a:avLst>
              <a:gd name="adj" fmla="val 7143"/>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1" name="Text 8"/>
          <p:cNvSpPr txBox="1"/>
          <p:nvPr/>
        </p:nvSpPr>
        <p:spPr>
          <a:xfrm>
            <a:off x="822960" y="4800600"/>
            <a:ext cx="4937760" cy="274320"/>
          </a:xfrm>
          <a:prstGeom prst="rect">
            <a:avLst/>
          </a:prstGeom>
          <a:noFill/>
          <a:ln/>
        </p:spPr>
        <p:txBody>
          <a:bodyPr wrap="square" lIns="0" tIns="0" rIns="0" bIns="0" rtlCol="0" anchor="t"/>
          <a:lstStyle/>
          <a:p>
            <a:pPr rtl="1" algn="r" indent="0" marL="0">
              <a:buNone/>
            </a:pPr>
            <a:r>
              <a:rPr lang="en-US" sz="1200" dirty="0">
                <a:solidFill>
                  <a:srgbClr val="6A748C"/>
                </a:solidFill>
                <a:latin typeface="Arial" pitchFamily="34" charset="0"/>
                <a:ea typeface="Arial" pitchFamily="34" charset="-122"/>
                <a:cs typeface="Arial" pitchFamily="34" charset="-120"/>
              </a:rPr>
              <a:t>پیش از تغییر</a:t>
            </a:r>
            <a:endParaRPr lang="en-US" sz="1200" dirty="0"/>
          </a:p>
        </p:txBody>
      </p:sp>
      <p:sp>
        <p:nvSpPr>
          <p:cNvPr id="12" name="Text 9"/>
          <p:cNvSpPr txBox="1"/>
          <p:nvPr/>
        </p:nvSpPr>
        <p:spPr>
          <a:xfrm>
            <a:off x="822960" y="5120640"/>
            <a:ext cx="4937760" cy="365760"/>
          </a:xfrm>
          <a:prstGeom prst="rect">
            <a:avLst/>
          </a:prstGeom>
          <a:noFill/>
          <a:ln/>
        </p:spPr>
        <p:txBody>
          <a:bodyPr wrap="square" lIns="0" tIns="0" rIns="0" bIns="0" rtlCol="0" anchor="t"/>
          <a:lstStyle/>
          <a:p>
            <a:pPr algn="r" indent="0" marL="0">
              <a:buNone/>
            </a:pPr>
            <a:r>
              <a:rPr lang="en-US" sz="1600" b="1" dirty="0">
                <a:solidFill>
                  <a:srgbClr val="C9483B"/>
                </a:solidFill>
                <a:latin typeface="Arial" pitchFamily="34" charset="0"/>
                <a:ea typeface="Arial" pitchFamily="34" charset="-122"/>
                <a:cs typeface="Arial" pitchFamily="34" charset="-120"/>
              </a:rPr>
              <a:t>"Burglary"</a:t>
            </a:r>
            <a:endParaRPr lang="en-US" sz="1600" dirty="0"/>
          </a:p>
        </p:txBody>
      </p:sp>
      <p:sp>
        <p:nvSpPr>
          <p:cNvPr id="13" name="Text 10"/>
          <p:cNvSpPr txBox="1"/>
          <p:nvPr/>
        </p:nvSpPr>
        <p:spPr>
          <a:xfrm>
            <a:off x="822960" y="5486400"/>
            <a:ext cx="4937760" cy="320040"/>
          </a:xfrm>
          <a:prstGeom prst="rect">
            <a:avLst/>
          </a:prstGeom>
          <a:noFill/>
          <a:ln/>
        </p:spPr>
        <p:txBody>
          <a:bodyPr wrap="square" lIns="0" tIns="0" rIns="0" bIns="0" rtlCol="0" anchor="t"/>
          <a:lstStyle/>
          <a:p>
            <a:pPr rtl="1" algn="r" indent="0" marL="0">
              <a:buNone/>
            </a:pPr>
            <a:r>
              <a:rPr lang="en-US" sz="1250" dirty="0">
                <a:solidFill>
                  <a:srgbClr val="1B2236"/>
                </a:solidFill>
                <a:latin typeface="Arial" pitchFamily="34" charset="0"/>
                <a:ea typeface="Arial" pitchFamily="34" charset="-122"/>
                <a:cs typeface="Arial" pitchFamily="34" charset="-120"/>
              </a:rPr>
              <a:t>سقف اندازه‌گیری‌شده: 0.44</a:t>
            </a:r>
            <a:endParaRPr lang="en-US" sz="1250" dirty="0"/>
          </a:p>
        </p:txBody>
      </p:sp>
      <p:sp>
        <p:nvSpPr>
          <p:cNvPr id="14" name="Shape 11"/>
          <p:cNvSpPr/>
          <p:nvPr/>
        </p:nvSpPr>
        <p:spPr>
          <a:xfrm>
            <a:off x="6309360" y="4663440"/>
            <a:ext cx="5303520" cy="1280160"/>
          </a:xfrm>
          <a:prstGeom prst="roundRect">
            <a:avLst>
              <a:gd name="adj" fmla="val 7143"/>
            </a:avLst>
          </a:prstGeom>
          <a:solidFill>
            <a:srgbClr val="EAF6F5"/>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5" name="Text 12"/>
          <p:cNvSpPr txBox="1"/>
          <p:nvPr/>
        </p:nvSpPr>
        <p:spPr>
          <a:xfrm>
            <a:off x="6583680" y="4800600"/>
            <a:ext cx="4754880" cy="274320"/>
          </a:xfrm>
          <a:prstGeom prst="rect">
            <a:avLst/>
          </a:prstGeom>
          <a:noFill/>
          <a:ln/>
        </p:spPr>
        <p:txBody>
          <a:bodyPr wrap="square" lIns="0" tIns="0" rIns="0" bIns="0" rtlCol="0" anchor="t"/>
          <a:lstStyle/>
          <a:p>
            <a:pPr rtl="1" algn="r" indent="0" marL="0">
              <a:buNone/>
            </a:pPr>
            <a:r>
              <a:rPr lang="en-US" sz="1200" dirty="0">
                <a:solidFill>
                  <a:srgbClr val="6A748C"/>
                </a:solidFill>
                <a:latin typeface="Arial" pitchFamily="34" charset="0"/>
                <a:ea typeface="Arial" pitchFamily="34" charset="-122"/>
                <a:cs typeface="Arial" pitchFamily="34" charset="-120"/>
              </a:rPr>
              <a:t>پس از تغییر</a:t>
            </a:r>
            <a:endParaRPr lang="en-US" sz="1200" dirty="0"/>
          </a:p>
        </p:txBody>
      </p:sp>
      <p:sp>
        <p:nvSpPr>
          <p:cNvPr id="16" name="Text 13"/>
          <p:cNvSpPr txBox="1"/>
          <p:nvPr/>
        </p:nvSpPr>
        <p:spPr>
          <a:xfrm>
            <a:off x="6583680" y="5120640"/>
            <a:ext cx="4754880" cy="365760"/>
          </a:xfrm>
          <a:prstGeom prst="rect">
            <a:avLst/>
          </a:prstGeom>
          <a:noFill/>
          <a:ln/>
        </p:spPr>
        <p:txBody>
          <a:bodyPr wrap="square" lIns="0" tIns="0" rIns="0" bIns="0" rtlCol="0" anchor="t"/>
          <a:lstStyle/>
          <a:p>
            <a:pPr algn="r" indent="0" marL="0">
              <a:buNone/>
            </a:pPr>
            <a:r>
              <a:rPr lang="en-US" sz="1150" b="1" dirty="0">
                <a:solidFill>
                  <a:srgbClr val="3FA7A0"/>
                </a:solidFill>
                <a:latin typeface="Arial" pitchFamily="34" charset="0"/>
                <a:ea typeface="Arial" pitchFamily="34" charset="-122"/>
                <a:cs typeface="Arial" pitchFamily="34" charset="-120"/>
              </a:rPr>
              <a:t>"a burglar climbing through a broken window"</a:t>
            </a:r>
            <a:endParaRPr lang="en-US" sz="1150" dirty="0"/>
          </a:p>
        </p:txBody>
      </p:sp>
      <p:sp>
        <p:nvSpPr>
          <p:cNvPr id="17" name="Text 14"/>
          <p:cNvSpPr txBox="1"/>
          <p:nvPr/>
        </p:nvSpPr>
        <p:spPr>
          <a:xfrm>
            <a:off x="6583680" y="5486400"/>
            <a:ext cx="4754880" cy="320040"/>
          </a:xfrm>
          <a:prstGeom prst="rect">
            <a:avLst/>
          </a:prstGeom>
          <a:noFill/>
          <a:ln/>
        </p:spPr>
        <p:txBody>
          <a:bodyPr wrap="square" lIns="0" tIns="0" rIns="0" bIns="0" rtlCol="0" anchor="t"/>
          <a:lstStyle/>
          <a:p>
            <a:pPr rtl="1" algn="r" indent="0" marL="0">
              <a:buNone/>
            </a:pPr>
            <a:r>
              <a:rPr lang="en-US" sz="1250" dirty="0">
                <a:solidFill>
                  <a:srgbClr val="1B2236"/>
                </a:solidFill>
                <a:latin typeface="Arial" pitchFamily="34" charset="0"/>
                <a:ea typeface="Arial" pitchFamily="34" charset="-122"/>
                <a:cs typeface="Arial" pitchFamily="34" charset="-120"/>
              </a:rPr>
              <a:t>سقف اندازه‌گیری‌شده: 0.86</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مسیر اول</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نتایج مسیر اول</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4480560"/>
                <a:gridCol w="1645920"/>
                <a:gridCol w="1645920"/>
                <a:gridCol w="1645920"/>
                <a:gridCol w="1645920"/>
              </a:tblGrid>
              <a:tr h="402336">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پیکربندی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AUC دودویی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ماکرو F1</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صحت نوع</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صحت کلی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402336">
                <a:tc>
                  <a:txBody>
                    <a:bodyPr/>
                    <a:lstStyle/>
                    <a:p>
                      <a:pPr algn="r" indent="0" marL="0">
                        <a:buNone/>
                      </a:pPr>
                      <a:r>
                        <a:rPr lang="en-US" sz="1250" dirty="0">
                          <a:solidFill>
                            <a:srgbClr val="1B2236"/>
                          </a:solidFill>
                          <a:latin typeface="Arial" pitchFamily="34" charset="0"/>
                          <a:ea typeface="Arial" pitchFamily="34" charset="-122"/>
                          <a:cs typeface="Arial" pitchFamily="34" charset="-120"/>
                        </a:rPr>
                        <a:t>اجرای پایه — اسم خام، وزن دستی</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0.9473</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0.3327</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0.3716</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0.6385</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402336">
                <a:tc>
                  <a:txBody>
                    <a:bodyPr/>
                    <a:lstStyle/>
                    <a:p>
                      <a:pPr algn="r" indent="0" marL="0">
                        <a:buNone/>
                      </a:pPr>
                      <a:r>
                        <a:rPr lang="en-US" sz="1250" dirty="0">
                          <a:solidFill>
                            <a:srgbClr val="1B2236"/>
                          </a:solidFill>
                          <a:latin typeface="Arial" pitchFamily="34" charset="0"/>
                          <a:ea typeface="Arial" pitchFamily="34" charset="-122"/>
                          <a:cs typeface="Arial" pitchFamily="34" charset="-120"/>
                        </a:rPr>
                        <a:t>توصیف بصری + وزن معکوس فراوانی</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0.9637</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0.3713</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0.4054</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0.6351</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402336">
                <a:tc>
                  <a:txBody>
                    <a:bodyPr/>
                    <a:lstStyle/>
                    <a:p>
                      <a:pPr algn="r" indent="0" marL="0">
                        <a:buNone/>
                      </a:pPr>
                      <a:r>
                        <a:rPr lang="en-US" sz="1250" b="1" dirty="0">
                          <a:solidFill>
                            <a:srgbClr val="16264F"/>
                          </a:solidFill>
                          <a:latin typeface="Arial" pitchFamily="34" charset="0"/>
                          <a:ea typeface="Arial" pitchFamily="34" charset="-122"/>
                          <a:cs typeface="Arial" pitchFamily="34" charset="-120"/>
                        </a:rPr>
                        <a:t>افزودن چهار نمای زمانی در آزمون</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50" b="1" dirty="0">
                          <a:solidFill>
                            <a:srgbClr val="16264F"/>
                          </a:solidFill>
                          <a:latin typeface="Arial" pitchFamily="34" charset="0"/>
                          <a:ea typeface="Arial" pitchFamily="34" charset="-122"/>
                          <a:cs typeface="Arial" pitchFamily="34" charset="-120"/>
                        </a:rPr>
                        <a:t>0.9629</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50" b="1" dirty="0">
                          <a:solidFill>
                            <a:srgbClr val="16264F"/>
                          </a:solidFill>
                          <a:latin typeface="Arial" pitchFamily="34" charset="0"/>
                          <a:ea typeface="Arial" pitchFamily="34" charset="-122"/>
                          <a:cs typeface="Arial" pitchFamily="34" charset="-120"/>
                        </a:rPr>
                        <a:t>0.3881</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50" b="1" dirty="0">
                          <a:solidFill>
                            <a:srgbClr val="16264F"/>
                          </a:solidFill>
                          <a:latin typeface="Arial" pitchFamily="34" charset="0"/>
                          <a:ea typeface="Arial" pitchFamily="34" charset="-122"/>
                          <a:cs typeface="Arial" pitchFamily="34" charset="-120"/>
                        </a:rPr>
                        <a:t>0.4257</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50" b="1" dirty="0">
                          <a:solidFill>
                            <a:srgbClr val="16264F"/>
                          </a:solidFill>
                          <a:latin typeface="Arial" pitchFamily="34" charset="0"/>
                          <a:ea typeface="Arial" pitchFamily="34" charset="-122"/>
                          <a:cs typeface="Arial" pitchFamily="34" charset="-120"/>
                        </a:rPr>
                        <a:t>0.6419</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bl>
          </a:graphicData>
        </a:graphic>
      </p:graphicFrame>
      <p:sp>
        <p:nvSpPr>
          <p:cNvPr id="5" name="Text 2"/>
          <p:cNvSpPr txBox="1"/>
          <p:nvPr/>
        </p:nvSpPr>
        <p:spPr>
          <a:xfrm>
            <a:off x="548640" y="3611880"/>
            <a:ext cx="5486400" cy="365760"/>
          </a:xfrm>
          <a:prstGeom prst="rect">
            <a:avLst/>
          </a:prstGeom>
          <a:noFill/>
          <a:ln/>
        </p:spPr>
        <p:txBody>
          <a:bodyPr wrap="square" lIns="0" tIns="0" rIns="0" bIns="0" rtlCol="0" anchor="t"/>
          <a:lstStyle/>
          <a:p>
            <a:pPr rtl="1" algn="r" indent="0" marL="0">
              <a:buNone/>
            </a:pPr>
            <a:r>
              <a:rPr lang="en-US" sz="1600" b="1" dirty="0">
                <a:solidFill>
                  <a:srgbClr val="16264F"/>
                </a:solidFill>
                <a:latin typeface="Arial" pitchFamily="34" charset="0"/>
                <a:ea typeface="Arial" pitchFamily="34" charset="-122"/>
                <a:cs typeface="Arial" pitchFamily="34" charset="-120"/>
              </a:rPr>
              <a:t>کلاس‌هایی که از مرگ برگشتند</a:t>
            </a:r>
            <a:endParaRPr lang="en-US" sz="16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548640" y="4069080"/>
          <a:ext cx="5486400" cy="914400"/>
        </p:xfrm>
        <a:graphic>
          <a:graphicData uri="http://schemas.openxmlformats.org/drawingml/2006/table">
            <a:tbl>
              <a:tblPr/>
              <a:tblGrid>
                <a:gridCol w="2194560"/>
                <a:gridCol w="1645920"/>
                <a:gridCol w="1645920"/>
              </a:tblGrid>
              <a:tr h="329184">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کلاس</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F1 پیش از تغییر</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F1 پس از تغییر</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329184">
                <a:tc>
                  <a:txBody>
                    <a:bodyPr/>
                    <a:lstStyle/>
                    <a:p>
                      <a:pPr algn="r" indent="0" marL="0">
                        <a:buNone/>
                      </a:pPr>
                      <a:r>
                        <a:rPr lang="en-US" sz="1150" dirty="0">
                          <a:solidFill>
                            <a:srgbClr val="1B2236"/>
                          </a:solidFill>
                          <a:latin typeface="Arial" pitchFamily="34" charset="0"/>
                          <a:ea typeface="Arial" pitchFamily="34" charset="-122"/>
                          <a:cs typeface="Arial" pitchFamily="34" charset="-120"/>
                        </a:rPr>
                        <a:t>Arrest — بازداشت</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0.000</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0.556</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29184">
                <a:tc>
                  <a:txBody>
                    <a:bodyPr/>
                    <a:lstStyle/>
                    <a:p>
                      <a:pPr algn="r" indent="0" marL="0">
                        <a:buNone/>
                      </a:pPr>
                      <a:r>
                        <a:rPr lang="en-US" sz="1150" dirty="0">
                          <a:solidFill>
                            <a:srgbClr val="1B2236"/>
                          </a:solidFill>
                          <a:latin typeface="Arial" pitchFamily="34" charset="0"/>
                          <a:ea typeface="Arial" pitchFamily="34" charset="-122"/>
                          <a:cs typeface="Arial" pitchFamily="34" charset="-120"/>
                        </a:rPr>
                        <a:t>Abuse — سوءاستفاده</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0.462</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0.714</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29184">
                <a:tc>
                  <a:txBody>
                    <a:bodyPr/>
                    <a:lstStyle/>
                    <a:p>
                      <a:pPr algn="r" indent="0" marL="0">
                        <a:buNone/>
                      </a:pPr>
                      <a:r>
                        <a:rPr lang="en-US" sz="1150" dirty="0">
                          <a:solidFill>
                            <a:srgbClr val="1B2236"/>
                          </a:solidFill>
                          <a:latin typeface="Arial" pitchFamily="34" charset="0"/>
                          <a:ea typeface="Arial" pitchFamily="34" charset="-122"/>
                          <a:cs typeface="Arial" pitchFamily="34" charset="-120"/>
                        </a:rPr>
                        <a:t>Stealing — دزدی</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0.200</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0.350</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29184">
                <a:tc>
                  <a:txBody>
                    <a:bodyPr/>
                    <a:lstStyle/>
                    <a:p>
                      <a:pPr algn="r" indent="0" marL="0">
                        <a:buNone/>
                      </a:pPr>
                      <a:r>
                        <a:rPr lang="en-US" sz="1150" dirty="0">
                          <a:solidFill>
                            <a:srgbClr val="1B2236"/>
                          </a:solidFill>
                          <a:latin typeface="Arial" pitchFamily="34" charset="0"/>
                          <a:ea typeface="Arial" pitchFamily="34" charset="-122"/>
                          <a:cs typeface="Arial" pitchFamily="34" charset="-120"/>
                        </a:rPr>
                        <a:t>Vandalism — تخریب</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0.000</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0.167</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bl>
          </a:graphicData>
        </a:graphic>
      </p:graphicFrame>
      <p:sp>
        <p:nvSpPr>
          <p:cNvPr id="7" name="Shape 3"/>
          <p:cNvSpPr/>
          <p:nvPr/>
        </p:nvSpPr>
        <p:spPr>
          <a:xfrm>
            <a:off x="6400800" y="3611880"/>
            <a:ext cx="5212080" cy="2331720"/>
          </a:xfrm>
          <a:prstGeom prst="roundRect">
            <a:avLst>
              <a:gd name="adj" fmla="val 3922"/>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8" name="Text 4"/>
          <p:cNvSpPr txBox="1"/>
          <p:nvPr/>
        </p:nvSpPr>
        <p:spPr>
          <a:xfrm>
            <a:off x="6675120" y="3794760"/>
            <a:ext cx="4663440" cy="320040"/>
          </a:xfrm>
          <a:prstGeom prst="rect">
            <a:avLst/>
          </a:prstGeom>
          <a:noFill/>
          <a:ln/>
        </p:spPr>
        <p:txBody>
          <a:bodyPr wrap="square" lIns="0" tIns="0" rIns="0" bIns="0" rtlCol="0" anchor="t"/>
          <a:lstStyle/>
          <a:p>
            <a:pPr rtl="1" algn="r" indent="0" marL="0">
              <a:buNone/>
            </a:pPr>
            <a:r>
              <a:rPr lang="en-US" sz="1600" b="1" dirty="0">
                <a:solidFill>
                  <a:srgbClr val="E8A33D"/>
                </a:solidFill>
                <a:latin typeface="Arial" pitchFamily="34" charset="0"/>
                <a:ea typeface="Arial" pitchFamily="34" charset="-122"/>
                <a:cs typeface="Arial" pitchFamily="34" charset="-120"/>
              </a:rPr>
              <a:t>چرا از این مسیر فاصله گرفتیم</a:t>
            </a:r>
            <a:endParaRPr lang="en-US" sz="1600" dirty="0"/>
          </a:p>
        </p:txBody>
      </p:sp>
      <p:sp>
        <p:nvSpPr>
          <p:cNvPr id="9" name="Text 5"/>
          <p:cNvSpPr txBox="1"/>
          <p:nvPr/>
        </p:nvSpPr>
        <p:spPr>
          <a:xfrm>
            <a:off x="6675120" y="4206240"/>
            <a:ext cx="4663440" cy="1463040"/>
          </a:xfrm>
          <a:prstGeom prst="rect">
            <a:avLst/>
          </a:prstGeom>
          <a:noFill/>
          <a:ln/>
        </p:spPr>
        <p:txBody>
          <a:bodyPr wrap="square" lIns="0" tIns="0" rIns="0" bIns="0" rtlCol="0" anchor="t"/>
          <a:lstStyle/>
          <a:p>
            <a:pPr algn="r" indent="0" marL="0">
              <a:lnSpc>
                <a:spcPts val="2200"/>
              </a:lnSpc>
              <a:spcAft>
                <a:spcPts val="700"/>
              </a:spcAft>
              <a:buNone/>
            </a:pPr>
            <a:r>
              <a:rPr lang="en-US" sz="1200" dirty="0">
                <a:solidFill>
                  <a:srgbClr val="1B2236"/>
                </a:solidFill>
                <a:latin typeface="Arial" pitchFamily="34" charset="0"/>
                <a:ea typeface="Arial" pitchFamily="34" charset="-122"/>
                <a:cs typeface="Arial" pitchFamily="34" charset="-120"/>
              </a:rPr>
              <a:t>●  هر پیکربندی حدود ۱۶ ساعت طول می‌کشید</a:t>
            </a:r>
            <a:endParaRPr lang="en-US" sz="1200" dirty="0"/>
          </a:p>
          <a:p>
            <a:pPr algn="r" indent="0" marL="0">
              <a:lnSpc>
                <a:spcPts val="2200"/>
              </a:lnSpc>
              <a:spcAft>
                <a:spcPts val="700"/>
              </a:spcAft>
              <a:buNone/>
            </a:pPr>
            <a:r>
              <a:rPr lang="en-US" sz="1200" dirty="0">
                <a:solidFill>
                  <a:srgbClr val="1B2236"/>
                </a:solidFill>
                <a:latin typeface="Arial" pitchFamily="34" charset="0"/>
                <a:ea typeface="Arial" pitchFamily="34" charset="-122"/>
                <a:cs typeface="Arial" pitchFamily="34" charset="-120"/>
              </a:rPr>
              <a:t>●  با این هزینه، آزمون سیستماتیک فرضیه‌ها ناممکن بود</a:t>
            </a:r>
            <a:endParaRPr lang="en-US" sz="1200" dirty="0"/>
          </a:p>
          <a:p>
            <a:pPr algn="r" indent="0" marL="0">
              <a:lnSpc>
                <a:spcPts val="2200"/>
              </a:lnSpc>
              <a:spcAft>
                <a:spcPts val="700"/>
              </a:spcAft>
              <a:buNone/>
            </a:pPr>
            <a:r>
              <a:rPr lang="en-US" sz="1200" dirty="0">
                <a:solidFill>
                  <a:srgbClr val="1B2236"/>
                </a:solidFill>
                <a:latin typeface="Arial" pitchFamily="34" charset="0"/>
                <a:ea typeface="Arial" pitchFamily="34" charset="-122"/>
                <a:cs typeface="Arial" pitchFamily="34" charset="-120"/>
              </a:rPr>
              <a:t>●  خطای باقی‌مانده در خوشه دزدی بود و ماهیتش مکانی بود، نه زمانی</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64F"/>
        </a:solidFill>
      </p:bgPr>
    </p:bg>
    <p:spTree>
      <p:nvGrpSpPr>
        <p:cNvPr id="1" name=""/>
        <p:cNvGrpSpPr/>
        <p:nvPr/>
      </p:nvGrpSpPr>
      <p:grpSpPr>
        <a:xfrm>
          <a:off x="0" y="0"/>
          <a:ext cx="0" cy="0"/>
          <a:chOff x="0" y="0"/>
          <a:chExt cx="0" cy="0"/>
        </a:xfrm>
      </p:grpSpPr>
      <p:sp>
        <p:nvSpPr>
          <p:cNvPr id="2" name="Shape 0"/>
          <p:cNvSpPr/>
          <p:nvPr/>
        </p:nvSpPr>
        <p:spPr>
          <a:xfrm>
            <a:off x="-1645920" y="-1371600"/>
            <a:ext cx="5120640" cy="5120640"/>
          </a:xfrm>
          <a:prstGeom prst="ellipse">
            <a:avLst/>
          </a:prstGeom>
          <a:solidFill>
            <a:srgbClr val="1E3566"/>
          </a:solidFill>
          <a:ln w="12700">
            <a:solidFill>
              <a:srgbClr val="333333"/>
            </a:solidFill>
            <a:prstDash val="solid"/>
          </a:ln>
        </p:spPr>
      </p:sp>
      <p:sp>
        <p:nvSpPr>
          <p:cNvPr id="3" name="Text 1"/>
          <p:cNvSpPr txBox="1"/>
          <p:nvPr/>
        </p:nvSpPr>
        <p:spPr>
          <a:xfrm>
            <a:off x="4572000" y="2194560"/>
            <a:ext cx="6858000" cy="548640"/>
          </a:xfrm>
          <a:prstGeom prst="rect">
            <a:avLst/>
          </a:prstGeom>
          <a:noFill/>
          <a:ln/>
        </p:spPr>
        <p:txBody>
          <a:bodyPr wrap="square" lIns="0" tIns="0" rIns="0" bIns="0" rtlCol="0" anchor="t"/>
          <a:lstStyle/>
          <a:p>
            <a:pPr rtl="1" algn="r" indent="0" marL="0">
              <a:buNone/>
            </a:pPr>
            <a:r>
              <a:rPr lang="en-US" sz="1800" b="1" dirty="0">
                <a:solidFill>
                  <a:srgbClr val="E8A33D"/>
                </a:solidFill>
                <a:latin typeface="Arial" pitchFamily="34" charset="0"/>
                <a:ea typeface="Arial" pitchFamily="34" charset="-122"/>
                <a:cs typeface="Arial" pitchFamily="34" charset="-120"/>
              </a:rPr>
              <a:t>مسیر دوم</a:t>
            </a:r>
            <a:endParaRPr lang="en-US" sz="1800" dirty="0"/>
          </a:p>
        </p:txBody>
      </p:sp>
      <p:sp>
        <p:nvSpPr>
          <p:cNvPr id="4" name="Text 2"/>
          <p:cNvSpPr txBox="1"/>
          <p:nvPr/>
        </p:nvSpPr>
        <p:spPr>
          <a:xfrm>
            <a:off x="4572000" y="2743200"/>
            <a:ext cx="6858000" cy="1097280"/>
          </a:xfrm>
          <a:prstGeom prst="rect">
            <a:avLst/>
          </a:prstGeom>
          <a:noFill/>
          <a:ln/>
        </p:spPr>
        <p:txBody>
          <a:bodyPr wrap="square" lIns="0" tIns="0" rIns="0" bIns="0" rtlCol="0" anchor="t"/>
          <a:lstStyle/>
          <a:p>
            <a:pPr algn="r" indent="0" marL="0">
              <a:buNone/>
            </a:pPr>
            <a:r>
              <a:rPr lang="en-US" sz="6000" b="1" dirty="0">
                <a:solidFill>
                  <a:srgbClr val="FFFFFF"/>
                </a:solidFill>
                <a:latin typeface="Arial" pitchFamily="34" charset="0"/>
                <a:ea typeface="Arial" pitchFamily="34" charset="-122"/>
                <a:cs typeface="Arial" pitchFamily="34" charset="-120"/>
              </a:rPr>
              <a:t>VideoMAE</a:t>
            </a:r>
            <a:endParaRPr lang="en-US" sz="6000" dirty="0"/>
          </a:p>
        </p:txBody>
      </p:sp>
      <p:sp>
        <p:nvSpPr>
          <p:cNvPr id="5" name="Text 3"/>
          <p:cNvSpPr txBox="1"/>
          <p:nvPr/>
        </p:nvSpPr>
        <p:spPr>
          <a:xfrm>
            <a:off x="4572000" y="3931920"/>
            <a:ext cx="6858000" cy="457200"/>
          </a:xfrm>
          <a:prstGeom prst="rect">
            <a:avLst/>
          </a:prstGeom>
          <a:noFill/>
          <a:ln/>
        </p:spPr>
        <p:txBody>
          <a:bodyPr wrap="square" lIns="0" tIns="0" rIns="0" bIns="0" rtlCol="0" anchor="t"/>
          <a:lstStyle/>
          <a:p>
            <a:pPr rtl="1" algn="r" indent="0" marL="0">
              <a:buNone/>
            </a:pPr>
            <a:r>
              <a:rPr lang="en-US" sz="1700" dirty="0">
                <a:solidFill>
                  <a:srgbClr val="BFD4F2"/>
                </a:solidFill>
                <a:latin typeface="Arial" pitchFamily="34" charset="0"/>
                <a:ea typeface="Arial" pitchFamily="34" charset="-122"/>
                <a:cs typeface="Arial" pitchFamily="34" charset="-120"/>
              </a:rPr>
              <a:t>رمزگذار منجمد و ویژگی‌های ذخیره‌شده</a:t>
            </a:r>
            <a:endParaRPr lang="en-US" sz="1700" dirty="0"/>
          </a:p>
        </p:txBody>
      </p:sp>
      <p:sp>
        <p:nvSpPr>
          <p:cNvPr id="6" name="Text 4"/>
          <p:cNvSpPr txBox="1"/>
          <p:nvPr/>
        </p:nvSpPr>
        <p:spPr>
          <a:xfrm>
            <a:off x="4572000" y="4663440"/>
            <a:ext cx="6858000" cy="640080"/>
          </a:xfrm>
          <a:prstGeom prst="rect">
            <a:avLst/>
          </a:prstGeom>
          <a:noFill/>
          <a:ln/>
        </p:spPr>
        <p:txBody>
          <a:bodyPr wrap="square" lIns="0" tIns="0" rIns="0" bIns="0" rtlCol="0" anchor="t"/>
          <a:lstStyle/>
          <a:p>
            <a:pPr algn="r" indent="0" marL="0">
              <a:buNone/>
            </a:pPr>
            <a:r>
              <a:rPr lang="en-US" sz="2600" b="1" dirty="0">
                <a:solidFill>
                  <a:srgbClr val="E8A33D"/>
                </a:solidFill>
                <a:latin typeface="Arial" pitchFamily="34" charset="0"/>
                <a:ea typeface="Arial" pitchFamily="34" charset="-122"/>
                <a:cs typeface="Arial" pitchFamily="34" charset="-120"/>
              </a:rPr>
              <a:t>0.2975  ←  0.4298</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مسیر دوم</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VideoMAE چطور یاد گرفت</a:t>
            </a:r>
            <a:endParaRPr lang="en-US" sz="3000" dirty="0"/>
          </a:p>
        </p:txBody>
      </p:sp>
      <p:sp>
        <p:nvSpPr>
          <p:cNvPr id="4" name="Shape 2"/>
          <p:cNvSpPr/>
          <p:nvPr/>
        </p:nvSpPr>
        <p:spPr>
          <a:xfrm>
            <a:off x="548640" y="1645920"/>
            <a:ext cx="7589520" cy="868680"/>
          </a:xfrm>
          <a:prstGeom prst="roundRect">
            <a:avLst>
              <a:gd name="adj" fmla="val 10526"/>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5" name="Shape 3"/>
          <p:cNvSpPr/>
          <p:nvPr/>
        </p:nvSpPr>
        <p:spPr>
          <a:xfrm>
            <a:off x="7406640" y="1847088"/>
            <a:ext cx="475488" cy="475488"/>
          </a:xfrm>
          <a:prstGeom prst="ellipse">
            <a:avLst/>
          </a:prstGeom>
          <a:solidFill>
            <a:srgbClr val="16264F"/>
          </a:solidFill>
          <a:ln w="12700">
            <a:solidFill>
              <a:srgbClr val="16264F"/>
            </a:solidFill>
            <a:prstDash val="solid"/>
          </a:ln>
        </p:spPr>
      </p:sp>
      <p:sp>
        <p:nvSpPr>
          <p:cNvPr id="6" name="Text 4"/>
          <p:cNvSpPr txBox="1"/>
          <p:nvPr/>
        </p:nvSpPr>
        <p:spPr>
          <a:xfrm>
            <a:off x="7406640" y="184708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914400" y="1737360"/>
            <a:ext cx="6309360" cy="292608"/>
          </a:xfrm>
          <a:prstGeom prst="rect">
            <a:avLst/>
          </a:prstGeom>
          <a:noFill/>
          <a:ln/>
        </p:spPr>
        <p:txBody>
          <a:bodyPr wrap="square" lIns="0" tIns="0" rIns="0" bIns="0" rtlCol="0" anchor="t"/>
          <a:lstStyle/>
          <a:p>
            <a:pPr rtl="1" algn="r" indent="0" marL="0">
              <a:buNone/>
            </a:pPr>
            <a:r>
              <a:rPr lang="en-US" sz="1500" b="1" dirty="0">
                <a:solidFill>
                  <a:srgbClr val="16264F"/>
                </a:solidFill>
                <a:latin typeface="Arial" pitchFamily="34" charset="0"/>
                <a:ea typeface="Arial" pitchFamily="34" charset="-122"/>
                <a:cs typeface="Arial" pitchFamily="34" charset="-120"/>
              </a:rPr>
              <a:t>پوشاندن</a:t>
            </a:r>
            <a:endParaRPr lang="en-US" sz="1500" dirty="0"/>
          </a:p>
        </p:txBody>
      </p:sp>
      <p:sp>
        <p:nvSpPr>
          <p:cNvPr id="8" name="Text 6"/>
          <p:cNvSpPr txBox="1"/>
          <p:nvPr/>
        </p:nvSpPr>
        <p:spPr>
          <a:xfrm>
            <a:off x="914400" y="2057400"/>
            <a:ext cx="6309360" cy="384048"/>
          </a:xfrm>
          <a:prstGeom prst="rect">
            <a:avLst/>
          </a:prstGeom>
          <a:noFill/>
          <a:ln/>
        </p:spPr>
        <p:txBody>
          <a:bodyPr wrap="square" lIns="0" tIns="0" rIns="0" bIns="0" rtlCol="0" anchor="t"/>
          <a:lstStyle/>
          <a:p>
            <a:pPr rtl="1" algn="r" indent="0" marL="0">
              <a:buNone/>
            </a:pPr>
            <a:r>
              <a:rPr lang="en-US" sz="1200" dirty="0">
                <a:solidFill>
                  <a:srgbClr val="6A748C"/>
                </a:solidFill>
                <a:latin typeface="Arial" pitchFamily="34" charset="0"/>
                <a:ea typeface="Arial" pitchFamily="34" charset="-122"/>
                <a:cs typeface="Arial" pitchFamily="34" charset="-120"/>
              </a:rPr>
              <a:t>حدود ۹۰ درصد مکعب‌های فضازمانی پوشانده می‌شوند</a:t>
            </a:r>
            <a:endParaRPr lang="en-US" sz="1200" dirty="0"/>
          </a:p>
        </p:txBody>
      </p:sp>
      <p:sp>
        <p:nvSpPr>
          <p:cNvPr id="9" name="Shape 7"/>
          <p:cNvSpPr/>
          <p:nvPr/>
        </p:nvSpPr>
        <p:spPr>
          <a:xfrm>
            <a:off x="548640" y="2670048"/>
            <a:ext cx="7589520" cy="868680"/>
          </a:xfrm>
          <a:prstGeom prst="roundRect">
            <a:avLst>
              <a:gd name="adj" fmla="val 10526"/>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0" name="Shape 8"/>
          <p:cNvSpPr/>
          <p:nvPr/>
        </p:nvSpPr>
        <p:spPr>
          <a:xfrm>
            <a:off x="7406640" y="2871216"/>
            <a:ext cx="475488" cy="475488"/>
          </a:xfrm>
          <a:prstGeom prst="ellipse">
            <a:avLst/>
          </a:prstGeom>
          <a:solidFill>
            <a:srgbClr val="16264F"/>
          </a:solidFill>
          <a:ln w="12700">
            <a:solidFill>
              <a:srgbClr val="16264F"/>
            </a:solidFill>
            <a:prstDash val="solid"/>
          </a:ln>
        </p:spPr>
      </p:sp>
      <p:sp>
        <p:nvSpPr>
          <p:cNvPr id="11" name="Text 9"/>
          <p:cNvSpPr txBox="1"/>
          <p:nvPr/>
        </p:nvSpPr>
        <p:spPr>
          <a:xfrm>
            <a:off x="7406640" y="287121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914400" y="2761488"/>
            <a:ext cx="6309360" cy="292608"/>
          </a:xfrm>
          <a:prstGeom prst="rect">
            <a:avLst/>
          </a:prstGeom>
          <a:noFill/>
          <a:ln/>
        </p:spPr>
        <p:txBody>
          <a:bodyPr wrap="square" lIns="0" tIns="0" rIns="0" bIns="0" rtlCol="0" anchor="t"/>
          <a:lstStyle/>
          <a:p>
            <a:pPr rtl="1" algn="r" indent="0" marL="0">
              <a:buNone/>
            </a:pPr>
            <a:r>
              <a:rPr lang="en-US" sz="1500" b="1" dirty="0">
                <a:solidFill>
                  <a:srgbClr val="16264F"/>
                </a:solidFill>
                <a:latin typeface="Arial" pitchFamily="34" charset="0"/>
                <a:ea typeface="Arial" pitchFamily="34" charset="-122"/>
                <a:cs typeface="Arial" pitchFamily="34" charset="-120"/>
              </a:rPr>
              <a:t>بازسازی</a:t>
            </a:r>
            <a:endParaRPr lang="en-US" sz="1500" dirty="0"/>
          </a:p>
        </p:txBody>
      </p:sp>
      <p:sp>
        <p:nvSpPr>
          <p:cNvPr id="13" name="Text 11"/>
          <p:cNvSpPr txBox="1"/>
          <p:nvPr/>
        </p:nvSpPr>
        <p:spPr>
          <a:xfrm>
            <a:off x="914400" y="3081528"/>
            <a:ext cx="6309360" cy="384048"/>
          </a:xfrm>
          <a:prstGeom prst="rect">
            <a:avLst/>
          </a:prstGeom>
          <a:noFill/>
          <a:ln/>
        </p:spPr>
        <p:txBody>
          <a:bodyPr wrap="square" lIns="0" tIns="0" rIns="0" bIns="0" rtlCol="0" anchor="t"/>
          <a:lstStyle/>
          <a:p>
            <a:pPr rtl="1" algn="r" indent="0" marL="0">
              <a:buNone/>
            </a:pPr>
            <a:r>
              <a:rPr lang="en-US" sz="1200" dirty="0">
                <a:solidFill>
                  <a:srgbClr val="6A748C"/>
                </a:solidFill>
                <a:latin typeface="Arial" pitchFamily="34" charset="0"/>
                <a:ea typeface="Arial" pitchFamily="34" charset="-122"/>
                <a:cs typeface="Arial" pitchFamily="34" charset="-120"/>
              </a:rPr>
              <a:t>رمزگذار فقط ۱۰ درصد باقی‌مانده را می‌بیند و رمزگشا جای خالی‌ها را حدس می‌زند</a:t>
            </a:r>
            <a:endParaRPr lang="en-US" sz="1200" dirty="0"/>
          </a:p>
        </p:txBody>
      </p:sp>
      <p:sp>
        <p:nvSpPr>
          <p:cNvPr id="14" name="Shape 12"/>
          <p:cNvSpPr/>
          <p:nvPr/>
        </p:nvSpPr>
        <p:spPr>
          <a:xfrm>
            <a:off x="548640" y="3694176"/>
            <a:ext cx="7589520" cy="868680"/>
          </a:xfrm>
          <a:prstGeom prst="roundRect">
            <a:avLst>
              <a:gd name="adj" fmla="val 10526"/>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5" name="Shape 13"/>
          <p:cNvSpPr/>
          <p:nvPr/>
        </p:nvSpPr>
        <p:spPr>
          <a:xfrm>
            <a:off x="7406640" y="3895344"/>
            <a:ext cx="475488" cy="475488"/>
          </a:xfrm>
          <a:prstGeom prst="ellipse">
            <a:avLst/>
          </a:prstGeom>
          <a:solidFill>
            <a:srgbClr val="16264F"/>
          </a:solidFill>
          <a:ln w="12700">
            <a:solidFill>
              <a:srgbClr val="16264F"/>
            </a:solidFill>
            <a:prstDash val="solid"/>
          </a:ln>
        </p:spPr>
      </p:sp>
      <p:sp>
        <p:nvSpPr>
          <p:cNvPr id="16" name="Text 14"/>
          <p:cNvSpPr txBox="1"/>
          <p:nvPr/>
        </p:nvSpPr>
        <p:spPr>
          <a:xfrm>
            <a:off x="7406640" y="389534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914400" y="3785616"/>
            <a:ext cx="6309360" cy="292608"/>
          </a:xfrm>
          <a:prstGeom prst="rect">
            <a:avLst/>
          </a:prstGeom>
          <a:noFill/>
          <a:ln/>
        </p:spPr>
        <p:txBody>
          <a:bodyPr wrap="square" lIns="0" tIns="0" rIns="0" bIns="0" rtlCol="0" anchor="t"/>
          <a:lstStyle/>
          <a:p>
            <a:pPr rtl="1" algn="r" indent="0" marL="0">
              <a:buNone/>
            </a:pPr>
            <a:r>
              <a:rPr lang="en-US" sz="1500" b="1" dirty="0">
                <a:solidFill>
                  <a:srgbClr val="16264F"/>
                </a:solidFill>
                <a:latin typeface="Arial" pitchFamily="34" charset="0"/>
                <a:ea typeface="Arial" pitchFamily="34" charset="-122"/>
                <a:cs typeface="Arial" pitchFamily="34" charset="-120"/>
              </a:rPr>
              <a:t>بدون برچسب</a:t>
            </a:r>
            <a:endParaRPr lang="en-US" sz="1500" dirty="0"/>
          </a:p>
        </p:txBody>
      </p:sp>
      <p:sp>
        <p:nvSpPr>
          <p:cNvPr id="18" name="Text 16"/>
          <p:cNvSpPr txBox="1"/>
          <p:nvPr/>
        </p:nvSpPr>
        <p:spPr>
          <a:xfrm>
            <a:off x="914400" y="4105656"/>
            <a:ext cx="6309360" cy="384048"/>
          </a:xfrm>
          <a:prstGeom prst="rect">
            <a:avLst/>
          </a:prstGeom>
          <a:noFill/>
          <a:ln/>
        </p:spPr>
        <p:txBody>
          <a:bodyPr wrap="square" lIns="0" tIns="0" rIns="0" bIns="0" rtlCol="0" anchor="t"/>
          <a:lstStyle/>
          <a:p>
            <a:pPr rtl="1" algn="r" indent="0" marL="0">
              <a:buNone/>
            </a:pPr>
            <a:r>
              <a:rPr lang="en-US" sz="1200" dirty="0">
                <a:solidFill>
                  <a:srgbClr val="6A748C"/>
                </a:solidFill>
                <a:latin typeface="Arial" pitchFamily="34" charset="0"/>
                <a:ea typeface="Arial" pitchFamily="34" charset="-122"/>
                <a:cs typeface="Arial" pitchFamily="34" charset="-120"/>
              </a:rPr>
              <a:t>خود ویدیو هم سؤال است و هم جواب، پس روی حجم عظیمی از داده ممکن است</a:t>
            </a:r>
            <a:endParaRPr lang="en-US" sz="1200" dirty="0"/>
          </a:p>
        </p:txBody>
      </p:sp>
      <p:sp>
        <p:nvSpPr>
          <p:cNvPr id="19" name="Shape 17"/>
          <p:cNvSpPr/>
          <p:nvPr/>
        </p:nvSpPr>
        <p:spPr>
          <a:xfrm>
            <a:off x="548640" y="4718304"/>
            <a:ext cx="7589520" cy="868680"/>
          </a:xfrm>
          <a:prstGeom prst="roundRect">
            <a:avLst>
              <a:gd name="adj" fmla="val 10526"/>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20" name="Shape 18"/>
          <p:cNvSpPr/>
          <p:nvPr/>
        </p:nvSpPr>
        <p:spPr>
          <a:xfrm>
            <a:off x="7406640" y="4919472"/>
            <a:ext cx="475488" cy="475488"/>
          </a:xfrm>
          <a:prstGeom prst="ellipse">
            <a:avLst/>
          </a:prstGeom>
          <a:solidFill>
            <a:srgbClr val="E8A33D"/>
          </a:solidFill>
          <a:ln w="12700">
            <a:solidFill>
              <a:srgbClr val="E8A33D"/>
            </a:solidFill>
            <a:prstDash val="solid"/>
          </a:ln>
        </p:spPr>
      </p:sp>
      <p:sp>
        <p:nvSpPr>
          <p:cNvPr id="21" name="Text 19"/>
          <p:cNvSpPr txBox="1"/>
          <p:nvPr/>
        </p:nvSpPr>
        <p:spPr>
          <a:xfrm>
            <a:off x="7406640" y="491947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txBox="1"/>
          <p:nvPr/>
        </p:nvSpPr>
        <p:spPr>
          <a:xfrm>
            <a:off x="914400" y="4809744"/>
            <a:ext cx="6309360" cy="292608"/>
          </a:xfrm>
          <a:prstGeom prst="rect">
            <a:avLst/>
          </a:prstGeom>
          <a:noFill/>
          <a:ln/>
        </p:spPr>
        <p:txBody>
          <a:bodyPr wrap="square" lIns="0" tIns="0" rIns="0" bIns="0" rtlCol="0" anchor="t"/>
          <a:lstStyle/>
          <a:p>
            <a:pPr rtl="1" algn="r" indent="0" marL="0">
              <a:buNone/>
            </a:pPr>
            <a:r>
              <a:rPr lang="en-US" sz="1500" b="1" dirty="0">
                <a:solidFill>
                  <a:srgbClr val="16264F"/>
                </a:solidFill>
                <a:latin typeface="Arial" pitchFamily="34" charset="0"/>
                <a:ea typeface="Arial" pitchFamily="34" charset="-122"/>
                <a:cs typeface="Arial" pitchFamily="34" charset="-120"/>
              </a:rPr>
              <a:t>دور انداختن رمزگشا</a:t>
            </a:r>
            <a:endParaRPr lang="en-US" sz="1500" dirty="0"/>
          </a:p>
        </p:txBody>
      </p:sp>
      <p:sp>
        <p:nvSpPr>
          <p:cNvPr id="23" name="Text 21"/>
          <p:cNvSpPr txBox="1"/>
          <p:nvPr/>
        </p:nvSpPr>
        <p:spPr>
          <a:xfrm>
            <a:off x="914400" y="5129784"/>
            <a:ext cx="6309360" cy="384048"/>
          </a:xfrm>
          <a:prstGeom prst="rect">
            <a:avLst/>
          </a:prstGeom>
          <a:noFill/>
          <a:ln/>
        </p:spPr>
        <p:txBody>
          <a:bodyPr wrap="square" lIns="0" tIns="0" rIns="0" bIns="0" rtlCol="0" anchor="t"/>
          <a:lstStyle/>
          <a:p>
            <a:pPr rtl="1" algn="r" indent="0" marL="0">
              <a:buNone/>
            </a:pPr>
            <a:r>
              <a:rPr lang="en-US" sz="1200" dirty="0">
                <a:solidFill>
                  <a:srgbClr val="6A748C"/>
                </a:solidFill>
                <a:latin typeface="Arial" pitchFamily="34" charset="0"/>
                <a:ea typeface="Arial" pitchFamily="34" charset="-122"/>
                <a:cs typeface="Arial" pitchFamily="34" charset="-120"/>
              </a:rPr>
              <a:t>پس از پیش‌آموزش تنها رمزگذار می‌ماند و روی Kinetics تنظیم می‌شود</a:t>
            </a:r>
            <a:endParaRPr lang="en-US" sz="1200" dirty="0"/>
          </a:p>
        </p:txBody>
      </p:sp>
      <p:sp>
        <p:nvSpPr>
          <p:cNvPr id="24" name="Shape 22"/>
          <p:cNvSpPr/>
          <p:nvPr/>
        </p:nvSpPr>
        <p:spPr>
          <a:xfrm>
            <a:off x="8412480" y="1645920"/>
            <a:ext cx="3200400" cy="4023360"/>
          </a:xfrm>
          <a:prstGeom prst="roundRect">
            <a:avLst>
              <a:gd name="adj" fmla="val 2857"/>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25" name="Text 23"/>
          <p:cNvSpPr txBox="1"/>
          <p:nvPr/>
        </p:nvSpPr>
        <p:spPr>
          <a:xfrm>
            <a:off x="8686800" y="1828800"/>
            <a:ext cx="2651760" cy="320040"/>
          </a:xfrm>
          <a:prstGeom prst="rect">
            <a:avLst/>
          </a:prstGeom>
          <a:noFill/>
          <a:ln/>
        </p:spPr>
        <p:txBody>
          <a:bodyPr wrap="square" lIns="0" tIns="0" rIns="0" bIns="0" rtlCol="0" anchor="t"/>
          <a:lstStyle/>
          <a:p>
            <a:pPr rtl="1" algn="r" indent="0" marL="0">
              <a:buNone/>
            </a:pPr>
            <a:r>
              <a:rPr lang="en-US" sz="1500" b="1" dirty="0">
                <a:solidFill>
                  <a:srgbClr val="E8A33D"/>
                </a:solidFill>
                <a:latin typeface="Arial" pitchFamily="34" charset="0"/>
                <a:ea typeface="Arial" pitchFamily="34" charset="-122"/>
                <a:cs typeface="Arial" pitchFamily="34" charset="-120"/>
              </a:rPr>
              <a:t>تفاوت با X-CLIP</a:t>
            </a:r>
            <a:endParaRPr lang="en-US" sz="1500" dirty="0"/>
          </a:p>
        </p:txBody>
      </p:sp>
      <p:sp>
        <p:nvSpPr>
          <p:cNvPr id="26" name="Text 24"/>
          <p:cNvSpPr txBox="1"/>
          <p:nvPr/>
        </p:nvSpPr>
        <p:spPr>
          <a:xfrm>
            <a:off x="8686800" y="2240280"/>
            <a:ext cx="2651760" cy="3200400"/>
          </a:xfrm>
          <a:prstGeom prst="rect">
            <a:avLst/>
          </a:prstGeom>
          <a:noFill/>
          <a:ln/>
        </p:spPr>
        <p:txBody>
          <a:bodyPr wrap="square" lIns="0" tIns="0" rIns="0" bIns="0" rtlCol="0" anchor="t"/>
          <a:lstStyle/>
          <a:p>
            <a:pPr rtl="1" algn="r" indent="0" marL="0">
              <a:lnSpc>
                <a:spcPts val="2000"/>
              </a:lnSpc>
              <a:buNone/>
            </a:pPr>
            <a:r>
              <a:rPr lang="en-US" sz="1250" dirty="0">
                <a:solidFill>
                  <a:srgbClr val="1B2236"/>
                </a:solidFill>
                <a:latin typeface="Arial" pitchFamily="34" charset="0"/>
                <a:ea typeface="Arial" pitchFamily="34" charset="-122"/>
                <a:cs typeface="Arial" pitchFamily="34" charset="-120"/>
              </a:rPr>
              <a:t>X-CLIP از متن یاد گرفت.</a:t>
            </a:r>
            <a:endParaRPr lang="en-US" sz="1250" dirty="0"/>
          </a:p>
          <a:p>
            <a:pPr rtl="1" algn="r" indent="0" marL="0">
              <a:lnSpc>
                <a:spcPts val="2000"/>
              </a:lnSpc>
              <a:buNone/>
            </a:pPr>
            <a:endParaRPr lang="en-US" sz="1250" dirty="0"/>
          </a:p>
          <a:p>
            <a:pPr rtl="1" algn="r" indent="0" marL="0">
              <a:lnSpc>
                <a:spcPts val="2000"/>
              </a:lnSpc>
              <a:buNone/>
            </a:pPr>
            <a:r>
              <a:rPr lang="en-US" sz="1250" dirty="0">
                <a:solidFill>
                  <a:srgbClr val="1B2236"/>
                </a:solidFill>
                <a:latin typeface="Arial" pitchFamily="34" charset="0"/>
                <a:ea typeface="Arial" pitchFamily="34" charset="-122"/>
                <a:cs typeface="Arial" pitchFamily="34" charset="-120"/>
              </a:rPr>
              <a:t>VideoMAE از خود ویدیو.</a:t>
            </a:r>
            <a:endParaRPr lang="en-US" sz="1250" dirty="0"/>
          </a:p>
          <a:p>
            <a:pPr rtl="1" algn="r" indent="0" marL="0">
              <a:lnSpc>
                <a:spcPts val="2000"/>
              </a:lnSpc>
              <a:buNone/>
            </a:pPr>
            <a:endParaRPr lang="en-US" sz="1250" dirty="0"/>
          </a:p>
          <a:p>
            <a:pPr rtl="1" algn="r" indent="0" marL="0">
              <a:lnSpc>
                <a:spcPts val="2000"/>
              </a:lnSpc>
              <a:buNone/>
            </a:pPr>
            <a:r>
              <a:rPr lang="en-US" sz="1250" dirty="0">
                <a:solidFill>
                  <a:srgbClr val="1B2236"/>
                </a:solidFill>
                <a:latin typeface="Arial" pitchFamily="34" charset="0"/>
                <a:ea typeface="Arial" pitchFamily="34" charset="-122"/>
                <a:cs typeface="Arial" pitchFamily="34" charset="-120"/>
              </a:rPr>
              <a:t>پس VideoMAE اصلاً کلمه نمی‌شناسد و آن سقف ۰٫۴۴ که از هم‌راستایی اسم کلاس‌ها می‌آمد، اینجا اصلاً وجود ندارد.</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مسیر دوم</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مهم‌ترین تصمیم پروژه: یخ زدن رمزگذار</a:t>
            </a:r>
            <a:endParaRPr lang="en-US" sz="3000" dirty="0"/>
          </a:p>
        </p:txBody>
      </p:sp>
      <p:sp>
        <p:nvSpPr>
          <p:cNvPr id="4" name="Text 2"/>
          <p:cNvSpPr txBox="1"/>
          <p:nvPr/>
        </p:nvSpPr>
        <p:spPr>
          <a:xfrm>
            <a:off x="548640" y="1627632"/>
            <a:ext cx="11064240" cy="365760"/>
          </a:xfrm>
          <a:prstGeom prst="rect">
            <a:avLst/>
          </a:prstGeom>
          <a:noFill/>
          <a:ln/>
        </p:spPr>
        <p:txBody>
          <a:bodyPr wrap="square" lIns="0" tIns="0" rIns="0" bIns="0" rtlCol="0" anchor="t"/>
          <a:lstStyle/>
          <a:p>
            <a:pPr rtl="1" algn="r" indent="0" marL="0">
              <a:buNone/>
            </a:pPr>
            <a:r>
              <a:rPr lang="en-US" sz="1400" dirty="0">
                <a:solidFill>
                  <a:srgbClr val="1B2236"/>
                </a:solidFill>
                <a:latin typeface="Arial" pitchFamily="34" charset="0"/>
                <a:ea typeface="Arial" pitchFamily="34" charset="-122"/>
                <a:cs typeface="Arial" pitchFamily="34" charset="-120"/>
              </a:rPr>
              <a:t>چون رمزگذار آموزش نمی‌بیند، خروجی‌اش ثابت است. پس محاسبه مجددش در هر دوره کار تکراری محض است.</a:t>
            </a:r>
            <a:endParaRPr lang="en-US" sz="1400" dirty="0"/>
          </a:p>
        </p:txBody>
      </p:sp>
      <p:sp>
        <p:nvSpPr>
          <p:cNvPr id="5" name="Text 3"/>
          <p:cNvSpPr txBox="1"/>
          <p:nvPr/>
        </p:nvSpPr>
        <p:spPr>
          <a:xfrm>
            <a:off x="8046720" y="2148840"/>
            <a:ext cx="3566160" cy="777240"/>
          </a:xfrm>
          <a:prstGeom prst="rect">
            <a:avLst/>
          </a:prstGeom>
          <a:noFill/>
          <a:ln/>
        </p:spPr>
        <p:txBody>
          <a:bodyPr wrap="square" lIns="0" tIns="0" rIns="0" bIns="0" rtlCol="0" anchor="ctr"/>
          <a:lstStyle/>
          <a:p>
            <a:pPr algn="ctr" indent="0" marL="0">
              <a:buNone/>
            </a:pPr>
            <a:r>
              <a:rPr lang="en-US" sz="4000" b="1" dirty="0">
                <a:solidFill>
                  <a:srgbClr val="C9483B"/>
                </a:solidFill>
                <a:latin typeface="Arial" pitchFamily="34" charset="0"/>
                <a:ea typeface="Arial" pitchFamily="34" charset="-122"/>
                <a:cs typeface="Arial" pitchFamily="34" charset="-120"/>
              </a:rPr>
              <a:t>16</a:t>
            </a:r>
            <a:endParaRPr lang="en-US" sz="4000" dirty="0"/>
          </a:p>
        </p:txBody>
      </p:sp>
      <p:sp>
        <p:nvSpPr>
          <p:cNvPr id="6" name="Text 4"/>
          <p:cNvSpPr txBox="1"/>
          <p:nvPr/>
        </p:nvSpPr>
        <p:spPr>
          <a:xfrm>
            <a:off x="8046720" y="2898648"/>
            <a:ext cx="3566160" cy="457200"/>
          </a:xfrm>
          <a:prstGeom prst="rect">
            <a:avLst/>
          </a:prstGeom>
          <a:noFill/>
          <a:ln/>
        </p:spPr>
        <p:txBody>
          <a:bodyPr wrap="square" lIns="0" tIns="0" rIns="0" bIns="0" rtlCol="0" anchor="t"/>
          <a:lstStyle/>
          <a:p>
            <a:pPr rtl="1" algn="ctr" indent="0" marL="0">
              <a:buNone/>
            </a:pPr>
            <a:r>
              <a:rPr lang="en-US" sz="1200" dirty="0">
                <a:solidFill>
                  <a:srgbClr val="6A748C"/>
                </a:solidFill>
                <a:latin typeface="Arial" pitchFamily="34" charset="0"/>
                <a:ea typeface="Arial" pitchFamily="34" charset="-122"/>
                <a:cs typeface="Arial" pitchFamily="34" charset="-120"/>
              </a:rPr>
              <a:t>ساعت برای هر آزمایش — روش قدیم</a:t>
            </a:r>
            <a:endParaRPr lang="en-US" sz="1200" dirty="0"/>
          </a:p>
        </p:txBody>
      </p:sp>
      <p:sp>
        <p:nvSpPr>
          <p:cNvPr id="7" name="Shape 5"/>
          <p:cNvSpPr/>
          <p:nvPr/>
        </p:nvSpPr>
        <p:spPr>
          <a:xfrm>
            <a:off x="6675120" y="2377440"/>
            <a:ext cx="1188720" cy="502920"/>
          </a:xfrm>
          <a:prstGeom prst="leftArrow">
            <a:avLst/>
          </a:prstGeom>
          <a:solidFill>
            <a:srgbClr val="BFD4F2"/>
          </a:solidFill>
          <a:ln w="12700">
            <a:solidFill>
              <a:srgbClr val="333333"/>
            </a:solidFill>
            <a:prstDash val="solid"/>
          </a:ln>
        </p:spPr>
      </p:sp>
      <p:sp>
        <p:nvSpPr>
          <p:cNvPr id="8" name="Text 6"/>
          <p:cNvSpPr txBox="1"/>
          <p:nvPr/>
        </p:nvSpPr>
        <p:spPr>
          <a:xfrm>
            <a:off x="2926080" y="2148840"/>
            <a:ext cx="3566160" cy="777240"/>
          </a:xfrm>
          <a:prstGeom prst="rect">
            <a:avLst/>
          </a:prstGeom>
          <a:noFill/>
          <a:ln/>
        </p:spPr>
        <p:txBody>
          <a:bodyPr wrap="square" lIns="0" tIns="0" rIns="0" bIns="0" rtlCol="0" anchor="ctr"/>
          <a:lstStyle/>
          <a:p>
            <a:pPr algn="ctr" indent="0" marL="0">
              <a:buNone/>
            </a:pPr>
            <a:r>
              <a:rPr lang="en-US" sz="4000" b="1" dirty="0">
                <a:solidFill>
                  <a:srgbClr val="3FA7A0"/>
                </a:solidFill>
                <a:latin typeface="Arial" pitchFamily="34" charset="0"/>
                <a:ea typeface="Arial" pitchFamily="34" charset="-122"/>
                <a:cs typeface="Arial" pitchFamily="34" charset="-120"/>
              </a:rPr>
              <a:t>80</a:t>
            </a:r>
            <a:endParaRPr lang="en-US" sz="4000" dirty="0"/>
          </a:p>
        </p:txBody>
      </p:sp>
      <p:sp>
        <p:nvSpPr>
          <p:cNvPr id="9" name="Text 7"/>
          <p:cNvSpPr txBox="1"/>
          <p:nvPr/>
        </p:nvSpPr>
        <p:spPr>
          <a:xfrm>
            <a:off x="2926080" y="2898648"/>
            <a:ext cx="3566160" cy="457200"/>
          </a:xfrm>
          <a:prstGeom prst="rect">
            <a:avLst/>
          </a:prstGeom>
          <a:noFill/>
          <a:ln/>
        </p:spPr>
        <p:txBody>
          <a:bodyPr wrap="square" lIns="0" tIns="0" rIns="0" bIns="0" rtlCol="0" anchor="t"/>
          <a:lstStyle/>
          <a:p>
            <a:pPr rtl="1" algn="ctr" indent="0" marL="0">
              <a:buNone/>
            </a:pPr>
            <a:r>
              <a:rPr lang="en-US" sz="1200" dirty="0">
                <a:solidFill>
                  <a:srgbClr val="6A748C"/>
                </a:solidFill>
                <a:latin typeface="Arial" pitchFamily="34" charset="0"/>
                <a:ea typeface="Arial" pitchFamily="34" charset="-122"/>
                <a:cs typeface="Arial" pitchFamily="34" charset="-120"/>
              </a:rPr>
              <a:t>ثانیه برای هر آزمایش — روش جدید</a:t>
            </a:r>
            <a:endParaRPr lang="en-US" sz="1200" dirty="0"/>
          </a:p>
        </p:txBody>
      </p:sp>
      <p:sp>
        <p:nvSpPr>
          <p:cNvPr id="10" name="Text 8"/>
          <p:cNvSpPr txBox="1"/>
          <p:nvPr/>
        </p:nvSpPr>
        <p:spPr>
          <a:xfrm>
            <a:off x="548640" y="2148840"/>
            <a:ext cx="2103120" cy="777240"/>
          </a:xfrm>
          <a:prstGeom prst="rect">
            <a:avLst/>
          </a:prstGeom>
          <a:noFill/>
          <a:ln/>
        </p:spPr>
        <p:txBody>
          <a:bodyPr wrap="square" lIns="0" tIns="0" rIns="0" bIns="0" rtlCol="0" anchor="ctr"/>
          <a:lstStyle/>
          <a:p>
            <a:pPr algn="ctr" indent="0" marL="0">
              <a:buNone/>
            </a:pPr>
            <a:r>
              <a:rPr lang="en-US" sz="4000" b="1" dirty="0">
                <a:solidFill>
                  <a:srgbClr val="16264F"/>
                </a:solidFill>
                <a:latin typeface="Arial" pitchFamily="34" charset="0"/>
                <a:ea typeface="Arial" pitchFamily="34" charset="-122"/>
                <a:cs typeface="Arial" pitchFamily="34" charset="-120"/>
              </a:rPr>
              <a:t>200</a:t>
            </a:r>
            <a:endParaRPr lang="en-US" sz="4000" dirty="0"/>
          </a:p>
        </p:txBody>
      </p:sp>
      <p:sp>
        <p:nvSpPr>
          <p:cNvPr id="11" name="Text 9"/>
          <p:cNvSpPr txBox="1"/>
          <p:nvPr/>
        </p:nvSpPr>
        <p:spPr>
          <a:xfrm>
            <a:off x="548640" y="2898648"/>
            <a:ext cx="2103120" cy="457200"/>
          </a:xfrm>
          <a:prstGeom prst="rect">
            <a:avLst/>
          </a:prstGeom>
          <a:noFill/>
          <a:ln/>
        </p:spPr>
        <p:txBody>
          <a:bodyPr wrap="square" lIns="0" tIns="0" rIns="0" bIns="0" rtlCol="0" anchor="t"/>
          <a:lstStyle/>
          <a:p>
            <a:pPr rtl="1" algn="ctr" indent="0" marL="0">
              <a:buNone/>
            </a:pPr>
            <a:r>
              <a:rPr lang="en-US" sz="1200" dirty="0">
                <a:solidFill>
                  <a:srgbClr val="6A748C"/>
                </a:solidFill>
                <a:latin typeface="Arial" pitchFamily="34" charset="0"/>
                <a:ea typeface="Arial" pitchFamily="34" charset="-122"/>
                <a:cs typeface="Arial" pitchFamily="34" charset="-120"/>
              </a:rPr>
              <a:t>ارزیابی انجام‌شده</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703320"/>
          <a:ext cx="11064240" cy="914400"/>
        </p:xfrm>
        <a:graphic>
          <a:graphicData uri="http://schemas.openxmlformats.org/drawingml/2006/table">
            <a:tbl>
              <a:tblPr/>
              <a:tblGrid>
                <a:gridCol w="3383280"/>
                <a:gridCol w="3840480"/>
                <a:gridCol w="3840480"/>
              </a:tblGrid>
              <a:tr h="32004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مورد</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روش قدیم</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روش جدید</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320040">
                <a:tc>
                  <a:txBody>
                    <a:bodyPr/>
                    <a:lstStyle/>
                    <a:p>
                      <a:pPr algn="r" indent="0" marL="0">
                        <a:buNone/>
                      </a:pPr>
                      <a:r>
                        <a:rPr lang="en-US" sz="1250" dirty="0">
                          <a:solidFill>
                            <a:srgbClr val="1B2236"/>
                          </a:solidFill>
                          <a:latin typeface="Arial" pitchFamily="34" charset="0"/>
                          <a:ea typeface="Arial" pitchFamily="34" charset="-122"/>
                          <a:cs typeface="Arial" pitchFamily="34" charset="-120"/>
                        </a:rPr>
                        <a:t>رمزگشایی ویدیو</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هر دوره تکرار می‌شد</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یک بار، هرگز دوباره</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20040">
                <a:tc>
                  <a:txBody>
                    <a:bodyPr/>
                    <a:lstStyle/>
                    <a:p>
                      <a:pPr algn="r" indent="0" marL="0">
                        <a:buNone/>
                      </a:pPr>
                      <a:r>
                        <a:rPr lang="en-US" sz="1250" dirty="0">
                          <a:solidFill>
                            <a:srgbClr val="1B2236"/>
                          </a:solidFill>
                          <a:latin typeface="Arial" pitchFamily="34" charset="0"/>
                          <a:ea typeface="Arial" pitchFamily="34" charset="-122"/>
                          <a:cs typeface="Arial" pitchFamily="34" charset="-120"/>
                        </a:rPr>
                        <a:t>اجرای رمزگذار</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هر دوره تکرار می‌شد</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یک بار، هرگز دوباره</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20040">
                <a:tc>
                  <a:txBody>
                    <a:bodyPr/>
                    <a:lstStyle/>
                    <a:p>
                      <a:pPr algn="r" indent="0" marL="0">
                        <a:buNone/>
                      </a:pPr>
                      <a:r>
                        <a:rPr lang="en-US" sz="1250" dirty="0">
                          <a:solidFill>
                            <a:srgbClr val="1B2236"/>
                          </a:solidFill>
                          <a:latin typeface="Arial" pitchFamily="34" charset="0"/>
                          <a:ea typeface="Arial" pitchFamily="34" charset="-122"/>
                          <a:cs typeface="Arial" pitchFamily="34" charset="-120"/>
                        </a:rPr>
                        <a:t>حجم داده ورودی</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۷۰ گیگابایت ویدیو</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۹۳ مگابایت عدد</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20040">
                <a:tc>
                  <a:txBody>
                    <a:bodyPr/>
                    <a:lstStyle/>
                    <a:p>
                      <a:pPr algn="r" indent="0" marL="0">
                        <a:buNone/>
                      </a:pPr>
                      <a:r>
                        <a:rPr lang="en-US" sz="1250" dirty="0">
                          <a:solidFill>
                            <a:srgbClr val="1B2236"/>
                          </a:solidFill>
                          <a:latin typeface="Arial" pitchFamily="34" charset="0"/>
                          <a:ea typeface="Arial" pitchFamily="34" charset="-122"/>
                          <a:cs typeface="Arial" pitchFamily="34" charset="-120"/>
                        </a:rPr>
                        <a:t>پارامترهای آموزش‌پذیر</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حدود ۳۰۰ میلیون</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۴٫۸ میلیون</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20040">
                <a:tc>
                  <a:txBody>
                    <a:bodyPr/>
                    <a:lstStyle/>
                    <a:p>
                      <a:pPr algn="r" indent="0" marL="0">
                        <a:buNone/>
                      </a:pPr>
                      <a:r>
                        <a:rPr lang="en-US" sz="1250" b="1" dirty="0">
                          <a:solidFill>
                            <a:srgbClr val="16264F"/>
                          </a:solidFill>
                          <a:latin typeface="Arial" pitchFamily="34" charset="0"/>
                          <a:ea typeface="Arial" pitchFamily="34" charset="-122"/>
                          <a:cs typeface="Arial" pitchFamily="34" charset="-120"/>
                        </a:rPr>
                        <a:t>زمان ۲۰۰ آزمایش</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50" b="1" dirty="0">
                          <a:solidFill>
                            <a:srgbClr val="16264F"/>
                          </a:solidFill>
                          <a:latin typeface="Arial" pitchFamily="34" charset="0"/>
                          <a:ea typeface="Arial" pitchFamily="34" charset="-122"/>
                          <a:cs typeface="Arial" pitchFamily="34" charset="-120"/>
                        </a:rPr>
                        <a:t>حدود ۱۳۳ روز</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50" b="1" dirty="0">
                          <a:solidFill>
                            <a:srgbClr val="16264F"/>
                          </a:solidFill>
                          <a:latin typeface="Arial" pitchFamily="34" charset="0"/>
                          <a:ea typeface="Arial" pitchFamily="34" charset="-122"/>
                          <a:cs typeface="Arial" pitchFamily="34" charset="-120"/>
                        </a:rPr>
                        <a:t>حدود ۴ ساعت</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bl>
          </a:graphicData>
        </a:graphic>
      </p:graphicFrame>
      <p:sp>
        <p:nvSpPr>
          <p:cNvPr id="13" name="Text 10"/>
          <p:cNvSpPr txBox="1"/>
          <p:nvPr/>
        </p:nvSpPr>
        <p:spPr>
          <a:xfrm>
            <a:off x="548640" y="5897880"/>
            <a:ext cx="11064240" cy="365760"/>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هزینه‌ای که پرداختیم: رمزگذار هرگز به دامنه ویدیوی نظارتی تطبیق نمی‌یابد. این را صریح گزارش کرده‌ایم.</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مسیر دوم</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خط لوله نهایی</a:t>
            </a:r>
            <a:endParaRPr lang="en-US" sz="3000" dirty="0"/>
          </a:p>
        </p:txBody>
      </p:sp>
      <p:sp>
        <p:nvSpPr>
          <p:cNvPr id="4" name="Shape 2"/>
          <p:cNvSpPr/>
          <p:nvPr/>
        </p:nvSpPr>
        <p:spPr>
          <a:xfrm>
            <a:off x="9098280" y="1737360"/>
            <a:ext cx="2560320" cy="1371600"/>
          </a:xfrm>
          <a:prstGeom prst="roundRect">
            <a:avLst>
              <a:gd name="adj" fmla="val 6667"/>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5" name="Text 3"/>
          <p:cNvSpPr txBox="1"/>
          <p:nvPr/>
        </p:nvSpPr>
        <p:spPr>
          <a:xfrm>
            <a:off x="9235440" y="1920240"/>
            <a:ext cx="2286000" cy="320040"/>
          </a:xfrm>
          <a:prstGeom prst="rect">
            <a:avLst/>
          </a:prstGeom>
          <a:noFill/>
          <a:ln/>
        </p:spPr>
        <p:txBody>
          <a:bodyPr wrap="square" lIns="0" tIns="0" rIns="0" bIns="0" rtlCol="0" anchor="t"/>
          <a:lstStyle/>
          <a:p>
            <a:pPr rtl="1" algn="ctr" indent="0" marL="0">
              <a:buNone/>
            </a:pPr>
            <a:r>
              <a:rPr lang="en-US" sz="1400" b="1" dirty="0">
                <a:solidFill>
                  <a:srgbClr val="16264F"/>
                </a:solidFill>
                <a:latin typeface="Arial" pitchFamily="34" charset="0"/>
                <a:ea typeface="Arial" pitchFamily="34" charset="-122"/>
                <a:cs typeface="Arial" pitchFamily="34" charset="-120"/>
              </a:rPr>
              <a:t>ویدیوی خام</a:t>
            </a:r>
            <a:endParaRPr lang="en-US" sz="1400" dirty="0"/>
          </a:p>
        </p:txBody>
      </p:sp>
      <p:sp>
        <p:nvSpPr>
          <p:cNvPr id="6" name="Text 4"/>
          <p:cNvSpPr txBox="1"/>
          <p:nvPr/>
        </p:nvSpPr>
        <p:spPr>
          <a:xfrm>
            <a:off x="9235440" y="2286000"/>
            <a:ext cx="2286000" cy="640080"/>
          </a:xfrm>
          <a:prstGeom prst="rect">
            <a:avLst/>
          </a:prstGeom>
          <a:noFill/>
          <a:ln/>
        </p:spPr>
        <p:txBody>
          <a:bodyPr wrap="square" lIns="0" tIns="0" rIns="0" bIns="0" rtlCol="0" anchor="t"/>
          <a:lstStyle/>
          <a:p>
            <a:pPr rtl="1" algn="ctr" indent="0" marL="0">
              <a:lnSpc>
                <a:spcPts val="1700"/>
              </a:lnSpc>
              <a:buNone/>
            </a:pPr>
            <a:r>
              <a:rPr lang="en-US" sz="1150" dirty="0">
                <a:solidFill>
                  <a:srgbClr val="6A748C"/>
                </a:solidFill>
                <a:latin typeface="Arial" pitchFamily="34" charset="0"/>
                <a:ea typeface="Arial" pitchFamily="34" charset="-122"/>
                <a:cs typeface="Arial" pitchFamily="34" charset="-120"/>
              </a:rPr>
              <a:t>۹۰۰۰ فریم</a:t>
            </a:r>
            <a:endParaRPr lang="en-US" sz="1150" dirty="0"/>
          </a:p>
          <a:p>
            <a:pPr rtl="1" algn="ctr" indent="0" marL="0">
              <a:lnSpc>
                <a:spcPts val="1700"/>
              </a:lnSpc>
              <a:buNone/>
            </a:pPr>
            <a:r>
              <a:rPr lang="en-US" sz="1150" dirty="0">
                <a:solidFill>
                  <a:srgbClr val="6A748C"/>
                </a:solidFill>
                <a:latin typeface="Arial" pitchFamily="34" charset="0"/>
                <a:ea typeface="Arial" pitchFamily="34" charset="-122"/>
                <a:cs typeface="Arial" pitchFamily="34" charset="-120"/>
              </a:rPr>
              <a:t>۴۰ مگابایت</a:t>
            </a:r>
            <a:endParaRPr lang="en-US" sz="1150" dirty="0"/>
          </a:p>
        </p:txBody>
      </p:sp>
      <p:sp>
        <p:nvSpPr>
          <p:cNvPr id="7" name="Shape 5"/>
          <p:cNvSpPr/>
          <p:nvPr/>
        </p:nvSpPr>
        <p:spPr>
          <a:xfrm>
            <a:off x="8842248" y="2286000"/>
            <a:ext cx="228600" cy="274320"/>
          </a:xfrm>
          <a:prstGeom prst="leftArrow">
            <a:avLst/>
          </a:prstGeom>
          <a:solidFill>
            <a:srgbClr val="BFD4F2"/>
          </a:solidFill>
          <a:ln w="12700">
            <a:solidFill>
              <a:srgbClr val="333333"/>
            </a:solidFill>
            <a:prstDash val="solid"/>
          </a:ln>
        </p:spPr>
      </p:sp>
      <p:sp>
        <p:nvSpPr>
          <p:cNvPr id="8" name="Shape 6"/>
          <p:cNvSpPr/>
          <p:nvPr/>
        </p:nvSpPr>
        <p:spPr>
          <a:xfrm>
            <a:off x="6217920" y="1737360"/>
            <a:ext cx="2560320" cy="1371600"/>
          </a:xfrm>
          <a:prstGeom prst="roundRect">
            <a:avLst>
              <a:gd name="adj" fmla="val 6667"/>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9" name="Text 7"/>
          <p:cNvSpPr txBox="1"/>
          <p:nvPr/>
        </p:nvSpPr>
        <p:spPr>
          <a:xfrm>
            <a:off x="6355080" y="1920240"/>
            <a:ext cx="2286000" cy="320040"/>
          </a:xfrm>
          <a:prstGeom prst="rect">
            <a:avLst/>
          </a:prstGeom>
          <a:noFill/>
          <a:ln/>
        </p:spPr>
        <p:txBody>
          <a:bodyPr wrap="square" lIns="0" tIns="0" rIns="0" bIns="0" rtlCol="0" anchor="t"/>
          <a:lstStyle/>
          <a:p>
            <a:pPr rtl="1" algn="ctr" indent="0" marL="0">
              <a:buNone/>
            </a:pPr>
            <a:r>
              <a:rPr lang="en-US" sz="1400" b="1" dirty="0">
                <a:solidFill>
                  <a:srgbClr val="16264F"/>
                </a:solidFill>
                <a:latin typeface="Arial" pitchFamily="34" charset="0"/>
                <a:ea typeface="Arial" pitchFamily="34" charset="-122"/>
                <a:cs typeface="Arial" pitchFamily="34" charset="-120"/>
              </a:rPr>
              <a:t>۱۶ قطعه</a:t>
            </a:r>
            <a:endParaRPr lang="en-US" sz="1400" dirty="0"/>
          </a:p>
        </p:txBody>
      </p:sp>
      <p:sp>
        <p:nvSpPr>
          <p:cNvPr id="10" name="Text 8"/>
          <p:cNvSpPr txBox="1"/>
          <p:nvPr/>
        </p:nvSpPr>
        <p:spPr>
          <a:xfrm>
            <a:off x="6355080" y="2286000"/>
            <a:ext cx="2286000" cy="640080"/>
          </a:xfrm>
          <a:prstGeom prst="rect">
            <a:avLst/>
          </a:prstGeom>
          <a:noFill/>
          <a:ln/>
        </p:spPr>
        <p:txBody>
          <a:bodyPr wrap="square" lIns="0" tIns="0" rIns="0" bIns="0" rtlCol="0" anchor="t"/>
          <a:lstStyle/>
          <a:p>
            <a:pPr rtl="1" algn="ctr" indent="0" marL="0">
              <a:lnSpc>
                <a:spcPts val="1700"/>
              </a:lnSpc>
              <a:buNone/>
            </a:pPr>
            <a:r>
              <a:rPr lang="en-US" sz="1150" dirty="0">
                <a:solidFill>
                  <a:srgbClr val="6A748C"/>
                </a:solidFill>
                <a:latin typeface="Arial" pitchFamily="34" charset="0"/>
                <a:ea typeface="Arial" pitchFamily="34" charset="-122"/>
                <a:cs typeface="Arial" pitchFamily="34" charset="-120"/>
              </a:rPr>
              <a:t>هر قطعه ۱۶ فریم</a:t>
            </a:r>
            <a:endParaRPr lang="en-US" sz="1150" dirty="0"/>
          </a:p>
          <a:p>
            <a:pPr rtl="1" algn="ctr" indent="0" marL="0">
              <a:lnSpc>
                <a:spcPts val="1700"/>
              </a:lnSpc>
              <a:buNone/>
            </a:pPr>
            <a:r>
              <a:rPr lang="en-US" sz="1150" dirty="0">
                <a:solidFill>
                  <a:srgbClr val="6A748C"/>
                </a:solidFill>
                <a:latin typeface="Arial" pitchFamily="34" charset="0"/>
                <a:ea typeface="Arial" pitchFamily="34" charset="-122"/>
                <a:cs typeface="Arial" pitchFamily="34" charset="-120"/>
              </a:rPr>
              <a:t>۲۲۴ در ۲۲۴</a:t>
            </a:r>
            <a:endParaRPr lang="en-US" sz="1150" dirty="0"/>
          </a:p>
        </p:txBody>
      </p:sp>
      <p:sp>
        <p:nvSpPr>
          <p:cNvPr id="11" name="Shape 9"/>
          <p:cNvSpPr/>
          <p:nvPr/>
        </p:nvSpPr>
        <p:spPr>
          <a:xfrm>
            <a:off x="5961888" y="2286000"/>
            <a:ext cx="228600" cy="274320"/>
          </a:xfrm>
          <a:prstGeom prst="leftArrow">
            <a:avLst/>
          </a:prstGeom>
          <a:solidFill>
            <a:srgbClr val="BFD4F2"/>
          </a:solidFill>
          <a:ln w="12700">
            <a:solidFill>
              <a:srgbClr val="333333"/>
            </a:solidFill>
            <a:prstDash val="solid"/>
          </a:ln>
        </p:spPr>
      </p:sp>
      <p:sp>
        <p:nvSpPr>
          <p:cNvPr id="12" name="Shape 10"/>
          <p:cNvSpPr/>
          <p:nvPr/>
        </p:nvSpPr>
        <p:spPr>
          <a:xfrm>
            <a:off x="3337560" y="1737360"/>
            <a:ext cx="2560320" cy="1371600"/>
          </a:xfrm>
          <a:prstGeom prst="roundRect">
            <a:avLst>
              <a:gd name="adj" fmla="val 6667"/>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3" name="Text 11"/>
          <p:cNvSpPr txBox="1"/>
          <p:nvPr/>
        </p:nvSpPr>
        <p:spPr>
          <a:xfrm>
            <a:off x="3474720" y="1920240"/>
            <a:ext cx="2286000" cy="320040"/>
          </a:xfrm>
          <a:prstGeom prst="rect">
            <a:avLst/>
          </a:prstGeom>
          <a:noFill/>
          <a:ln/>
        </p:spPr>
        <p:txBody>
          <a:bodyPr wrap="square" lIns="0" tIns="0" rIns="0" bIns="0" rtlCol="0" anchor="t"/>
          <a:lstStyle/>
          <a:p>
            <a:pPr rtl="1" algn="ctr" indent="0" marL="0">
              <a:buNone/>
            </a:pPr>
            <a:r>
              <a:rPr lang="en-US" sz="1400" b="1" dirty="0">
                <a:solidFill>
                  <a:srgbClr val="E8A33D"/>
                </a:solidFill>
                <a:latin typeface="Arial" pitchFamily="34" charset="0"/>
                <a:ea typeface="Arial" pitchFamily="34" charset="-122"/>
                <a:cs typeface="Arial" pitchFamily="34" charset="-120"/>
              </a:rPr>
              <a:t>رمزگذار ViT-L</a:t>
            </a:r>
            <a:endParaRPr lang="en-US" sz="1400" dirty="0"/>
          </a:p>
        </p:txBody>
      </p:sp>
      <p:sp>
        <p:nvSpPr>
          <p:cNvPr id="14" name="Text 12"/>
          <p:cNvSpPr txBox="1"/>
          <p:nvPr/>
        </p:nvSpPr>
        <p:spPr>
          <a:xfrm>
            <a:off x="3474720" y="2286000"/>
            <a:ext cx="2286000" cy="640080"/>
          </a:xfrm>
          <a:prstGeom prst="rect">
            <a:avLst/>
          </a:prstGeom>
          <a:noFill/>
          <a:ln/>
        </p:spPr>
        <p:txBody>
          <a:bodyPr wrap="square" lIns="0" tIns="0" rIns="0" bIns="0" rtlCol="0" anchor="t"/>
          <a:lstStyle/>
          <a:p>
            <a:pPr rtl="1" algn="ctr" indent="0" marL="0">
              <a:lnSpc>
                <a:spcPts val="1700"/>
              </a:lnSpc>
              <a:buNone/>
            </a:pPr>
            <a:r>
              <a:rPr lang="en-US" sz="1150" dirty="0">
                <a:solidFill>
                  <a:srgbClr val="6A748C"/>
                </a:solidFill>
                <a:latin typeface="Arial" pitchFamily="34" charset="0"/>
                <a:ea typeface="Arial" pitchFamily="34" charset="-122"/>
                <a:cs typeface="Arial" pitchFamily="34" charset="-120"/>
              </a:rPr>
              <a:t>منجمد</a:t>
            </a:r>
            <a:endParaRPr lang="en-US" sz="1150" dirty="0"/>
          </a:p>
          <a:p>
            <a:pPr rtl="1" algn="ctr" indent="0" marL="0">
              <a:lnSpc>
                <a:spcPts val="1700"/>
              </a:lnSpc>
              <a:buNone/>
            </a:pPr>
            <a:r>
              <a:rPr lang="en-US" sz="1150" dirty="0">
                <a:solidFill>
                  <a:srgbClr val="6A748C"/>
                </a:solidFill>
                <a:latin typeface="Arial" pitchFamily="34" charset="0"/>
                <a:ea typeface="Arial" pitchFamily="34" charset="-122"/>
                <a:cs typeface="Arial" pitchFamily="34" charset="-120"/>
              </a:rPr>
              <a:t>یک بار اجرا</a:t>
            </a:r>
            <a:endParaRPr lang="en-US" sz="1150" dirty="0"/>
          </a:p>
        </p:txBody>
      </p:sp>
      <p:sp>
        <p:nvSpPr>
          <p:cNvPr id="15" name="Shape 13"/>
          <p:cNvSpPr/>
          <p:nvPr/>
        </p:nvSpPr>
        <p:spPr>
          <a:xfrm>
            <a:off x="3081528" y="2286000"/>
            <a:ext cx="228600" cy="274320"/>
          </a:xfrm>
          <a:prstGeom prst="leftArrow">
            <a:avLst/>
          </a:prstGeom>
          <a:solidFill>
            <a:srgbClr val="BFD4F2"/>
          </a:solidFill>
          <a:ln w="12700">
            <a:solidFill>
              <a:srgbClr val="333333"/>
            </a:solidFill>
            <a:prstDash val="solid"/>
          </a:ln>
        </p:spPr>
      </p:sp>
      <p:sp>
        <p:nvSpPr>
          <p:cNvPr id="16" name="Shape 14"/>
          <p:cNvSpPr/>
          <p:nvPr/>
        </p:nvSpPr>
        <p:spPr>
          <a:xfrm>
            <a:off x="457200" y="1737360"/>
            <a:ext cx="2560320" cy="1371600"/>
          </a:xfrm>
          <a:prstGeom prst="roundRect">
            <a:avLst>
              <a:gd name="adj" fmla="val 6667"/>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7" name="Text 15"/>
          <p:cNvSpPr txBox="1"/>
          <p:nvPr/>
        </p:nvSpPr>
        <p:spPr>
          <a:xfrm>
            <a:off x="594360" y="1920240"/>
            <a:ext cx="2286000" cy="320040"/>
          </a:xfrm>
          <a:prstGeom prst="rect">
            <a:avLst/>
          </a:prstGeom>
          <a:noFill/>
          <a:ln/>
        </p:spPr>
        <p:txBody>
          <a:bodyPr wrap="square" lIns="0" tIns="0" rIns="0" bIns="0" rtlCol="0" anchor="t"/>
          <a:lstStyle/>
          <a:p>
            <a:pPr rtl="1" algn="ctr" indent="0" marL="0">
              <a:buNone/>
            </a:pPr>
            <a:r>
              <a:rPr lang="en-US" sz="1400" b="1" dirty="0">
                <a:solidFill>
                  <a:srgbClr val="3FA7A0"/>
                </a:solidFill>
                <a:latin typeface="Arial" pitchFamily="34" charset="0"/>
                <a:ea typeface="Arial" pitchFamily="34" charset="-122"/>
                <a:cs typeface="Arial" pitchFamily="34" charset="-120"/>
              </a:rPr>
              <a:t>ویژگی ذخیره‌شده</a:t>
            </a:r>
            <a:endParaRPr lang="en-US" sz="1400" dirty="0"/>
          </a:p>
        </p:txBody>
      </p:sp>
      <p:sp>
        <p:nvSpPr>
          <p:cNvPr id="18" name="Text 16"/>
          <p:cNvSpPr txBox="1"/>
          <p:nvPr/>
        </p:nvSpPr>
        <p:spPr>
          <a:xfrm>
            <a:off x="594360" y="2286000"/>
            <a:ext cx="2286000" cy="640080"/>
          </a:xfrm>
          <a:prstGeom prst="rect">
            <a:avLst/>
          </a:prstGeom>
          <a:noFill/>
          <a:ln/>
        </p:spPr>
        <p:txBody>
          <a:bodyPr wrap="square" lIns="0" tIns="0" rIns="0" bIns="0" rtlCol="0" anchor="t"/>
          <a:lstStyle/>
          <a:p>
            <a:pPr rtl="1" algn="ctr" indent="0" marL="0">
              <a:lnSpc>
                <a:spcPts val="1700"/>
              </a:lnSpc>
              <a:buNone/>
            </a:pPr>
            <a:r>
              <a:rPr lang="en-US" sz="1150" dirty="0">
                <a:solidFill>
                  <a:srgbClr val="6A748C"/>
                </a:solidFill>
                <a:latin typeface="Arial" pitchFamily="34" charset="0"/>
                <a:ea typeface="Arial" pitchFamily="34" charset="-122"/>
                <a:cs typeface="Arial" pitchFamily="34" charset="-120"/>
              </a:rPr>
              <a:t>۱۶ در ۱۰۲۴</a:t>
            </a:r>
            <a:endParaRPr lang="en-US" sz="1150" dirty="0"/>
          </a:p>
          <a:p>
            <a:pPr rtl="1" algn="ctr" indent="0" marL="0">
              <a:lnSpc>
                <a:spcPts val="1700"/>
              </a:lnSpc>
              <a:buNone/>
            </a:pPr>
            <a:r>
              <a:rPr lang="en-US" sz="1150" dirty="0">
                <a:solidFill>
                  <a:srgbClr val="6A748C"/>
                </a:solidFill>
                <a:latin typeface="Arial" pitchFamily="34" charset="0"/>
                <a:ea typeface="Arial" pitchFamily="34" charset="-122"/>
                <a:cs typeface="Arial" pitchFamily="34" charset="-120"/>
              </a:rPr>
              <a:t>۶۴ کیلوبایت</a:t>
            </a:r>
            <a:endParaRPr lang="en-US" sz="1150" dirty="0"/>
          </a:p>
        </p:txBody>
      </p:sp>
      <p:sp>
        <p:nvSpPr>
          <p:cNvPr id="19" name="Text 17"/>
          <p:cNvSpPr txBox="1"/>
          <p:nvPr/>
        </p:nvSpPr>
        <p:spPr>
          <a:xfrm>
            <a:off x="548640" y="3200400"/>
            <a:ext cx="11064240" cy="320040"/>
          </a:xfrm>
          <a:prstGeom prst="rect">
            <a:avLst/>
          </a:prstGeom>
          <a:noFill/>
          <a:ln/>
        </p:spPr>
        <p:txBody>
          <a:bodyPr wrap="square" lIns="0" tIns="0" rIns="0" bIns="0" rtlCol="0" anchor="t"/>
          <a:lstStyle/>
          <a:p>
            <a:pPr rtl="1" algn="ctr" indent="0" marL="0">
              <a:buNone/>
            </a:pPr>
            <a:r>
              <a:rPr lang="en-US" sz="1250" dirty="0">
                <a:solidFill>
                  <a:srgbClr val="6A748C"/>
                </a:solidFill>
                <a:latin typeface="Arial" pitchFamily="34" charset="0"/>
                <a:ea typeface="Arial" pitchFamily="34" charset="-122"/>
                <a:cs typeface="Arial" pitchFamily="34" charset="-120"/>
              </a:rPr>
              <a:t>مرحله اول — یک بار برای ۱۸۹۵ ویدیو، ۱۵۰ دقیقه</a:t>
            </a:r>
            <a:endParaRPr lang="en-US" sz="1250" dirty="0"/>
          </a:p>
        </p:txBody>
      </p:sp>
      <p:sp>
        <p:nvSpPr>
          <p:cNvPr id="20" name="Shape 18"/>
          <p:cNvSpPr/>
          <p:nvPr/>
        </p:nvSpPr>
        <p:spPr>
          <a:xfrm>
            <a:off x="9098280" y="3840480"/>
            <a:ext cx="2560320" cy="1371600"/>
          </a:xfrm>
          <a:prstGeom prst="roundRect">
            <a:avLst>
              <a:gd name="adj" fmla="val 6667"/>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21" name="Text 19"/>
          <p:cNvSpPr txBox="1"/>
          <p:nvPr/>
        </p:nvSpPr>
        <p:spPr>
          <a:xfrm>
            <a:off x="9235440" y="4023360"/>
            <a:ext cx="2286000" cy="320040"/>
          </a:xfrm>
          <a:prstGeom prst="rect">
            <a:avLst/>
          </a:prstGeom>
          <a:noFill/>
          <a:ln/>
        </p:spPr>
        <p:txBody>
          <a:bodyPr wrap="square" lIns="0" tIns="0" rIns="0" bIns="0" rtlCol="0" anchor="t"/>
          <a:lstStyle/>
          <a:p>
            <a:pPr rtl="1" algn="ctr" indent="0" marL="0">
              <a:buNone/>
            </a:pPr>
            <a:r>
              <a:rPr lang="en-US" sz="1400" b="1" dirty="0">
                <a:solidFill>
                  <a:srgbClr val="16264F"/>
                </a:solidFill>
                <a:latin typeface="Arial" pitchFamily="34" charset="0"/>
                <a:ea typeface="Arial" pitchFamily="34" charset="-122"/>
                <a:cs typeface="Arial" pitchFamily="34" charset="-120"/>
              </a:rPr>
              <a:t>سر ترنسفورمر</a:t>
            </a:r>
            <a:endParaRPr lang="en-US" sz="1400" dirty="0"/>
          </a:p>
        </p:txBody>
      </p:sp>
      <p:sp>
        <p:nvSpPr>
          <p:cNvPr id="22" name="Text 20"/>
          <p:cNvSpPr txBox="1"/>
          <p:nvPr/>
        </p:nvSpPr>
        <p:spPr>
          <a:xfrm>
            <a:off x="9235440" y="4389120"/>
            <a:ext cx="2286000" cy="640080"/>
          </a:xfrm>
          <a:prstGeom prst="rect">
            <a:avLst/>
          </a:prstGeom>
          <a:noFill/>
          <a:ln/>
        </p:spPr>
        <p:txBody>
          <a:bodyPr wrap="square" lIns="0" tIns="0" rIns="0" bIns="0" rtlCol="0" anchor="t"/>
          <a:lstStyle/>
          <a:p>
            <a:pPr rtl="1" algn="ctr" indent="0" marL="0">
              <a:lnSpc>
                <a:spcPts val="1700"/>
              </a:lnSpc>
              <a:buNone/>
            </a:pPr>
            <a:r>
              <a:rPr lang="en-US" sz="1150" dirty="0">
                <a:solidFill>
                  <a:srgbClr val="6A748C"/>
                </a:solidFill>
                <a:latin typeface="Arial" pitchFamily="34" charset="0"/>
                <a:ea typeface="Arial" pitchFamily="34" charset="-122"/>
                <a:cs typeface="Arial" pitchFamily="34" charset="-120"/>
              </a:rPr>
              <a:t>دو لایه توجه</a:t>
            </a:r>
            <a:endParaRPr lang="en-US" sz="1150" dirty="0"/>
          </a:p>
          <a:p>
            <a:pPr rtl="1" algn="ctr" indent="0" marL="0">
              <a:lnSpc>
                <a:spcPts val="1700"/>
              </a:lnSpc>
              <a:buNone/>
            </a:pPr>
            <a:r>
              <a:rPr lang="en-US" sz="1150" dirty="0">
                <a:solidFill>
                  <a:srgbClr val="6A748C"/>
                </a:solidFill>
                <a:latin typeface="Arial" pitchFamily="34" charset="0"/>
                <a:ea typeface="Arial" pitchFamily="34" charset="-122"/>
                <a:cs typeface="Arial" pitchFamily="34" charset="-120"/>
              </a:rPr>
              <a:t>روی محور زمان</a:t>
            </a:r>
            <a:endParaRPr lang="en-US" sz="1150" dirty="0"/>
          </a:p>
        </p:txBody>
      </p:sp>
      <p:sp>
        <p:nvSpPr>
          <p:cNvPr id="23" name="Shape 21"/>
          <p:cNvSpPr/>
          <p:nvPr/>
        </p:nvSpPr>
        <p:spPr>
          <a:xfrm>
            <a:off x="8842248" y="4389120"/>
            <a:ext cx="228600" cy="274320"/>
          </a:xfrm>
          <a:prstGeom prst="leftArrow">
            <a:avLst/>
          </a:prstGeom>
          <a:solidFill>
            <a:srgbClr val="BFD4F2"/>
          </a:solidFill>
          <a:ln w="12700">
            <a:solidFill>
              <a:srgbClr val="333333"/>
            </a:solidFill>
            <a:prstDash val="solid"/>
          </a:ln>
        </p:spPr>
      </p:sp>
      <p:sp>
        <p:nvSpPr>
          <p:cNvPr id="24" name="Shape 22"/>
          <p:cNvSpPr/>
          <p:nvPr/>
        </p:nvSpPr>
        <p:spPr>
          <a:xfrm>
            <a:off x="6217920" y="3840480"/>
            <a:ext cx="2560320" cy="1371600"/>
          </a:xfrm>
          <a:prstGeom prst="roundRect">
            <a:avLst>
              <a:gd name="adj" fmla="val 6667"/>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25" name="Text 23"/>
          <p:cNvSpPr txBox="1"/>
          <p:nvPr/>
        </p:nvSpPr>
        <p:spPr>
          <a:xfrm>
            <a:off x="6355080" y="4023360"/>
            <a:ext cx="2286000" cy="320040"/>
          </a:xfrm>
          <a:prstGeom prst="rect">
            <a:avLst/>
          </a:prstGeom>
          <a:noFill/>
          <a:ln/>
        </p:spPr>
        <p:txBody>
          <a:bodyPr wrap="square" lIns="0" tIns="0" rIns="0" bIns="0" rtlCol="0" anchor="t"/>
          <a:lstStyle/>
          <a:p>
            <a:pPr rtl="1" algn="ctr" indent="0" marL="0">
              <a:buNone/>
            </a:pPr>
            <a:r>
              <a:rPr lang="en-US" sz="1400" b="1" dirty="0">
                <a:solidFill>
                  <a:srgbClr val="16264F"/>
                </a:solidFill>
                <a:latin typeface="Arial" pitchFamily="34" charset="0"/>
                <a:ea typeface="Arial" pitchFamily="34" charset="-122"/>
                <a:cs typeface="Arial" pitchFamily="34" charset="-120"/>
              </a:rPr>
              <a:t>نمره هر قطعه</a:t>
            </a:r>
            <a:endParaRPr lang="en-US" sz="1400" dirty="0"/>
          </a:p>
        </p:txBody>
      </p:sp>
      <p:sp>
        <p:nvSpPr>
          <p:cNvPr id="26" name="Text 24"/>
          <p:cNvSpPr txBox="1"/>
          <p:nvPr/>
        </p:nvSpPr>
        <p:spPr>
          <a:xfrm>
            <a:off x="6355080" y="4389120"/>
            <a:ext cx="2286000" cy="640080"/>
          </a:xfrm>
          <a:prstGeom prst="rect">
            <a:avLst/>
          </a:prstGeom>
          <a:noFill/>
          <a:ln/>
        </p:spPr>
        <p:txBody>
          <a:bodyPr wrap="square" lIns="0" tIns="0" rIns="0" bIns="0" rtlCol="0" anchor="t"/>
          <a:lstStyle/>
          <a:p>
            <a:pPr rtl="1" algn="ctr" indent="0" marL="0">
              <a:lnSpc>
                <a:spcPts val="1700"/>
              </a:lnSpc>
              <a:buNone/>
            </a:pPr>
            <a:r>
              <a:rPr lang="en-US" sz="1150" dirty="0">
                <a:solidFill>
                  <a:srgbClr val="6A748C"/>
                </a:solidFill>
                <a:latin typeface="Arial" pitchFamily="34" charset="0"/>
                <a:ea typeface="Arial" pitchFamily="34" charset="-122"/>
                <a:cs typeface="Arial" pitchFamily="34" charset="-120"/>
              </a:rPr>
              <a:t>۱۶ در ۱۴</a:t>
            </a:r>
            <a:endParaRPr lang="en-US" sz="1150" dirty="0"/>
          </a:p>
        </p:txBody>
      </p:sp>
      <p:sp>
        <p:nvSpPr>
          <p:cNvPr id="27" name="Shape 25"/>
          <p:cNvSpPr/>
          <p:nvPr/>
        </p:nvSpPr>
        <p:spPr>
          <a:xfrm>
            <a:off x="5961888" y="4389120"/>
            <a:ext cx="228600" cy="274320"/>
          </a:xfrm>
          <a:prstGeom prst="leftArrow">
            <a:avLst/>
          </a:prstGeom>
          <a:solidFill>
            <a:srgbClr val="BFD4F2"/>
          </a:solidFill>
          <a:ln w="12700">
            <a:solidFill>
              <a:srgbClr val="333333"/>
            </a:solidFill>
            <a:prstDash val="solid"/>
          </a:ln>
        </p:spPr>
      </p:sp>
      <p:sp>
        <p:nvSpPr>
          <p:cNvPr id="28" name="Shape 26"/>
          <p:cNvSpPr/>
          <p:nvPr/>
        </p:nvSpPr>
        <p:spPr>
          <a:xfrm>
            <a:off x="3337560" y="3840480"/>
            <a:ext cx="2560320" cy="1371600"/>
          </a:xfrm>
          <a:prstGeom prst="roundRect">
            <a:avLst>
              <a:gd name="adj" fmla="val 6667"/>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29" name="Text 27"/>
          <p:cNvSpPr txBox="1"/>
          <p:nvPr/>
        </p:nvSpPr>
        <p:spPr>
          <a:xfrm>
            <a:off x="3474720" y="4023360"/>
            <a:ext cx="2286000" cy="320040"/>
          </a:xfrm>
          <a:prstGeom prst="rect">
            <a:avLst/>
          </a:prstGeom>
          <a:noFill/>
          <a:ln/>
        </p:spPr>
        <p:txBody>
          <a:bodyPr wrap="square" lIns="0" tIns="0" rIns="0" bIns="0" rtlCol="0" anchor="t"/>
          <a:lstStyle/>
          <a:p>
            <a:pPr rtl="1" algn="ctr" indent="0" marL="0">
              <a:buNone/>
            </a:pPr>
            <a:r>
              <a:rPr lang="en-US" sz="1400" b="1" dirty="0">
                <a:solidFill>
                  <a:srgbClr val="E8A33D"/>
                </a:solidFill>
                <a:latin typeface="Arial" pitchFamily="34" charset="0"/>
                <a:ea typeface="Arial" pitchFamily="34" charset="-122"/>
                <a:cs typeface="Arial" pitchFamily="34" charset="-120"/>
              </a:rPr>
              <a:t>تصمیم دومرحله‌ای</a:t>
            </a:r>
            <a:endParaRPr lang="en-US" sz="1400" dirty="0"/>
          </a:p>
        </p:txBody>
      </p:sp>
      <p:sp>
        <p:nvSpPr>
          <p:cNvPr id="30" name="Text 28"/>
          <p:cNvSpPr txBox="1"/>
          <p:nvPr/>
        </p:nvSpPr>
        <p:spPr>
          <a:xfrm>
            <a:off x="3474720" y="4389120"/>
            <a:ext cx="2286000" cy="640080"/>
          </a:xfrm>
          <a:prstGeom prst="rect">
            <a:avLst/>
          </a:prstGeom>
          <a:noFill/>
          <a:ln/>
        </p:spPr>
        <p:txBody>
          <a:bodyPr wrap="square" lIns="0" tIns="0" rIns="0" bIns="0" rtlCol="0" anchor="t"/>
          <a:lstStyle/>
          <a:p>
            <a:pPr rtl="1" algn="ctr" indent="0" marL="0">
              <a:lnSpc>
                <a:spcPts val="1700"/>
              </a:lnSpc>
              <a:buNone/>
            </a:pPr>
            <a:r>
              <a:rPr lang="en-US" sz="1150" dirty="0">
                <a:solidFill>
                  <a:srgbClr val="6A748C"/>
                </a:solidFill>
                <a:latin typeface="Arial" pitchFamily="34" charset="0"/>
                <a:ea typeface="Arial" pitchFamily="34" charset="-122"/>
                <a:cs typeface="Arial" pitchFamily="34" charset="-120"/>
              </a:rPr>
              <a:t>وجود، سپس نوع</a:t>
            </a:r>
            <a:endParaRPr lang="en-US" sz="1150" dirty="0"/>
          </a:p>
        </p:txBody>
      </p:sp>
      <p:sp>
        <p:nvSpPr>
          <p:cNvPr id="31" name="Shape 29"/>
          <p:cNvSpPr/>
          <p:nvPr/>
        </p:nvSpPr>
        <p:spPr>
          <a:xfrm>
            <a:off x="3081528" y="4389120"/>
            <a:ext cx="228600" cy="274320"/>
          </a:xfrm>
          <a:prstGeom prst="leftArrow">
            <a:avLst/>
          </a:prstGeom>
          <a:solidFill>
            <a:srgbClr val="BFD4F2"/>
          </a:solidFill>
          <a:ln w="12700">
            <a:solidFill>
              <a:srgbClr val="333333"/>
            </a:solidFill>
            <a:prstDash val="solid"/>
          </a:ln>
        </p:spPr>
      </p:sp>
      <p:sp>
        <p:nvSpPr>
          <p:cNvPr id="32" name="Shape 30"/>
          <p:cNvSpPr/>
          <p:nvPr/>
        </p:nvSpPr>
        <p:spPr>
          <a:xfrm>
            <a:off x="457200" y="3840480"/>
            <a:ext cx="2560320" cy="1371600"/>
          </a:xfrm>
          <a:prstGeom prst="roundRect">
            <a:avLst>
              <a:gd name="adj" fmla="val 6667"/>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33" name="Text 31"/>
          <p:cNvSpPr txBox="1"/>
          <p:nvPr/>
        </p:nvSpPr>
        <p:spPr>
          <a:xfrm>
            <a:off x="594360" y="4023360"/>
            <a:ext cx="2286000" cy="320040"/>
          </a:xfrm>
          <a:prstGeom prst="rect">
            <a:avLst/>
          </a:prstGeom>
          <a:noFill/>
          <a:ln/>
        </p:spPr>
        <p:txBody>
          <a:bodyPr wrap="square" lIns="0" tIns="0" rIns="0" bIns="0" rtlCol="0" anchor="t"/>
          <a:lstStyle/>
          <a:p>
            <a:pPr rtl="1" algn="ctr" indent="0" marL="0">
              <a:buNone/>
            </a:pPr>
            <a:r>
              <a:rPr lang="en-US" sz="1400" b="1" dirty="0">
                <a:solidFill>
                  <a:srgbClr val="3FA7A0"/>
                </a:solidFill>
                <a:latin typeface="Arial" pitchFamily="34" charset="0"/>
                <a:ea typeface="Arial" pitchFamily="34" charset="-122"/>
                <a:cs typeface="Arial" pitchFamily="34" charset="-120"/>
              </a:rPr>
              <a:t>برچسب نهایی</a:t>
            </a:r>
            <a:endParaRPr lang="en-US" sz="1400" dirty="0"/>
          </a:p>
        </p:txBody>
      </p:sp>
      <p:sp>
        <p:nvSpPr>
          <p:cNvPr id="34" name="Text 32"/>
          <p:cNvSpPr txBox="1"/>
          <p:nvPr/>
        </p:nvSpPr>
        <p:spPr>
          <a:xfrm>
            <a:off x="594360" y="4389120"/>
            <a:ext cx="2286000" cy="640080"/>
          </a:xfrm>
          <a:prstGeom prst="rect">
            <a:avLst/>
          </a:prstGeom>
          <a:noFill/>
          <a:ln/>
        </p:spPr>
        <p:txBody>
          <a:bodyPr wrap="square" lIns="0" tIns="0" rIns="0" bIns="0" rtlCol="0" anchor="t"/>
          <a:lstStyle/>
          <a:p>
            <a:pPr rtl="1" algn="ctr" indent="0" marL="0">
              <a:lnSpc>
                <a:spcPts val="1700"/>
              </a:lnSpc>
              <a:buNone/>
            </a:pPr>
            <a:r>
              <a:rPr lang="en-US" sz="1150" dirty="0">
                <a:solidFill>
                  <a:srgbClr val="6A748C"/>
                </a:solidFill>
                <a:latin typeface="Arial" pitchFamily="34" charset="0"/>
                <a:ea typeface="Arial" pitchFamily="34" charset="-122"/>
                <a:cs typeface="Arial" pitchFamily="34" charset="-120"/>
              </a:rPr>
              <a:t>یکی از ۱۴ کلاس</a:t>
            </a:r>
            <a:endParaRPr lang="en-US" sz="1150" dirty="0"/>
          </a:p>
        </p:txBody>
      </p:sp>
      <p:sp>
        <p:nvSpPr>
          <p:cNvPr id="35" name="Text 33"/>
          <p:cNvSpPr txBox="1"/>
          <p:nvPr/>
        </p:nvSpPr>
        <p:spPr>
          <a:xfrm>
            <a:off x="548640" y="5303520"/>
            <a:ext cx="11064240" cy="320040"/>
          </a:xfrm>
          <a:prstGeom prst="rect">
            <a:avLst/>
          </a:prstGeom>
          <a:noFill/>
          <a:ln/>
        </p:spPr>
        <p:txBody>
          <a:bodyPr wrap="square" lIns="0" tIns="0" rIns="0" bIns="0" rtlCol="0" anchor="t"/>
          <a:lstStyle/>
          <a:p>
            <a:pPr rtl="1" algn="ctr" indent="0" marL="0">
              <a:buNone/>
            </a:pPr>
            <a:r>
              <a:rPr lang="en-US" sz="1250" dirty="0">
                <a:solidFill>
                  <a:srgbClr val="6A748C"/>
                </a:solidFill>
                <a:latin typeface="Arial" pitchFamily="34" charset="0"/>
                <a:ea typeface="Arial" pitchFamily="34" charset="-122"/>
                <a:cs typeface="Arial" pitchFamily="34" charset="-120"/>
              </a:rPr>
              <a:t>مرحله دوم — هر پیکربندی، ۸۰ ثانیه</a:t>
            </a:r>
            <a:endParaRPr lang="en-US" sz="1250" dirty="0"/>
          </a:p>
        </p:txBody>
      </p:sp>
      <p:sp>
        <p:nvSpPr>
          <p:cNvPr id="36" name="Text 34"/>
          <p:cNvSpPr txBox="1"/>
          <p:nvPr/>
        </p:nvSpPr>
        <p:spPr>
          <a:xfrm>
            <a:off x="548640" y="5806440"/>
            <a:ext cx="11064240" cy="365760"/>
          </a:xfrm>
          <a:prstGeom prst="rect">
            <a:avLst/>
          </a:prstGeom>
          <a:noFill/>
          <a:ln/>
        </p:spPr>
        <p:txBody>
          <a:bodyPr wrap="square" lIns="0" tIns="0" rIns="0" bIns="0" rtlCol="0" anchor="t"/>
          <a:lstStyle/>
          <a:p>
            <a:pPr rtl="1" algn="ctr" indent="0" marL="0">
              <a:buNone/>
            </a:pPr>
            <a:r>
              <a:rPr lang="en-US" sz="1300" b="1" dirty="0">
                <a:solidFill>
                  <a:srgbClr val="E8A33D"/>
                </a:solidFill>
                <a:latin typeface="Arial" pitchFamily="34" charset="0"/>
                <a:ea typeface="Arial" pitchFamily="34" charset="-122"/>
                <a:cs typeface="Arial" pitchFamily="34" charset="-120"/>
              </a:rPr>
              <a:t>تنها بخشی که ما آموزش دادیم، سر طبقه‌بند است: کمتر از دو درصد پارامترهای کل سیستم.</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مسیر دوم</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سر ترنسفورمر روی محور زمان</a:t>
            </a:r>
            <a:endParaRPr lang="en-US" sz="3000" dirty="0"/>
          </a:p>
        </p:txBody>
      </p:sp>
      <p:sp>
        <p:nvSpPr>
          <p:cNvPr id="4" name="Shape 2"/>
          <p:cNvSpPr/>
          <p:nvPr/>
        </p:nvSpPr>
        <p:spPr>
          <a:xfrm>
            <a:off x="548640" y="1645920"/>
            <a:ext cx="5394960" cy="2103120"/>
          </a:xfrm>
          <a:prstGeom prst="roundRect">
            <a:avLst>
              <a:gd name="adj" fmla="val 4348"/>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5" name="Text 3"/>
          <p:cNvSpPr txBox="1"/>
          <p:nvPr/>
        </p:nvSpPr>
        <p:spPr>
          <a:xfrm>
            <a:off x="868680" y="1828800"/>
            <a:ext cx="4754880" cy="320040"/>
          </a:xfrm>
          <a:prstGeom prst="rect">
            <a:avLst/>
          </a:prstGeom>
          <a:noFill/>
          <a:ln/>
        </p:spPr>
        <p:txBody>
          <a:bodyPr wrap="square" lIns="0" tIns="0" rIns="0" bIns="0" rtlCol="0" anchor="t"/>
          <a:lstStyle/>
          <a:p>
            <a:pPr rtl="1" algn="r" indent="0" marL="0">
              <a:buNone/>
            </a:pPr>
            <a:r>
              <a:rPr lang="en-US" sz="1600" b="1" dirty="0">
                <a:solidFill>
                  <a:srgbClr val="6A748C"/>
                </a:solidFill>
                <a:latin typeface="Arial" pitchFamily="34" charset="0"/>
                <a:ea typeface="Arial" pitchFamily="34" charset="-122"/>
                <a:cs typeface="Arial" pitchFamily="34" charset="-120"/>
              </a:rPr>
              <a:t>مشکل: قطعه تنها مبهم است</a:t>
            </a:r>
            <a:endParaRPr lang="en-US" sz="1600" dirty="0"/>
          </a:p>
        </p:txBody>
      </p:sp>
      <p:sp>
        <p:nvSpPr>
          <p:cNvPr id="6" name="Text 4"/>
          <p:cNvSpPr txBox="1"/>
          <p:nvPr/>
        </p:nvSpPr>
        <p:spPr>
          <a:xfrm>
            <a:off x="868680" y="2240280"/>
            <a:ext cx="4754880" cy="1280160"/>
          </a:xfrm>
          <a:prstGeom prst="rect">
            <a:avLst/>
          </a:prstGeom>
          <a:noFill/>
          <a:ln/>
        </p:spPr>
        <p:txBody>
          <a:bodyPr wrap="square" lIns="0" tIns="0" rIns="0" bIns="0" rtlCol="0" anchor="t"/>
          <a:lstStyle/>
          <a:p>
            <a:pPr rtl="1" algn="r" indent="0" marL="0">
              <a:lnSpc>
                <a:spcPts val="2000"/>
              </a:lnSpc>
              <a:buNone/>
            </a:pPr>
            <a:r>
              <a:rPr lang="en-US" sz="1300" dirty="0">
                <a:solidFill>
                  <a:srgbClr val="1B2236"/>
                </a:solidFill>
                <a:latin typeface="Arial" pitchFamily="34" charset="0"/>
                <a:ea typeface="Arial" pitchFamily="34" charset="-122"/>
                <a:cs typeface="Arial" pitchFamily="34" charset="-120"/>
              </a:rPr>
              <a:t>یک قطعه سه‌ثانیه‌ای داخل مغازه، در دزدی از مغازه و سرقت مسلحانه ظاهر یکسانی دارد. سر نقطه‌ای اطلاعات لازم را اصولاً در اختیار ندارد.</a:t>
            </a:r>
            <a:endParaRPr lang="en-US" sz="1300" dirty="0"/>
          </a:p>
        </p:txBody>
      </p:sp>
      <p:sp>
        <p:nvSpPr>
          <p:cNvPr id="7" name="Shape 5"/>
          <p:cNvSpPr/>
          <p:nvPr/>
        </p:nvSpPr>
        <p:spPr>
          <a:xfrm>
            <a:off x="6217920" y="1645920"/>
            <a:ext cx="5394960" cy="2103120"/>
          </a:xfrm>
          <a:prstGeom prst="roundRect">
            <a:avLst>
              <a:gd name="adj" fmla="val 4348"/>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8" name="Text 6"/>
          <p:cNvSpPr txBox="1"/>
          <p:nvPr/>
        </p:nvSpPr>
        <p:spPr>
          <a:xfrm>
            <a:off x="6537960" y="1828800"/>
            <a:ext cx="4754880" cy="320040"/>
          </a:xfrm>
          <a:prstGeom prst="rect">
            <a:avLst/>
          </a:prstGeom>
          <a:noFill/>
          <a:ln/>
        </p:spPr>
        <p:txBody>
          <a:bodyPr wrap="square" lIns="0" tIns="0" rIns="0" bIns="0" rtlCol="0" anchor="t"/>
          <a:lstStyle/>
          <a:p>
            <a:pPr rtl="1" algn="r" indent="0" marL="0">
              <a:buNone/>
            </a:pPr>
            <a:r>
              <a:rPr lang="en-US" sz="1600" b="1" dirty="0">
                <a:solidFill>
                  <a:srgbClr val="E8A33D"/>
                </a:solidFill>
                <a:latin typeface="Arial" pitchFamily="34" charset="0"/>
                <a:ea typeface="Arial" pitchFamily="34" charset="-122"/>
                <a:cs typeface="Arial" pitchFamily="34" charset="-120"/>
              </a:rPr>
              <a:t>راه حل: خودتوجهی میان قطعه‌ها</a:t>
            </a:r>
            <a:endParaRPr lang="en-US" sz="1600" dirty="0"/>
          </a:p>
        </p:txBody>
      </p:sp>
      <p:sp>
        <p:nvSpPr>
          <p:cNvPr id="9" name="Text 7"/>
          <p:cNvSpPr txBox="1"/>
          <p:nvPr/>
        </p:nvSpPr>
        <p:spPr>
          <a:xfrm>
            <a:off x="6537960" y="2240280"/>
            <a:ext cx="4754880" cy="1280160"/>
          </a:xfrm>
          <a:prstGeom prst="rect">
            <a:avLst/>
          </a:prstGeom>
          <a:noFill/>
          <a:ln/>
        </p:spPr>
        <p:txBody>
          <a:bodyPr wrap="square" lIns="0" tIns="0" rIns="0" bIns="0" rtlCol="0" anchor="t"/>
          <a:lstStyle/>
          <a:p>
            <a:pPr rtl="1" algn="r" indent="0" marL="0">
              <a:lnSpc>
                <a:spcPts val="2000"/>
              </a:lnSpc>
              <a:buNone/>
            </a:pPr>
            <a:r>
              <a:rPr lang="en-US" sz="1300" dirty="0">
                <a:solidFill>
                  <a:srgbClr val="1B2236"/>
                </a:solidFill>
                <a:latin typeface="Arial" pitchFamily="34" charset="0"/>
                <a:ea typeface="Arial" pitchFamily="34" charset="-122"/>
                <a:cs typeface="Arial" pitchFamily="34" charset="-120"/>
              </a:rPr>
              <a:t>یک جدول ۱۶ در ۱۶ می‌گوید هر قطعه چقدر به هر قطعه دیگر توجه کند. بردار جدید هر قطعه، جمع وزن‌دار همه قطعه‌هاست.</a:t>
            </a:r>
            <a:endParaRPr lang="en-US" sz="1300" dirty="0"/>
          </a:p>
        </p:txBody>
      </p:sp>
      <p:sp>
        <p:nvSpPr>
          <p:cNvPr id="10" name="Text 8"/>
          <p:cNvSpPr txBox="1"/>
          <p:nvPr/>
        </p:nvSpPr>
        <p:spPr>
          <a:xfrm>
            <a:off x="548640" y="3977640"/>
            <a:ext cx="5394960" cy="320040"/>
          </a:xfrm>
          <a:prstGeom prst="rect">
            <a:avLst/>
          </a:prstGeom>
          <a:noFill/>
          <a:ln/>
        </p:spPr>
        <p:txBody>
          <a:bodyPr wrap="square" lIns="0" tIns="0" rIns="0" bIns="0" rtlCol="0" anchor="t"/>
          <a:lstStyle/>
          <a:p>
            <a:pPr rtl="1" algn="r" indent="0" marL="0">
              <a:buNone/>
            </a:pPr>
            <a:r>
              <a:rPr lang="en-US" sz="1600" b="1" dirty="0">
                <a:solidFill>
                  <a:srgbClr val="16264F"/>
                </a:solidFill>
                <a:latin typeface="Arial" pitchFamily="34" charset="0"/>
                <a:ea typeface="Arial" pitchFamily="34" charset="-122"/>
                <a:cs typeface="Arial" pitchFamily="34" charset="-120"/>
              </a:rPr>
              <a:t>پیکربندی</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389120"/>
          <a:ext cx="5394960" cy="914400"/>
        </p:xfrm>
        <a:graphic>
          <a:graphicData uri="http://schemas.openxmlformats.org/drawingml/2006/table">
            <a:tbl>
              <a:tblPr/>
              <a:tblGrid>
                <a:gridCol w="3108960"/>
                <a:gridCol w="2286000"/>
              </a:tblGrid>
              <a:tr h="2743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پارامتر</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مقدار</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274320">
                <a:tc>
                  <a:txBody>
                    <a:bodyPr/>
                    <a:lstStyle/>
                    <a:p>
                      <a:pPr algn="r" indent="0" marL="0">
                        <a:buNone/>
                      </a:pPr>
                      <a:r>
                        <a:rPr lang="en-US" sz="1150" dirty="0">
                          <a:solidFill>
                            <a:srgbClr val="1B2236"/>
                          </a:solidFill>
                          <a:latin typeface="Arial" pitchFamily="34" charset="0"/>
                          <a:ea typeface="Arial" pitchFamily="34" charset="-122"/>
                          <a:cs typeface="Arial" pitchFamily="34" charset="-120"/>
                        </a:rPr>
                        <a:t>بعد پنهان</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512</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274320">
                <a:tc>
                  <a:txBody>
                    <a:bodyPr/>
                    <a:lstStyle/>
                    <a:p>
                      <a:pPr algn="r" indent="0" marL="0">
                        <a:buNone/>
                      </a:pPr>
                      <a:r>
                        <a:rPr lang="en-US" sz="1150" dirty="0">
                          <a:solidFill>
                            <a:srgbClr val="1B2236"/>
                          </a:solidFill>
                          <a:latin typeface="Arial" pitchFamily="34" charset="0"/>
                          <a:ea typeface="Arial" pitchFamily="34" charset="-122"/>
                          <a:cs typeface="Arial" pitchFamily="34" charset="-120"/>
                        </a:rPr>
                        <a:t>سرهای توجه</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4</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274320">
                <a:tc>
                  <a:txBody>
                    <a:bodyPr/>
                    <a:lstStyle/>
                    <a:p>
                      <a:pPr algn="r" indent="0" marL="0">
                        <a:buNone/>
                      </a:pPr>
                      <a:r>
                        <a:rPr lang="en-US" sz="1150" dirty="0">
                          <a:solidFill>
                            <a:srgbClr val="1B2236"/>
                          </a:solidFill>
                          <a:latin typeface="Arial" pitchFamily="34" charset="0"/>
                          <a:ea typeface="Arial" pitchFamily="34" charset="-122"/>
                          <a:cs typeface="Arial" pitchFamily="34" charset="-120"/>
                        </a:rPr>
                        <a:t>لایه‌ها</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2</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274320">
                <a:tc>
                  <a:txBody>
                    <a:bodyPr/>
                    <a:lstStyle/>
                    <a:p>
                      <a:pPr algn="r" indent="0" marL="0">
                        <a:buNone/>
                      </a:pPr>
                      <a:r>
                        <a:rPr lang="en-US" sz="1150" dirty="0">
                          <a:solidFill>
                            <a:srgbClr val="1B2236"/>
                          </a:solidFill>
                          <a:latin typeface="Arial" pitchFamily="34" charset="0"/>
                          <a:ea typeface="Arial" pitchFamily="34" charset="-122"/>
                          <a:cs typeface="Arial" pitchFamily="34" charset="-120"/>
                        </a:rPr>
                        <a:t>حذف تصادفی</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0.3</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274320">
                <a:tc>
                  <a:txBody>
                    <a:bodyPr/>
                    <a:lstStyle/>
                    <a:p>
                      <a:pPr algn="r" indent="0" marL="0">
                        <a:buNone/>
                      </a:pPr>
                      <a:r>
                        <a:rPr lang="en-US" sz="1150" dirty="0">
                          <a:solidFill>
                            <a:srgbClr val="1B2236"/>
                          </a:solidFill>
                          <a:latin typeface="Arial" pitchFamily="34" charset="0"/>
                          <a:ea typeface="Arial" pitchFamily="34" charset="-122"/>
                          <a:cs typeface="Arial" pitchFamily="34" charset="-120"/>
                        </a:rPr>
                        <a:t>پارامترها</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4,772,366</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bl>
          </a:graphicData>
        </a:graphic>
      </p:graphicFrame>
      <p:sp>
        <p:nvSpPr>
          <p:cNvPr id="12" name="Text 9"/>
          <p:cNvSpPr txBox="1"/>
          <p:nvPr/>
        </p:nvSpPr>
        <p:spPr>
          <a:xfrm>
            <a:off x="6217920" y="3977640"/>
            <a:ext cx="5394960" cy="320040"/>
          </a:xfrm>
          <a:prstGeom prst="rect">
            <a:avLst/>
          </a:prstGeom>
          <a:noFill/>
          <a:ln/>
        </p:spPr>
        <p:txBody>
          <a:bodyPr wrap="square" lIns="0" tIns="0" rIns="0" bIns="0" rtlCol="0" anchor="t"/>
          <a:lstStyle/>
          <a:p>
            <a:pPr rtl="1" algn="r" indent="0" marL="0">
              <a:buNone/>
            </a:pPr>
            <a:r>
              <a:rPr lang="en-US" sz="1600" b="1" dirty="0">
                <a:solidFill>
                  <a:srgbClr val="16264F"/>
                </a:solidFill>
                <a:latin typeface="Arial" pitchFamily="34" charset="0"/>
                <a:ea typeface="Arial" pitchFamily="34" charset="-122"/>
                <a:cs typeface="Arial" pitchFamily="34" charset="-120"/>
              </a:rPr>
              <a:t>نتیجه</a:t>
            </a:r>
            <a:endParaRPr lang="en-US" sz="1600" dirty="0"/>
          </a:p>
        </p:txBody>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6217920" y="4389120"/>
          <a:ext cx="5394960" cy="914400"/>
        </p:xfrm>
        <a:graphic>
          <a:graphicData uri="http://schemas.openxmlformats.org/drawingml/2006/table">
            <a:tbl>
              <a:tblPr/>
              <a:tblGrid>
                <a:gridCol w="2926080"/>
                <a:gridCol w="2468880"/>
              </a:tblGrid>
              <a:tr h="384048">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سر طبقه‌بند</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ماکرو F1، میانگین ۵ بذر</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384048">
                <a:tc>
                  <a:txBody>
                    <a:bodyPr/>
                    <a:lstStyle/>
                    <a:p>
                      <a:pPr algn="r" indent="0" marL="0">
                        <a:buNone/>
                      </a:pPr>
                      <a:r>
                        <a:rPr lang="en-US" sz="1250" dirty="0">
                          <a:solidFill>
                            <a:srgbClr val="1B2236"/>
                          </a:solidFill>
                          <a:latin typeface="Arial" pitchFamily="34" charset="0"/>
                          <a:ea typeface="Arial" pitchFamily="34" charset="-122"/>
                          <a:cs typeface="Arial" pitchFamily="34" charset="-120"/>
                        </a:rPr>
                        <a:t>سر نقطه‌ای — خط پایه</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0.3049</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84048">
                <a:tc>
                  <a:txBody>
                    <a:bodyPr/>
                    <a:lstStyle/>
                    <a:p>
                      <a:pPr algn="r" indent="0" marL="0">
                        <a:buNone/>
                      </a:pPr>
                      <a:r>
                        <a:rPr lang="en-US" sz="1250" b="1" dirty="0">
                          <a:solidFill>
                            <a:srgbClr val="16264F"/>
                          </a:solidFill>
                          <a:latin typeface="Arial" pitchFamily="34" charset="0"/>
                          <a:ea typeface="Arial" pitchFamily="34" charset="-122"/>
                          <a:cs typeface="Arial" pitchFamily="34" charset="-120"/>
                        </a:rPr>
                        <a:t>سر ترنسفورمر زمانی</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50" b="1" dirty="0">
                          <a:solidFill>
                            <a:srgbClr val="16264F"/>
                          </a:solidFill>
                          <a:latin typeface="Arial" pitchFamily="34" charset="0"/>
                          <a:ea typeface="Arial" pitchFamily="34" charset="-122"/>
                          <a:cs typeface="Arial" pitchFamily="34" charset="-120"/>
                        </a:rPr>
                        <a:t>0.3480</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bl>
          </a:graphicData>
        </a:graphic>
      </p:graphicFrame>
      <p:sp>
        <p:nvSpPr>
          <p:cNvPr id="14" name="Text 10"/>
          <p:cNvSpPr txBox="1"/>
          <p:nvPr/>
        </p:nvSpPr>
        <p:spPr>
          <a:xfrm>
            <a:off x="6217920" y="5715000"/>
            <a:ext cx="5394960" cy="640080"/>
          </a:xfrm>
          <a:prstGeom prst="rect">
            <a:avLst/>
          </a:prstGeom>
          <a:noFill/>
          <a:ln/>
        </p:spPr>
        <p:txBody>
          <a:bodyPr wrap="square" lIns="0" tIns="0" rIns="0" bIns="0" rtlCol="0" anchor="t"/>
          <a:lstStyle/>
          <a:p>
            <a:pPr rtl="1" algn="r" indent="0" marL="0">
              <a:lnSpc>
                <a:spcPts val="1900"/>
              </a:lnSpc>
              <a:buNone/>
            </a:pPr>
            <a:r>
              <a:rPr lang="en-US" sz="1200" dirty="0">
                <a:solidFill>
                  <a:srgbClr val="1B2236"/>
                </a:solidFill>
                <a:latin typeface="Arial" pitchFamily="34" charset="0"/>
                <a:ea typeface="Arial" pitchFamily="34" charset="-122"/>
                <a:cs typeface="Arial" pitchFamily="34" charset="-120"/>
              </a:rPr>
              <a:t>هر پنج بذر سر زمانی از بهترین بذر سر نقطه‌ای بالاتر بود. دو توزیع هیچ همپوشانی ندارند.</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مسیر دوم</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ارتقای ظرفیت رمزگذار</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583680" cy="914400"/>
        </p:xfrm>
        <a:graphic>
          <a:graphicData uri="http://schemas.openxmlformats.org/drawingml/2006/table">
            <a:tbl>
              <a:tblPr/>
              <a:tblGrid>
                <a:gridCol w="2926080"/>
                <a:gridCol w="1828800"/>
                <a:gridCol w="1828800"/>
              </a:tblGrid>
              <a:tr h="36576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مورد</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ViT-B</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ViT-L</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365760">
                <a:tc>
                  <a:txBody>
                    <a:bodyPr/>
                    <a:lstStyle/>
                    <a:p>
                      <a:pPr algn="r" indent="0" marL="0">
                        <a:buNone/>
                      </a:pPr>
                      <a:r>
                        <a:rPr lang="en-US" sz="1250" dirty="0">
                          <a:solidFill>
                            <a:srgbClr val="1B2236"/>
                          </a:solidFill>
                          <a:latin typeface="Arial" pitchFamily="34" charset="0"/>
                          <a:ea typeface="Arial" pitchFamily="34" charset="-122"/>
                          <a:cs typeface="Arial" pitchFamily="34" charset="-120"/>
                        </a:rPr>
                        <a:t>تعداد لایه</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12</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24</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65760">
                <a:tc>
                  <a:txBody>
                    <a:bodyPr/>
                    <a:lstStyle/>
                    <a:p>
                      <a:pPr algn="r" indent="0" marL="0">
                        <a:buNone/>
                      </a:pPr>
                      <a:r>
                        <a:rPr lang="en-US" sz="1250" dirty="0">
                          <a:solidFill>
                            <a:srgbClr val="1B2236"/>
                          </a:solidFill>
                          <a:latin typeface="Arial" pitchFamily="34" charset="0"/>
                          <a:ea typeface="Arial" pitchFamily="34" charset="-122"/>
                          <a:cs typeface="Arial" pitchFamily="34" charset="-120"/>
                        </a:rPr>
                        <a:t>پهنای بردار</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768</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1024</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65760">
                <a:tc>
                  <a:txBody>
                    <a:bodyPr/>
                    <a:lstStyle/>
                    <a:p>
                      <a:pPr algn="r" indent="0" marL="0">
                        <a:buNone/>
                      </a:pPr>
                      <a:r>
                        <a:rPr lang="en-US" sz="1250" dirty="0">
                          <a:solidFill>
                            <a:srgbClr val="1B2236"/>
                          </a:solidFill>
                          <a:latin typeface="Arial" pitchFamily="34" charset="0"/>
                          <a:ea typeface="Arial" pitchFamily="34" charset="-122"/>
                          <a:cs typeface="Arial" pitchFamily="34" charset="-120"/>
                        </a:rPr>
                        <a:t>پارامترها</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 87 میلیون</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 300 میلیون</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65760">
                <a:tc>
                  <a:txBody>
                    <a:bodyPr/>
                    <a:lstStyle/>
                    <a:p>
                      <a:pPr algn="r" indent="0" marL="0">
                        <a:buNone/>
                      </a:pPr>
                      <a:r>
                        <a:rPr lang="en-US" sz="1250" dirty="0">
                          <a:solidFill>
                            <a:srgbClr val="1B2236"/>
                          </a:solidFill>
                          <a:latin typeface="Arial" pitchFamily="34" charset="0"/>
                          <a:ea typeface="Arial" pitchFamily="34" charset="-122"/>
                          <a:cs typeface="Arial" pitchFamily="34" charset="-120"/>
                        </a:rPr>
                        <a:t>اندازه وصله</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16 × 16</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236"/>
                          </a:solidFill>
                          <a:latin typeface="Arial" pitchFamily="34" charset="0"/>
                          <a:ea typeface="Arial" pitchFamily="34" charset="-122"/>
                          <a:cs typeface="Arial" pitchFamily="34" charset="-120"/>
                        </a:rPr>
                        <a:t>16 × 16</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65760">
                <a:tc>
                  <a:txBody>
                    <a:bodyPr/>
                    <a:lstStyle/>
                    <a:p>
                      <a:pPr algn="r" indent="0" marL="0">
                        <a:buNone/>
                      </a:pPr>
                      <a:r>
                        <a:rPr lang="en-US" sz="1250" b="1" dirty="0">
                          <a:solidFill>
                            <a:srgbClr val="16264F"/>
                          </a:solidFill>
                          <a:latin typeface="Arial" pitchFamily="34" charset="0"/>
                          <a:ea typeface="Arial" pitchFamily="34" charset="-122"/>
                          <a:cs typeface="Arial" pitchFamily="34" charset="-120"/>
                        </a:rPr>
                        <a:t>ماکرو F1، میانگین ۵ بذر</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50" b="1" dirty="0">
                          <a:solidFill>
                            <a:srgbClr val="16264F"/>
                          </a:solidFill>
                          <a:latin typeface="Arial" pitchFamily="34" charset="0"/>
                          <a:ea typeface="Arial" pitchFamily="34" charset="-122"/>
                          <a:cs typeface="Arial" pitchFamily="34" charset="-120"/>
                        </a:rPr>
                        <a:t>0.3405</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50" b="1" dirty="0">
                          <a:solidFill>
                            <a:srgbClr val="16264F"/>
                          </a:solidFill>
                          <a:latin typeface="Arial" pitchFamily="34" charset="0"/>
                          <a:ea typeface="Arial" pitchFamily="34" charset="-122"/>
                          <a:cs typeface="Arial" pitchFamily="34" charset="-120"/>
                        </a:rPr>
                        <a:t>0.3955</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r h="365760">
                <a:tc>
                  <a:txBody>
                    <a:bodyPr/>
                    <a:lstStyle/>
                    <a:p>
                      <a:pPr algn="r" indent="0" marL="0">
                        <a:buNone/>
                      </a:pPr>
                      <a:r>
                        <a:rPr lang="en-US" sz="1250" b="1" dirty="0">
                          <a:solidFill>
                            <a:srgbClr val="16264F"/>
                          </a:solidFill>
                          <a:latin typeface="Arial" pitchFamily="34" charset="0"/>
                          <a:ea typeface="Arial" pitchFamily="34" charset="-122"/>
                          <a:cs typeface="Arial" pitchFamily="34" charset="-120"/>
                        </a:rPr>
                        <a:t>ماکرو F1، نتیجه گروهی</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50" b="1" dirty="0">
                          <a:solidFill>
                            <a:srgbClr val="16264F"/>
                          </a:solidFill>
                          <a:latin typeface="Arial" pitchFamily="34" charset="0"/>
                          <a:ea typeface="Arial" pitchFamily="34" charset="-122"/>
                          <a:cs typeface="Arial" pitchFamily="34" charset="-120"/>
                        </a:rPr>
                        <a:t>0.3645</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50" b="1" dirty="0">
                          <a:solidFill>
                            <a:srgbClr val="16264F"/>
                          </a:solidFill>
                          <a:latin typeface="Arial" pitchFamily="34" charset="0"/>
                          <a:ea typeface="Arial" pitchFamily="34" charset="-122"/>
                          <a:cs typeface="Arial" pitchFamily="34" charset="-120"/>
                        </a:rPr>
                        <a:t>0.4122</a:t>
                      </a:r>
                      <a:endParaRPr lang="en-US" sz="12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bl>
          </a:graphicData>
        </a:graphic>
      </p:graphicFrame>
      <p:sp>
        <p:nvSpPr>
          <p:cNvPr id="5" name="Shape 2"/>
          <p:cNvSpPr/>
          <p:nvPr/>
        </p:nvSpPr>
        <p:spPr>
          <a:xfrm>
            <a:off x="7406640" y="1691640"/>
            <a:ext cx="4206240" cy="2148840"/>
          </a:xfrm>
          <a:prstGeom prst="roundRect">
            <a:avLst>
              <a:gd name="adj" fmla="val 4255"/>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6" name="Text 3"/>
          <p:cNvSpPr txBox="1"/>
          <p:nvPr/>
        </p:nvSpPr>
        <p:spPr>
          <a:xfrm>
            <a:off x="7680960" y="1874520"/>
            <a:ext cx="3657600" cy="320040"/>
          </a:xfrm>
          <a:prstGeom prst="rect">
            <a:avLst/>
          </a:prstGeom>
          <a:noFill/>
          <a:ln/>
        </p:spPr>
        <p:txBody>
          <a:bodyPr wrap="square" lIns="0" tIns="0" rIns="0" bIns="0" rtlCol="0" anchor="t"/>
          <a:lstStyle/>
          <a:p>
            <a:pPr rtl="1" algn="r" indent="0" marL="0">
              <a:buNone/>
            </a:pPr>
            <a:r>
              <a:rPr lang="en-US" sz="1500" b="1" dirty="0">
                <a:solidFill>
                  <a:srgbClr val="E8A33D"/>
                </a:solidFill>
                <a:latin typeface="Arial" pitchFamily="34" charset="0"/>
                <a:ea typeface="Arial" pitchFamily="34" charset="-122"/>
                <a:cs typeface="Arial" pitchFamily="34" charset="-120"/>
              </a:rPr>
              <a:t>نکته‌ای که نباید اشتباه گفت</a:t>
            </a:r>
            <a:endParaRPr lang="en-US" sz="1500" dirty="0"/>
          </a:p>
        </p:txBody>
      </p:sp>
      <p:sp>
        <p:nvSpPr>
          <p:cNvPr id="7" name="Text 4"/>
          <p:cNvSpPr txBox="1"/>
          <p:nvPr/>
        </p:nvSpPr>
        <p:spPr>
          <a:xfrm>
            <a:off x="7680960" y="2286000"/>
            <a:ext cx="3657600" cy="1371600"/>
          </a:xfrm>
          <a:prstGeom prst="rect">
            <a:avLst/>
          </a:prstGeom>
          <a:noFill/>
          <a:ln/>
        </p:spPr>
        <p:txBody>
          <a:bodyPr wrap="square" lIns="0" tIns="0" rIns="0" bIns="0" rtlCol="0" anchor="t"/>
          <a:lstStyle/>
          <a:p>
            <a:pPr rtl="1" algn="r" indent="0" marL="0">
              <a:lnSpc>
                <a:spcPts val="1900"/>
              </a:lnSpc>
              <a:buNone/>
            </a:pPr>
            <a:r>
              <a:rPr lang="en-US" sz="1250" dirty="0">
                <a:solidFill>
                  <a:srgbClr val="1B2236"/>
                </a:solidFill>
                <a:latin typeface="Arial" pitchFamily="34" charset="0"/>
                <a:ea typeface="Arial" pitchFamily="34" charset="-122"/>
                <a:cs typeface="Arial" pitchFamily="34" charset="-120"/>
              </a:rPr>
              <a:t>اندازه وصله در هر دو یکسان است، پس تعداد وصله‌ها فرق نمی‌کند. بهبود از ظرفیت مدل می‌آید، نه از وضوح مکانی بیشتر.</a:t>
            </a:r>
            <a:endParaRPr lang="en-US" sz="1250" dirty="0"/>
          </a:p>
        </p:txBody>
      </p:sp>
      <p:sp>
        <p:nvSpPr>
          <p:cNvPr id="8" name="Text 5"/>
          <p:cNvSpPr txBox="1"/>
          <p:nvPr/>
        </p:nvSpPr>
        <p:spPr>
          <a:xfrm>
            <a:off x="548640" y="4206240"/>
            <a:ext cx="11064240" cy="365760"/>
          </a:xfrm>
          <a:prstGeom prst="rect">
            <a:avLst/>
          </a:prstGeom>
          <a:noFill/>
          <a:ln/>
        </p:spPr>
        <p:txBody>
          <a:bodyPr wrap="square" lIns="0" tIns="0" rIns="0" bIns="0" rtlCol="0" anchor="t"/>
          <a:lstStyle/>
          <a:p>
            <a:pPr rtl="1" algn="r" indent="0" marL="0">
              <a:buNone/>
            </a:pPr>
            <a:r>
              <a:rPr lang="en-US" sz="1700" b="1" dirty="0">
                <a:solidFill>
                  <a:srgbClr val="16264F"/>
                </a:solidFill>
                <a:latin typeface="Arial" pitchFamily="34" charset="0"/>
                <a:ea typeface="Arial" pitchFamily="34" charset="-122"/>
                <a:cs typeface="Arial" pitchFamily="34" charset="-120"/>
              </a:rPr>
              <a:t>چرا این تنها بهبود قطعی پروژه است</a:t>
            </a:r>
            <a:endParaRPr lang="en-US" sz="1700" dirty="0"/>
          </a:p>
        </p:txBody>
      </p:sp>
      <p:sp>
        <p:nvSpPr>
          <p:cNvPr id="9" name="Shape 6"/>
          <p:cNvSpPr/>
          <p:nvPr/>
        </p:nvSpPr>
        <p:spPr>
          <a:xfrm>
            <a:off x="548640" y="4663440"/>
            <a:ext cx="3566160" cy="1371600"/>
          </a:xfrm>
          <a:prstGeom prst="roundRect">
            <a:avLst>
              <a:gd name="adj" fmla="val 6667"/>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0" name="Text 7"/>
          <p:cNvSpPr txBox="1"/>
          <p:nvPr/>
        </p:nvSpPr>
        <p:spPr>
          <a:xfrm>
            <a:off x="822960" y="4846320"/>
            <a:ext cx="3017520" cy="274320"/>
          </a:xfrm>
          <a:prstGeom prst="rect">
            <a:avLst/>
          </a:prstGeom>
          <a:noFill/>
          <a:ln/>
        </p:spPr>
        <p:txBody>
          <a:bodyPr wrap="square" lIns="0" tIns="0" rIns="0" bIns="0" rtlCol="0" anchor="t"/>
          <a:lstStyle/>
          <a:p>
            <a:pPr rtl="1" algn="r" indent="0" marL="0">
              <a:buNone/>
            </a:pPr>
            <a:r>
              <a:rPr lang="en-US" sz="1200" dirty="0">
                <a:solidFill>
                  <a:srgbClr val="6A748C"/>
                </a:solidFill>
                <a:latin typeface="Arial" pitchFamily="34" charset="0"/>
                <a:ea typeface="Arial" pitchFamily="34" charset="-122"/>
                <a:cs typeface="Arial" pitchFamily="34" charset="-120"/>
              </a:rPr>
              <a:t>بازه پنج بذر ViT-B</a:t>
            </a:r>
            <a:endParaRPr lang="en-US" sz="1200" dirty="0"/>
          </a:p>
        </p:txBody>
      </p:sp>
      <p:sp>
        <p:nvSpPr>
          <p:cNvPr id="11" name="Text 8"/>
          <p:cNvSpPr txBox="1"/>
          <p:nvPr/>
        </p:nvSpPr>
        <p:spPr>
          <a:xfrm>
            <a:off x="822960" y="5166360"/>
            <a:ext cx="3017520" cy="457200"/>
          </a:xfrm>
          <a:prstGeom prst="rect">
            <a:avLst/>
          </a:prstGeom>
          <a:noFill/>
          <a:ln/>
        </p:spPr>
        <p:txBody>
          <a:bodyPr wrap="square" lIns="0" tIns="0" rIns="0" bIns="0" rtlCol="0" anchor="t"/>
          <a:lstStyle/>
          <a:p>
            <a:pPr algn="r" indent="0" marL="0">
              <a:buNone/>
            </a:pPr>
            <a:r>
              <a:rPr lang="en-US" sz="2000" b="1" dirty="0">
                <a:solidFill>
                  <a:srgbClr val="C9483B"/>
                </a:solidFill>
                <a:latin typeface="Arial" pitchFamily="34" charset="0"/>
                <a:ea typeface="Arial" pitchFamily="34" charset="-122"/>
                <a:cs typeface="Arial" pitchFamily="34" charset="-120"/>
              </a:rPr>
              <a:t>0.310 — 0.354</a:t>
            </a:r>
            <a:endParaRPr lang="en-US" sz="2000" dirty="0"/>
          </a:p>
        </p:txBody>
      </p:sp>
      <p:sp>
        <p:nvSpPr>
          <p:cNvPr id="12" name="Shape 9"/>
          <p:cNvSpPr/>
          <p:nvPr/>
        </p:nvSpPr>
        <p:spPr>
          <a:xfrm>
            <a:off x="4297680" y="4663440"/>
            <a:ext cx="3566160" cy="1371600"/>
          </a:xfrm>
          <a:prstGeom prst="roundRect">
            <a:avLst>
              <a:gd name="adj" fmla="val 6667"/>
            </a:avLst>
          </a:prstGeom>
          <a:solidFill>
            <a:srgbClr val="EAF6F5"/>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3" name="Text 10"/>
          <p:cNvSpPr txBox="1"/>
          <p:nvPr/>
        </p:nvSpPr>
        <p:spPr>
          <a:xfrm>
            <a:off x="4572000" y="4846320"/>
            <a:ext cx="3017520" cy="274320"/>
          </a:xfrm>
          <a:prstGeom prst="rect">
            <a:avLst/>
          </a:prstGeom>
          <a:noFill/>
          <a:ln/>
        </p:spPr>
        <p:txBody>
          <a:bodyPr wrap="square" lIns="0" tIns="0" rIns="0" bIns="0" rtlCol="0" anchor="t"/>
          <a:lstStyle/>
          <a:p>
            <a:pPr rtl="1" algn="r" indent="0" marL="0">
              <a:buNone/>
            </a:pPr>
            <a:r>
              <a:rPr lang="en-US" sz="1200" dirty="0">
                <a:solidFill>
                  <a:srgbClr val="6A748C"/>
                </a:solidFill>
                <a:latin typeface="Arial" pitchFamily="34" charset="0"/>
                <a:ea typeface="Arial" pitchFamily="34" charset="-122"/>
                <a:cs typeface="Arial" pitchFamily="34" charset="-120"/>
              </a:rPr>
              <a:t>بازه پنج بذر ViT-L</a:t>
            </a:r>
            <a:endParaRPr lang="en-US" sz="1200" dirty="0"/>
          </a:p>
        </p:txBody>
      </p:sp>
      <p:sp>
        <p:nvSpPr>
          <p:cNvPr id="14" name="Text 11"/>
          <p:cNvSpPr txBox="1"/>
          <p:nvPr/>
        </p:nvSpPr>
        <p:spPr>
          <a:xfrm>
            <a:off x="4572000" y="5166360"/>
            <a:ext cx="3017520" cy="457200"/>
          </a:xfrm>
          <a:prstGeom prst="rect">
            <a:avLst/>
          </a:prstGeom>
          <a:noFill/>
          <a:ln/>
        </p:spPr>
        <p:txBody>
          <a:bodyPr wrap="square" lIns="0" tIns="0" rIns="0" bIns="0" rtlCol="0" anchor="t"/>
          <a:lstStyle/>
          <a:p>
            <a:pPr algn="r" indent="0" marL="0">
              <a:buNone/>
            </a:pPr>
            <a:r>
              <a:rPr lang="en-US" sz="2000" b="1" dirty="0">
                <a:solidFill>
                  <a:srgbClr val="3FA7A0"/>
                </a:solidFill>
                <a:latin typeface="Arial" pitchFamily="34" charset="0"/>
                <a:ea typeface="Arial" pitchFamily="34" charset="-122"/>
                <a:cs typeface="Arial" pitchFamily="34" charset="-120"/>
              </a:rPr>
              <a:t>0.370 — 0.423</a:t>
            </a:r>
            <a:endParaRPr lang="en-US" sz="2000" dirty="0"/>
          </a:p>
        </p:txBody>
      </p:sp>
      <p:sp>
        <p:nvSpPr>
          <p:cNvPr id="15" name="Shape 12"/>
          <p:cNvSpPr/>
          <p:nvPr/>
        </p:nvSpPr>
        <p:spPr>
          <a:xfrm>
            <a:off x="8046720" y="4663440"/>
            <a:ext cx="3566160" cy="1371600"/>
          </a:xfrm>
          <a:prstGeom prst="roundRect">
            <a:avLst>
              <a:gd name="adj" fmla="val 6667"/>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6" name="Text 13"/>
          <p:cNvSpPr txBox="1"/>
          <p:nvPr/>
        </p:nvSpPr>
        <p:spPr>
          <a:xfrm>
            <a:off x="8321040" y="4846320"/>
            <a:ext cx="3017520" cy="274320"/>
          </a:xfrm>
          <a:prstGeom prst="rect">
            <a:avLst/>
          </a:prstGeom>
          <a:noFill/>
          <a:ln/>
        </p:spPr>
        <p:txBody>
          <a:bodyPr wrap="square" lIns="0" tIns="0" rIns="0" bIns="0" rtlCol="0" anchor="t"/>
          <a:lstStyle/>
          <a:p>
            <a:pPr rtl="1" algn="r" indent="0" marL="0">
              <a:buNone/>
            </a:pPr>
            <a:r>
              <a:rPr lang="en-US" sz="1200" dirty="0">
                <a:solidFill>
                  <a:srgbClr val="6A748C"/>
                </a:solidFill>
                <a:latin typeface="Arial" pitchFamily="34" charset="0"/>
                <a:ea typeface="Arial" pitchFamily="34" charset="-122"/>
                <a:cs typeface="Arial" pitchFamily="34" charset="-120"/>
              </a:rPr>
              <a:t>آزمون من-ویتنی</a:t>
            </a:r>
            <a:endParaRPr lang="en-US" sz="1200" dirty="0"/>
          </a:p>
        </p:txBody>
      </p:sp>
      <p:sp>
        <p:nvSpPr>
          <p:cNvPr id="17" name="Text 14"/>
          <p:cNvSpPr txBox="1"/>
          <p:nvPr/>
        </p:nvSpPr>
        <p:spPr>
          <a:xfrm>
            <a:off x="8321040" y="5166360"/>
            <a:ext cx="3017520" cy="457200"/>
          </a:xfrm>
          <a:prstGeom prst="rect">
            <a:avLst/>
          </a:prstGeom>
          <a:noFill/>
          <a:ln/>
        </p:spPr>
        <p:txBody>
          <a:bodyPr wrap="square" lIns="0" tIns="0" rIns="0" bIns="0" rtlCol="0" anchor="t"/>
          <a:lstStyle/>
          <a:p>
            <a:pPr algn="r" indent="0" marL="0">
              <a:buNone/>
            </a:pPr>
            <a:r>
              <a:rPr lang="en-US" sz="2000" b="1" dirty="0">
                <a:solidFill>
                  <a:srgbClr val="E8A33D"/>
                </a:solidFill>
                <a:latin typeface="Arial" pitchFamily="34" charset="0"/>
                <a:ea typeface="Arial" pitchFamily="34" charset="-122"/>
                <a:cs typeface="Arial" pitchFamily="34" charset="-120"/>
              </a:rPr>
              <a:t>p = 1 / 252</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مسیر دوم</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آمیزش و تنظیم لاجیت</a:t>
            </a:r>
            <a:endParaRPr lang="en-US" sz="3000" dirty="0"/>
          </a:p>
        </p:txBody>
      </p:sp>
      <p:sp>
        <p:nvSpPr>
          <p:cNvPr id="4" name="Shape 2"/>
          <p:cNvSpPr/>
          <p:nvPr/>
        </p:nvSpPr>
        <p:spPr>
          <a:xfrm>
            <a:off x="548640" y="1645920"/>
            <a:ext cx="5394960" cy="1965960"/>
          </a:xfrm>
          <a:prstGeom prst="roundRect">
            <a:avLst>
              <a:gd name="adj" fmla="val 4651"/>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5" name="Text 3"/>
          <p:cNvSpPr txBox="1"/>
          <p:nvPr/>
        </p:nvSpPr>
        <p:spPr>
          <a:xfrm>
            <a:off x="868680" y="1810512"/>
            <a:ext cx="4754880" cy="320040"/>
          </a:xfrm>
          <a:prstGeom prst="rect">
            <a:avLst/>
          </a:prstGeom>
          <a:noFill/>
          <a:ln/>
        </p:spPr>
        <p:txBody>
          <a:bodyPr wrap="square" lIns="0" tIns="0" rIns="0" bIns="0" rtlCol="0" anchor="t"/>
          <a:lstStyle/>
          <a:p>
            <a:pPr rtl="1" algn="r" indent="0" marL="0">
              <a:buNone/>
            </a:pPr>
            <a:r>
              <a:rPr lang="en-US" sz="1600" b="1" dirty="0">
                <a:solidFill>
                  <a:srgbClr val="16264F"/>
                </a:solidFill>
                <a:latin typeface="Arial" pitchFamily="34" charset="0"/>
                <a:ea typeface="Arial" pitchFamily="34" charset="-122"/>
                <a:cs typeface="Arial" pitchFamily="34" charset="-120"/>
              </a:rPr>
              <a:t>آمیزش در فضای ویژگی</a:t>
            </a:r>
            <a:endParaRPr lang="en-US" sz="1600" dirty="0"/>
          </a:p>
        </p:txBody>
      </p:sp>
      <p:sp>
        <p:nvSpPr>
          <p:cNvPr id="6" name="Text 4"/>
          <p:cNvSpPr txBox="1"/>
          <p:nvPr/>
        </p:nvSpPr>
        <p:spPr>
          <a:xfrm>
            <a:off x="868680" y="2212848"/>
            <a:ext cx="4754880" cy="1280160"/>
          </a:xfrm>
          <a:prstGeom prst="rect">
            <a:avLst/>
          </a:prstGeom>
          <a:noFill/>
          <a:ln/>
        </p:spPr>
        <p:txBody>
          <a:bodyPr wrap="square" lIns="0" tIns="0" rIns="0" bIns="0" rtlCol="0" anchor="t"/>
          <a:lstStyle/>
          <a:p>
            <a:pPr rtl="1" algn="r" indent="0" marL="0">
              <a:lnSpc>
                <a:spcPts val="1900"/>
              </a:lnSpc>
              <a:buNone/>
            </a:pPr>
            <a:r>
              <a:rPr lang="en-US" sz="1250" dirty="0">
                <a:solidFill>
                  <a:srgbClr val="1B2236"/>
                </a:solidFill>
                <a:latin typeface="Arial" pitchFamily="34" charset="0"/>
                <a:ea typeface="Arial" pitchFamily="34" charset="-122"/>
                <a:cs typeface="Arial" pitchFamily="34" charset="-120"/>
              </a:rPr>
              <a:t>مدل تا دوره دهم زیان آموزش را تقریباً صفر می‌کرد، یعنی حفظ می‌کرد. ترکیب محدب دو ویدیو، نمونه‌هایی می‌سازد که در داده نیستند و حفظ کردن را ناممکن می‌کنند.</a:t>
            </a:r>
            <a:endParaRPr lang="en-US" sz="1250" dirty="0"/>
          </a:p>
        </p:txBody>
      </p:sp>
      <p:sp>
        <p:nvSpPr>
          <p:cNvPr id="7" name="Shape 5"/>
          <p:cNvSpPr/>
          <p:nvPr/>
        </p:nvSpPr>
        <p:spPr>
          <a:xfrm>
            <a:off x="6217920" y="1645920"/>
            <a:ext cx="5394960" cy="1965960"/>
          </a:xfrm>
          <a:prstGeom prst="roundRect">
            <a:avLst>
              <a:gd name="adj" fmla="val 4651"/>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8" name="Text 6"/>
          <p:cNvSpPr txBox="1"/>
          <p:nvPr/>
        </p:nvSpPr>
        <p:spPr>
          <a:xfrm>
            <a:off x="6537960" y="1810512"/>
            <a:ext cx="4754880" cy="320040"/>
          </a:xfrm>
          <a:prstGeom prst="rect">
            <a:avLst/>
          </a:prstGeom>
          <a:noFill/>
          <a:ln/>
        </p:spPr>
        <p:txBody>
          <a:bodyPr wrap="square" lIns="0" tIns="0" rIns="0" bIns="0" rtlCol="0" anchor="t"/>
          <a:lstStyle/>
          <a:p>
            <a:pPr rtl="1" algn="r" indent="0" marL="0">
              <a:buNone/>
            </a:pPr>
            <a:r>
              <a:rPr lang="en-US" sz="1600" b="1" dirty="0">
                <a:solidFill>
                  <a:srgbClr val="E8A33D"/>
                </a:solidFill>
                <a:latin typeface="Arial" pitchFamily="34" charset="0"/>
                <a:ea typeface="Arial" pitchFamily="34" charset="-122"/>
                <a:cs typeface="Arial" pitchFamily="34" charset="-120"/>
              </a:rPr>
              <a:t>تنظیم لاجیت برای دم بلند</a:t>
            </a:r>
            <a:endParaRPr lang="en-US" sz="1600" dirty="0"/>
          </a:p>
        </p:txBody>
      </p:sp>
      <p:sp>
        <p:nvSpPr>
          <p:cNvPr id="9" name="Text 7"/>
          <p:cNvSpPr txBox="1"/>
          <p:nvPr/>
        </p:nvSpPr>
        <p:spPr>
          <a:xfrm>
            <a:off x="6537960" y="2212848"/>
            <a:ext cx="4754880" cy="1280160"/>
          </a:xfrm>
          <a:prstGeom prst="rect">
            <a:avLst/>
          </a:prstGeom>
          <a:noFill/>
          <a:ln/>
        </p:spPr>
        <p:txBody>
          <a:bodyPr wrap="square" lIns="0" tIns="0" rIns="0" bIns="0" rtlCol="0" anchor="t"/>
          <a:lstStyle/>
          <a:p>
            <a:pPr rtl="1" algn="r" indent="0" marL="0">
              <a:lnSpc>
                <a:spcPts val="1900"/>
              </a:lnSpc>
              <a:buNone/>
            </a:pPr>
            <a:r>
              <a:rPr lang="en-US" sz="1250" dirty="0">
                <a:solidFill>
                  <a:srgbClr val="1B2236"/>
                </a:solidFill>
                <a:latin typeface="Arial" pitchFamily="34" charset="0"/>
                <a:ea typeface="Arial" pitchFamily="34" charset="-122"/>
                <a:cs typeface="Arial" pitchFamily="34" charset="-120"/>
              </a:rPr>
              <a:t>مقداری متناسب با لگاریتم احتمال پیشین از لاجیت هر کلاس کسر می‌شود تا مرز تصمیم به سود کلاس‌های کمیاب جابه‌جا شود.</a:t>
            </a:r>
            <a:endParaRPr lang="en-US" sz="1250" dirty="0"/>
          </a:p>
        </p:txBody>
      </p:sp>
      <p:sp>
        <p:nvSpPr>
          <p:cNvPr id="10" name="Shape 8"/>
          <p:cNvSpPr/>
          <p:nvPr/>
        </p:nvSpPr>
        <p:spPr>
          <a:xfrm>
            <a:off x="548640" y="3794760"/>
            <a:ext cx="11064240" cy="1051560"/>
          </a:xfrm>
          <a:prstGeom prst="roundRect">
            <a:avLst>
              <a:gd name="adj" fmla="val 8696"/>
            </a:avLst>
          </a:prstGeom>
          <a:solidFill>
            <a:srgbClr val="FDEEEC"/>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1" name="Text 9"/>
          <p:cNvSpPr txBox="1"/>
          <p:nvPr/>
        </p:nvSpPr>
        <p:spPr>
          <a:xfrm>
            <a:off x="868680" y="3931920"/>
            <a:ext cx="10424160" cy="320040"/>
          </a:xfrm>
          <a:prstGeom prst="rect">
            <a:avLst/>
          </a:prstGeom>
          <a:noFill/>
          <a:ln/>
        </p:spPr>
        <p:txBody>
          <a:bodyPr wrap="square" lIns="0" tIns="0" rIns="0" bIns="0" rtlCol="0" anchor="t"/>
          <a:lstStyle/>
          <a:p>
            <a:pPr rtl="1" algn="r" indent="0" marL="0">
              <a:buNone/>
            </a:pPr>
            <a:r>
              <a:rPr lang="en-US" sz="1500" b="1" dirty="0">
                <a:solidFill>
                  <a:srgbClr val="C9483B"/>
                </a:solidFill>
                <a:latin typeface="Arial" pitchFamily="34" charset="0"/>
                <a:ea typeface="Arial" pitchFamily="34" charset="-122"/>
                <a:cs typeface="Arial" pitchFamily="34" charset="-120"/>
              </a:rPr>
              <a:t>آزمایشی که شکست خورد و از آن یاد گرفتیم</a:t>
            </a:r>
            <a:endParaRPr lang="en-US" sz="1500" dirty="0"/>
          </a:p>
        </p:txBody>
      </p:sp>
      <p:sp>
        <p:nvSpPr>
          <p:cNvPr id="12" name="Text 10"/>
          <p:cNvSpPr txBox="1"/>
          <p:nvPr/>
        </p:nvSpPr>
        <p:spPr>
          <a:xfrm>
            <a:off x="868680" y="4279392"/>
            <a:ext cx="10424160" cy="502920"/>
          </a:xfrm>
          <a:prstGeom prst="rect">
            <a:avLst/>
          </a:prstGeom>
          <a:noFill/>
          <a:ln/>
        </p:spPr>
        <p:txBody>
          <a:bodyPr wrap="square" lIns="0" tIns="0" rIns="0" bIns="0" rtlCol="0" anchor="t"/>
          <a:lstStyle/>
          <a:p>
            <a:pPr rtl="1" algn="r" indent="0" marL="0">
              <a:lnSpc>
                <a:spcPts val="1800"/>
              </a:lnSpc>
              <a:buNone/>
            </a:pPr>
            <a:r>
              <a:rPr lang="en-US" sz="1200" dirty="0">
                <a:solidFill>
                  <a:srgbClr val="1B2236"/>
                </a:solidFill>
                <a:latin typeface="Arial" pitchFamily="34" charset="0"/>
                <a:ea typeface="Arial" pitchFamily="34" charset="-122"/>
                <a:cs typeface="Arial" pitchFamily="34" charset="-120"/>
              </a:rPr>
              <a:t>اعمال خام فرمول روی هر ۱۴ کلاس، صحت را از ۰٫۶۸۹۷ به ۰٫۴۷۲ انداخت: همه کلاس‌های ناهنجار نسبت به عادی بالا می‌رفتند و مرحله اول تصمیم خراب می‌شد. اصلاح: محدود کردن به ۱۳ کلاس ناهنجار و مرکزی کردن، تا جرم کل ناهنجاری حفظ شود.</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5029200"/>
          <a:ext cx="11064240" cy="914400"/>
        </p:xfrm>
        <a:graphic>
          <a:graphicData uri="http://schemas.openxmlformats.org/drawingml/2006/table">
            <a:tbl>
              <a:tblPr/>
              <a:tblGrid>
                <a:gridCol w="3931920"/>
                <a:gridCol w="1828800"/>
                <a:gridCol w="1828800"/>
                <a:gridCol w="1737360"/>
                <a:gridCol w="1737360"/>
              </a:tblGrid>
              <a:tr h="2743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پیکربندی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میانگین بذرها</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نتیجه گروهی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صحت</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صحت نوع</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274320">
                <a:tc>
                  <a:txBody>
                    <a:bodyPr/>
                    <a:lstStyle/>
                    <a:p>
                      <a:pPr algn="r" indent="0" marL="0">
                        <a:buNone/>
                      </a:pPr>
                      <a:r>
                        <a:rPr lang="en-US" sz="1150" dirty="0">
                          <a:solidFill>
                            <a:srgbClr val="1B2236"/>
                          </a:solidFill>
                          <a:latin typeface="Arial" pitchFamily="34" charset="0"/>
                          <a:ea typeface="Arial" pitchFamily="34" charset="-122"/>
                          <a:cs typeface="Arial" pitchFamily="34" charset="-120"/>
                        </a:rPr>
                        <a:t>پایه ViT-L</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0.3955</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0.4122</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0.6897</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0.4786</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274320">
                <a:tc>
                  <a:txBody>
                    <a:bodyPr/>
                    <a:lstStyle/>
                    <a:p>
                      <a:pPr algn="r" indent="0" marL="0">
                        <a:buNone/>
                      </a:pPr>
                      <a:r>
                        <a:rPr lang="en-US" sz="1150" dirty="0">
                          <a:solidFill>
                            <a:srgbClr val="1B2236"/>
                          </a:solidFill>
                          <a:latin typeface="Arial" pitchFamily="34" charset="0"/>
                          <a:ea typeface="Arial" pitchFamily="34" charset="-122"/>
                          <a:cs typeface="Arial" pitchFamily="34" charset="-120"/>
                        </a:rPr>
                        <a:t>آمیزش ۰٫۲</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0.4203</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0.4161</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0.6793</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0.4714</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274320">
                <a:tc>
                  <a:txBody>
                    <a:bodyPr/>
                    <a:lstStyle/>
                    <a:p>
                      <a:pPr algn="r" indent="0" marL="0">
                        <a:buNone/>
                      </a:pPr>
                      <a:r>
                        <a:rPr lang="en-US" sz="1150" b="1" dirty="0">
                          <a:solidFill>
                            <a:srgbClr val="16264F"/>
                          </a:solidFill>
                          <a:latin typeface="Arial" pitchFamily="34" charset="0"/>
                          <a:ea typeface="Arial" pitchFamily="34" charset="-122"/>
                          <a:cs typeface="Arial" pitchFamily="34" charset="-120"/>
                        </a:rPr>
                        <a:t>آمیزش ۰٫۲ + تنظیم لاجیت</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50" b="1" dirty="0">
                          <a:solidFill>
                            <a:srgbClr val="16264F"/>
                          </a:solidFill>
                          <a:latin typeface="Arial" pitchFamily="34" charset="0"/>
                          <a:ea typeface="Arial" pitchFamily="34" charset="-122"/>
                          <a:cs typeface="Arial" pitchFamily="34" charset="-120"/>
                        </a:rPr>
                        <a:t>0.4147</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50" b="1" dirty="0">
                          <a:solidFill>
                            <a:srgbClr val="16264F"/>
                          </a:solidFill>
                          <a:latin typeface="Arial" pitchFamily="34" charset="0"/>
                          <a:ea typeface="Arial" pitchFamily="34" charset="-122"/>
                          <a:cs typeface="Arial" pitchFamily="34" charset="-120"/>
                        </a:rPr>
                        <a:t>0.4298</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50" b="1" dirty="0">
                          <a:solidFill>
                            <a:srgbClr val="16264F"/>
                          </a:solidFill>
                          <a:latin typeface="Arial" pitchFamily="34" charset="0"/>
                          <a:ea typeface="Arial" pitchFamily="34" charset="-122"/>
                          <a:cs typeface="Arial" pitchFamily="34" charset="-120"/>
                        </a:rPr>
                        <a:t>0.6897</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50" b="1" dirty="0">
                          <a:solidFill>
                            <a:srgbClr val="16264F"/>
                          </a:solidFill>
                          <a:latin typeface="Arial" pitchFamily="34" charset="0"/>
                          <a:ea typeface="Arial" pitchFamily="34" charset="-122"/>
                          <a:cs typeface="Arial" pitchFamily="34" charset="-120"/>
                        </a:rPr>
                        <a:t>0.5000</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r h="274320">
                <a:tc>
                  <a:txBody>
                    <a:bodyPr/>
                    <a:lstStyle/>
                    <a:p>
                      <a:pPr algn="r" indent="0" marL="0">
                        <a:buNone/>
                      </a:pPr>
                      <a:r>
                        <a:rPr lang="en-US" sz="1150" dirty="0">
                          <a:solidFill>
                            <a:srgbClr val="1B2236"/>
                          </a:solidFill>
                          <a:latin typeface="Arial" pitchFamily="34" charset="0"/>
                          <a:ea typeface="Arial" pitchFamily="34" charset="-122"/>
                          <a:cs typeface="Arial" pitchFamily="34" charset="-120"/>
                        </a:rPr>
                        <a:t>آمیزش ۰٫۴ + تنظیم لاجیت</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0.4135</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0.4248</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0.6759</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236"/>
                          </a:solidFill>
                          <a:latin typeface="Arial" pitchFamily="34" charset="0"/>
                          <a:ea typeface="Arial" pitchFamily="34" charset="-122"/>
                          <a:cs typeface="Arial" pitchFamily="34" charset="-120"/>
                        </a:rPr>
                        <a:t>0.4929</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مسیر دوم</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مسیر بهبود، گام به گام</a:t>
            </a:r>
            <a:endParaRPr lang="en-US" sz="3000" dirty="0"/>
          </a:p>
        </p:txBody>
      </p:sp>
      <p:graphicFrame>
        <p:nvGraphicFramePr>
          <p:cNvPr id="4" name="Chart 0" descr=""/>
          <p:cNvGraphicFramePr/>
          <p:nvPr/>
        </p:nvGraphicFramePr>
        <p:xfrm>
          <a:off x="548640" y="1645920"/>
          <a:ext cx="1106424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120640"/>
            <a:ext cx="3566160" cy="777240"/>
          </a:xfrm>
          <a:prstGeom prst="rect">
            <a:avLst/>
          </a:prstGeom>
          <a:noFill/>
          <a:ln/>
        </p:spPr>
        <p:txBody>
          <a:bodyPr wrap="square" lIns="0" tIns="0" rIns="0" bIns="0" rtlCol="0" anchor="ctr"/>
          <a:lstStyle/>
          <a:p>
            <a:pPr algn="ctr" indent="0" marL="0">
              <a:buNone/>
            </a:pPr>
            <a:r>
              <a:rPr lang="en-US" sz="4000" b="1" dirty="0">
                <a:solidFill>
                  <a:srgbClr val="3FA7A0"/>
                </a:solidFill>
                <a:latin typeface="Arial" pitchFamily="34" charset="0"/>
                <a:ea typeface="Arial" pitchFamily="34" charset="-122"/>
                <a:cs typeface="Arial" pitchFamily="34" charset="-120"/>
              </a:rPr>
              <a:t>+0.1323</a:t>
            </a:r>
            <a:endParaRPr lang="en-US" sz="4000" dirty="0"/>
          </a:p>
        </p:txBody>
      </p:sp>
      <p:sp>
        <p:nvSpPr>
          <p:cNvPr id="6" name="Text 3"/>
          <p:cNvSpPr txBox="1"/>
          <p:nvPr/>
        </p:nvSpPr>
        <p:spPr>
          <a:xfrm>
            <a:off x="548640" y="5870448"/>
            <a:ext cx="3566160" cy="457200"/>
          </a:xfrm>
          <a:prstGeom prst="rect">
            <a:avLst/>
          </a:prstGeom>
          <a:noFill/>
          <a:ln/>
        </p:spPr>
        <p:txBody>
          <a:bodyPr wrap="square" lIns="0" tIns="0" rIns="0" bIns="0" rtlCol="0" anchor="t"/>
          <a:lstStyle/>
          <a:p>
            <a:pPr rtl="1" algn="ctr" indent="0" marL="0">
              <a:buNone/>
            </a:pPr>
            <a:r>
              <a:rPr lang="en-US" sz="1200" dirty="0">
                <a:solidFill>
                  <a:srgbClr val="6A748C"/>
                </a:solidFill>
                <a:latin typeface="Arial" pitchFamily="34" charset="0"/>
                <a:ea typeface="Arial" pitchFamily="34" charset="-122"/>
                <a:cs typeface="Arial" pitchFamily="34" charset="-120"/>
              </a:rPr>
              <a:t>بهبود مطلق ماکرو F1</a:t>
            </a:r>
            <a:endParaRPr lang="en-US" sz="1200" dirty="0"/>
          </a:p>
        </p:txBody>
      </p:sp>
      <p:sp>
        <p:nvSpPr>
          <p:cNvPr id="7" name="Text 4"/>
          <p:cNvSpPr txBox="1"/>
          <p:nvPr/>
        </p:nvSpPr>
        <p:spPr>
          <a:xfrm>
            <a:off x="4297680" y="5120640"/>
            <a:ext cx="3566160" cy="777240"/>
          </a:xfrm>
          <a:prstGeom prst="rect">
            <a:avLst/>
          </a:prstGeom>
          <a:noFill/>
          <a:ln/>
        </p:spPr>
        <p:txBody>
          <a:bodyPr wrap="square" lIns="0" tIns="0" rIns="0" bIns="0" rtlCol="0" anchor="ctr"/>
          <a:lstStyle/>
          <a:p>
            <a:pPr algn="ctr" indent="0" marL="0">
              <a:buNone/>
            </a:pPr>
            <a:r>
              <a:rPr lang="en-US" sz="4000" b="1" dirty="0">
                <a:solidFill>
                  <a:srgbClr val="3FA7A0"/>
                </a:solidFill>
                <a:latin typeface="Arial" pitchFamily="34" charset="0"/>
                <a:ea typeface="Arial" pitchFamily="34" charset="-122"/>
                <a:cs typeface="Arial" pitchFamily="34" charset="-120"/>
              </a:rPr>
              <a:t>+44%</a:t>
            </a:r>
            <a:endParaRPr lang="en-US" sz="4000" dirty="0"/>
          </a:p>
        </p:txBody>
      </p:sp>
      <p:sp>
        <p:nvSpPr>
          <p:cNvPr id="8" name="Text 5"/>
          <p:cNvSpPr txBox="1"/>
          <p:nvPr/>
        </p:nvSpPr>
        <p:spPr>
          <a:xfrm>
            <a:off x="4297680" y="5870448"/>
            <a:ext cx="3566160" cy="457200"/>
          </a:xfrm>
          <a:prstGeom prst="rect">
            <a:avLst/>
          </a:prstGeom>
          <a:noFill/>
          <a:ln/>
        </p:spPr>
        <p:txBody>
          <a:bodyPr wrap="square" lIns="0" tIns="0" rIns="0" bIns="0" rtlCol="0" anchor="t"/>
          <a:lstStyle/>
          <a:p>
            <a:pPr rtl="1" algn="ctr" indent="0" marL="0">
              <a:buNone/>
            </a:pPr>
            <a:r>
              <a:rPr lang="en-US" sz="1200" dirty="0">
                <a:solidFill>
                  <a:srgbClr val="6A748C"/>
                </a:solidFill>
                <a:latin typeface="Arial" pitchFamily="34" charset="0"/>
                <a:ea typeface="Arial" pitchFamily="34" charset="-122"/>
                <a:cs typeface="Arial" pitchFamily="34" charset="-120"/>
              </a:rPr>
              <a:t>بهبود نسبی</a:t>
            </a:r>
            <a:endParaRPr lang="en-US" sz="1200" dirty="0"/>
          </a:p>
        </p:txBody>
      </p:sp>
      <p:sp>
        <p:nvSpPr>
          <p:cNvPr id="9" name="Text 6"/>
          <p:cNvSpPr txBox="1"/>
          <p:nvPr/>
        </p:nvSpPr>
        <p:spPr>
          <a:xfrm>
            <a:off x="8046720" y="5120640"/>
            <a:ext cx="3566160" cy="777240"/>
          </a:xfrm>
          <a:prstGeom prst="rect">
            <a:avLst/>
          </a:prstGeom>
          <a:noFill/>
          <a:ln/>
        </p:spPr>
        <p:txBody>
          <a:bodyPr wrap="square" lIns="0" tIns="0" rIns="0" bIns="0" rtlCol="0" anchor="ctr"/>
          <a:lstStyle/>
          <a:p>
            <a:pPr algn="ctr" indent="0" marL="0">
              <a:buNone/>
            </a:pPr>
            <a:r>
              <a:rPr lang="en-US" sz="4000" b="1" dirty="0">
                <a:solidFill>
                  <a:srgbClr val="E8A33D"/>
                </a:solidFill>
                <a:latin typeface="Arial" pitchFamily="34" charset="0"/>
                <a:ea typeface="Arial" pitchFamily="34" charset="-122"/>
                <a:cs typeface="Arial" pitchFamily="34" charset="-120"/>
              </a:rPr>
              <a:t>0.075</a:t>
            </a:r>
            <a:endParaRPr lang="en-US" sz="4000" dirty="0"/>
          </a:p>
        </p:txBody>
      </p:sp>
      <p:sp>
        <p:nvSpPr>
          <p:cNvPr id="10" name="Text 7"/>
          <p:cNvSpPr txBox="1"/>
          <p:nvPr/>
        </p:nvSpPr>
        <p:spPr>
          <a:xfrm>
            <a:off x="8046720" y="5870448"/>
            <a:ext cx="3566160" cy="457200"/>
          </a:xfrm>
          <a:prstGeom prst="rect">
            <a:avLst/>
          </a:prstGeom>
          <a:noFill/>
          <a:ln/>
        </p:spPr>
        <p:txBody>
          <a:bodyPr wrap="square" lIns="0" tIns="0" rIns="0" bIns="0" rtlCol="0" anchor="t"/>
          <a:lstStyle/>
          <a:p>
            <a:pPr rtl="1" algn="ctr" indent="0" marL="0">
              <a:buNone/>
            </a:pPr>
            <a:r>
              <a:rPr lang="en-US" sz="1200" dirty="0">
                <a:solidFill>
                  <a:srgbClr val="6A748C"/>
                </a:solidFill>
                <a:latin typeface="Arial" pitchFamily="34" charset="0"/>
                <a:ea typeface="Arial" pitchFamily="34" charset="-122"/>
                <a:cs typeface="Arial" pitchFamily="34" charset="-120"/>
              </a:rPr>
              <a:t>کف نوفه این مجموعه آزمون</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صداقت روش‌شناختی</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آزمایش‌هایی که نتیجه ندادند</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5577840"/>
                <a:gridCol w="1828800"/>
                <a:gridCol w="1828800"/>
                <a:gridCol w="1828800"/>
              </a:tblGrid>
              <a:tr h="329184">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آزمایش</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نتیجه</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مرجع</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داوری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329184">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نمونه‌برداری سبک Kinetics با گام ۴ فریم</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0.3089</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0.3405</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بدتر</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29184">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دو برابر کردن تعداد قطعه‌ها به ۳۲</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0.3875</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0.3955</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بدتر</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29184">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الحاق ویژگی دو رمزگذار</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0.3974</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0.3955</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درون نوفه</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29184">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آموزش با یک قطعه برتر</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بدون بهبود</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29184">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تنظیم لاجیت به‌تنهایی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0.4114</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0.3955</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درون نوفه</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29184">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میانگین‌گیری بذرها برای ماکرو F1</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بدون بهبود</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29184">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بازنویسی توصیف‌های متنی کلاس‌ها</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0.74</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0.86</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بدتر</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bl>
          </a:graphicData>
        </a:graphic>
      </p:graphicFrame>
      <p:sp>
        <p:nvSpPr>
          <p:cNvPr id="5" name="Shape 2"/>
          <p:cNvSpPr/>
          <p:nvPr/>
        </p:nvSpPr>
        <p:spPr>
          <a:xfrm>
            <a:off x="548640" y="4343400"/>
            <a:ext cx="11064240" cy="1783080"/>
          </a:xfrm>
          <a:prstGeom prst="roundRect">
            <a:avLst>
              <a:gd name="adj" fmla="val 5128"/>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6" name="Text 3"/>
          <p:cNvSpPr txBox="1"/>
          <p:nvPr/>
        </p:nvSpPr>
        <p:spPr>
          <a:xfrm>
            <a:off x="868680" y="4526280"/>
            <a:ext cx="10424160" cy="320040"/>
          </a:xfrm>
          <a:prstGeom prst="rect">
            <a:avLst/>
          </a:prstGeom>
          <a:noFill/>
          <a:ln/>
        </p:spPr>
        <p:txBody>
          <a:bodyPr wrap="square" lIns="0" tIns="0" rIns="0" bIns="0" rtlCol="0" anchor="t"/>
          <a:lstStyle/>
          <a:p>
            <a:pPr rtl="1" algn="r" indent="0" marL="0">
              <a:buNone/>
            </a:pPr>
            <a:r>
              <a:rPr lang="en-US" sz="1500" b="1" dirty="0">
                <a:solidFill>
                  <a:srgbClr val="E8A33D"/>
                </a:solidFill>
                <a:latin typeface="Arial" pitchFamily="34" charset="0"/>
                <a:ea typeface="Arial" pitchFamily="34" charset="-122"/>
                <a:cs typeface="Arial" pitchFamily="34" charset="-120"/>
              </a:rPr>
              <a:t>چرا نمونه‌برداری استاندارد بدتر شد — مهم‌ترین یافته منفی</a:t>
            </a:r>
            <a:endParaRPr lang="en-US" sz="1500" dirty="0"/>
          </a:p>
        </p:txBody>
      </p:sp>
      <p:sp>
        <p:nvSpPr>
          <p:cNvPr id="7" name="Text 4"/>
          <p:cNvSpPr txBox="1"/>
          <p:nvPr/>
        </p:nvSpPr>
        <p:spPr>
          <a:xfrm>
            <a:off x="868680" y="4892040"/>
            <a:ext cx="10424160" cy="1143000"/>
          </a:xfrm>
          <a:prstGeom prst="rect">
            <a:avLst/>
          </a:prstGeom>
          <a:noFill/>
          <a:ln/>
        </p:spPr>
        <p:txBody>
          <a:bodyPr wrap="square" lIns="0" tIns="0" rIns="0" bIns="0" rtlCol="0" anchor="t"/>
          <a:lstStyle/>
          <a:p>
            <a:pPr rtl="1" algn="r" indent="0" marL="0">
              <a:lnSpc>
                <a:spcPts val="1800"/>
              </a:lnSpc>
              <a:buNone/>
            </a:pPr>
            <a:r>
              <a:rPr lang="en-US" sz="1200" dirty="0">
                <a:solidFill>
                  <a:srgbClr val="1B2236"/>
                </a:solidFill>
                <a:latin typeface="Arial" pitchFamily="34" charset="0"/>
                <a:ea typeface="Arial" pitchFamily="34" charset="-122"/>
                <a:cs typeface="Arial" pitchFamily="34" charset="-120"/>
              </a:rPr>
              <a:t>قطعه‌های ما کشیده بودند و با نرخ نمونه‌برداری وزن‌های از پیش‌آموزش‌دیده نمی‌خواندند. اصلاح آن نتیجه را بدتر کرد: قطعه‌های کشیده کل ویدیو را می‌پوشانند، در حالی که سی‌ودو پنجره دو ثانیه‌ای تنها حدود ۲۱ درصد یک ویدیوی طولانی را لمس می‌کنند و رویدادی که بیرون همه پنجره‌ها بیفتد اصلاً قابل امتیازدهی نیست.</a:t>
            </a:r>
            <a:endParaRPr lang="en-US" sz="1200" dirty="0"/>
          </a:p>
          <a:p>
            <a:pPr rtl="1" algn="r" indent="0" marL="0">
              <a:lnSpc>
                <a:spcPts val="1800"/>
              </a:lnSpc>
              <a:buNone/>
            </a:pPr>
            <a:endParaRPr lang="en-US" sz="1200" dirty="0"/>
          </a:p>
          <a:p>
            <a:pPr rtl="1" algn="r" indent="0" marL="0">
              <a:lnSpc>
                <a:spcPts val="1800"/>
              </a:lnSpc>
              <a:buNone/>
            </a:pPr>
            <a:r>
              <a:rPr lang="en-US" sz="1200" dirty="0">
                <a:solidFill>
                  <a:srgbClr val="1B2236"/>
                </a:solidFill>
                <a:latin typeface="Arial" pitchFamily="34" charset="0"/>
                <a:ea typeface="Arial" pitchFamily="34" charset="-122"/>
                <a:cs typeface="Arial" pitchFamily="34" charset="-120"/>
              </a:rPr>
              <a:t>نتیجه: پوشش بر اعتبار قطعه غلبه دارد.</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اعتبارسنجی آماری</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چقدر از این اعداد نوفه است؟</a:t>
            </a:r>
            <a:endParaRPr lang="en-US" sz="3000" dirty="0"/>
          </a:p>
        </p:txBody>
      </p:sp>
      <p:sp>
        <p:nvSpPr>
          <p:cNvPr id="4" name="Text 2"/>
          <p:cNvSpPr txBox="1"/>
          <p:nvPr/>
        </p:nvSpPr>
        <p:spPr>
          <a:xfrm>
            <a:off x="548640" y="1627632"/>
            <a:ext cx="11064240" cy="365760"/>
          </a:xfrm>
          <a:prstGeom prst="rect">
            <a:avLst/>
          </a:prstGeom>
          <a:noFill/>
          <a:ln/>
        </p:spPr>
        <p:txBody>
          <a:bodyPr wrap="square" lIns="0" tIns="0" rIns="0" bIns="0" rtlCol="0" anchor="t"/>
          <a:lstStyle/>
          <a:p>
            <a:pPr rtl="1" algn="r" indent="0" marL="0">
              <a:buNone/>
            </a:pPr>
            <a:r>
              <a:rPr lang="en-US" sz="1400" dirty="0">
                <a:solidFill>
                  <a:srgbClr val="1B2236"/>
                </a:solidFill>
                <a:latin typeface="Arial" pitchFamily="34" charset="0"/>
                <a:ea typeface="Arial" pitchFamily="34" charset="-122"/>
                <a:cs typeface="Arial" pitchFamily="34" charset="-120"/>
              </a:rPr>
              <a:t>مجموعه آزمون با ۴۰۰۰ بار بازنمونه‌گیری خودگردان تحلیل شد تا پراکندگی مورد انتظار روی مجموعه‌های آزمون هم‌اندازه تخمین زده شود.</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6675120" cy="914400"/>
        </p:xfrm>
        <a:graphic>
          <a:graphicData uri="http://schemas.openxmlformats.org/drawingml/2006/table">
            <a:tbl>
              <a:tblPr/>
              <a:tblGrid>
                <a:gridCol w="2011680"/>
                <a:gridCol w="1554480"/>
                <a:gridCol w="1554480"/>
                <a:gridCol w="1554480"/>
              </a:tblGrid>
              <a:tr h="384048">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معیار</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مقدار نقطه‌ای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انحراف معیار</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بازه اطمینان ۹۵ درصد</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384048">
                <a:tc>
                  <a:txBody>
                    <a:bodyPr/>
                    <a:lstStyle/>
                    <a:p>
                      <a:pPr algn="r" indent="0" marL="0">
                        <a:buNone/>
                      </a:pPr>
                      <a:r>
                        <a:rPr lang="en-US" sz="1200" b="1" dirty="0">
                          <a:solidFill>
                            <a:srgbClr val="16264F"/>
                          </a:solidFill>
                          <a:latin typeface="Arial" pitchFamily="34" charset="0"/>
                          <a:ea typeface="Arial" pitchFamily="34" charset="-122"/>
                          <a:cs typeface="Arial" pitchFamily="34" charset="-120"/>
                        </a:rPr>
                        <a:t>ماکرو F1</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00" b="1" dirty="0">
                          <a:solidFill>
                            <a:srgbClr val="16264F"/>
                          </a:solidFill>
                          <a:latin typeface="Arial" pitchFamily="34" charset="0"/>
                          <a:ea typeface="Arial" pitchFamily="34" charset="-122"/>
                          <a:cs typeface="Arial" pitchFamily="34" charset="-120"/>
                        </a:rPr>
                        <a:t>0.4298</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00" b="1" dirty="0">
                          <a:solidFill>
                            <a:srgbClr val="16264F"/>
                          </a:solidFill>
                          <a:latin typeface="Arial" pitchFamily="34" charset="0"/>
                          <a:ea typeface="Arial" pitchFamily="34" charset="-122"/>
                          <a:cs typeface="Arial" pitchFamily="34" charset="-120"/>
                        </a:rPr>
                        <a:t>0.037</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00" b="1" dirty="0">
                          <a:solidFill>
                            <a:srgbClr val="16264F"/>
                          </a:solidFill>
                          <a:latin typeface="Arial" pitchFamily="34" charset="0"/>
                          <a:ea typeface="Arial" pitchFamily="34" charset="-122"/>
                          <a:cs typeface="Arial" pitchFamily="34" charset="-120"/>
                        </a:rPr>
                        <a:t>[0.339 , 0.503]</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r h="384048">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صحت چندکلاسه</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0.6897</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0.027</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[0.635 , 0.745]</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84048">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صحت نوع ناهنجاری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0.5000</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0.041</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[0.420 , 0.585]</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84048">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AUC دودویی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0.9610</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0.011</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[0.938 , 0.980]</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bl>
          </a:graphicData>
        </a:graphic>
      </p:graphicFrame>
      <p:sp>
        <p:nvSpPr>
          <p:cNvPr id="6" name="Shape 3"/>
          <p:cNvSpPr/>
          <p:nvPr/>
        </p:nvSpPr>
        <p:spPr>
          <a:xfrm>
            <a:off x="7498080" y="2148840"/>
            <a:ext cx="4114800" cy="1965960"/>
          </a:xfrm>
          <a:prstGeom prst="roundRect">
            <a:avLst>
              <a:gd name="adj" fmla="val 4651"/>
            </a:avLst>
          </a:prstGeom>
          <a:solidFill>
            <a:srgbClr val="FFF7EA"/>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7" name="Text 4"/>
          <p:cNvSpPr txBox="1"/>
          <p:nvPr/>
        </p:nvSpPr>
        <p:spPr>
          <a:xfrm>
            <a:off x="7772400" y="2313432"/>
            <a:ext cx="3566160" cy="320040"/>
          </a:xfrm>
          <a:prstGeom prst="rect">
            <a:avLst/>
          </a:prstGeom>
          <a:noFill/>
          <a:ln/>
        </p:spPr>
        <p:txBody>
          <a:bodyPr wrap="square" lIns="0" tIns="0" rIns="0" bIns="0" rtlCol="0" anchor="t"/>
          <a:lstStyle/>
          <a:p>
            <a:pPr rtl="1" algn="r" indent="0" marL="0">
              <a:buNone/>
            </a:pPr>
            <a:r>
              <a:rPr lang="en-US" sz="1600" b="1" dirty="0">
                <a:solidFill>
                  <a:srgbClr val="E8A33D"/>
                </a:solidFill>
                <a:latin typeface="Arial" pitchFamily="34" charset="0"/>
                <a:ea typeface="Arial" pitchFamily="34" charset="-122"/>
                <a:cs typeface="Arial" pitchFamily="34" charset="-120"/>
              </a:rPr>
              <a:t>کف نوفه</a:t>
            </a:r>
            <a:endParaRPr lang="en-US" sz="1600" dirty="0"/>
          </a:p>
        </p:txBody>
      </p:sp>
      <p:sp>
        <p:nvSpPr>
          <p:cNvPr id="8" name="Text 5"/>
          <p:cNvSpPr txBox="1"/>
          <p:nvPr/>
        </p:nvSpPr>
        <p:spPr>
          <a:xfrm>
            <a:off x="7772400" y="2651760"/>
            <a:ext cx="3566160" cy="548640"/>
          </a:xfrm>
          <a:prstGeom prst="rect">
            <a:avLst/>
          </a:prstGeom>
          <a:noFill/>
          <a:ln/>
        </p:spPr>
        <p:txBody>
          <a:bodyPr wrap="square" lIns="0" tIns="0" rIns="0" bIns="0" rtlCol="0" anchor="t"/>
          <a:lstStyle/>
          <a:p>
            <a:pPr algn="r" indent="0" marL="0">
              <a:buNone/>
            </a:pPr>
            <a:r>
              <a:rPr lang="en-US" sz="3400" b="1" dirty="0">
                <a:solidFill>
                  <a:srgbClr val="E8A33D"/>
                </a:solidFill>
                <a:latin typeface="Arial" pitchFamily="34" charset="0"/>
                <a:ea typeface="Arial" pitchFamily="34" charset="-122"/>
                <a:cs typeface="Arial" pitchFamily="34" charset="-120"/>
              </a:rPr>
              <a:t>0.075</a:t>
            </a:r>
            <a:endParaRPr lang="en-US" sz="3400" dirty="0"/>
          </a:p>
        </p:txBody>
      </p:sp>
      <p:sp>
        <p:nvSpPr>
          <p:cNvPr id="9" name="Text 6"/>
          <p:cNvSpPr txBox="1"/>
          <p:nvPr/>
        </p:nvSpPr>
        <p:spPr>
          <a:xfrm>
            <a:off x="7772400" y="3246120"/>
            <a:ext cx="3566160" cy="731520"/>
          </a:xfrm>
          <a:prstGeom prst="rect">
            <a:avLst/>
          </a:prstGeom>
          <a:noFill/>
          <a:ln/>
        </p:spPr>
        <p:txBody>
          <a:bodyPr wrap="square" lIns="0" tIns="0" rIns="0" bIns="0" rtlCol="0" anchor="t"/>
          <a:lstStyle/>
          <a:p>
            <a:pPr rtl="1" algn="r" indent="0" marL="0">
              <a:lnSpc>
                <a:spcPts val="1800"/>
              </a:lnSpc>
              <a:buNone/>
            </a:pPr>
            <a:r>
              <a:rPr lang="en-US" sz="1200" dirty="0">
                <a:solidFill>
                  <a:srgbClr val="1B2236"/>
                </a:solidFill>
                <a:latin typeface="Arial" pitchFamily="34" charset="0"/>
                <a:ea typeface="Arial" pitchFamily="34" charset="-122"/>
                <a:cs typeface="Arial" pitchFamily="34" charset="-120"/>
              </a:rPr>
              <a:t>اختلاف کمتر از این مقدار در ماکرو F1 روی این تقسیم از نوفه قابل تفکیک نیست.</a:t>
            </a:r>
            <a:endParaRPr lang="en-US" sz="1200" dirty="0"/>
          </a:p>
        </p:txBody>
      </p:sp>
      <p:sp>
        <p:nvSpPr>
          <p:cNvPr id="10" name="Text 7"/>
          <p:cNvSpPr txBox="1"/>
          <p:nvPr/>
        </p:nvSpPr>
        <p:spPr>
          <a:xfrm>
            <a:off x="548640" y="4297680"/>
            <a:ext cx="11064240" cy="365760"/>
          </a:xfrm>
          <a:prstGeom prst="rect">
            <a:avLst/>
          </a:prstGeom>
          <a:noFill/>
          <a:ln/>
        </p:spPr>
        <p:txBody>
          <a:bodyPr wrap="square" lIns="0" tIns="0" rIns="0" bIns="0" rtlCol="0" anchor="t"/>
          <a:lstStyle/>
          <a:p>
            <a:pPr rtl="1" algn="r" indent="0" marL="0">
              <a:buNone/>
            </a:pPr>
            <a:r>
              <a:rPr lang="en-US" sz="1700" b="1" dirty="0">
                <a:solidFill>
                  <a:srgbClr val="16264F"/>
                </a:solidFill>
                <a:latin typeface="Arial" pitchFamily="34" charset="0"/>
                <a:ea typeface="Arial" pitchFamily="34" charset="-122"/>
                <a:cs typeface="Arial" pitchFamily="34" charset="-120"/>
              </a:rPr>
              <a:t>سقف تنظیم روی یک مجموعه آزمون کوچک</a:t>
            </a:r>
            <a:endParaRPr lang="en-US" sz="17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548640" y="4754880"/>
          <a:ext cx="4206240" cy="914400"/>
        </p:xfrm>
        <a:graphic>
          <a:graphicData uri="http://schemas.openxmlformats.org/drawingml/2006/table">
            <a:tbl>
              <a:tblPr/>
              <a:tblGrid>
                <a:gridCol w="2103120"/>
                <a:gridCol w="2103120"/>
              </a:tblGrid>
              <a:tr h="301752">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تعداد ارزیابی</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تورم مورد انتظار</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301752">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۸</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+0.069</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01752">
                <a:tc>
                  <a:txBody>
                    <a:bodyPr/>
                    <a:lstStyle/>
                    <a:p>
                      <a:pPr algn="r" indent="0" marL="0">
                        <a:buNone/>
                      </a:pPr>
                      <a:r>
                        <a:rPr lang="en-US" sz="1200" dirty="0">
                          <a:solidFill>
                            <a:srgbClr val="1B2236"/>
                          </a:solidFill>
                          <a:latin typeface="Arial" pitchFamily="34" charset="0"/>
                          <a:ea typeface="Arial" pitchFamily="34" charset="-122"/>
                          <a:cs typeface="Arial" pitchFamily="34" charset="-120"/>
                        </a:rPr>
                        <a:t>۵۰</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6"/>
                          </a:solidFill>
                          <a:latin typeface="Arial" pitchFamily="34" charset="0"/>
                          <a:ea typeface="Arial" pitchFamily="34" charset="-122"/>
                          <a:cs typeface="Arial" pitchFamily="34" charset="-120"/>
                        </a:rPr>
                        <a:t>+0.095</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01752">
                <a:tc>
                  <a:txBody>
                    <a:bodyPr/>
                    <a:lstStyle/>
                    <a:p>
                      <a:pPr algn="r" indent="0" marL="0">
                        <a:buNone/>
                      </a:pPr>
                      <a:r>
                        <a:rPr lang="en-US" sz="1200" b="1" dirty="0">
                          <a:solidFill>
                            <a:srgbClr val="16264F"/>
                          </a:solidFill>
                          <a:latin typeface="Arial" pitchFamily="34" charset="0"/>
                          <a:ea typeface="Arial" pitchFamily="34" charset="-122"/>
                          <a:cs typeface="Arial" pitchFamily="34" charset="-120"/>
                        </a:rPr>
                        <a:t>۲۰۰</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200" b="1" dirty="0">
                          <a:solidFill>
                            <a:srgbClr val="16264F"/>
                          </a:solidFill>
                          <a:latin typeface="Arial" pitchFamily="34" charset="0"/>
                          <a:ea typeface="Arial" pitchFamily="34" charset="-122"/>
                          <a:cs typeface="Arial" pitchFamily="34" charset="-120"/>
                        </a:rPr>
                        <a:t>+0.111</a:t>
                      </a:r>
                      <a:endParaRPr lang="en-US" sz="12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bl>
          </a:graphicData>
        </a:graphic>
      </p:graphicFrame>
      <p:sp>
        <p:nvSpPr>
          <p:cNvPr id="12" name="Shape 8"/>
          <p:cNvSpPr/>
          <p:nvPr/>
        </p:nvSpPr>
        <p:spPr>
          <a:xfrm>
            <a:off x="5120640" y="4754880"/>
            <a:ext cx="6492240" cy="1325880"/>
          </a:xfrm>
          <a:prstGeom prst="roundRect">
            <a:avLst>
              <a:gd name="adj" fmla="val 6897"/>
            </a:avLst>
          </a:prstGeom>
          <a:solidFill>
            <a:srgbClr val="FFFFFF"/>
          </a:solidFill>
          <a:ln w="12700">
            <a:solidFill>
              <a:srgbClr val="E2E7F0"/>
            </a:solidFill>
            <a:prstDash val="solid"/>
          </a:ln>
          <a:effectLst>
            <a:outerShdw sx="100000" sy="100000" kx="0" ky="0" algn="bl" rotWithShape="0" blurRad="101600" dist="25400" dir="5400000">
              <a:srgbClr val="8A94AC">
                <a:alpha val="16000"/>
              </a:srgbClr>
            </a:outerShdw>
          </a:effectLst>
        </p:spPr>
      </p:sp>
      <p:sp>
        <p:nvSpPr>
          <p:cNvPr id="13" name="Text 9"/>
          <p:cNvSpPr txBox="1"/>
          <p:nvPr/>
        </p:nvSpPr>
        <p:spPr>
          <a:xfrm>
            <a:off x="5394960" y="4937760"/>
            <a:ext cx="5943600" cy="1005840"/>
          </a:xfrm>
          <a:prstGeom prst="rect">
            <a:avLst/>
          </a:prstGeom>
          <a:noFill/>
          <a:ln/>
        </p:spPr>
        <p:txBody>
          <a:bodyPr wrap="square" lIns="0" tIns="0" rIns="0" bIns="0" rtlCol="0" anchor="t"/>
          <a:lstStyle/>
          <a:p>
            <a:pPr rtl="1" algn="r" indent="0" marL="0">
              <a:lnSpc>
                <a:spcPts val="1800"/>
              </a:lnSpc>
              <a:buNone/>
            </a:pPr>
            <a:r>
              <a:rPr lang="en-US" sz="1200" dirty="0">
                <a:solidFill>
                  <a:srgbClr val="1B2236"/>
                </a:solidFill>
                <a:latin typeface="Arial" pitchFamily="34" charset="0"/>
                <a:ea typeface="Arial" pitchFamily="34" charset="-122"/>
                <a:cs typeface="Arial" pitchFamily="34" charset="-120"/>
              </a:rPr>
              <a:t>با حدود ۲۰۰ ارزیابی روی همین تقسیم، گزارش بهترین عدد مشاهده‌شده نتیجه را بیش از اندازه خود اثر ادعاشده بزرگ نشان می‌دهد. به همین دلیل همه اعداد این ارائه از پیکربندی‌هایی می‌آیند که پیش از اجرا تثبیت شده بودند و آستانه تصمیم روی مجموعه آزمون تنظیم نشده است.</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t"/>
          <a:lstStyle/>
          <a:p>
            <a:pPr rtl="1" algn="r" indent="0" marL="0">
              <a:buNone/>
            </a:pPr>
            <a:r>
              <a:rPr lang="en-US" sz="1300" b="1" dirty="0">
                <a:solidFill>
                  <a:srgbClr val="E8A33D"/>
                </a:solidFill>
                <a:latin typeface="Arial" pitchFamily="34" charset="0"/>
                <a:ea typeface="Arial" pitchFamily="34" charset="-122"/>
                <a:cs typeface="Arial" pitchFamily="34" charset="-120"/>
              </a:rPr>
              <a:t>جمع‌بندی نتایج</a:t>
            </a:r>
            <a:endParaRPr lang="en-US" sz="13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rtl="1" algn="r" indent="0" marL="0">
              <a:buNone/>
            </a:pPr>
            <a:r>
              <a:rPr lang="en-US" sz="3000" b="1" dirty="0">
                <a:solidFill>
                  <a:srgbClr val="16264F"/>
                </a:solidFill>
                <a:latin typeface="Arial" pitchFamily="34" charset="0"/>
                <a:ea typeface="Arial" pitchFamily="34" charset="-122"/>
                <a:cs typeface="Arial" pitchFamily="34" charset="-120"/>
              </a:rPr>
              <a:t>جدول کامل نتایج</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4114800"/>
                <a:gridCol w="2011680"/>
                <a:gridCol w="1280160"/>
                <a:gridCol w="1280160"/>
                <a:gridCol w="1280160"/>
                <a:gridCol w="1097280"/>
              </a:tblGrid>
              <a:tr h="329184">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پیکربندی</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رمزگذار</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ماکرو F1</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صحت نوع</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صحت کلی</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AUC</a:t>
                      </a:r>
                      <a:endParaRPr lang="en-US" sz="115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16264F"/>
                    </a:solidFill>
                  </a:tcPr>
                </a:tc>
              </a:tr>
              <a:tr h="329184">
                <a:tc>
                  <a:txBody>
                    <a:bodyPr/>
                    <a:lstStyle/>
                    <a:p>
                      <a:pPr algn="r" indent="0" marL="0">
                        <a:buNone/>
                      </a:pPr>
                      <a:r>
                        <a:rPr lang="en-US" sz="1100" dirty="0">
                          <a:solidFill>
                            <a:srgbClr val="1B2236"/>
                          </a:solidFill>
                          <a:latin typeface="Arial" pitchFamily="34" charset="0"/>
                          <a:ea typeface="Arial" pitchFamily="34" charset="-122"/>
                          <a:cs typeface="Arial" pitchFamily="34" charset="-120"/>
                        </a:rPr>
                        <a:t>مسیر اول — اسم خام کلاس، وزن دستی</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X-CLIP ViT-B/32</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0.3327</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0.3716</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0.6385</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0.9473</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29184">
                <a:tc>
                  <a:txBody>
                    <a:bodyPr/>
                    <a:lstStyle/>
                    <a:p>
                      <a:pPr algn="r" indent="0" marL="0">
                        <a:buNone/>
                      </a:pPr>
                      <a:r>
                        <a:rPr lang="en-US" sz="1100" dirty="0">
                          <a:solidFill>
                            <a:srgbClr val="1B2236"/>
                          </a:solidFill>
                          <a:latin typeface="Arial" pitchFamily="34" charset="0"/>
                          <a:ea typeface="Arial" pitchFamily="34" charset="-122"/>
                          <a:cs typeface="Arial" pitchFamily="34" charset="-120"/>
                        </a:rPr>
                        <a:t>مسیر اول — توصیف بصری + وزن معکوس</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X-CLIP ViT-B/32</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0.3713</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0.4054</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0.6351</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0.9637</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29184">
                <a:tc>
                  <a:txBody>
                    <a:bodyPr/>
                    <a:lstStyle/>
                    <a:p>
                      <a:pPr algn="r" indent="0" marL="0">
                        <a:buNone/>
                      </a:pPr>
                      <a:r>
                        <a:rPr lang="en-US" sz="1100" dirty="0">
                          <a:solidFill>
                            <a:srgbClr val="1B2236"/>
                          </a:solidFill>
                          <a:latin typeface="Arial" pitchFamily="34" charset="0"/>
                          <a:ea typeface="Arial" pitchFamily="34" charset="-122"/>
                          <a:cs typeface="Arial" pitchFamily="34" charset="-120"/>
                        </a:rPr>
                        <a:t>مسیر اول — چهار نمای زمانی در آزمون</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X-CLIP ViT-B/32</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0.3881</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0.4257</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0.6419</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0.9629</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29184">
                <a:tc>
                  <a:txBody>
                    <a:bodyPr/>
                    <a:lstStyle/>
                    <a:p>
                      <a:pPr algn="r" indent="0" marL="0">
                        <a:buNone/>
                      </a:pPr>
                      <a:r>
                        <a:rPr lang="en-US" sz="1100" dirty="0">
                          <a:solidFill>
                            <a:srgbClr val="1B2236"/>
                          </a:solidFill>
                          <a:latin typeface="Arial" pitchFamily="34" charset="0"/>
                          <a:ea typeface="Arial" pitchFamily="34" charset="-122"/>
                          <a:cs typeface="Arial" pitchFamily="34" charset="-120"/>
                        </a:rPr>
                        <a:t>مسیر دوم — سر نقطه‌ای، خط پایه</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VideoMAE ViT-B</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0.2975</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0.3860</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0.5660</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29184">
                <a:tc>
                  <a:txBody>
                    <a:bodyPr/>
                    <a:lstStyle/>
                    <a:p>
                      <a:pPr algn="r" indent="0" marL="0">
                        <a:buNone/>
                      </a:pPr>
                      <a:r>
                        <a:rPr lang="en-US" sz="1100" dirty="0">
                          <a:solidFill>
                            <a:srgbClr val="1B2236"/>
                          </a:solidFill>
                          <a:latin typeface="Arial" pitchFamily="34" charset="0"/>
                          <a:ea typeface="Arial" pitchFamily="34" charset="-122"/>
                          <a:cs typeface="Arial" pitchFamily="34" charset="-120"/>
                        </a:rPr>
                        <a:t>مسیر دوم — سر ترنسفورمر زمانی</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VideoMAE ViT-B</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0.3444</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0.3930</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0.6350</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29184">
                <a:tc>
                  <a:txBody>
                    <a:bodyPr/>
                    <a:lstStyle/>
                    <a:p>
                      <a:pPr algn="r" indent="0" marL="0">
                        <a:buNone/>
                      </a:pPr>
                      <a:r>
                        <a:rPr lang="en-US" sz="1100" dirty="0">
                          <a:solidFill>
                            <a:srgbClr val="1B2236"/>
                          </a:solidFill>
                          <a:latin typeface="Arial" pitchFamily="34" charset="0"/>
                          <a:ea typeface="Arial" pitchFamily="34" charset="-122"/>
                          <a:cs typeface="Arial" pitchFamily="34" charset="-120"/>
                        </a:rPr>
                        <a:t>مسیر دوم — نرخ یادگیری ۰٫۰۰۰۳</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VideoMAE ViT-B</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0.3645</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0.4210</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0.6550</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29184">
                <a:tc>
                  <a:txBody>
                    <a:bodyPr/>
                    <a:lstStyle/>
                    <a:p>
                      <a:pPr algn="r" indent="0" marL="0">
                        <a:buNone/>
                      </a:pPr>
                      <a:r>
                        <a:rPr lang="en-US" sz="1100" dirty="0">
                          <a:solidFill>
                            <a:srgbClr val="1B2236"/>
                          </a:solidFill>
                          <a:latin typeface="Arial" pitchFamily="34" charset="0"/>
                          <a:ea typeface="Arial" pitchFamily="34" charset="-122"/>
                          <a:cs typeface="Arial" pitchFamily="34" charset="-120"/>
                        </a:rPr>
                        <a:t>مسیر دوم — ارتقا به رمزگذار بزرگ</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VideoMAE ViT-L</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0.4122</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0.4786</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0.6897</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EDF1F8"/>
                    </a:solidFill>
                  </a:tcPr>
                </a:tc>
              </a:tr>
              <a:tr h="329184">
                <a:tc>
                  <a:txBody>
                    <a:bodyPr/>
                    <a:lstStyle/>
                    <a:p>
                      <a:pPr algn="r" indent="0" marL="0">
                        <a:buNone/>
                      </a:pPr>
                      <a:r>
                        <a:rPr lang="en-US" sz="1100" dirty="0">
                          <a:solidFill>
                            <a:srgbClr val="1B2236"/>
                          </a:solidFill>
                          <a:latin typeface="Arial" pitchFamily="34" charset="0"/>
                          <a:ea typeface="Arial" pitchFamily="34" charset="-122"/>
                          <a:cs typeface="Arial" pitchFamily="34" charset="-120"/>
                        </a:rPr>
                        <a:t>مسیر دوم — افزودن آمیزش</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VideoMAE ViT-L</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0.4161</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0.4714</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0.6793</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FFF"/>
                    </a:solidFill>
                  </a:tcPr>
                </a:tc>
              </a:tr>
              <a:tr h="329184">
                <a:tc>
                  <a:txBody>
                    <a:bodyPr/>
                    <a:lstStyle/>
                    <a:p>
                      <a:pPr algn="r" indent="0" marL="0">
                        <a:buNone/>
                      </a:pPr>
                      <a:r>
                        <a:rPr lang="en-US" sz="1100" b="1" dirty="0">
                          <a:solidFill>
                            <a:srgbClr val="16264F"/>
                          </a:solidFill>
                          <a:latin typeface="Arial" pitchFamily="34" charset="0"/>
                          <a:ea typeface="Arial" pitchFamily="34" charset="-122"/>
                          <a:cs typeface="Arial" pitchFamily="34" charset="-120"/>
                        </a:rPr>
                        <a:t>مسیر دوم — آمیزش + تنظیم لاجیت</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VideoMAE ViT-L</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0.4298</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0.5000</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0.6897</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c>
                  <a:txBody>
                    <a:bodyPr/>
                    <a:lstStyle/>
                    <a:p>
                      <a:pPr algn="ctr" indent="0" marL="0">
                        <a:buNone/>
                      </a:pPr>
                      <a:r>
                        <a:rPr lang="en-US" sz="1100" b="1" dirty="0">
                          <a:solidFill>
                            <a:srgbClr val="16264F"/>
                          </a:solidFill>
                          <a:latin typeface="Arial" pitchFamily="34" charset="0"/>
                          <a:ea typeface="Arial" pitchFamily="34" charset="-122"/>
                          <a:cs typeface="Arial" pitchFamily="34" charset="-120"/>
                        </a:rPr>
                        <a:t>0.9610</a:t>
                      </a:r>
                      <a:endParaRPr lang="en-US" sz="1100" dirty="0">
                        <a:latin typeface="Arial" charset="0"/>
                        <a:ea typeface="Arial" charset="0"/>
                        <a:cs typeface="Arial" charset="0"/>
                      </a:endParaRPr>
                    </a:p>
                  </a:txBody>
                  <a:tcPr marL="38100" marR="38100" marT="38100" marB="38100" anchor="ctr">
                    <a:lnL w="6350" cap="flat" cmpd="sng" algn="ctr">
                      <a:solidFill>
                        <a:srgbClr val="D9E0EC"/>
                      </a:solidFill>
                      <a:prstDash val="solid"/>
                      <a:round/>
                      <a:headEnd type="none" w="med" len="med"/>
                      <a:tailEnd type="none" w="med" len="med"/>
                    </a:lnL>
                    <a:lnR w="6350" cap="flat" cmpd="sng" algn="ctr">
                      <a:solidFill>
                        <a:srgbClr val="D9E0EC"/>
                      </a:solidFill>
                      <a:prstDash val="solid"/>
                      <a:round/>
                      <a:headEnd type="none" w="med" len="med"/>
                      <a:tailEnd type="none" w="med" len="med"/>
                    </a:lnR>
                    <a:lnT w="6350" cap="flat" cmpd="sng" algn="ctr">
                      <a:solidFill>
                        <a:srgbClr val="D9E0EC"/>
                      </a:solidFill>
                      <a:prstDash val="solid"/>
                      <a:round/>
                      <a:headEnd type="none" w="med" len="med"/>
                      <a:tailEnd type="none" w="med" len="med"/>
                    </a:lnT>
                    <a:lnB w="6350" cap="flat" cmpd="sng" algn="ctr">
                      <a:solidFill>
                        <a:srgbClr val="D9E0EC"/>
                      </a:solidFill>
                      <a:prstDash val="solid"/>
                      <a:round/>
                      <a:headEnd type="none" w="med" len="med"/>
                      <a:tailEnd type="none" w="med" len="med"/>
                    </a:lnB>
                    <a:solidFill>
                      <a:srgbClr val="FFF2DC"/>
                    </a:solidFill>
                  </a:tcPr>
                </a:tc>
              </a:tr>
            </a:tbl>
          </a:graphicData>
        </a:graphic>
      </p:graphicFrame>
      <p:sp>
        <p:nvSpPr>
          <p:cNvPr id="5" name="Text 2"/>
          <p:cNvSpPr txBox="1"/>
          <p:nvPr/>
        </p:nvSpPr>
        <p:spPr>
          <a:xfrm>
            <a:off x="548640" y="5285232"/>
            <a:ext cx="11064240" cy="457200"/>
          </a:xfrm>
          <a:prstGeom prst="rect">
            <a:avLst/>
          </a:prstGeom>
          <a:noFill/>
          <a:ln/>
        </p:spPr>
        <p:txBody>
          <a:bodyPr wrap="square" lIns="0" tIns="0" rIns="0" bIns="0" rtlCol="0" anchor="t"/>
          <a:lstStyle/>
          <a:p>
            <a:pPr rtl="1" algn="r" indent="0" marL="0">
              <a:lnSpc>
                <a:spcPts val="1700"/>
              </a:lnSpc>
              <a:buNone/>
            </a:pPr>
            <a:r>
              <a:rPr lang="en-US" sz="1150" dirty="0">
                <a:solidFill>
                  <a:srgbClr val="6A748C"/>
                </a:solidFill>
                <a:latin typeface="Arial" pitchFamily="34" charset="0"/>
                <a:ea typeface="Arial" pitchFamily="34" charset="-122"/>
                <a:cs typeface="Arial" pitchFamily="34" charset="-120"/>
              </a:rPr>
              <a:t>مسیر اول روی تقسیمی با ۲۹۶ ویدیوی آزمون و مسیر دوم روی تقسیم استاندارد با ۲۹۰ ویدیو اجرا شده‌اند؛ مقایسه مستقیم اعداد دو مسیر با این قید خوانده شود.</a:t>
            </a:r>
            <a:endParaRPr lang="en-US" sz="1150" dirty="0"/>
          </a:p>
        </p:txBody>
      </p:sp>
      <p:sp>
        <p:nvSpPr>
          <p:cNvPr id="6" name="Text 3"/>
          <p:cNvSpPr txBox="1"/>
          <p:nvPr/>
        </p:nvSpPr>
        <p:spPr>
          <a:xfrm>
            <a:off x="548640" y="5760720"/>
            <a:ext cx="3566160" cy="777240"/>
          </a:xfrm>
          <a:prstGeom prst="rect">
            <a:avLst/>
          </a:prstGeom>
          <a:noFill/>
          <a:ln/>
        </p:spPr>
        <p:txBody>
          <a:bodyPr wrap="square" lIns="0" tIns="0" rIns="0" bIns="0" rtlCol="0" anchor="ctr"/>
          <a:lstStyle/>
          <a:p>
            <a:pPr algn="ctr" indent="0" marL="0">
              <a:buNone/>
            </a:pPr>
            <a:r>
              <a:rPr lang="en-US" sz="4000" b="1" dirty="0">
                <a:solidFill>
                  <a:srgbClr val="E8A33D"/>
                </a:solidFill>
                <a:latin typeface="Arial" pitchFamily="34" charset="0"/>
                <a:ea typeface="Arial" pitchFamily="34" charset="-122"/>
                <a:cs typeface="Arial" pitchFamily="34" charset="-120"/>
              </a:rPr>
              <a:t>0.4298</a:t>
            </a:r>
            <a:endParaRPr lang="en-US" sz="4000" dirty="0"/>
          </a:p>
        </p:txBody>
      </p:sp>
      <p:sp>
        <p:nvSpPr>
          <p:cNvPr id="7" name="Text 4"/>
          <p:cNvSpPr txBox="1"/>
          <p:nvPr/>
        </p:nvSpPr>
        <p:spPr>
          <a:xfrm>
            <a:off x="548640" y="6510528"/>
            <a:ext cx="3566160" cy="457200"/>
          </a:xfrm>
          <a:prstGeom prst="rect">
            <a:avLst/>
          </a:prstGeom>
          <a:noFill/>
          <a:ln/>
        </p:spPr>
        <p:txBody>
          <a:bodyPr wrap="square" lIns="0" tIns="0" rIns="0" bIns="0" rtlCol="0" anchor="t"/>
          <a:lstStyle/>
          <a:p>
            <a:pPr rtl="1" algn="ctr" indent="0" marL="0">
              <a:buNone/>
            </a:pPr>
            <a:r>
              <a:rPr lang="en-US" sz="1200" dirty="0">
                <a:solidFill>
                  <a:srgbClr val="6A748C"/>
                </a:solidFill>
                <a:latin typeface="Arial" pitchFamily="34" charset="0"/>
                <a:ea typeface="Arial" pitchFamily="34" charset="-122"/>
                <a:cs typeface="Arial" pitchFamily="34" charset="-120"/>
              </a:rPr>
              <a:t>ماکرو F1 نهایی</a:t>
            </a:r>
            <a:endParaRPr lang="en-US" sz="1200" dirty="0"/>
          </a:p>
        </p:txBody>
      </p:sp>
      <p:sp>
        <p:nvSpPr>
          <p:cNvPr id="8" name="Text 5"/>
          <p:cNvSpPr txBox="1"/>
          <p:nvPr/>
        </p:nvSpPr>
        <p:spPr>
          <a:xfrm>
            <a:off x="4297680" y="5760720"/>
            <a:ext cx="3566160" cy="777240"/>
          </a:xfrm>
          <a:prstGeom prst="rect">
            <a:avLst/>
          </a:prstGeom>
          <a:noFill/>
          <a:ln/>
        </p:spPr>
        <p:txBody>
          <a:bodyPr wrap="square" lIns="0" tIns="0" rIns="0" bIns="0" rtlCol="0" anchor="ctr"/>
          <a:lstStyle/>
          <a:p>
            <a:pPr algn="ctr" indent="0" marL="0">
              <a:buNone/>
            </a:pPr>
            <a:r>
              <a:rPr lang="en-US" sz="4000" b="1" dirty="0">
                <a:solidFill>
                  <a:srgbClr val="16264F"/>
                </a:solidFill>
                <a:latin typeface="Arial" pitchFamily="34" charset="0"/>
                <a:ea typeface="Arial" pitchFamily="34" charset="-122"/>
                <a:cs typeface="Arial" pitchFamily="34" charset="-120"/>
              </a:rPr>
              <a:t>0.5000</a:t>
            </a:r>
            <a:endParaRPr lang="en-US" sz="4000" dirty="0"/>
          </a:p>
        </p:txBody>
      </p:sp>
      <p:sp>
        <p:nvSpPr>
          <p:cNvPr id="9" name="Text 6"/>
          <p:cNvSpPr txBox="1"/>
          <p:nvPr/>
        </p:nvSpPr>
        <p:spPr>
          <a:xfrm>
            <a:off x="4297680" y="6510528"/>
            <a:ext cx="3566160" cy="457200"/>
          </a:xfrm>
          <a:prstGeom prst="rect">
            <a:avLst/>
          </a:prstGeom>
          <a:noFill/>
          <a:ln/>
        </p:spPr>
        <p:txBody>
          <a:bodyPr wrap="square" lIns="0" tIns="0" rIns="0" bIns="0" rtlCol="0" anchor="t"/>
          <a:lstStyle/>
          <a:p>
            <a:pPr rtl="1" algn="ctr" indent="0" marL="0">
              <a:buNone/>
            </a:pPr>
            <a:r>
              <a:rPr lang="en-US" sz="1200" dirty="0">
                <a:solidFill>
                  <a:srgbClr val="6A748C"/>
                </a:solidFill>
                <a:latin typeface="Arial" pitchFamily="34" charset="0"/>
                <a:ea typeface="Arial" pitchFamily="34" charset="-122"/>
                <a:cs typeface="Arial" pitchFamily="34" charset="-120"/>
              </a:rPr>
              <a:t>صحت نوع ناهنجاری</a:t>
            </a:r>
            <a:endParaRPr lang="en-US" sz="1200" dirty="0"/>
          </a:p>
        </p:txBody>
      </p:sp>
      <p:sp>
        <p:nvSpPr>
          <p:cNvPr id="10" name="Text 7"/>
          <p:cNvSpPr txBox="1"/>
          <p:nvPr/>
        </p:nvSpPr>
        <p:spPr>
          <a:xfrm>
            <a:off x="8046720" y="5760720"/>
            <a:ext cx="3566160" cy="777240"/>
          </a:xfrm>
          <a:prstGeom prst="rect">
            <a:avLst/>
          </a:prstGeom>
          <a:noFill/>
          <a:ln/>
        </p:spPr>
        <p:txBody>
          <a:bodyPr wrap="square" lIns="0" tIns="0" rIns="0" bIns="0" rtlCol="0" anchor="ctr"/>
          <a:lstStyle/>
          <a:p>
            <a:pPr algn="ctr" indent="0" marL="0">
              <a:buNone/>
            </a:pPr>
            <a:r>
              <a:rPr lang="en-US" sz="4000" b="1" dirty="0">
                <a:solidFill>
                  <a:srgbClr val="16264F"/>
                </a:solidFill>
                <a:latin typeface="Arial" pitchFamily="34" charset="0"/>
                <a:ea typeface="Arial" pitchFamily="34" charset="-122"/>
                <a:cs typeface="Arial" pitchFamily="34" charset="-120"/>
              </a:rPr>
              <a:t>0.6897</a:t>
            </a:r>
            <a:endParaRPr lang="en-US" sz="4000" dirty="0"/>
          </a:p>
        </p:txBody>
      </p:sp>
      <p:sp>
        <p:nvSpPr>
          <p:cNvPr id="11" name="Text 8"/>
          <p:cNvSpPr txBox="1"/>
          <p:nvPr/>
        </p:nvSpPr>
        <p:spPr>
          <a:xfrm>
            <a:off x="8046720" y="6510528"/>
            <a:ext cx="3566160" cy="457200"/>
          </a:xfrm>
          <a:prstGeom prst="rect">
            <a:avLst/>
          </a:prstGeom>
          <a:noFill/>
          <a:ln/>
        </p:spPr>
        <p:txBody>
          <a:bodyPr wrap="square" lIns="0" tIns="0" rIns="0" bIns="0" rtlCol="0" anchor="t"/>
          <a:lstStyle/>
          <a:p>
            <a:pPr rtl="1" algn="ctr" indent="0" marL="0">
              <a:buNone/>
            </a:pPr>
            <a:r>
              <a:rPr lang="en-US" sz="1200" dirty="0">
                <a:solidFill>
                  <a:srgbClr val="6A748C"/>
                </a:solidFill>
                <a:latin typeface="Arial" pitchFamily="34" charset="0"/>
                <a:ea typeface="Arial" pitchFamily="34" charset="-122"/>
                <a:cs typeface="Arial" pitchFamily="34" charset="-120"/>
              </a:rPr>
              <a:t>صحت چندکلاسه</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264F"/>
        </a:solidFill>
      </p:bgPr>
    </p:bg>
    <p:spTree>
      <p:nvGrpSpPr>
        <p:cNvPr id="1" name=""/>
        <p:cNvGrpSpPr/>
        <p:nvPr/>
      </p:nvGrpSpPr>
      <p:grpSpPr>
        <a:xfrm>
          <a:off x="0" y="0"/>
          <a:ext cx="0" cy="0"/>
          <a:chOff x="0" y="0"/>
          <a:chExt cx="0" cy="0"/>
        </a:xfrm>
      </p:grpSpPr>
      <p:sp>
        <p:nvSpPr>
          <p:cNvPr id="2" name="Shape 0"/>
          <p:cNvSpPr/>
          <p:nvPr/>
        </p:nvSpPr>
        <p:spPr>
          <a:xfrm>
            <a:off x="9326880" y="-1280160"/>
            <a:ext cx="4572000" cy="4572000"/>
          </a:xfrm>
          <a:prstGeom prst="ellipse">
            <a:avLst/>
          </a:prstGeom>
          <a:solidFill>
            <a:srgbClr val="1E3566"/>
          </a:solidFill>
          <a:ln w="12700">
            <a:solidFill>
              <a:srgbClr val="333333"/>
            </a:solidFill>
            <a:prstDash val="solid"/>
          </a:ln>
        </p:spPr>
      </p:sp>
      <p:sp>
        <p:nvSpPr>
          <p:cNvPr id="3" name="Text 1"/>
          <p:cNvSpPr txBox="1"/>
          <p:nvPr/>
        </p:nvSpPr>
        <p:spPr>
          <a:xfrm>
            <a:off x="640080" y="502920"/>
            <a:ext cx="10881360" cy="640080"/>
          </a:xfrm>
          <a:prstGeom prst="rect">
            <a:avLst/>
          </a:prstGeom>
          <a:noFill/>
          <a:ln/>
        </p:spPr>
        <p:txBody>
          <a:bodyPr wrap="square" lIns="0" tIns="0" rIns="0" bIns="0" rtlCol="0" anchor="t"/>
          <a:lstStyle/>
          <a:p>
            <a:pPr rtl="1" algn="r" indent="0" marL="0">
              <a:buNone/>
            </a:pPr>
            <a:r>
              <a:rPr lang="en-US" sz="3000" b="1" dirty="0">
                <a:solidFill>
                  <a:srgbClr val="FFFFFF"/>
                </a:solidFill>
                <a:latin typeface="Arial" pitchFamily="34" charset="0"/>
                <a:ea typeface="Arial" pitchFamily="34" charset="-122"/>
                <a:cs typeface="Arial" pitchFamily="34" charset="-120"/>
              </a:rPr>
              <a:t>جمع‌بندی و کارهای آینده</a:t>
            </a:r>
            <a:endParaRPr lang="en-US" sz="3000" dirty="0"/>
          </a:p>
        </p:txBody>
      </p:sp>
      <p:sp>
        <p:nvSpPr>
          <p:cNvPr id="4" name="Shape 2"/>
          <p:cNvSpPr/>
          <p:nvPr/>
        </p:nvSpPr>
        <p:spPr>
          <a:xfrm>
            <a:off x="640080" y="1600200"/>
            <a:ext cx="10881360" cy="868680"/>
          </a:xfrm>
          <a:prstGeom prst="roundRect">
            <a:avLst>
              <a:gd name="adj" fmla="val 8421"/>
            </a:avLst>
          </a:prstGeom>
          <a:solidFill>
            <a:srgbClr val="1E3566"/>
          </a:solidFill>
          <a:ln w="12700">
            <a:solidFill>
              <a:srgbClr val="333333"/>
            </a:solidFill>
            <a:prstDash val="solid"/>
          </a:ln>
        </p:spPr>
      </p:sp>
      <p:sp>
        <p:nvSpPr>
          <p:cNvPr id="5" name="Text 3"/>
          <p:cNvSpPr txBox="1"/>
          <p:nvPr/>
        </p:nvSpPr>
        <p:spPr>
          <a:xfrm>
            <a:off x="9692640" y="1746504"/>
            <a:ext cx="1645920" cy="365760"/>
          </a:xfrm>
          <a:prstGeom prst="rect">
            <a:avLst/>
          </a:prstGeom>
          <a:noFill/>
          <a:ln/>
        </p:spPr>
        <p:txBody>
          <a:bodyPr wrap="square" lIns="0" tIns="0" rIns="0" bIns="0" rtlCol="0" anchor="t"/>
          <a:lstStyle/>
          <a:p>
            <a:pPr rtl="1" algn="r" indent="0" marL="0">
              <a:buNone/>
            </a:pPr>
            <a:r>
              <a:rPr lang="en-US" sz="1500" b="1" dirty="0">
                <a:solidFill>
                  <a:srgbClr val="3FA7A0"/>
                </a:solidFill>
                <a:latin typeface="Arial" pitchFamily="34" charset="0"/>
                <a:ea typeface="Arial" pitchFamily="34" charset="-122"/>
                <a:cs typeface="Arial" pitchFamily="34" charset="-120"/>
              </a:rPr>
              <a:t>دستاورد</a:t>
            </a:r>
            <a:endParaRPr lang="en-US" sz="1500" dirty="0"/>
          </a:p>
        </p:txBody>
      </p:sp>
      <p:sp>
        <p:nvSpPr>
          <p:cNvPr id="6" name="Text 4"/>
          <p:cNvSpPr txBox="1"/>
          <p:nvPr/>
        </p:nvSpPr>
        <p:spPr>
          <a:xfrm>
            <a:off x="914400" y="1783080"/>
            <a:ext cx="8595360" cy="685800"/>
          </a:xfrm>
          <a:prstGeom prst="rect">
            <a:avLst/>
          </a:prstGeom>
          <a:noFill/>
          <a:ln/>
        </p:spPr>
        <p:txBody>
          <a:bodyPr wrap="square" lIns="0" tIns="0" rIns="0" bIns="0" rtlCol="0" anchor="t"/>
          <a:lstStyle/>
          <a:p>
            <a:pPr rtl="1" algn="r" indent="0" marL="0">
              <a:lnSpc>
                <a:spcPts val="2000"/>
              </a:lnSpc>
              <a:buNone/>
            </a:pPr>
            <a:r>
              <a:rPr lang="en-US" sz="1300" dirty="0">
                <a:solidFill>
                  <a:srgbClr val="FFFFFF"/>
                </a:solidFill>
                <a:latin typeface="Arial" pitchFamily="34" charset="0"/>
                <a:ea typeface="Arial" pitchFamily="34" charset="-122"/>
                <a:cs typeface="Arial" pitchFamily="34" charset="-120"/>
              </a:rPr>
              <a:t>اصلاح سه اشکال بنیادی، بازطراحی معماری با رمزگذار منجمد، سر ترنسفورمر زمانی، و پروتکل ارزیابی با کف نوفه</a:t>
            </a:r>
            <a:endParaRPr lang="en-US" sz="1300" dirty="0"/>
          </a:p>
        </p:txBody>
      </p:sp>
      <p:sp>
        <p:nvSpPr>
          <p:cNvPr id="7" name="Shape 5"/>
          <p:cNvSpPr/>
          <p:nvPr/>
        </p:nvSpPr>
        <p:spPr>
          <a:xfrm>
            <a:off x="640080" y="2743200"/>
            <a:ext cx="10881360" cy="868680"/>
          </a:xfrm>
          <a:prstGeom prst="roundRect">
            <a:avLst>
              <a:gd name="adj" fmla="val 8421"/>
            </a:avLst>
          </a:prstGeom>
          <a:solidFill>
            <a:srgbClr val="1E3566"/>
          </a:solidFill>
          <a:ln w="12700">
            <a:solidFill>
              <a:srgbClr val="333333"/>
            </a:solidFill>
            <a:prstDash val="solid"/>
          </a:ln>
        </p:spPr>
      </p:sp>
      <p:sp>
        <p:nvSpPr>
          <p:cNvPr id="8" name="Text 6"/>
          <p:cNvSpPr txBox="1"/>
          <p:nvPr/>
        </p:nvSpPr>
        <p:spPr>
          <a:xfrm>
            <a:off x="9692640" y="2889504"/>
            <a:ext cx="1645920" cy="365760"/>
          </a:xfrm>
          <a:prstGeom prst="rect">
            <a:avLst/>
          </a:prstGeom>
          <a:noFill/>
          <a:ln/>
        </p:spPr>
        <p:txBody>
          <a:bodyPr wrap="square" lIns="0" tIns="0" rIns="0" bIns="0" rtlCol="0" anchor="t"/>
          <a:lstStyle/>
          <a:p>
            <a:pPr rtl="1" algn="r" indent="0" marL="0">
              <a:buNone/>
            </a:pPr>
            <a:r>
              <a:rPr lang="en-US" sz="1500" b="1" dirty="0">
                <a:solidFill>
                  <a:srgbClr val="E8A33D"/>
                </a:solidFill>
                <a:latin typeface="Arial" pitchFamily="34" charset="0"/>
                <a:ea typeface="Arial" pitchFamily="34" charset="-122"/>
                <a:cs typeface="Arial" pitchFamily="34" charset="-120"/>
              </a:rPr>
              <a:t>محدودیت</a:t>
            </a:r>
            <a:endParaRPr lang="en-US" sz="1500" dirty="0"/>
          </a:p>
        </p:txBody>
      </p:sp>
      <p:sp>
        <p:nvSpPr>
          <p:cNvPr id="9" name="Text 7"/>
          <p:cNvSpPr txBox="1"/>
          <p:nvPr/>
        </p:nvSpPr>
        <p:spPr>
          <a:xfrm>
            <a:off x="914400" y="2926080"/>
            <a:ext cx="8595360" cy="685800"/>
          </a:xfrm>
          <a:prstGeom prst="rect">
            <a:avLst/>
          </a:prstGeom>
          <a:noFill/>
          <a:ln/>
        </p:spPr>
        <p:txBody>
          <a:bodyPr wrap="square" lIns="0" tIns="0" rIns="0" bIns="0" rtlCol="0" anchor="t"/>
          <a:lstStyle/>
          <a:p>
            <a:pPr rtl="1" algn="r" indent="0" marL="0">
              <a:lnSpc>
                <a:spcPts val="2000"/>
              </a:lnSpc>
              <a:buNone/>
            </a:pPr>
            <a:r>
              <a:rPr lang="en-US" sz="1300" dirty="0">
                <a:solidFill>
                  <a:srgbClr val="FFFFFF"/>
                </a:solidFill>
                <a:latin typeface="Arial" pitchFamily="34" charset="0"/>
                <a:ea typeface="Arial" pitchFamily="34" charset="-122"/>
                <a:cs typeface="Arial" pitchFamily="34" charset="-120"/>
              </a:rPr>
              <a:t>رمزگذار به دامنه نظارتی تطبیق نمی‌یابد؛ مجموعه آزمون کوچک است و بازه‌های اطمینان پهن</a:t>
            </a:r>
            <a:endParaRPr lang="en-US" sz="1300" dirty="0"/>
          </a:p>
        </p:txBody>
      </p:sp>
      <p:sp>
        <p:nvSpPr>
          <p:cNvPr id="10" name="Shape 8"/>
          <p:cNvSpPr/>
          <p:nvPr/>
        </p:nvSpPr>
        <p:spPr>
          <a:xfrm>
            <a:off x="640080" y="3886200"/>
            <a:ext cx="10881360" cy="868680"/>
          </a:xfrm>
          <a:prstGeom prst="roundRect">
            <a:avLst>
              <a:gd name="adj" fmla="val 8421"/>
            </a:avLst>
          </a:prstGeom>
          <a:solidFill>
            <a:srgbClr val="1E3566"/>
          </a:solidFill>
          <a:ln w="12700">
            <a:solidFill>
              <a:srgbClr val="333333"/>
            </a:solidFill>
            <a:prstDash val="solid"/>
          </a:ln>
        </p:spPr>
      </p:sp>
      <p:sp>
        <p:nvSpPr>
          <p:cNvPr id="11" name="Text 9"/>
          <p:cNvSpPr txBox="1"/>
          <p:nvPr/>
        </p:nvSpPr>
        <p:spPr>
          <a:xfrm>
            <a:off x="9692640" y="4032504"/>
            <a:ext cx="1645920" cy="365760"/>
          </a:xfrm>
          <a:prstGeom prst="rect">
            <a:avLst/>
          </a:prstGeom>
          <a:noFill/>
          <a:ln/>
        </p:spPr>
        <p:txBody>
          <a:bodyPr wrap="square" lIns="0" tIns="0" rIns="0" bIns="0" rtlCol="0" anchor="t"/>
          <a:lstStyle/>
          <a:p>
            <a:pPr rtl="1" algn="r" indent="0" marL="0">
              <a:buNone/>
            </a:pPr>
            <a:r>
              <a:rPr lang="en-US" sz="1500" b="1" dirty="0">
                <a:solidFill>
                  <a:srgbClr val="BFD4F2"/>
                </a:solidFill>
                <a:latin typeface="Arial" pitchFamily="34" charset="0"/>
                <a:ea typeface="Arial" pitchFamily="34" charset="-122"/>
                <a:cs typeface="Arial" pitchFamily="34" charset="-120"/>
              </a:rPr>
              <a:t>کار آینده</a:t>
            </a:r>
            <a:endParaRPr lang="en-US" sz="1500" dirty="0"/>
          </a:p>
        </p:txBody>
      </p:sp>
      <p:sp>
        <p:nvSpPr>
          <p:cNvPr id="12" name="Text 10"/>
          <p:cNvSpPr txBox="1"/>
          <p:nvPr/>
        </p:nvSpPr>
        <p:spPr>
          <a:xfrm>
            <a:off x="914400" y="4069080"/>
            <a:ext cx="8595360" cy="685800"/>
          </a:xfrm>
          <a:prstGeom prst="rect">
            <a:avLst/>
          </a:prstGeom>
          <a:noFill/>
          <a:ln/>
        </p:spPr>
        <p:txBody>
          <a:bodyPr wrap="square" lIns="0" tIns="0" rIns="0" bIns="0" rtlCol="0" anchor="t"/>
          <a:lstStyle/>
          <a:p>
            <a:pPr rtl="1" algn="r" indent="0" marL="0">
              <a:lnSpc>
                <a:spcPts val="2000"/>
              </a:lnSpc>
              <a:buNone/>
            </a:pPr>
            <a:r>
              <a:rPr lang="en-US" sz="1300" dirty="0">
                <a:solidFill>
                  <a:srgbClr val="FFFFFF"/>
                </a:solidFill>
                <a:latin typeface="Arial" pitchFamily="34" charset="0"/>
                <a:ea typeface="Arial" pitchFamily="34" charset="-122"/>
                <a:cs typeface="Arial" pitchFamily="34" charset="-120"/>
              </a:rPr>
              <a:t>افزایش وضوح مکانی برای خوشه دزدی، تنظیم دقیق رمزگذار روی داده نظارتی، و تقسیم داده با سهم بزرگ‌تر برای آزمون</a:t>
            </a:r>
            <a:endParaRPr lang="en-US" sz="1300" dirty="0"/>
          </a:p>
        </p:txBody>
      </p:sp>
      <p:sp>
        <p:nvSpPr>
          <p:cNvPr id="13" name="Shape 11"/>
          <p:cNvSpPr/>
          <p:nvPr/>
        </p:nvSpPr>
        <p:spPr>
          <a:xfrm>
            <a:off x="640080" y="5212080"/>
            <a:ext cx="10881360" cy="1005840"/>
          </a:xfrm>
          <a:prstGeom prst="roundRect">
            <a:avLst>
              <a:gd name="adj" fmla="val 7273"/>
            </a:avLst>
          </a:prstGeom>
          <a:solidFill>
            <a:srgbClr val="E8A33D"/>
          </a:solidFill>
          <a:ln w="12700">
            <a:solidFill>
              <a:srgbClr val="333333"/>
            </a:solidFill>
            <a:prstDash val="solid"/>
          </a:ln>
        </p:spPr>
      </p:sp>
      <p:sp>
        <p:nvSpPr>
          <p:cNvPr id="14" name="Text 12"/>
          <p:cNvSpPr txBox="1"/>
          <p:nvPr/>
        </p:nvSpPr>
        <p:spPr>
          <a:xfrm>
            <a:off x="914400" y="5413248"/>
            <a:ext cx="10332720" cy="640080"/>
          </a:xfrm>
          <a:prstGeom prst="rect">
            <a:avLst/>
          </a:prstGeom>
          <a:noFill/>
          <a:ln/>
        </p:spPr>
        <p:txBody>
          <a:bodyPr wrap="square" lIns="0" tIns="0" rIns="0" bIns="0" rtlCol="0" anchor="t"/>
          <a:lstStyle/>
          <a:p>
            <a:pPr rtl="1" algn="r" indent="0" marL="0">
              <a:lnSpc>
                <a:spcPts val="2100"/>
              </a:lnSpc>
              <a:buNone/>
            </a:pPr>
            <a:r>
              <a:rPr lang="en-US" sz="1400" b="1" dirty="0">
                <a:solidFill>
                  <a:srgbClr val="1B1300"/>
                </a:solidFill>
                <a:latin typeface="Arial" pitchFamily="34" charset="0"/>
                <a:ea typeface="Arial" pitchFamily="34" charset="-122"/>
                <a:cs typeface="Arial" pitchFamily="34" charset="-120"/>
              </a:rPr>
              <a:t>بیشترین اثر را نه یک ایده الگوریتمی، بلکه کاهش هزینه هر آزمایش داشت؛ و کمّی کردن نوفه پیش از تفسیر، از ادعاهایی جلوگیری کرد که داده پشتیبان آن‌ها نبود.</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تشخیص نوع ناهنجاری در ویدیوهای نظارتی</dc:title>
  <dc:subject>PptxGenJS Presentation</dc:subject>
  <dc:creator/>
  <cp:lastModifiedBy/>
  <cp:revision>1</cp:revision>
  <dcterms:created xsi:type="dcterms:W3CDTF">2026-09-13T08:50:14Z</dcterms:created>
  <dcterms:modified xsi:type="dcterms:W3CDTF">2026-09-13T08:50:14Z</dcterms:modified>
</cp:coreProperties>
</file>