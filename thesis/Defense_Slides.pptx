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اعداد ستون آموزش مستقیم از create_balanced_split.py می‌آیند و قطعی‌اند. ستون آزمون از گزارش آزمایش‌ها بازسازی شده؛ پیش از ارائه با فایل تقسیم خودتان بسنجید.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نسبت عدم توازن در این مسیر دست‌نخورده می‌ماند؛ به همین دلیل وزن‌دهی معکوس فراوانی در تابع زیان ضروری است.</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اسلاید صورت‌بندی رسمی است. اگر وقت کم آمد، فقط فرض چندنمونه‌ای و اصلاح انتخاب یک‌باره را بگویید.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244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E8A33D"/>
                </a:solidFill>
                <a:latin typeface="Vazir"/>
                <a:cs typeface="Vazir"/>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FFFFFF"/>
                </a:solidFill>
                <a:latin typeface="Vazir"/>
                <a:cs typeface="Vazir"/>
              </a:rPr>
              <a:t>تشخیص نوع ناهنجاری</a:t>
            </a:r>
          </a:p>
          <a:p>
            <a:pPr rtl="1" algn="r">
              <a:lnSpc>
                <a:spcPts val="4600"/>
              </a:lnSpc>
              <a:spcBef>
                <a:spcPts val="0"/>
              </a:spcBef>
              <a:spcAft>
                <a:spcPts val="0"/>
              </a:spcAft>
            </a:pPr>
            <a:r>
              <a:rPr sz="3800" b="1" i="0">
                <a:solidFill>
                  <a:srgbClr val="FFFFFF"/>
                </a:solidFill>
                <a:latin typeface="Vazir"/>
                <a:cs typeface="Vazir"/>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BFD4F2"/>
                </a:solidFill>
                <a:latin typeface="Vazir"/>
                <a:cs typeface="Vazir"/>
              </a:rPr>
              <a:t>یادگیری چندنمونه‌ای ضعیف‌نظارت با ستون فقرات ترنسفورمر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FD4F2"/>
                </a:solidFill>
                <a:latin typeface="Vazir"/>
                <a:cs typeface="Vazir"/>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E8A33D"/>
                </a:solidFill>
                <a:latin typeface="Vazir"/>
                <a:cs typeface="Vazir"/>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BFD4F2"/>
                </a:solidFill>
                <a:latin typeface="Vazir"/>
                <a:cs typeface="Vazir"/>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8FA6D4"/>
                </a:solidFill>
                <a:latin typeface="Vazir"/>
                <a:cs typeface="Vazir"/>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صورت مسئله</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فصل اول</a:t>
            </a:r>
          </a:p>
        </p:txBody>
      </p:sp>
      <p:sp>
        <p:nvSpPr>
          <p:cNvPr id="4" name="Rounded Rectangle 3"/>
          <p:cNvSpPr/>
          <p:nvPr/>
        </p:nvSpPr>
        <p:spPr>
          <a:xfrm>
            <a:off x="548640" y="1600200"/>
            <a:ext cx="5394960" cy="19202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6A748C"/>
                </a:solidFill>
                <a:latin typeface="Vazir"/>
                <a:cs typeface="Vazir"/>
              </a:rPr>
              <a:t>مسئله متداول: تشخیص ناهنجاری</a:t>
            </a:r>
          </a:p>
        </p:txBody>
      </p:sp>
      <p:sp>
        <p:nvSpPr>
          <p:cNvPr id="6" name="TextBox 5"/>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Vazir"/>
                <a:cs typeface="Vazir"/>
              </a:rPr>
              <a:t>آیا این ویدیو ناهنجار است؟</a:t>
            </a:r>
          </a:p>
          <a:p>
            <a:pPr rtl="1" algn="r">
              <a:lnSpc>
                <a:spcPts val="2400"/>
              </a:lnSpc>
              <a:spcBef>
                <a:spcPts val="0"/>
              </a:spcBef>
              <a:spcAft>
                <a:spcPts val="0"/>
              </a:spcAft>
            </a:pPr>
            <a:r>
              <a:rPr sz="1500" b="0" i="0">
                <a:solidFill>
                  <a:srgbClr val="1B2236"/>
                </a:solidFill>
                <a:latin typeface="Vazir"/>
                <a:cs typeface="Vazir"/>
              </a:rPr>
              <a:t>جواب: بله یا خیر</a:t>
            </a:r>
          </a:p>
        </p:txBody>
      </p:sp>
      <p:sp>
        <p:nvSpPr>
          <p:cNvPr id="7" name="Rounded Rectangle 6"/>
          <p:cNvSpPr/>
          <p:nvPr/>
        </p:nvSpPr>
        <p:spPr>
          <a:xfrm>
            <a:off x="6217920" y="1600200"/>
            <a:ext cx="5394960" cy="19202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Vazir"/>
                <a:cs typeface="Vazir"/>
              </a:rPr>
              <a:t>مسئله ما: تشخیص نوع ناهنجاری</a:t>
            </a:r>
          </a:p>
        </p:txBody>
      </p:sp>
      <p:sp>
        <p:nvSpPr>
          <p:cNvPr id="9" name="TextBox 8"/>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Vazir"/>
                <a:cs typeface="Vazir"/>
              </a:rPr>
              <a:t>کدام نوع ناهنجاری رخ داده؟</a:t>
            </a:r>
          </a:p>
          <a:p>
            <a:pPr rtl="1" algn="r">
              <a:lnSpc>
                <a:spcPts val="2400"/>
              </a:lnSpc>
              <a:spcBef>
                <a:spcPts val="0"/>
              </a:spcBef>
              <a:spcAft>
                <a:spcPts val="0"/>
              </a:spcAft>
            </a:pPr>
            <a:r>
              <a:rPr sz="1500" b="0" i="0">
                <a:solidFill>
                  <a:srgbClr val="1B2236"/>
                </a:solidFill>
                <a:latin typeface="Vazir"/>
                <a:cs typeface="Vazir"/>
              </a:rPr>
              <a:t>جواب: یکی از ۱۴ کلاس</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16264F"/>
                </a:solidFill>
                <a:latin typeface="Vazir"/>
                <a:cs typeface="Vazir"/>
              </a:rPr>
              <a:t>چرا این تفاوت مهم است</a:t>
            </a:r>
          </a:p>
        </p:txBody>
      </p:sp>
      <p:sp>
        <p:nvSpPr>
          <p:cNvPr id="11" name="TextBox 10"/>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1B2236"/>
                </a:solidFill>
                <a:latin typeface="Vazir"/>
                <a:cs typeface="Vazir"/>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1B2236"/>
                </a:solidFill>
                <a:latin typeface="Vazir"/>
                <a:cs typeface="Vazir"/>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1B2236"/>
                </a:solidFill>
                <a:latin typeface="Vazir"/>
                <a:cs typeface="Vazir"/>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مجموعه داده UCF-Crime</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داده</a:t>
            </a:r>
          </a:p>
        </p:txBody>
      </p:sp>
      <p:sp>
        <p:nvSpPr>
          <p:cNvPr id="4" name="TextBox 3"/>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1900</a:t>
            </a:r>
          </a:p>
        </p:txBody>
      </p:sp>
      <p:sp>
        <p:nvSpPr>
          <p:cNvPr id="5" name="TextBox 4"/>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کل ویدیوها</a:t>
            </a:r>
          </a:p>
        </p:txBody>
      </p:sp>
      <p:sp>
        <p:nvSpPr>
          <p:cNvPr id="6" name="TextBox 5"/>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14</a:t>
            </a:r>
          </a:p>
        </p:txBody>
      </p:sp>
      <p:sp>
        <p:nvSpPr>
          <p:cNvPr id="7" name="TextBox 6"/>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کلاس</a:t>
            </a:r>
          </a:p>
        </p:txBody>
      </p:sp>
      <p:sp>
        <p:nvSpPr>
          <p:cNvPr id="8" name="TextBox 7"/>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Vazir"/>
                <a:cs typeface="Vazir"/>
              </a:rPr>
              <a:t>1895</a:t>
            </a:r>
          </a:p>
        </p:txBody>
      </p:sp>
      <p:sp>
        <p:nvSpPr>
          <p:cNvPr id="9" name="TextBox 8"/>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رمزگشایی موفق</a:t>
            </a:r>
          </a:p>
        </p:txBody>
      </p:sp>
      <p:sp>
        <p:nvSpPr>
          <p:cNvPr id="10" name="TextBox 9"/>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Vazir"/>
                <a:cs typeface="Vazir"/>
              </a:rPr>
              <a:t>5</a:t>
            </a:r>
          </a:p>
        </p:txBody>
      </p:sp>
      <p:sp>
        <p:nvSpPr>
          <p:cNvPr id="11" name="TextBox 10"/>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فایل خراب</a:t>
            </a:r>
          </a:p>
        </p:txBody>
      </p:sp>
      <p:sp>
        <p:nvSpPr>
          <p:cNvPr id="12" name="Rounded Rectangle 11"/>
          <p:cNvSpPr/>
          <p:nvPr/>
        </p:nvSpPr>
        <p:spPr>
          <a:xfrm>
            <a:off x="548640" y="3200400"/>
            <a:ext cx="5394960" cy="28346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ویژگی‌های داده</a:t>
            </a:r>
          </a:p>
        </p:txBody>
      </p:sp>
      <p:sp>
        <p:nvSpPr>
          <p:cNvPr id="14" name="TextBox 13"/>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Vazir"/>
                <a:cs typeface="Vazir"/>
              </a:rPr>
              <a:t>●  ویدیوی واقعی دوربین مداربسته، نه صحنه‌پردازی</a:t>
            </a:r>
          </a:p>
          <a:p>
            <a:pPr rtl="1" algn="r">
              <a:lnSpc>
                <a:spcPts val="1900"/>
              </a:lnSpc>
              <a:spcBef>
                <a:spcPts val="0"/>
              </a:spcBef>
              <a:spcAft>
                <a:spcPts val="700"/>
              </a:spcAft>
            </a:pPr>
            <a:r>
              <a:rPr sz="1300" b="0" i="0">
                <a:solidFill>
                  <a:srgbClr val="1B2236"/>
                </a:solidFill>
                <a:latin typeface="Vazir"/>
                <a:cs typeface="Vazir"/>
              </a:rPr>
              <a:t>●  وضوح پایین، نور ضعیف، زاویه نامناسب</a:t>
            </a:r>
          </a:p>
          <a:p>
            <a:pPr rtl="1" algn="r">
              <a:lnSpc>
                <a:spcPts val="1900"/>
              </a:lnSpc>
              <a:spcBef>
                <a:spcPts val="0"/>
              </a:spcBef>
              <a:spcAft>
                <a:spcPts val="700"/>
              </a:spcAft>
            </a:pPr>
            <a:r>
              <a:rPr sz="1300" b="0" i="0">
                <a:solidFill>
                  <a:srgbClr val="1B2236"/>
                </a:solidFill>
                <a:latin typeface="Vazir"/>
                <a:cs typeface="Vazir"/>
              </a:rPr>
              <a:t>●  مدت‌زمان از چند ثانیه تا چند دقیقه</a:t>
            </a:r>
          </a:p>
          <a:p>
            <a:pPr rtl="1" algn="r">
              <a:lnSpc>
                <a:spcPts val="1900"/>
              </a:lnSpc>
              <a:spcBef>
                <a:spcPts val="0"/>
              </a:spcBef>
              <a:spcAft>
                <a:spcPts val="700"/>
              </a:spcAft>
            </a:pPr>
            <a:r>
              <a:rPr sz="1300" b="0" i="0">
                <a:solidFill>
                  <a:srgbClr val="1B2236"/>
                </a:solidFill>
                <a:latin typeface="Vazir"/>
                <a:cs typeface="Vazir"/>
              </a:rPr>
              <a:t>●  برچسب فقط در سطح کل ویدیو</a:t>
            </a:r>
          </a:p>
        </p:txBody>
      </p:sp>
      <p:sp>
        <p:nvSpPr>
          <p:cNvPr id="15" name="Rounded Rectangle 14"/>
          <p:cNvSpPr/>
          <p:nvPr/>
        </p:nvSpPr>
        <p:spPr>
          <a:xfrm>
            <a:off x="6217920" y="3200400"/>
            <a:ext cx="5394960" cy="28346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Vazir"/>
                <a:cs typeface="Vazir"/>
              </a:rPr>
              <a:t>چالش اصلی: نامتوازنی شدید</a:t>
            </a:r>
          </a:p>
        </p:txBody>
      </p:sp>
      <p:sp>
        <p:nvSpPr>
          <p:cNvPr id="17" name="TextBox 16"/>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Vazir"/>
                <a:cs typeface="Vazir"/>
              </a:rPr>
              <a:t>●  کلاس عادی حدود نیمی از داده آموزش است</a:t>
            </a:r>
          </a:p>
          <a:p>
            <a:pPr rtl="1" algn="r">
              <a:lnSpc>
                <a:spcPts val="1900"/>
              </a:lnSpc>
              <a:spcBef>
                <a:spcPts val="0"/>
              </a:spcBef>
              <a:spcAft>
                <a:spcPts val="700"/>
              </a:spcAft>
            </a:pPr>
            <a:r>
              <a:rPr sz="1300" b="0" i="0">
                <a:solidFill>
                  <a:srgbClr val="1B2236"/>
                </a:solidFill>
                <a:latin typeface="Vazir"/>
                <a:cs typeface="Vazir"/>
              </a:rPr>
              <a:t>●  کلاس تیراندازی کمتر از دو درصد</a:t>
            </a:r>
          </a:p>
          <a:p>
            <a:pPr rtl="1" algn="r">
              <a:lnSpc>
                <a:spcPts val="1900"/>
              </a:lnSpc>
              <a:spcBef>
                <a:spcPts val="0"/>
              </a:spcBef>
              <a:spcAft>
                <a:spcPts val="700"/>
              </a:spcAft>
            </a:pPr>
            <a:r>
              <a:rPr sz="1300" b="0" i="0">
                <a:solidFill>
                  <a:srgbClr val="1B2236"/>
                </a:solidFill>
                <a:latin typeface="Vazir"/>
                <a:cs typeface="Vazir"/>
              </a:rPr>
              <a:t>●  در آزمون، هفت کلاس پنج ویدیو یا کمتر دارند</a:t>
            </a:r>
          </a:p>
          <a:p>
            <a:pPr rtl="1" algn="r">
              <a:lnSpc>
                <a:spcPts val="1900"/>
              </a:lnSpc>
              <a:spcBef>
                <a:spcPts val="0"/>
              </a:spcBef>
              <a:spcAft>
                <a:spcPts val="700"/>
              </a:spcAft>
            </a:pPr>
            <a:r>
              <a:rPr sz="1300" b="0" i="0">
                <a:solidFill>
                  <a:srgbClr val="1B2236"/>
                </a:solidFill>
                <a:latin typeface="Vazir"/>
                <a:cs typeface="Vazir"/>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پروتکل تقسیم داده — مسیر اول</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X-CLIP</a:t>
            </a:r>
          </a:p>
        </p:txBody>
      </p:sp>
      <p:sp>
        <p:nvSpPr>
          <p:cNvPr id="4" name="TextBox 3"/>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تفکیک ۷۰ به ۱۵ به ۱۵ طبقه‌ای روی کل مجموعه، سپس متوازن‌سازی مجموعه آموزش با بیش‌نمونه‌برداری کلاس‌های اقلیت.</a:t>
            </a:r>
          </a:p>
        </p:txBody>
      </p:sp>
      <p:graphicFrame>
        <p:nvGraphicFramePr>
          <p:cNvPr id="5" name="Table 4"/>
          <p:cNvGraphicFramePr>
            <a:graphicFrameLocks noGrp="1"/>
          </p:cNvGraphicFramePr>
          <p:nvPr/>
        </p:nvGraphicFramePr>
        <p:xfrm>
          <a:off x="54864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5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مجموعه آموزش</a:t>
                      </a:r>
                    </a:p>
                  </a:txBody>
                  <a:tcPr marL="36576" marR="36576" marT="18288" marB="18288" anchor="ctr">
                    <a:solidFill>
                      <a:srgbClr val="16264F"/>
                    </a:solidFill>
                  </a:tcPr>
                </a:tc>
              </a:tr>
              <a:tr h="237744">
                <a:tc>
                  <a:txBody>
                    <a:bodyPr wrap="square"/>
                    <a:lstStyle/>
                    <a:p>
                      <a:pPr rtl="1" algn="r">
                        <a:spcBef>
                          <a:spcPts val="0"/>
                        </a:spcBef>
                        <a:spcAft>
                          <a:spcPts val="0"/>
                        </a:spcAft>
                      </a:pPr>
                      <a:r>
                        <a:rPr sz="1100" b="0" i="0">
                          <a:solidFill>
                            <a:srgbClr val="1B2236"/>
                          </a:solidFill>
                          <a:latin typeface="Vazir"/>
                          <a:cs typeface="Vazir"/>
                        </a:rPr>
                        <a:t>Normal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420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Burglary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RoadAccidents</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Robbery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Shooting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Stealing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Vandalism</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Abuse</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Arrest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Arson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Assault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Explosion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Fighting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Shoplifting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FFFFFF"/>
                    </a:solidFill>
                  </a:tcPr>
                </a:tc>
              </a:tr>
            </a:tbl>
          </a:graphicData>
        </a:graphic>
      </p:graphicFrame>
      <p:graphicFrame>
        <p:nvGraphicFramePr>
          <p:cNvPr id="6" name="Table 5"/>
          <p:cNvGraphicFramePr>
            <a:graphicFrameLocks noGrp="1"/>
          </p:cNvGraphicFramePr>
          <p:nvPr/>
        </p:nvGraphicFramePr>
        <p:xfrm>
          <a:off x="621792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5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مجموعه آزمون</a:t>
                      </a:r>
                    </a:p>
                  </a:txBody>
                  <a:tcPr marL="36576" marR="36576" marT="18288" marB="18288" anchor="ctr">
                    <a:solidFill>
                      <a:srgbClr val="16264F"/>
                    </a:solidFill>
                  </a:tcPr>
                </a:tc>
              </a:tr>
              <a:tr h="237744">
                <a:tc>
                  <a:txBody>
                    <a:bodyPr wrap="square"/>
                    <a:lstStyle/>
                    <a:p>
                      <a:pPr rtl="1" algn="r">
                        <a:spcBef>
                          <a:spcPts val="0"/>
                        </a:spcBef>
                        <a:spcAft>
                          <a:spcPts val="0"/>
                        </a:spcAft>
                      </a:pPr>
                      <a:r>
                        <a:rPr sz="1100" b="0" i="0">
                          <a:solidFill>
                            <a:srgbClr val="1B2236"/>
                          </a:solidFill>
                          <a:latin typeface="Vazir"/>
                          <a:cs typeface="Vazir"/>
                        </a:rPr>
                        <a:t>Normal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148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RoadAccidents</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23</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Robbery</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23</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Burglary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Stealing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Abuse</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Arrest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Arson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Assault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Explosion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Fighting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Shooting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Shoplifting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Vandalism</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bl>
          </a:graphicData>
        </a:graphic>
      </p:graphicFrame>
      <p:sp>
        <p:nvSpPr>
          <p:cNvPr id="7" name="TextBox 6"/>
          <p:cNvSpPr txBox="1"/>
          <p:nvPr/>
        </p:nvSpPr>
        <p:spPr>
          <a:xfrm>
            <a:off x="5486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1995</a:t>
            </a:r>
          </a:p>
        </p:txBody>
      </p:sp>
      <p:sp>
        <p:nvSpPr>
          <p:cNvPr id="8" name="TextBox 7"/>
          <p:cNvSpPr txBox="1"/>
          <p:nvPr/>
        </p:nvSpPr>
        <p:spPr>
          <a:xfrm>
            <a:off x="5486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اندازه‌ی مؤثر مجموعه آموزش</a:t>
            </a:r>
          </a:p>
        </p:txBody>
      </p:sp>
      <p:sp>
        <p:nvSpPr>
          <p:cNvPr id="9" name="TextBox 8"/>
          <p:cNvSpPr txBox="1"/>
          <p:nvPr/>
        </p:nvSpPr>
        <p:spPr>
          <a:xfrm>
            <a:off x="32918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296</a:t>
            </a:r>
          </a:p>
        </p:txBody>
      </p:sp>
      <p:sp>
        <p:nvSpPr>
          <p:cNvPr id="10" name="TextBox 9"/>
          <p:cNvSpPr txBox="1"/>
          <p:nvPr/>
        </p:nvSpPr>
        <p:spPr>
          <a:xfrm>
            <a:off x="32918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اندازه‌ی مجموعه آزمون</a:t>
            </a:r>
          </a:p>
        </p:txBody>
      </p:sp>
      <p:sp>
        <p:nvSpPr>
          <p:cNvPr id="11" name="TextBox 10"/>
          <p:cNvSpPr txBox="1"/>
          <p:nvPr/>
        </p:nvSpPr>
        <p:spPr>
          <a:xfrm>
            <a:off x="6217920" y="5669280"/>
            <a:ext cx="5394960" cy="77724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6A748C"/>
                </a:solidFill>
                <a:latin typeface="Vazir"/>
                <a:cs typeface="Vazir"/>
              </a:rPr>
              <a:t>اعداد ستون آموزش تعداد نمونه‌های ارائه‌شده به بهینه‌ساز است، نه تعداد ویدیوی یکتا؛ کلاس‌های کم‌بسامد با جایگذاری بیش‌نمونه‌برداری شده‌اند.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پروتکل تقسیم داده — مسیر دوم</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VideoMAE</a:t>
            </a:r>
          </a:p>
        </p:txBody>
      </p:sp>
      <p:sp>
        <p:nvSpPr>
          <p:cNvPr id="4" name="TextBox 3"/>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تفکیک استاندارد مرجع مجموعه‌ی UCF-Crime، بدون بازنمونه‌گیری و بدون متوازن‌سازی.</a:t>
            </a:r>
          </a:p>
        </p:txBody>
      </p:sp>
      <p:graphicFrame>
        <p:nvGraphicFramePr>
          <p:cNvPr id="5" name="Table 4"/>
          <p:cNvGraphicFramePr>
            <a:graphicFrameLocks noGrp="1"/>
          </p:cNvGraphicFramePr>
          <p:nvPr/>
        </p:nvGraphicFramePr>
        <p:xfrm>
          <a:off x="54864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5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مجموعه آموزش</a:t>
                      </a:r>
                    </a:p>
                  </a:txBody>
                  <a:tcPr marL="36576" marR="36576" marT="18288" marB="18288" anchor="ctr">
                    <a:solidFill>
                      <a:srgbClr val="16264F"/>
                    </a:solidFill>
                  </a:tcPr>
                </a:tc>
              </a:tr>
              <a:tr h="237744">
                <a:tc>
                  <a:txBody>
                    <a:bodyPr wrap="square"/>
                    <a:lstStyle/>
                    <a:p>
                      <a:pPr rtl="1" algn="r">
                        <a:spcBef>
                          <a:spcPts val="0"/>
                        </a:spcBef>
                        <a:spcAft>
                          <a:spcPts val="0"/>
                        </a:spcAft>
                      </a:pPr>
                      <a:r>
                        <a:rPr sz="1100" b="0" i="0">
                          <a:solidFill>
                            <a:srgbClr val="1B2236"/>
                          </a:solidFill>
                          <a:latin typeface="Vazir"/>
                          <a:cs typeface="Vazir"/>
                        </a:rPr>
                        <a:t>Normal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800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Robbery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145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RoadAccidents</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127</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Stealing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95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Burglary</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87</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Abuse</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48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Assault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47</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Arrest</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45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Fighting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45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Vandalism</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45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Arson</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41</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Explosion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29</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Shoplifting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29</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Shooting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27</a:t>
                      </a:r>
                    </a:p>
                  </a:txBody>
                  <a:tcPr marL="36576" marR="36576" marT="18288" marB="18288" anchor="ctr">
                    <a:solidFill>
                      <a:srgbClr val="FFFFFF"/>
                    </a:solidFill>
                  </a:tcPr>
                </a:tc>
              </a:tr>
            </a:tbl>
          </a:graphicData>
        </a:graphic>
      </p:graphicFrame>
      <p:graphicFrame>
        <p:nvGraphicFramePr>
          <p:cNvPr id="6" name="Table 5"/>
          <p:cNvGraphicFramePr>
            <a:graphicFrameLocks noGrp="1"/>
          </p:cNvGraphicFramePr>
          <p:nvPr/>
        </p:nvGraphicFramePr>
        <p:xfrm>
          <a:off x="621792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5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مجموعه آزمون</a:t>
                      </a:r>
                    </a:p>
                  </a:txBody>
                  <a:tcPr marL="36576" marR="36576" marT="18288" marB="18288" anchor="ctr">
                    <a:solidFill>
                      <a:srgbClr val="16264F"/>
                    </a:solidFill>
                  </a:tcPr>
                </a:tc>
              </a:tr>
              <a:tr h="237744">
                <a:tc>
                  <a:txBody>
                    <a:bodyPr wrap="square"/>
                    <a:lstStyle/>
                    <a:p>
                      <a:pPr rtl="1" algn="r">
                        <a:spcBef>
                          <a:spcPts val="0"/>
                        </a:spcBef>
                        <a:spcAft>
                          <a:spcPts val="0"/>
                        </a:spcAft>
                      </a:pPr>
                      <a:r>
                        <a:rPr sz="1100" b="0" i="0">
                          <a:solidFill>
                            <a:srgbClr val="1B2236"/>
                          </a:solidFill>
                          <a:latin typeface="Vazir"/>
                          <a:cs typeface="Vazir"/>
                        </a:rPr>
                        <a:t>Normal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150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RoadAccidents</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23</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Shooting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23</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Explosion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21</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Shoplifting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21</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Burglary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13</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Arson</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9</a:t>
                      </a:r>
                    </a:p>
                  </a:txBody>
                  <a:tcPr marL="36576" marR="36576" marT="18288" marB="18288" anchor="ctr">
                    <a:solidFill>
                      <a:srgbClr val="EDF1F8"/>
                    </a:solidFill>
                  </a:tcPr>
                </a:tc>
              </a:tr>
              <a:tr h="237744">
                <a:tc>
                  <a:txBody>
                    <a:bodyPr wrap="square"/>
                    <a:lstStyle/>
                    <a:p>
                      <a:pPr rtl="1" algn="r">
                        <a:spcBef>
                          <a:spcPts val="0"/>
                        </a:spcBef>
                        <a:spcAft>
                          <a:spcPts val="0"/>
                        </a:spcAft>
                      </a:pPr>
                      <a:r>
                        <a:rPr sz="1100" b="1" i="0">
                          <a:solidFill>
                            <a:srgbClr val="16264F"/>
                          </a:solidFill>
                          <a:latin typeface="Vazir"/>
                          <a:cs typeface="Vazir"/>
                        </a:rPr>
                        <a:t>Arrest</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5</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Fighting</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5</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Robbery</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5</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Stealing</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5</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Vandalism</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4</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Abuse</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3</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Assault</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3</a:t>
                      </a:r>
                    </a:p>
                  </a:txBody>
                  <a:tcPr marL="36576" marR="36576" marT="18288" marB="18288" anchor="ctr">
                    <a:solidFill>
                      <a:srgbClr val="FFF2DC"/>
                    </a:solidFill>
                  </a:tcPr>
                </a:tc>
              </a:tr>
            </a:tbl>
          </a:graphicData>
        </a:graphic>
      </p:graphicFrame>
      <p:sp>
        <p:nvSpPr>
          <p:cNvPr id="7" name="TextBox 6"/>
          <p:cNvSpPr txBox="1"/>
          <p:nvPr/>
        </p:nvSpPr>
        <p:spPr>
          <a:xfrm>
            <a:off x="5486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1610</a:t>
            </a:r>
          </a:p>
        </p:txBody>
      </p:sp>
      <p:sp>
        <p:nvSpPr>
          <p:cNvPr id="8" name="TextBox 7"/>
          <p:cNvSpPr txBox="1"/>
          <p:nvPr/>
        </p:nvSpPr>
        <p:spPr>
          <a:xfrm>
            <a:off x="5486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اندازه‌ی مجموعه آموزش</a:t>
            </a:r>
          </a:p>
        </p:txBody>
      </p:sp>
      <p:sp>
        <p:nvSpPr>
          <p:cNvPr id="9" name="TextBox 8"/>
          <p:cNvSpPr txBox="1"/>
          <p:nvPr/>
        </p:nvSpPr>
        <p:spPr>
          <a:xfrm>
            <a:off x="32918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290</a:t>
            </a:r>
          </a:p>
        </p:txBody>
      </p:sp>
      <p:sp>
        <p:nvSpPr>
          <p:cNvPr id="10" name="TextBox 9"/>
          <p:cNvSpPr txBox="1"/>
          <p:nvPr/>
        </p:nvSpPr>
        <p:spPr>
          <a:xfrm>
            <a:off x="32918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اندازه‌ی مجموعه آزمون</a:t>
            </a:r>
          </a:p>
        </p:txBody>
      </p:sp>
      <p:sp>
        <p:nvSpPr>
          <p:cNvPr id="11" name="TextBox 10"/>
          <p:cNvSpPr txBox="1"/>
          <p:nvPr/>
        </p:nvSpPr>
        <p:spPr>
          <a:xfrm>
            <a:off x="6217920" y="5669280"/>
            <a:ext cx="5394960" cy="77724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6A748C"/>
                </a:solidFill>
                <a:latin typeface="Vazir"/>
                <a:cs typeface="Vazir"/>
              </a:rPr>
              <a:t>ردیف‌های مشخص‌شده هفت کلاسی هستند که پشتیبان آماری آن‌ها در مجموعه‌ی آزمون پنج نمونه یا کمتر است؛ منشأ اصلی واریانس معیار ماکرو.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صورت‌بندی یادگیری چندنمونه‌ای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چارچوب</a:t>
            </a:r>
          </a:p>
        </p:txBody>
      </p:sp>
      <p:sp>
        <p:nvSpPr>
          <p:cNvPr id="4" name="TextBox 3"/>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نظارت در سطح کیف: برچسب تنها برای کل ویدیو موجود است و هیچ حاشیه‌نویسی زمانی در مجموعه‌ی آموزش وجود ندارد.</a:t>
            </a:r>
          </a:p>
        </p:txBody>
      </p:sp>
      <p:sp>
        <p:nvSpPr>
          <p:cNvPr id="5" name="Rounded Rectangle 4"/>
          <p:cNvSpPr/>
          <p:nvPr/>
        </p:nvSpPr>
        <p:spPr>
          <a:xfrm>
            <a:off x="548640" y="2011680"/>
            <a:ext cx="5577840" cy="27889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2194560"/>
            <a:ext cx="4937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Vazir"/>
                <a:cs typeface="Vazir"/>
              </a:rPr>
              <a:t>تعریف صوری</a:t>
            </a:r>
          </a:p>
        </p:txBody>
      </p:sp>
      <p:sp>
        <p:nvSpPr>
          <p:cNvPr id="7" name="TextBox 6"/>
          <p:cNvSpPr txBox="1"/>
          <p:nvPr/>
        </p:nvSpPr>
        <p:spPr>
          <a:xfrm>
            <a:off x="868680" y="2606040"/>
            <a:ext cx="4937760" cy="2011680"/>
          </a:xfrm>
          <a:prstGeom prst="rect">
            <a:avLst/>
          </a:prstGeom>
          <a:noFill/>
        </p:spPr>
        <p:txBody>
          <a:bodyPr wrap="square" anchor="t" lIns="0" rIns="0" tIns="0" bIns="0">
            <a:spAutoFit/>
          </a:bodyPr>
          <a:lstStyle/>
          <a:p>
            <a:pPr rtl="1" algn="r">
              <a:lnSpc>
                <a:spcPts val="1900"/>
              </a:lnSpc>
              <a:spcBef>
                <a:spcPts val="0"/>
              </a:spcBef>
              <a:spcAft>
                <a:spcPts val="400"/>
              </a:spcAft>
            </a:pPr>
            <a:r>
              <a:rPr sz="1200" b="0" i="0">
                <a:solidFill>
                  <a:srgbClr val="1B2236"/>
                </a:solidFill>
                <a:latin typeface="Vazir"/>
                <a:cs typeface="Vazir"/>
              </a:rPr>
              <a:t>هر ویدیو یک کیف است:</a:t>
            </a:r>
          </a:p>
          <a:p>
            <a:pPr rtl="1" algn="r">
              <a:lnSpc>
                <a:spcPts val="1900"/>
              </a:lnSpc>
              <a:spcBef>
                <a:spcPts val="0"/>
              </a:spcBef>
              <a:spcAft>
                <a:spcPts val="400"/>
              </a:spcAft>
            </a:pPr>
            <a:r>
              <a:rPr sz="1200" b="0" i="0">
                <a:solidFill>
                  <a:srgbClr val="1B2236"/>
                </a:solidFill>
                <a:latin typeface="Vazir"/>
                <a:cs typeface="Vazir"/>
              </a:rPr>
              <a:t>X = { x₁ , … , x_T } ,   x_t ∈ ℝᴰ ,   T = 16 , D = 1024</a:t>
            </a:r>
          </a:p>
          <a:p>
            <a:pPr rtl="1" algn="r">
              <a:lnSpc>
                <a:spcPts val="1900"/>
              </a:lnSpc>
              <a:spcBef>
                <a:spcPts val="0"/>
              </a:spcBef>
              <a:spcAft>
                <a:spcPts val="400"/>
              </a:spcAft>
            </a:pPr>
            <a:r>
              <a:rPr sz="1200" b="0" i="0">
                <a:solidFill>
                  <a:srgbClr val="1B2236"/>
                </a:solidFill>
                <a:latin typeface="Vazir"/>
                <a:cs typeface="Vazir"/>
              </a:rPr>
              <a:t/>
            </a:r>
          </a:p>
          <a:p>
            <a:pPr rtl="1" algn="r">
              <a:lnSpc>
                <a:spcPts val="1900"/>
              </a:lnSpc>
              <a:spcBef>
                <a:spcPts val="0"/>
              </a:spcBef>
              <a:spcAft>
                <a:spcPts val="400"/>
              </a:spcAft>
            </a:pPr>
            <a:r>
              <a:rPr sz="1200" b="0" i="0">
                <a:solidFill>
                  <a:srgbClr val="1B2236"/>
                </a:solidFill>
                <a:latin typeface="Vazir"/>
                <a:cs typeface="Vazir"/>
              </a:rPr>
              <a:t>برچسب کیف Y ∈ { 0 , … , 13 } و فرض استاندارد چندنمونه‌ای:</a:t>
            </a:r>
          </a:p>
          <a:p>
            <a:pPr rtl="1" algn="r">
              <a:lnSpc>
                <a:spcPts val="1900"/>
              </a:lnSpc>
              <a:spcBef>
                <a:spcPts val="0"/>
              </a:spcBef>
              <a:spcAft>
                <a:spcPts val="400"/>
              </a:spcAft>
            </a:pPr>
            <a:r>
              <a:rPr sz="1200" b="0" i="0">
                <a:solidFill>
                  <a:srgbClr val="1B2236"/>
                </a:solidFill>
                <a:latin typeface="Vazir"/>
                <a:cs typeface="Vazir"/>
              </a:rPr>
              <a:t>Y ≠ 0  ⟺  ∃ t :  نمونه‌ی x_t حامل رویداد کلاس Y است</a:t>
            </a:r>
          </a:p>
        </p:txBody>
      </p:sp>
      <p:sp>
        <p:nvSpPr>
          <p:cNvPr id="8" name="Rounded Rectangle 7"/>
          <p:cNvSpPr/>
          <p:nvPr/>
        </p:nvSpPr>
        <p:spPr>
          <a:xfrm>
            <a:off x="6400800" y="2011680"/>
            <a:ext cx="5212080" cy="27889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20840" y="2194560"/>
            <a:ext cx="45720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تجمیع و تابع زیان</a:t>
            </a:r>
          </a:p>
        </p:txBody>
      </p:sp>
      <p:sp>
        <p:nvSpPr>
          <p:cNvPr id="10" name="TextBox 9"/>
          <p:cNvSpPr txBox="1"/>
          <p:nvPr/>
        </p:nvSpPr>
        <p:spPr>
          <a:xfrm>
            <a:off x="6720840" y="2606040"/>
            <a:ext cx="4572000" cy="2011680"/>
          </a:xfrm>
          <a:prstGeom prst="rect">
            <a:avLst/>
          </a:prstGeom>
          <a:noFill/>
        </p:spPr>
        <p:txBody>
          <a:bodyPr wrap="square" anchor="t" lIns="0" rIns="0" tIns="0" bIns="0">
            <a:spAutoFit/>
          </a:bodyPr>
          <a:lstStyle/>
          <a:p>
            <a:pPr rtl="1" algn="r">
              <a:lnSpc>
                <a:spcPts val="1800"/>
              </a:lnSpc>
              <a:spcBef>
                <a:spcPts val="0"/>
              </a:spcBef>
              <a:spcAft>
                <a:spcPts val="300"/>
              </a:spcAft>
            </a:pPr>
            <a:r>
              <a:rPr sz="1150" b="0" i="0">
                <a:solidFill>
                  <a:srgbClr val="1B2236"/>
                </a:solidFill>
                <a:latin typeface="Vazir"/>
                <a:cs typeface="Vazir"/>
              </a:rPr>
              <a:t>شواهد ناهنجاری هر نمونه:</a:t>
            </a:r>
          </a:p>
          <a:p>
            <a:pPr rtl="1" algn="r">
              <a:lnSpc>
                <a:spcPts val="1800"/>
              </a:lnSpc>
              <a:spcBef>
                <a:spcPts val="0"/>
              </a:spcBef>
              <a:spcAft>
                <a:spcPts val="300"/>
              </a:spcAft>
            </a:pPr>
            <a:r>
              <a:rPr sz="1150" b="0" i="0">
                <a:solidFill>
                  <a:srgbClr val="1B2236"/>
                </a:solidFill>
                <a:latin typeface="Vazir"/>
                <a:cs typeface="Vazir"/>
              </a:rPr>
              <a:t>s_t = 1 − P( Normal | x_t )</a:t>
            </a:r>
          </a:p>
          <a:p>
            <a:pPr rtl="1" algn="r">
              <a:lnSpc>
                <a:spcPts val="1800"/>
              </a:lnSpc>
              <a:spcBef>
                <a:spcPts val="0"/>
              </a:spcBef>
              <a:spcAft>
                <a:spcPts val="300"/>
              </a:spcAft>
            </a:pPr>
            <a:r>
              <a:rPr sz="1150" b="0" i="0">
                <a:solidFill>
                  <a:srgbClr val="1B2236"/>
                </a:solidFill>
                <a:latin typeface="Vazir"/>
                <a:cs typeface="Vazir"/>
              </a:rPr>
              <a:t/>
            </a:r>
          </a:p>
          <a:p>
            <a:pPr rtl="1" algn="r">
              <a:lnSpc>
                <a:spcPts val="1800"/>
              </a:lnSpc>
              <a:spcBef>
                <a:spcPts val="0"/>
              </a:spcBef>
              <a:spcAft>
                <a:spcPts val="300"/>
              </a:spcAft>
            </a:pPr>
            <a:r>
              <a:rPr sz="1150" b="0" i="0">
                <a:solidFill>
                  <a:srgbClr val="1B2236"/>
                </a:solidFill>
                <a:latin typeface="Vazir"/>
                <a:cs typeface="Vazir"/>
              </a:rPr>
              <a:t>انتخاب k نمونه‌ی برتر و تجمیع میانگین:</a:t>
            </a:r>
          </a:p>
          <a:p>
            <a:pPr rtl="1" algn="r">
              <a:lnSpc>
                <a:spcPts val="1800"/>
              </a:lnSpc>
              <a:spcBef>
                <a:spcPts val="0"/>
              </a:spcBef>
              <a:spcAft>
                <a:spcPts val="300"/>
              </a:spcAft>
            </a:pPr>
            <a:r>
              <a:rPr sz="1150" b="0" i="0">
                <a:solidFill>
                  <a:srgbClr val="1B2236"/>
                </a:solidFill>
                <a:latin typeface="Vazir"/>
                <a:cs typeface="Vazir"/>
              </a:rPr>
              <a:t>K = argtop-k { s_t } ,   z = (1/k) Σ_{t∈K} f( x_t )</a:t>
            </a:r>
          </a:p>
          <a:p>
            <a:pPr rtl="1" algn="r">
              <a:lnSpc>
                <a:spcPts val="1800"/>
              </a:lnSpc>
              <a:spcBef>
                <a:spcPts val="0"/>
              </a:spcBef>
              <a:spcAft>
                <a:spcPts val="300"/>
              </a:spcAft>
            </a:pPr>
            <a:r>
              <a:rPr sz="1150" b="0" i="0">
                <a:solidFill>
                  <a:srgbClr val="1B2236"/>
                </a:solidFill>
                <a:latin typeface="Vazir"/>
                <a:cs typeface="Vazir"/>
              </a:rPr>
              <a:t/>
            </a:r>
          </a:p>
          <a:p>
            <a:pPr rtl="1" algn="r">
              <a:lnSpc>
                <a:spcPts val="1800"/>
              </a:lnSpc>
              <a:spcBef>
                <a:spcPts val="0"/>
              </a:spcBef>
              <a:spcAft>
                <a:spcPts val="300"/>
              </a:spcAft>
            </a:pPr>
            <a:r>
              <a:rPr sz="1150" b="0" i="0">
                <a:solidFill>
                  <a:srgbClr val="1B2236"/>
                </a:solidFill>
                <a:latin typeface="Vazir"/>
                <a:cs typeface="Vazir"/>
              </a:rPr>
              <a:t>زیان با وزن کلاس و دو جمله‌ی تنظیم:</a:t>
            </a:r>
          </a:p>
          <a:p>
            <a:pPr rtl="1" algn="r">
              <a:lnSpc>
                <a:spcPts val="1800"/>
              </a:lnSpc>
              <a:spcBef>
                <a:spcPts val="0"/>
              </a:spcBef>
              <a:spcAft>
                <a:spcPts val="300"/>
              </a:spcAft>
            </a:pPr>
            <a:r>
              <a:rPr sz="1150" b="0" i="0">
                <a:solidFill>
                  <a:srgbClr val="1B2236"/>
                </a:solidFill>
                <a:latin typeface="Vazir"/>
                <a:cs typeface="Vazir"/>
              </a:rPr>
              <a:t>L = CE( z , Y ; w ) + λ_s Σ (a_{t+1} − a_t)² + λ_p Σ a_t</a:t>
            </a:r>
          </a:p>
        </p:txBody>
      </p:sp>
      <p:sp>
        <p:nvSpPr>
          <p:cNvPr id="11" name="Rounded Rectangle 10"/>
          <p:cNvSpPr/>
          <p:nvPr/>
        </p:nvSpPr>
        <p:spPr>
          <a:xfrm>
            <a:off x="548640" y="4983480"/>
            <a:ext cx="11064240" cy="137160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5138928"/>
            <a:ext cx="10424160" cy="320040"/>
          </a:xfrm>
          <a:prstGeom prst="rect">
            <a:avLst/>
          </a:prstGeom>
          <a:noFill/>
        </p:spPr>
        <p:txBody>
          <a:bodyPr wrap="square" anchor="t" lIns="0" rIns="0" tIns="0" bIns="0">
            <a:spAutoFit/>
          </a:bodyPr>
          <a:lstStyle/>
          <a:p>
            <a:pPr rtl="1" algn="r">
              <a:spcBef>
                <a:spcPts val="0"/>
              </a:spcBef>
              <a:spcAft>
                <a:spcPts val="0"/>
              </a:spcAft>
            </a:pPr>
            <a:r>
              <a:rPr sz="1400" b="1" i="0">
                <a:solidFill>
                  <a:srgbClr val="3FA7A0"/>
                </a:solidFill>
                <a:latin typeface="Vazir"/>
                <a:cs typeface="Vazir"/>
              </a:rPr>
              <a:t>سهم روش‌شناختی این پژوهش</a:t>
            </a:r>
          </a:p>
        </p:txBody>
      </p:sp>
      <p:sp>
        <p:nvSpPr>
          <p:cNvPr id="13" name="TextBox 12"/>
          <p:cNvSpPr txBox="1"/>
          <p:nvPr/>
        </p:nvSpPr>
        <p:spPr>
          <a:xfrm>
            <a:off x="868680" y="5486400"/>
            <a:ext cx="10424160" cy="77724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1B2236"/>
                </a:solidFill>
                <a:latin typeface="Vazir"/>
                <a:cs typeface="Vazir"/>
              </a:rPr>
              <a:t>در فرمول‌بندی دودویی، انتخاب نمونه‌های برتر روی یک کانال انجام می‌شود. در تعمیم چهارده‌کلاسه، اعمال مستقل آن بر هر کانال سبب می‌شود کانال کلاس عادی از عادی‌ترین نمونه‌های یک کیف ناهنجار ساخته شود و نوفه‌ی برچسب سامانمند وارد آموزش گردد. ما رتبه‌بندی را یک بار بر پایه‌ی s_t انجام می‌دهیم و همان زیرمجموعه را برای تمام کانال‌ها به کار می‌بریم.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Vazir"/>
                <a:cs typeface="Vazir"/>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Vazir"/>
                <a:cs typeface="Vazir"/>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Vazir"/>
                <a:cs typeface="Vazir"/>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Vazir"/>
                <a:cs typeface="Vazir"/>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X-CLIP چطور کار می‌کند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Rounded Rectangle 3"/>
          <p:cNvSpPr/>
          <p:nvPr/>
        </p:nvSpPr>
        <p:spPr>
          <a:xfrm>
            <a:off x="548640" y="1600200"/>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6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1</a:t>
            </a:r>
          </a:p>
        </p:txBody>
      </p:sp>
      <p:sp>
        <p:nvSpPr>
          <p:cNvPr id="6" name="TextBox 5"/>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Vazir"/>
                <a:cs typeface="Vazir"/>
              </a:rPr>
              <a:t>CLIP روی جفت عکس و متن آموزش دیده</a:t>
            </a:r>
          </a:p>
        </p:txBody>
      </p:sp>
      <p:sp>
        <p:nvSpPr>
          <p:cNvPr id="7" name="TextBox 6"/>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عکس و توضیحش در یک فضای مشترک نزدیک هم می‌افتند</a:t>
            </a:r>
          </a:p>
        </p:txBody>
      </p:sp>
      <p:sp>
        <p:nvSpPr>
          <p:cNvPr id="8" name="Rounded Rectangle 7"/>
          <p:cNvSpPr/>
          <p:nvPr/>
        </p:nvSpPr>
        <p:spPr>
          <a:xfrm>
            <a:off x="548640" y="2715768"/>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881360" y="296265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2</a:t>
            </a:r>
          </a:p>
        </p:txBody>
      </p:sp>
      <p:sp>
        <p:nvSpPr>
          <p:cNvPr id="10" name="TextBox 9"/>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Vazir"/>
                <a:cs typeface="Vazir"/>
              </a:rPr>
              <a:t>طبقه‌بندی بدون آموزش</a:t>
            </a:r>
          </a:p>
        </p:txBody>
      </p:sp>
      <p:sp>
        <p:nvSpPr>
          <p:cNvPr id="11" name="TextBox 10"/>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اسم هر کلاس به بردار تبدیل می‌شود و نزدیک‌ترین برنده است</a:t>
            </a:r>
          </a:p>
        </p:txBody>
      </p:sp>
      <p:sp>
        <p:nvSpPr>
          <p:cNvPr id="12" name="Rounded Rectangle 11"/>
          <p:cNvSpPr/>
          <p:nvPr/>
        </p:nvSpPr>
        <p:spPr>
          <a:xfrm>
            <a:off x="548640" y="3831335"/>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881360" y="4078223"/>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3</a:t>
            </a:r>
          </a:p>
        </p:txBody>
      </p:sp>
      <p:sp>
        <p:nvSpPr>
          <p:cNvPr id="14" name="TextBox 13"/>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Vazir"/>
                <a:cs typeface="Vazir"/>
              </a:rPr>
              <a:t>X-CLIP بخش زمانی اضافه می‌کند</a:t>
            </a:r>
          </a:p>
        </p:txBody>
      </p:sp>
      <p:sp>
        <p:nvSpPr>
          <p:cNvPr id="15" name="TextBox 14"/>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حالا ورودی ویدیو است، نه یک عکس تنها</a:t>
            </a:r>
          </a:p>
        </p:txBody>
      </p:sp>
      <p:sp>
        <p:nvSpPr>
          <p:cNvPr id="16" name="Rounded Rectangle 15"/>
          <p:cNvSpPr/>
          <p:nvPr/>
        </p:nvSpPr>
        <p:spPr>
          <a:xfrm>
            <a:off x="548640" y="4946904"/>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881360" y="519379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4</a:t>
            </a:r>
          </a:p>
        </p:txBody>
      </p:sp>
      <p:sp>
        <p:nvSpPr>
          <p:cNvPr id="18" name="TextBox 17"/>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Vazir"/>
                <a:cs typeface="Vazir"/>
              </a:rPr>
              <a:t>در پروژه ما</a:t>
            </a:r>
          </a:p>
        </p:txBody>
      </p:sp>
      <p:sp>
        <p:nvSpPr>
          <p:cNvPr id="19" name="TextBox 18"/>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بردار ویدیو با ۱۴ بردار متنی مقایسه می‌شود</a:t>
            </a:r>
          </a:p>
        </p:txBody>
      </p:sp>
      <p:sp>
        <p:nvSpPr>
          <p:cNvPr id="20" name="TextBox 19"/>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Vazir"/>
                <a:cs typeface="Vazir"/>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سه اشکال بنیادی که پیدا و اصلاح شد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Rounded Rectangle 3"/>
          <p:cNvSpPr/>
          <p:nvPr/>
        </p:nvSpPr>
        <p:spPr>
          <a:xfrm>
            <a:off x="8092440"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59"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1</a:t>
            </a:r>
          </a:p>
        </p:txBody>
      </p:sp>
      <p:sp>
        <p:nvSpPr>
          <p:cNvPr id="6" name="TextBox 5"/>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Vazir"/>
                <a:cs typeface="Vazir"/>
              </a:rPr>
              <a:t>میانگین‌گیری در ارزیابی</a:t>
            </a:r>
          </a:p>
        </p:txBody>
      </p:sp>
      <p:sp>
        <p:nvSpPr>
          <p:cNvPr id="7" name="TextBox 6"/>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Vazir"/>
                <a:cs typeface="Vazir"/>
              </a:rPr>
              <a:t>احتمال هر ۱۶ قطعه میانگین گرفته می‌شد. در ویدیوی ناهنجار، قطعه‌های عادی شواهد را خفه می‌کردند و تقریباً همه چیز عادی پیش‌بینی می‌شد.</a:t>
            </a:r>
          </a:p>
        </p:txBody>
      </p:sp>
      <p:sp>
        <p:nvSpPr>
          <p:cNvPr id="8" name="TextBox 7"/>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Vazir"/>
                <a:cs typeface="Vazir"/>
              </a:rPr>
              <a:t>اصلاح: تصمیم دومرحله‌ای با بیشینه</a:t>
            </a:r>
          </a:p>
        </p:txBody>
      </p:sp>
      <p:sp>
        <p:nvSpPr>
          <p:cNvPr id="9" name="Rounded Rectangle 8"/>
          <p:cNvSpPr/>
          <p:nvPr/>
        </p:nvSpPr>
        <p:spPr>
          <a:xfrm>
            <a:off x="4315968"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104888"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2</a:t>
            </a:r>
          </a:p>
        </p:txBody>
      </p:sp>
      <p:sp>
        <p:nvSpPr>
          <p:cNvPr id="11" name="TextBox 10"/>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Vazir"/>
                <a:cs typeface="Vazir"/>
              </a:rPr>
              <a:t>فایل نمرات کهنه</a:t>
            </a:r>
          </a:p>
        </p:txBody>
      </p:sp>
      <p:sp>
        <p:nvSpPr>
          <p:cNvPr id="12" name="TextBox 11"/>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Vazir"/>
                <a:cs typeface="Vazir"/>
              </a:rPr>
              <a:t>کد هر فایل نمرات موجود را بازاستفاده می‌کرد. در یک گزارش، ۲۸۸ ویدیو از ۲۹۸ کنار گذاشته شده و عدد روی ده ویدیو حساب شده بود.</a:t>
            </a:r>
          </a:p>
        </p:txBody>
      </p:sp>
      <p:sp>
        <p:nvSpPr>
          <p:cNvPr id="13" name="TextBox 12"/>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Vazir"/>
                <a:cs typeface="Vazir"/>
              </a:rPr>
              <a:t>اصلاح: بازمحاسبه پیش‌فرض</a:t>
            </a:r>
          </a:p>
        </p:txBody>
      </p:sp>
      <p:sp>
        <p:nvSpPr>
          <p:cNvPr id="14" name="Rounded Rectangle 13"/>
          <p:cNvSpPr/>
          <p:nvPr/>
        </p:nvSpPr>
        <p:spPr>
          <a:xfrm>
            <a:off x="539495"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328415"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3</a:t>
            </a:r>
          </a:p>
        </p:txBody>
      </p:sp>
      <p:sp>
        <p:nvSpPr>
          <p:cNvPr id="16" name="TextBox 15"/>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Vazir"/>
                <a:cs typeface="Vazir"/>
              </a:rPr>
              <a:t>انتخاب قطعه برتر به تفکیک کلاس</a:t>
            </a:r>
          </a:p>
        </p:txBody>
      </p:sp>
      <p:sp>
        <p:nvSpPr>
          <p:cNvPr id="17" name="TextBox 16"/>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Vazir"/>
                <a:cs typeface="Vazir"/>
              </a:rPr>
              <a:t>کانال عادی از عادی‌ترین قطعه‌های یک ویدیوی سرقت ساخته می‌شد. نویز برچسب سیستماتیک وارد آموزش می‌شد.</a:t>
            </a:r>
          </a:p>
        </p:txBody>
      </p:sp>
      <p:sp>
        <p:nvSpPr>
          <p:cNvPr id="18" name="TextBox 17"/>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Vazir"/>
                <a:cs typeface="Vazir"/>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تصمیم دومرحله‌ای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Rounded Rectangle 3"/>
          <p:cNvSpPr/>
          <p:nvPr/>
        </p:nvSpPr>
        <p:spPr>
          <a:xfrm>
            <a:off x="548640" y="1600200"/>
            <a:ext cx="5394960" cy="22860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Vazir"/>
                <a:cs typeface="Vazir"/>
              </a:rPr>
              <a:t>مرحله اول: آیا ناهنجار است؟</a:t>
            </a:r>
          </a:p>
        </p:txBody>
      </p:sp>
      <p:sp>
        <p:nvSpPr>
          <p:cNvPr id="6" name="TextBox 5"/>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Vazir"/>
                <a:cs typeface="Vazir"/>
              </a:rPr>
              <a:t>بیشینه روی ۱۶ قطعه از مقدار «۱ منهای احتمال عادی»، در مقایسه با آستانه ۰٫۵</a:t>
            </a:r>
          </a:p>
        </p:txBody>
      </p:sp>
      <p:sp>
        <p:nvSpPr>
          <p:cNvPr id="7" name="TextBox 6"/>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Vazir"/>
                <a:cs typeface="Vazir"/>
              </a:rPr>
              <a:t>چرا بیشینه و نه میانگین: یک قطعه مشکوک کافی است، چون رویداد فقط چند ثانیه است</a:t>
            </a:r>
          </a:p>
        </p:txBody>
      </p:sp>
      <p:sp>
        <p:nvSpPr>
          <p:cNvPr id="8" name="Rounded Rectangle 7"/>
          <p:cNvSpPr/>
          <p:nvPr/>
        </p:nvSpPr>
        <p:spPr>
          <a:xfrm>
            <a:off x="6217920" y="1600200"/>
            <a:ext cx="5394960" cy="22860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مرحله دوم: کدام نوع؟</a:t>
            </a:r>
          </a:p>
        </p:txBody>
      </p:sp>
      <p:sp>
        <p:nvSpPr>
          <p:cNvPr id="10" name="TextBox 9"/>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Vazir"/>
                <a:cs typeface="Vazir"/>
              </a:rPr>
              <a:t>رأی‌گیری میانگین چهار قطعه برتر، تنها میان ۱۳ کلاس ناهنجار</a:t>
            </a:r>
          </a:p>
        </p:txBody>
      </p:sp>
      <p:sp>
        <p:nvSpPr>
          <p:cNvPr id="11" name="TextBox 10"/>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Vazir"/>
                <a:cs typeface="Vazir"/>
              </a:rPr>
              <a:t>کلاس عادی در این مرحله اصلاً وارد رقابت نمی‌شود</a:t>
            </a:r>
          </a:p>
        </p:txBody>
      </p:sp>
      <p:sp>
        <p:nvSpPr>
          <p:cNvPr id="12" name="TextBox 11"/>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مثال عددی: ویدیوی سرقت، رویداد در قطعه‌های ۴ و ۵</a:t>
            </a:r>
          </a:p>
        </p:txBody>
      </p:sp>
      <p:graphicFrame>
        <p:nvGraphicFramePr>
          <p:cNvPr id="13" name="Table 12"/>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200" b="1" i="0">
                          <a:solidFill>
                            <a:srgbClr val="FFFFFF"/>
                          </a:solidFill>
                          <a:latin typeface="Vazir"/>
                          <a:cs typeface="Vazir"/>
                        </a:rPr>
                        <a:t>روش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نمره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در برابر آستانه ۰٫۵</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تصمیم</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Vazir"/>
                          <a:cs typeface="Vazir"/>
                        </a:rPr>
                        <a:t>میانگین‌گیری روی ۸ قطعه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0.26</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زیر آستانه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عادی — غلط</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Vazir"/>
                          <a:cs typeface="Vazir"/>
                        </a:rPr>
                        <a:t>بیشینه روی همان ۸ قطعه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Vazir"/>
                          <a:cs typeface="Vazir"/>
                        </a:rPr>
                        <a:t>0.85</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Vazir"/>
                          <a:cs typeface="Vazir"/>
                        </a:rPr>
                        <a:t>بالای آستانه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Vazir"/>
                          <a:cs typeface="Vazir"/>
                        </a:rPr>
                        <a:t>ناهنجار — درست</a:t>
                      </a:r>
                    </a:p>
                  </a:txBody>
                  <a:tcPr marL="36576" marR="36576" marT="18288" marB="18288" anchor="ctr">
                    <a:solidFill>
                      <a:srgbClr val="FFF2D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کلاسی که مدل یاد گرفت هرگز نگوید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TextBox 3"/>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Vazir"/>
                <a:cs typeface="Vazir"/>
              </a:rPr>
              <a:t>به‌جای شمردن پیش‌بینی‌های درست، شمردیم مدل هر کلاس را چند بار پیش‌بینی می‌کند.</a:t>
            </a:r>
          </a:p>
        </p:txBody>
      </p:sp>
      <p:graphicFrame>
        <p:nvGraphicFramePr>
          <p:cNvPr id="5" name="Table 4"/>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ویدیوی واقعی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چند بار پیش‌بینی شد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نسبت</a:t>
                      </a:r>
                    </a:p>
                  </a:txBody>
                  <a:tcPr marL="36576" marR="36576" marT="18288" marB="18288" anchor="ctr">
                    <a:solidFill>
                      <a:srgbClr val="16264F"/>
                    </a:solidFill>
                  </a:tcPr>
                </a:tc>
              </a:tr>
              <a:tr h="365760">
                <a:tc>
                  <a:txBody>
                    <a:bodyPr wrap="square"/>
                    <a:lstStyle/>
                    <a:p>
                      <a:pPr rtl="1" algn="r">
                        <a:spcBef>
                          <a:spcPts val="0"/>
                        </a:spcBef>
                        <a:spcAft>
                          <a:spcPts val="0"/>
                        </a:spcAft>
                      </a:pPr>
                      <a:r>
                        <a:rPr sz="1200" b="1" i="0">
                          <a:solidFill>
                            <a:srgbClr val="16264F"/>
                          </a:solidFill>
                          <a:latin typeface="Vazir"/>
                          <a:cs typeface="Vazir"/>
                        </a:rPr>
                        <a:t>Fighting — درگیری</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2</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0.25</a:t>
                      </a:r>
                    </a:p>
                  </a:txBody>
                  <a:tcPr marL="36576" marR="36576" marT="18288" marB="18288" anchor="ctr">
                    <a:solidFill>
                      <a:srgbClr val="FFF2DC"/>
                    </a:solidFill>
                  </a:tcPr>
                </a:tc>
              </a:tr>
              <a:tr h="365760">
                <a:tc>
                  <a:txBody>
                    <a:bodyPr wrap="square"/>
                    <a:lstStyle/>
                    <a:p>
                      <a:pPr rtl="1" algn="r">
                        <a:spcBef>
                          <a:spcPts val="0"/>
                        </a:spcBef>
                        <a:spcAft>
                          <a:spcPts val="0"/>
                        </a:spcAft>
                      </a:pPr>
                      <a:r>
                        <a:rPr sz="1200" b="0" i="0">
                          <a:solidFill>
                            <a:srgbClr val="1B2236"/>
                          </a:solidFill>
                          <a:latin typeface="Vazir"/>
                          <a:cs typeface="Vazir"/>
                        </a:rPr>
                        <a:t>Assault — تعرض</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8</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3</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0.38</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Vazir"/>
                          <a:cs typeface="Vazir"/>
                        </a:rPr>
                        <a:t>Vandalism — تخریب</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8</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0.62</a:t>
                      </a:r>
                    </a:p>
                  </a:txBody>
                  <a:tcPr marL="36576" marR="36576" marT="18288" marB="18288" anchor="ctr">
                    <a:solidFill>
                      <a:srgbClr val="EDF1F8"/>
                    </a:solidFill>
                  </a:tcPr>
                </a:tc>
              </a:tr>
              <a:tr h="365760">
                <a:tc>
                  <a:txBody>
                    <a:bodyPr wrap="square"/>
                    <a:lstStyle/>
                    <a:p>
                      <a:pPr rtl="1" algn="r">
                        <a:spcBef>
                          <a:spcPts val="0"/>
                        </a:spcBef>
                        <a:spcAft>
                          <a:spcPts val="0"/>
                        </a:spcAft>
                      </a:pPr>
                      <a:r>
                        <a:rPr sz="1200" b="0" i="0">
                          <a:solidFill>
                            <a:srgbClr val="1B2236"/>
                          </a:solidFill>
                          <a:latin typeface="Vazir"/>
                          <a:cs typeface="Vazir"/>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15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20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1.33</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Vazir"/>
                          <a:cs typeface="Vazir"/>
                        </a:rPr>
                        <a:t>RoadAccidents — تصادف</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23</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39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1.70</a:t>
                      </a:r>
                    </a:p>
                  </a:txBody>
                  <a:tcPr marL="36576" marR="36576" marT="18288" marB="18288" anchor="ctr">
                    <a:solidFill>
                      <a:srgbClr val="EDF1F8"/>
                    </a:solidFill>
                  </a:tcPr>
                </a:tc>
              </a:tr>
            </a:tbl>
          </a:graphicData>
        </a:graphic>
      </p:graphicFrame>
      <p:sp>
        <p:nvSpPr>
          <p:cNvPr id="6" name="Rounded Rectangle 5"/>
          <p:cNvSpPr/>
          <p:nvPr/>
        </p:nvSpPr>
        <p:spPr>
          <a:xfrm>
            <a:off x="7498079" y="2148840"/>
            <a:ext cx="411480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تشخیص</a:t>
            </a:r>
          </a:p>
        </p:txBody>
      </p:sp>
      <p:sp>
        <p:nvSpPr>
          <p:cNvPr id="8" name="TextBox 7"/>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مدل روی درگیری شکست نخورده بود. یاد گرفته بود هرگز نگوید درگیری، چون گفتنش شرط‌بندی بدی بود.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علت ریشه‌ای</a:t>
            </a:r>
          </a:p>
        </p:txBody>
      </p:sp>
      <p:sp>
        <p:nvSpPr>
          <p:cNvPr id="10" name="TextBox 9"/>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Vazir"/>
                <a:cs typeface="Vazir"/>
              </a:rPr>
              <a:t>●  تابع وزن‌دهی کلاس در کد وجود داشت ولی هیچ‌جا صدا زده نمی‌شد.</a:t>
            </a:r>
          </a:p>
          <a:p>
            <a:pPr rtl="1" algn="r">
              <a:lnSpc>
                <a:spcPts val="1900"/>
              </a:lnSpc>
              <a:spcBef>
                <a:spcPts val="0"/>
              </a:spcBef>
              <a:spcAft>
                <a:spcPts val="700"/>
              </a:spcAft>
            </a:pPr>
            <a:r>
              <a:rPr sz="1300" b="0" i="0">
                <a:solidFill>
                  <a:srgbClr val="1B2236"/>
                </a:solidFill>
                <a:latin typeface="Vazir"/>
                <a:cs typeface="Vazir"/>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1B2236"/>
                </a:solidFill>
                <a:latin typeface="Vazir"/>
                <a:cs typeface="Vazir"/>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محدودیت بنیادی: هندسه فضای متنی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Vazir"/>
                <a:cs typeface="Vazir"/>
              </a:rPr>
              <a:t>اسم خام کلاس‌ها در فضای زبانی CLIP تقریباً هم‌راستا هستند و سقفی مستقل از کیفیت تصویری تحمیل می‌کنند.</a:t>
            </a:r>
          </a:p>
        </p:txBody>
      </p:sp>
      <p:graphicFrame>
        <p:nvGraphicFramePr>
          <p:cNvPr id="5" name="Table 4"/>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200" b="1" i="0">
                          <a:solidFill>
                            <a:srgbClr val="FFFFFF"/>
                          </a:solidFill>
                          <a:latin typeface="Vazir"/>
                          <a:cs typeface="Vazir"/>
                        </a:rPr>
                        <a:t>جفت 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شباهت کسینوسی</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Vazir"/>
                          <a:cs typeface="Vazir"/>
                        </a:rPr>
                        <a:t>Abuse  /  Stealing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0.91</a:t>
                      </a:r>
                    </a:p>
                  </a:txBody>
                  <a:tcPr marL="36576" marR="36576" marT="18288" marB="18288" anchor="ctr">
                    <a:solidFill>
                      <a:srgbClr val="EDF1F8"/>
                    </a:solidFill>
                  </a:tcPr>
                </a:tc>
              </a:tr>
              <a:tr h="384048">
                <a:tc>
                  <a:txBody>
                    <a:bodyPr wrap="square"/>
                    <a:lstStyle/>
                    <a:p>
                      <a:pPr rtl="1" algn="r">
                        <a:spcBef>
                          <a:spcPts val="0"/>
                        </a:spcBef>
                        <a:spcAft>
                          <a:spcPts val="0"/>
                        </a:spcAft>
                      </a:pPr>
                      <a:r>
                        <a:rPr sz="1300" b="0" i="0">
                          <a:solidFill>
                            <a:srgbClr val="1B2236"/>
                          </a:solidFill>
                          <a:latin typeface="Vazir"/>
                          <a:cs typeface="Vazir"/>
                        </a:rPr>
                        <a:t>Assault  /  Arrest</a:t>
                      </a:r>
                    </a:p>
                  </a:txBody>
                  <a:tcPr marL="36576" marR="36576" marT="18288" marB="18288" anchor="ctr">
                    <a:solidFill>
                      <a:srgbClr val="FFFFFF"/>
                    </a:solidFill>
                  </a:tcPr>
                </a:tc>
                <a:tc>
                  <a:txBody>
                    <a:bodyPr wrap="square"/>
                    <a:lstStyle/>
                    <a:p>
                      <a:pPr rtl="1" algn="ctr">
                        <a:spcBef>
                          <a:spcPts val="0"/>
                        </a:spcBef>
                        <a:spcAft>
                          <a:spcPts val="0"/>
                        </a:spcAft>
                      </a:pPr>
                      <a:r>
                        <a:rPr sz="1300" b="0" i="0">
                          <a:solidFill>
                            <a:srgbClr val="1B2236"/>
                          </a:solidFill>
                          <a:latin typeface="Vazir"/>
                          <a:cs typeface="Vazir"/>
                        </a:rPr>
                        <a:t>0.91</a:t>
                      </a:r>
                    </a:p>
                  </a:txBody>
                  <a:tcPr marL="36576" marR="36576" marT="18288" marB="18288" anchor="ctr">
                    <a:solidFill>
                      <a:srgbClr val="FFFFFF"/>
                    </a:solidFill>
                  </a:tcPr>
                </a:tc>
              </a:tr>
              <a:tr h="384048">
                <a:tc>
                  <a:txBody>
                    <a:bodyPr wrap="square"/>
                    <a:lstStyle/>
                    <a:p>
                      <a:pPr rtl="1" algn="r">
                        <a:spcBef>
                          <a:spcPts val="0"/>
                        </a:spcBef>
                        <a:spcAft>
                          <a:spcPts val="0"/>
                        </a:spcAft>
                      </a:pPr>
                      <a:r>
                        <a:rPr sz="1300" b="0" i="0">
                          <a:solidFill>
                            <a:srgbClr val="1B2236"/>
                          </a:solidFill>
                          <a:latin typeface="Vazir"/>
                          <a:cs typeface="Vazir"/>
                        </a:rPr>
                        <a:t>Fighting  /  Shooting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0.90</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Vazir"/>
                          <a:cs typeface="Vazir"/>
                        </a:rPr>
                        <a:t>میانگین همه جفت‌ها</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Vazir"/>
                          <a:cs typeface="Vazir"/>
                        </a:rPr>
                        <a:t>0.83</a:t>
                      </a:r>
                    </a:p>
                  </a:txBody>
                  <a:tcPr marL="36576" marR="36576" marT="18288" marB="18288" anchor="ctr">
                    <a:solidFill>
                      <a:srgbClr val="FFF2DC"/>
                    </a:solidFill>
                  </a:tcPr>
                </a:tc>
              </a:tr>
            </a:tbl>
          </a:graphicData>
        </a:graphic>
      </p:graphicFrame>
      <p:sp>
        <p:nvSpPr>
          <p:cNvPr id="6" name="Rounded Rectangle 5"/>
          <p:cNvSpPr/>
          <p:nvPr/>
        </p:nvSpPr>
        <p:spPr>
          <a:xfrm>
            <a:off x="5852160" y="2148840"/>
            <a:ext cx="576072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آزمایش تعیین‌کننده</a:t>
            </a:r>
          </a:p>
        </p:txBody>
      </p:sp>
      <p:sp>
        <p:nvSpPr>
          <p:cNvPr id="8" name="TextBox 7"/>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راه حل: توصیف بصری به‌جای اسم حقوقی</a:t>
            </a:r>
          </a:p>
        </p:txBody>
      </p:sp>
      <p:sp>
        <p:nvSpPr>
          <p:cNvPr id="10" name="Rounded Rectangle 9"/>
          <p:cNvSpPr/>
          <p:nvPr/>
        </p:nvSpPr>
        <p:spPr>
          <a:xfrm>
            <a:off x="548640" y="4663440"/>
            <a:ext cx="5486400" cy="12801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پیش از تغییر</a:t>
            </a:r>
          </a:p>
        </p:txBody>
      </p:sp>
      <p:sp>
        <p:nvSpPr>
          <p:cNvPr id="12" name="TextBox 11"/>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C9483B"/>
                </a:solidFill>
                <a:latin typeface="Vazir"/>
                <a:cs typeface="Vazir"/>
              </a:rPr>
              <a:t>"Burglary"</a:t>
            </a:r>
          </a:p>
        </p:txBody>
      </p:sp>
      <p:sp>
        <p:nvSpPr>
          <p:cNvPr id="13" name="TextBox 12"/>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Vazir"/>
                <a:cs typeface="Vazir"/>
              </a:rPr>
              <a:t>سقف اندازه‌گیری‌شده: 0.44</a:t>
            </a:r>
          </a:p>
        </p:txBody>
      </p:sp>
      <p:sp>
        <p:nvSpPr>
          <p:cNvPr id="14" name="Rounded Rectangle 13"/>
          <p:cNvSpPr/>
          <p:nvPr/>
        </p:nvSpPr>
        <p:spPr>
          <a:xfrm>
            <a:off x="6309360" y="4663440"/>
            <a:ext cx="5303520" cy="128016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پس از تغییر</a:t>
            </a:r>
          </a:p>
        </p:txBody>
      </p:sp>
      <p:sp>
        <p:nvSpPr>
          <p:cNvPr id="16" name="TextBox 15"/>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3FA7A0"/>
                </a:solidFill>
                <a:latin typeface="Vazir"/>
                <a:cs typeface="Vazir"/>
              </a:rPr>
              <a:t>"a burglar climbing through a broken window"</a:t>
            </a:r>
          </a:p>
        </p:txBody>
      </p:sp>
      <p:sp>
        <p:nvSpPr>
          <p:cNvPr id="17" name="TextBox 16"/>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Vazir"/>
                <a:cs typeface="Vazir"/>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نتایج مسیر اول</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graphicFrame>
        <p:nvGraphicFramePr>
          <p:cNvPr id="4" name="Table 3"/>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00" b="1" i="0">
                          <a:solidFill>
                            <a:srgbClr val="FFFFFF"/>
                          </a:solidFill>
                          <a:latin typeface="Vazir"/>
                          <a:cs typeface="Vazir"/>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AUC دودویی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صحت کلی</a:t>
                      </a:r>
                    </a:p>
                  </a:txBody>
                  <a:tcPr marL="36576" marR="36576" marT="18288" marB="18288" anchor="ctr">
                    <a:solidFill>
                      <a:srgbClr val="16264F"/>
                    </a:solidFill>
                  </a:tcPr>
                </a:tc>
              </a:tr>
              <a:tr h="402336">
                <a:tc>
                  <a:txBody>
                    <a:bodyPr wrap="square"/>
                    <a:lstStyle/>
                    <a:p>
                      <a:pPr rtl="1" algn="r">
                        <a:spcBef>
                          <a:spcPts val="0"/>
                        </a:spcBef>
                        <a:spcAft>
                          <a:spcPts val="0"/>
                        </a:spcAft>
                      </a:pPr>
                      <a:r>
                        <a:rPr sz="1250" b="0" i="0">
                          <a:solidFill>
                            <a:srgbClr val="1B2236"/>
                          </a:solidFill>
                          <a:latin typeface="Vazir"/>
                          <a:cs typeface="Vazir"/>
                        </a:rPr>
                        <a:t>اجرای پایه — اسم خام، وزن دستی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0.9473</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0.3327</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0.3716</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0.6385</a:t>
                      </a:r>
                    </a:p>
                  </a:txBody>
                  <a:tcPr marL="36576" marR="36576" marT="18288" marB="18288" anchor="ctr">
                    <a:solidFill>
                      <a:srgbClr val="EDF1F8"/>
                    </a:solidFill>
                  </a:tcPr>
                </a:tc>
              </a:tr>
              <a:tr h="402336">
                <a:tc>
                  <a:txBody>
                    <a:bodyPr wrap="square"/>
                    <a:lstStyle/>
                    <a:p>
                      <a:pPr rtl="1" algn="r">
                        <a:spcBef>
                          <a:spcPts val="0"/>
                        </a:spcBef>
                        <a:spcAft>
                          <a:spcPts val="0"/>
                        </a:spcAft>
                      </a:pPr>
                      <a:r>
                        <a:rPr sz="1250" b="0" i="0">
                          <a:solidFill>
                            <a:srgbClr val="1B2236"/>
                          </a:solidFill>
                          <a:latin typeface="Vazir"/>
                          <a:cs typeface="Vazir"/>
                        </a:rPr>
                        <a:t>توصیف بصری + وزن معکوس فراوانی</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0.9637</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0.3713</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0.4054</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0.6351</a:t>
                      </a:r>
                    </a:p>
                  </a:txBody>
                  <a:tcPr marL="36576" marR="36576" marT="18288" marB="18288" anchor="ctr">
                    <a:solidFill>
                      <a:srgbClr val="FFFFFF"/>
                    </a:solidFill>
                  </a:tcPr>
                </a:tc>
              </a:tr>
              <a:tr h="402336">
                <a:tc>
                  <a:txBody>
                    <a:bodyPr wrap="square"/>
                    <a:lstStyle/>
                    <a:p>
                      <a:pPr rtl="1" algn="r">
                        <a:spcBef>
                          <a:spcPts val="0"/>
                        </a:spcBef>
                        <a:spcAft>
                          <a:spcPts val="0"/>
                        </a:spcAft>
                      </a:pPr>
                      <a:r>
                        <a:rPr sz="1250" b="1" i="0">
                          <a:solidFill>
                            <a:srgbClr val="16264F"/>
                          </a:solidFill>
                          <a:latin typeface="Vazir"/>
                          <a:cs typeface="Vazir"/>
                        </a:rPr>
                        <a:t>افزودن چهار نمای زمانی در آزمون</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0.9629</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0.3881</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0.4257</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0.6419</a:t>
                      </a:r>
                    </a:p>
                  </a:txBody>
                  <a:tcPr marL="36576" marR="36576" marT="18288" marB="18288" anchor="ctr">
                    <a:solidFill>
                      <a:srgbClr val="FFF2DC"/>
                    </a:solidFill>
                  </a:tcPr>
                </a:tc>
              </a:tr>
            </a:tbl>
          </a:graphicData>
        </a:graphic>
      </p:graphicFrame>
      <p:sp>
        <p:nvSpPr>
          <p:cNvPr id="5" name="TextBox 4"/>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کلاس‌هایی که از مرگ برگشتند</a:t>
            </a:r>
          </a:p>
        </p:txBody>
      </p:sp>
      <p:graphicFrame>
        <p:nvGraphicFramePr>
          <p:cNvPr id="6" name="Table 5"/>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20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F1 پیش از تغییر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F1 پس از تغییر</a:t>
                      </a:r>
                    </a:p>
                  </a:txBody>
                  <a:tcPr marL="36576" marR="36576" marT="18288" marB="18288" anchor="ctr">
                    <a:solidFill>
                      <a:srgbClr val="16264F"/>
                    </a:solidFill>
                  </a:tcPr>
                </a:tc>
              </a:tr>
              <a:tr h="329184">
                <a:tc>
                  <a:txBody>
                    <a:bodyPr wrap="square"/>
                    <a:lstStyle/>
                    <a:p>
                      <a:pPr rtl="1" algn="r">
                        <a:spcBef>
                          <a:spcPts val="0"/>
                        </a:spcBef>
                        <a:spcAft>
                          <a:spcPts val="0"/>
                        </a:spcAft>
                      </a:pPr>
                      <a:r>
                        <a:rPr sz="1150" b="0" i="0">
                          <a:solidFill>
                            <a:srgbClr val="1B2236"/>
                          </a:solidFill>
                          <a:latin typeface="Vazir"/>
                          <a:cs typeface="Vazir"/>
                        </a:rPr>
                        <a:t>Arrest — بازداشت</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0.000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0.556</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Vazir"/>
                          <a:cs typeface="Vazir"/>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0.462</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0.714</a:t>
                      </a:r>
                    </a:p>
                  </a:txBody>
                  <a:tcPr marL="36576" marR="36576" marT="18288" marB="18288" anchor="ctr">
                    <a:solidFill>
                      <a:srgbClr val="FFFFFF"/>
                    </a:solidFill>
                  </a:tcPr>
                </a:tc>
              </a:tr>
              <a:tr h="329184">
                <a:tc>
                  <a:txBody>
                    <a:bodyPr wrap="square"/>
                    <a:lstStyle/>
                    <a:p>
                      <a:pPr rtl="1" algn="r">
                        <a:spcBef>
                          <a:spcPts val="0"/>
                        </a:spcBef>
                        <a:spcAft>
                          <a:spcPts val="0"/>
                        </a:spcAft>
                      </a:pPr>
                      <a:r>
                        <a:rPr sz="1150" b="0" i="0">
                          <a:solidFill>
                            <a:srgbClr val="1B2236"/>
                          </a:solidFill>
                          <a:latin typeface="Vazir"/>
                          <a:cs typeface="Vazir"/>
                        </a:rPr>
                        <a:t>Stealing — دزدی</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0.200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0.350</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Vazir"/>
                          <a:cs typeface="Vazir"/>
                        </a:rPr>
                        <a:t>Vandalism — تخریب</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0.000</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0.167</a:t>
                      </a:r>
                    </a:p>
                  </a:txBody>
                  <a:tcPr marL="36576" marR="36576" marT="18288" marB="18288" anchor="ctr">
                    <a:solidFill>
                      <a:srgbClr val="FFFFFF"/>
                    </a:solidFill>
                  </a:tcPr>
                </a:tc>
              </a:tr>
            </a:tbl>
          </a:graphicData>
        </a:graphic>
      </p:graphicFrame>
      <p:sp>
        <p:nvSpPr>
          <p:cNvPr id="7" name="Rounded Rectangle 6"/>
          <p:cNvSpPr/>
          <p:nvPr/>
        </p:nvSpPr>
        <p:spPr>
          <a:xfrm>
            <a:off x="6400800" y="3611880"/>
            <a:ext cx="5212080" cy="23317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چرا از این مسیر فاصله گرفتیم</a:t>
            </a:r>
          </a:p>
        </p:txBody>
      </p:sp>
      <p:sp>
        <p:nvSpPr>
          <p:cNvPr id="9" name="TextBox 8"/>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1B2236"/>
                </a:solidFill>
                <a:latin typeface="Vazir"/>
                <a:cs typeface="Vazir"/>
              </a:rPr>
              <a:t>●  هر پیکربندی حدود ۱۶ ساعت طول می‌کشید</a:t>
            </a:r>
          </a:p>
          <a:p>
            <a:pPr rtl="1" algn="r">
              <a:lnSpc>
                <a:spcPts val="1900"/>
              </a:lnSpc>
              <a:spcBef>
                <a:spcPts val="0"/>
              </a:spcBef>
              <a:spcAft>
                <a:spcPts val="700"/>
              </a:spcAft>
            </a:pPr>
            <a:r>
              <a:rPr sz="1200" b="0" i="0">
                <a:solidFill>
                  <a:srgbClr val="1B2236"/>
                </a:solidFill>
                <a:latin typeface="Vazir"/>
                <a:cs typeface="Vazir"/>
              </a:rPr>
              <a:t>●  با این هزینه، آزمون سیستماتیک فرضیه‌ها ناممکن بود</a:t>
            </a:r>
          </a:p>
          <a:p>
            <a:pPr rtl="1" algn="r">
              <a:lnSpc>
                <a:spcPts val="1900"/>
              </a:lnSpc>
              <a:spcBef>
                <a:spcPts val="0"/>
              </a:spcBef>
              <a:spcAft>
                <a:spcPts val="700"/>
              </a:spcAft>
            </a:pPr>
            <a:r>
              <a:rPr sz="1200" b="0" i="0">
                <a:solidFill>
                  <a:srgbClr val="1B2236"/>
                </a:solidFill>
                <a:latin typeface="Vazir"/>
                <a:cs typeface="Vazir"/>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Vazir"/>
                <a:cs typeface="Vazir"/>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Vazir"/>
                <a:cs typeface="Vazir"/>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Vazir"/>
                <a:cs typeface="Vazir"/>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Vazir"/>
                <a:cs typeface="Vazir"/>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VideoMAE چطور یاد گرفت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ounded Rectangle 3"/>
          <p:cNvSpPr/>
          <p:nvPr/>
        </p:nvSpPr>
        <p:spPr>
          <a:xfrm>
            <a:off x="548640" y="1645920"/>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0664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1</a:t>
            </a:r>
          </a:p>
        </p:txBody>
      </p:sp>
      <p:sp>
        <p:nvSpPr>
          <p:cNvPr id="6" name="TextBox 5"/>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پوشاندن</a:t>
            </a:r>
          </a:p>
        </p:txBody>
      </p:sp>
      <p:sp>
        <p:nvSpPr>
          <p:cNvPr id="7" name="TextBox 6"/>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حدود ۹۰ درصد مکعب‌های فضازمانی پوشانده می‌شوند</a:t>
            </a:r>
          </a:p>
        </p:txBody>
      </p:sp>
      <p:sp>
        <p:nvSpPr>
          <p:cNvPr id="8" name="Rounded Rectangle 7"/>
          <p:cNvSpPr/>
          <p:nvPr/>
        </p:nvSpPr>
        <p:spPr>
          <a:xfrm>
            <a:off x="548640" y="2670048"/>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06640" y="287121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2</a:t>
            </a:r>
          </a:p>
        </p:txBody>
      </p:sp>
      <p:sp>
        <p:nvSpPr>
          <p:cNvPr id="10" name="TextBox 9"/>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بازسازی</a:t>
            </a:r>
          </a:p>
        </p:txBody>
      </p:sp>
      <p:sp>
        <p:nvSpPr>
          <p:cNvPr id="11" name="TextBox 10"/>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رمزگذار فقط ۱۰ درصد باقی‌مانده را می‌بیند و رمزگشا جای خالی‌ها را حدس می‌زند</a:t>
            </a:r>
          </a:p>
        </p:txBody>
      </p:sp>
      <p:sp>
        <p:nvSpPr>
          <p:cNvPr id="12" name="Rounded Rectangle 11"/>
          <p:cNvSpPr/>
          <p:nvPr/>
        </p:nvSpPr>
        <p:spPr>
          <a:xfrm>
            <a:off x="548640" y="3694176"/>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06640" y="3895344"/>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3</a:t>
            </a:r>
          </a:p>
        </p:txBody>
      </p:sp>
      <p:sp>
        <p:nvSpPr>
          <p:cNvPr id="14" name="TextBox 13"/>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بدون برچسب</a:t>
            </a:r>
          </a:p>
        </p:txBody>
      </p:sp>
      <p:sp>
        <p:nvSpPr>
          <p:cNvPr id="15" name="TextBox 14"/>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خود ویدیو هم سؤال است و هم جواب، پس روی حجم عظیمی از داده ممکن است</a:t>
            </a:r>
          </a:p>
        </p:txBody>
      </p:sp>
      <p:sp>
        <p:nvSpPr>
          <p:cNvPr id="16" name="Rounded Rectangle 15"/>
          <p:cNvSpPr/>
          <p:nvPr/>
        </p:nvSpPr>
        <p:spPr>
          <a:xfrm>
            <a:off x="548640" y="4718304"/>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406640" y="491947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4</a:t>
            </a:r>
          </a:p>
        </p:txBody>
      </p:sp>
      <p:sp>
        <p:nvSpPr>
          <p:cNvPr id="18" name="TextBox 17"/>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دور انداختن رمزگشا</a:t>
            </a:r>
          </a:p>
        </p:txBody>
      </p:sp>
      <p:sp>
        <p:nvSpPr>
          <p:cNvPr id="19" name="TextBox 18"/>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پس از پیش‌آموزش تنها رمزگذار می‌ماند و روی Kinetics تنظیم می‌شود</a:t>
            </a:r>
          </a:p>
        </p:txBody>
      </p:sp>
      <p:sp>
        <p:nvSpPr>
          <p:cNvPr id="20" name="Rounded Rectangle 19"/>
          <p:cNvSpPr/>
          <p:nvPr/>
        </p:nvSpPr>
        <p:spPr>
          <a:xfrm>
            <a:off x="8412480" y="1645920"/>
            <a:ext cx="3200400" cy="40233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Vazir"/>
                <a:cs typeface="Vazir"/>
              </a:rPr>
              <a:t>تفاوت با X-CLIP</a:t>
            </a:r>
          </a:p>
        </p:txBody>
      </p:sp>
      <p:sp>
        <p:nvSpPr>
          <p:cNvPr id="22" name="TextBox 21"/>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1B2236"/>
                </a:solidFill>
                <a:latin typeface="Vazir"/>
                <a:cs typeface="Vazir"/>
              </a:rPr>
              <a:t>X-CLIP از متن یاد گرفت.</a:t>
            </a:r>
          </a:p>
          <a:p>
            <a:pPr rtl="1" algn="r">
              <a:lnSpc>
                <a:spcPts val="2000"/>
              </a:lnSpc>
              <a:spcBef>
                <a:spcPts val="0"/>
              </a:spcBef>
              <a:spcAft>
                <a:spcPts val="0"/>
              </a:spcAft>
            </a:pPr>
            <a:r>
              <a:rPr sz="1250" b="0" i="0">
                <a:solidFill>
                  <a:srgbClr val="1B2236"/>
                </a:solidFill>
                <a:latin typeface="Vazir"/>
                <a:cs typeface="Vazir"/>
              </a:rPr>
              <a:t/>
            </a:r>
          </a:p>
          <a:p>
            <a:pPr rtl="1" algn="r">
              <a:lnSpc>
                <a:spcPts val="2000"/>
              </a:lnSpc>
              <a:spcBef>
                <a:spcPts val="0"/>
              </a:spcBef>
              <a:spcAft>
                <a:spcPts val="0"/>
              </a:spcAft>
            </a:pPr>
            <a:r>
              <a:rPr sz="1250" b="0" i="0">
                <a:solidFill>
                  <a:srgbClr val="1B2236"/>
                </a:solidFill>
                <a:latin typeface="Vazir"/>
                <a:cs typeface="Vazir"/>
              </a:rPr>
              <a:t>VideoMAE از خود ویدیو.</a:t>
            </a:r>
          </a:p>
          <a:p>
            <a:pPr rtl="1" algn="r">
              <a:lnSpc>
                <a:spcPts val="2000"/>
              </a:lnSpc>
              <a:spcBef>
                <a:spcPts val="0"/>
              </a:spcBef>
              <a:spcAft>
                <a:spcPts val="0"/>
              </a:spcAft>
            </a:pPr>
            <a:r>
              <a:rPr sz="1250" b="0" i="0">
                <a:solidFill>
                  <a:srgbClr val="1B2236"/>
                </a:solidFill>
                <a:latin typeface="Vazir"/>
                <a:cs typeface="Vazir"/>
              </a:rPr>
              <a:t/>
            </a:r>
          </a:p>
          <a:p>
            <a:pPr rtl="1" algn="r">
              <a:lnSpc>
                <a:spcPts val="2000"/>
              </a:lnSpc>
              <a:spcBef>
                <a:spcPts val="0"/>
              </a:spcBef>
              <a:spcAft>
                <a:spcPts val="0"/>
              </a:spcAft>
            </a:pPr>
            <a:r>
              <a:rPr sz="1250" b="0" i="0">
                <a:solidFill>
                  <a:srgbClr val="1B2236"/>
                </a:solidFill>
                <a:latin typeface="Vazir"/>
                <a:cs typeface="Vazir"/>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مهم‌ترین تصمیم پروژه: یخ زدن رمزگذار</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Vazir"/>
                <a:cs typeface="Vazir"/>
              </a:rPr>
              <a:t>چون رمزگذار آموزش نمی‌بیند، خروجی‌اش ثابت است. پس محاسبه مجددش در هر دوره کار تکراری محض است.</a:t>
            </a:r>
          </a:p>
        </p:txBody>
      </p:sp>
      <p:sp>
        <p:nvSpPr>
          <p:cNvPr id="5" name="TextBox 4"/>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Vazir"/>
                <a:cs typeface="Vazir"/>
              </a:rPr>
              <a:t>16</a:t>
            </a:r>
          </a:p>
        </p:txBody>
      </p:sp>
      <p:sp>
        <p:nvSpPr>
          <p:cNvPr id="6" name="TextBox 5"/>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ساعت برای هر آزمایش — روش قدیم</a:t>
            </a:r>
          </a:p>
        </p:txBody>
      </p:sp>
      <p:sp>
        <p:nvSpPr>
          <p:cNvPr id="7" name="Left Arrow 6"/>
          <p:cNvSpPr/>
          <p:nvPr/>
        </p:nvSpPr>
        <p:spPr>
          <a:xfrm>
            <a:off x="6675120" y="2377440"/>
            <a:ext cx="1188720" cy="5029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Vazir"/>
                <a:cs typeface="Vazir"/>
              </a:rPr>
              <a:t>80</a:t>
            </a:r>
          </a:p>
        </p:txBody>
      </p:sp>
      <p:sp>
        <p:nvSpPr>
          <p:cNvPr id="9" name="TextBox 8"/>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ثانیه برای هر آزمایش — روش جدید</a:t>
            </a:r>
          </a:p>
        </p:txBody>
      </p:sp>
      <p:sp>
        <p:nvSpPr>
          <p:cNvPr id="10" name="TextBox 9"/>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200</a:t>
            </a:r>
          </a:p>
        </p:txBody>
      </p:sp>
      <p:sp>
        <p:nvSpPr>
          <p:cNvPr id="11" name="TextBox 10"/>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ارزیابی انجام‌شده</a:t>
            </a:r>
          </a:p>
        </p:txBody>
      </p:sp>
      <p:graphicFrame>
        <p:nvGraphicFramePr>
          <p:cNvPr id="12" name="Table 11"/>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00" b="1" i="0">
                          <a:solidFill>
                            <a:srgbClr val="FFFFFF"/>
                          </a:solidFill>
                          <a:latin typeface="Vazir"/>
                          <a:cs typeface="Vazir"/>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روش قدیم</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روش جدید</a:t>
                      </a:r>
                    </a:p>
                  </a:txBody>
                  <a:tcPr marL="36576" marR="36576" marT="18288" marB="18288" anchor="ctr">
                    <a:solidFill>
                      <a:srgbClr val="16264F"/>
                    </a:solidFill>
                  </a:tcPr>
                </a:tc>
              </a:tr>
              <a:tr h="320040">
                <a:tc>
                  <a:txBody>
                    <a:bodyPr wrap="square"/>
                    <a:lstStyle/>
                    <a:p>
                      <a:pPr rtl="1" algn="r">
                        <a:spcBef>
                          <a:spcPts val="0"/>
                        </a:spcBef>
                        <a:spcAft>
                          <a:spcPts val="0"/>
                        </a:spcAft>
                      </a:pPr>
                      <a:r>
                        <a:rPr sz="1250" b="0" i="0">
                          <a:solidFill>
                            <a:srgbClr val="1B2236"/>
                          </a:solidFill>
                          <a:latin typeface="Vazir"/>
                          <a:cs typeface="Vazir"/>
                        </a:rPr>
                        <a:t>رمزگشایی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هر دوره تکرار می‌شد</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یک بار، هرگز دوباره</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Vazir"/>
                          <a:cs typeface="Vazir"/>
                        </a:rPr>
                        <a:t>اجرای رمزگذار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هر دوره تکرار می‌شد</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یک بار، هرگز دوباره</a:t>
                      </a:r>
                    </a:p>
                  </a:txBody>
                  <a:tcPr marL="36576" marR="36576" marT="18288" marB="18288" anchor="ctr">
                    <a:solidFill>
                      <a:srgbClr val="FFFFFF"/>
                    </a:solidFill>
                  </a:tcPr>
                </a:tc>
              </a:tr>
              <a:tr h="320040">
                <a:tc>
                  <a:txBody>
                    <a:bodyPr wrap="square"/>
                    <a:lstStyle/>
                    <a:p>
                      <a:pPr rtl="1" algn="r">
                        <a:spcBef>
                          <a:spcPts val="0"/>
                        </a:spcBef>
                        <a:spcAft>
                          <a:spcPts val="0"/>
                        </a:spcAft>
                      </a:pPr>
                      <a:r>
                        <a:rPr sz="1250" b="0" i="0">
                          <a:solidFill>
                            <a:srgbClr val="1B2236"/>
                          </a:solidFill>
                          <a:latin typeface="Vazir"/>
                          <a:cs typeface="Vazir"/>
                        </a:rPr>
                        <a:t>حجم داده ورودی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۷۰ گیگابایت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۹۳ مگابایت عدد</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Vazir"/>
                          <a:cs typeface="Vazir"/>
                        </a:rPr>
                        <a:t>پارامترهای آموزش‌پذیر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حدود ۳۰۰ میلیون</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۴٫۸ میلیون</a:t>
                      </a:r>
                    </a:p>
                  </a:txBody>
                  <a:tcPr marL="36576" marR="36576" marT="18288" marB="18288" anchor="ctr">
                    <a:solidFill>
                      <a:srgbClr val="FFFFFF"/>
                    </a:solidFill>
                  </a:tcPr>
                </a:tc>
              </a:tr>
              <a:tr h="320040">
                <a:tc>
                  <a:txBody>
                    <a:bodyPr wrap="square"/>
                    <a:lstStyle/>
                    <a:p>
                      <a:pPr rtl="1" algn="r">
                        <a:spcBef>
                          <a:spcPts val="0"/>
                        </a:spcBef>
                        <a:spcAft>
                          <a:spcPts val="0"/>
                        </a:spcAft>
                      </a:pPr>
                      <a:r>
                        <a:rPr sz="1250" b="1" i="0">
                          <a:solidFill>
                            <a:srgbClr val="16264F"/>
                          </a:solidFill>
                          <a:latin typeface="Vazir"/>
                          <a:cs typeface="Vazir"/>
                        </a:rPr>
                        <a:t>زمان ۲۰۰ آزمایش</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حدود ۱۳۳ روز</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حدود ۴ ساعت</a:t>
                      </a:r>
                    </a:p>
                  </a:txBody>
                  <a:tcPr marL="36576" marR="36576" marT="18288" marB="18288" anchor="ctr">
                    <a:solidFill>
                      <a:srgbClr val="FFF2DC"/>
                    </a:solidFill>
                  </a:tcPr>
                </a:tc>
              </a:tr>
            </a:tbl>
          </a:graphicData>
        </a:graphic>
      </p:graphicFrame>
      <p:sp>
        <p:nvSpPr>
          <p:cNvPr id="13" name="TextBox 12"/>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Vazir"/>
                <a:cs typeface="Vazir"/>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خط لوله نهایی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ounded Rectangle 3"/>
          <p:cNvSpPr/>
          <p:nvPr/>
        </p:nvSpPr>
        <p:spPr>
          <a:xfrm>
            <a:off x="909828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Vazir"/>
                <a:cs typeface="Vazir"/>
              </a:rPr>
              <a:t>ویدیوی خام</a:t>
            </a:r>
          </a:p>
        </p:txBody>
      </p:sp>
      <p:sp>
        <p:nvSpPr>
          <p:cNvPr id="6" name="TextBox 5"/>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۹۰۰۰ فریم</a:t>
            </a:r>
          </a:p>
          <a:p>
            <a:pPr rtl="1" algn="ctr">
              <a:lnSpc>
                <a:spcPts val="1700"/>
              </a:lnSpc>
              <a:spcBef>
                <a:spcPts val="0"/>
              </a:spcBef>
              <a:spcAft>
                <a:spcPts val="0"/>
              </a:spcAft>
            </a:pPr>
            <a:r>
              <a:rPr sz="1150" b="0" i="0">
                <a:solidFill>
                  <a:srgbClr val="6A748C"/>
                </a:solidFill>
                <a:latin typeface="Vazir"/>
                <a:cs typeface="Vazir"/>
              </a:rPr>
              <a:t>۴۰ مگابایت</a:t>
            </a:r>
          </a:p>
        </p:txBody>
      </p:sp>
      <p:sp>
        <p:nvSpPr>
          <p:cNvPr id="7" name="Left Arrow 6"/>
          <p:cNvSpPr/>
          <p:nvPr/>
        </p:nvSpPr>
        <p:spPr>
          <a:xfrm>
            <a:off x="8842248"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217919"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Vazir"/>
                <a:cs typeface="Vazir"/>
              </a:rPr>
              <a:t>۱۶ قطعه</a:t>
            </a:r>
          </a:p>
        </p:txBody>
      </p:sp>
      <p:sp>
        <p:nvSpPr>
          <p:cNvPr id="10" name="TextBox 9"/>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هر قطعه ۱۶ فریم</a:t>
            </a:r>
          </a:p>
          <a:p>
            <a:pPr rtl="1" algn="ctr">
              <a:lnSpc>
                <a:spcPts val="1700"/>
              </a:lnSpc>
              <a:spcBef>
                <a:spcPts val="0"/>
              </a:spcBef>
              <a:spcAft>
                <a:spcPts val="0"/>
              </a:spcAft>
            </a:pPr>
            <a:r>
              <a:rPr sz="1150" b="0" i="0">
                <a:solidFill>
                  <a:srgbClr val="6A748C"/>
                </a:solidFill>
                <a:latin typeface="Vazir"/>
                <a:cs typeface="Vazir"/>
              </a:rPr>
              <a:t>۲۲۴ در ۲۲۴</a:t>
            </a:r>
          </a:p>
        </p:txBody>
      </p:sp>
      <p:sp>
        <p:nvSpPr>
          <p:cNvPr id="11" name="Left Arrow 10"/>
          <p:cNvSpPr/>
          <p:nvPr/>
        </p:nvSpPr>
        <p:spPr>
          <a:xfrm>
            <a:off x="596188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337559" y="173736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Vazir"/>
                <a:cs typeface="Vazir"/>
              </a:rPr>
              <a:t>رمزگذار ViT-L</a:t>
            </a:r>
          </a:p>
        </p:txBody>
      </p:sp>
      <p:sp>
        <p:nvSpPr>
          <p:cNvPr id="14" name="TextBox 13"/>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منجمد</a:t>
            </a:r>
          </a:p>
          <a:p>
            <a:pPr rtl="1" algn="ctr">
              <a:lnSpc>
                <a:spcPts val="1700"/>
              </a:lnSpc>
              <a:spcBef>
                <a:spcPts val="0"/>
              </a:spcBef>
              <a:spcAft>
                <a:spcPts val="0"/>
              </a:spcAft>
            </a:pPr>
            <a:r>
              <a:rPr sz="1150" b="0" i="0">
                <a:solidFill>
                  <a:srgbClr val="6A748C"/>
                </a:solidFill>
                <a:latin typeface="Vazir"/>
                <a:cs typeface="Vazir"/>
              </a:rPr>
              <a:t>یک بار اجرا</a:t>
            </a:r>
          </a:p>
        </p:txBody>
      </p:sp>
      <p:sp>
        <p:nvSpPr>
          <p:cNvPr id="15" name="Left Arrow 14"/>
          <p:cNvSpPr/>
          <p:nvPr/>
        </p:nvSpPr>
        <p:spPr>
          <a:xfrm>
            <a:off x="308152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5720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Vazir"/>
                <a:cs typeface="Vazir"/>
              </a:rPr>
              <a:t>ویژگی ذخیره‌شده</a:t>
            </a:r>
          </a:p>
        </p:txBody>
      </p:sp>
      <p:sp>
        <p:nvSpPr>
          <p:cNvPr id="18" name="TextBox 17"/>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۱۶ در ۱۰۲۴</a:t>
            </a:r>
          </a:p>
          <a:p>
            <a:pPr rtl="1" algn="ctr">
              <a:lnSpc>
                <a:spcPts val="1700"/>
              </a:lnSpc>
              <a:spcBef>
                <a:spcPts val="0"/>
              </a:spcBef>
              <a:spcAft>
                <a:spcPts val="0"/>
              </a:spcAft>
            </a:pPr>
            <a:r>
              <a:rPr sz="1150" b="0" i="0">
                <a:solidFill>
                  <a:srgbClr val="6A748C"/>
                </a:solidFill>
                <a:latin typeface="Vazir"/>
                <a:cs typeface="Vazir"/>
              </a:rPr>
              <a:t>۶۴ کیلوبایت</a:t>
            </a:r>
          </a:p>
        </p:txBody>
      </p:sp>
      <p:sp>
        <p:nvSpPr>
          <p:cNvPr id="19" name="TextBox 18"/>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Vazir"/>
                <a:cs typeface="Vazir"/>
              </a:rPr>
              <a:t>مرحله اول — یک بار برای ۱۸۹۵ ویدیو، ۱۵۰ دقیقه</a:t>
            </a:r>
          </a:p>
        </p:txBody>
      </p:sp>
      <p:sp>
        <p:nvSpPr>
          <p:cNvPr id="20" name="Rounded Rectangle 19"/>
          <p:cNvSpPr/>
          <p:nvPr/>
        </p:nvSpPr>
        <p:spPr>
          <a:xfrm>
            <a:off x="909828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Vazir"/>
                <a:cs typeface="Vazir"/>
              </a:rPr>
              <a:t>سر ترنسفورمر</a:t>
            </a:r>
          </a:p>
        </p:txBody>
      </p:sp>
      <p:sp>
        <p:nvSpPr>
          <p:cNvPr id="22" name="TextBox 21"/>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دو لایه توجه</a:t>
            </a:r>
          </a:p>
          <a:p>
            <a:pPr rtl="1" algn="ctr">
              <a:lnSpc>
                <a:spcPts val="1700"/>
              </a:lnSpc>
              <a:spcBef>
                <a:spcPts val="0"/>
              </a:spcBef>
              <a:spcAft>
                <a:spcPts val="0"/>
              </a:spcAft>
            </a:pPr>
            <a:r>
              <a:rPr sz="1150" b="0" i="0">
                <a:solidFill>
                  <a:srgbClr val="6A748C"/>
                </a:solidFill>
                <a:latin typeface="Vazir"/>
                <a:cs typeface="Vazir"/>
              </a:rPr>
              <a:t>روی محور زمان</a:t>
            </a:r>
          </a:p>
        </p:txBody>
      </p:sp>
      <p:sp>
        <p:nvSpPr>
          <p:cNvPr id="23" name="Left Arrow 22"/>
          <p:cNvSpPr/>
          <p:nvPr/>
        </p:nvSpPr>
        <p:spPr>
          <a:xfrm>
            <a:off x="8842248"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217919"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Vazir"/>
                <a:cs typeface="Vazir"/>
              </a:rPr>
              <a:t>نمره هر قطعه</a:t>
            </a:r>
          </a:p>
        </p:txBody>
      </p:sp>
      <p:sp>
        <p:nvSpPr>
          <p:cNvPr id="26" name="TextBox 25"/>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۱۶ در ۱۴</a:t>
            </a:r>
          </a:p>
        </p:txBody>
      </p:sp>
      <p:sp>
        <p:nvSpPr>
          <p:cNvPr id="27" name="Left Arrow 26"/>
          <p:cNvSpPr/>
          <p:nvPr/>
        </p:nvSpPr>
        <p:spPr>
          <a:xfrm>
            <a:off x="596188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337559" y="384048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Vazir"/>
                <a:cs typeface="Vazir"/>
              </a:rPr>
              <a:t>تصمیم دومرحله‌ای</a:t>
            </a:r>
          </a:p>
        </p:txBody>
      </p:sp>
      <p:sp>
        <p:nvSpPr>
          <p:cNvPr id="30" name="TextBox 29"/>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وجود، سپس نوع</a:t>
            </a:r>
          </a:p>
        </p:txBody>
      </p:sp>
      <p:sp>
        <p:nvSpPr>
          <p:cNvPr id="31" name="Left Arrow 30"/>
          <p:cNvSpPr/>
          <p:nvPr/>
        </p:nvSpPr>
        <p:spPr>
          <a:xfrm>
            <a:off x="308152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5720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Vazir"/>
                <a:cs typeface="Vazir"/>
              </a:rPr>
              <a:t>برچسب نهایی</a:t>
            </a:r>
          </a:p>
        </p:txBody>
      </p:sp>
      <p:sp>
        <p:nvSpPr>
          <p:cNvPr id="34" name="TextBox 33"/>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یکی از ۱۴ کلاس</a:t>
            </a:r>
          </a:p>
        </p:txBody>
      </p:sp>
      <p:sp>
        <p:nvSpPr>
          <p:cNvPr id="35" name="TextBox 34"/>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Vazir"/>
                <a:cs typeface="Vazir"/>
              </a:rPr>
              <a:t>مرحله دوم — هر پیکربندی، ۸۰ ثانیه</a:t>
            </a:r>
          </a:p>
        </p:txBody>
      </p:sp>
      <p:sp>
        <p:nvSpPr>
          <p:cNvPr id="36" name="TextBox 35"/>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E8A33D"/>
                </a:solidFill>
                <a:latin typeface="Vazir"/>
                <a:cs typeface="Vazir"/>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سر ترنسفورمر روی محور زمان</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ounded Rectangle 3"/>
          <p:cNvSpPr/>
          <p:nvPr/>
        </p:nvSpPr>
        <p:spPr>
          <a:xfrm>
            <a:off x="548640" y="1645920"/>
            <a:ext cx="5394960" cy="2103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6A748C"/>
                </a:solidFill>
                <a:latin typeface="Vazir"/>
                <a:cs typeface="Vazir"/>
              </a:rPr>
              <a:t>مشکل: قطعه تنها مبهم است</a:t>
            </a:r>
          </a:p>
        </p:txBody>
      </p:sp>
      <p:sp>
        <p:nvSpPr>
          <p:cNvPr id="6" name="TextBox 5"/>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Vazir"/>
                <a:cs typeface="Vazir"/>
              </a:rPr>
              <a:t>یک قطعه سه‌ثانیه‌ای داخل مغازه، در دزدی از مغازه و سرقت مسلحانه ظاهر یکسانی دارد. سر نقطه‌ای اطلاعات لازم را اصولاً در اختیار ندارد.</a:t>
            </a:r>
          </a:p>
        </p:txBody>
      </p:sp>
      <p:sp>
        <p:nvSpPr>
          <p:cNvPr id="7" name="Rounded Rectangle 6"/>
          <p:cNvSpPr/>
          <p:nvPr/>
        </p:nvSpPr>
        <p:spPr>
          <a:xfrm>
            <a:off x="6217920" y="1645920"/>
            <a:ext cx="5394960" cy="21031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راه حل: خودتوجهی میان قطعه‌ها</a:t>
            </a:r>
          </a:p>
        </p:txBody>
      </p:sp>
      <p:sp>
        <p:nvSpPr>
          <p:cNvPr id="9" name="TextBox 8"/>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Vazir"/>
                <a:cs typeface="Vazir"/>
              </a:rPr>
              <a:t>یک جدول ۱۶ در ۱۶ می‌گوید هر قطعه چقدر به هر قطعه دیگر توجه کند. بردار جدید هر قطعه، جمع وزن‌دار همه قطعه‌هاست.</a:t>
            </a:r>
          </a:p>
        </p:txBody>
      </p:sp>
      <p:sp>
        <p:nvSpPr>
          <p:cNvPr id="10" name="TextBox 9"/>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پیکربندی</a:t>
            </a:r>
          </a:p>
        </p:txBody>
      </p:sp>
      <p:graphicFrame>
        <p:nvGraphicFramePr>
          <p:cNvPr id="11" name="Table 10"/>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200" b="1" i="0">
                          <a:solidFill>
                            <a:srgbClr val="FFFFFF"/>
                          </a:solidFill>
                          <a:latin typeface="Vazir"/>
                          <a:cs typeface="Vazir"/>
                        </a:rPr>
                        <a:t>پارامتر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مقدار</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Vazir"/>
                          <a:cs typeface="Vazir"/>
                        </a:rPr>
                        <a:t>بعد پنهان</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512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Vazir"/>
                          <a:cs typeface="Vazir"/>
                        </a:rPr>
                        <a:t>سرهای توجه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Vazir"/>
                          <a:cs typeface="Vazir"/>
                        </a:rPr>
                        <a:t>لایه‌ها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Vazir"/>
                          <a:cs typeface="Vazir"/>
                        </a:rPr>
                        <a:t>حذف تصادفی</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0.3</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Vazir"/>
                          <a:cs typeface="Vazir"/>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4,772,366</a:t>
                      </a:r>
                    </a:p>
                  </a:txBody>
                  <a:tcPr marL="36576" marR="36576" marT="18288" marB="18288" anchor="ctr">
                    <a:solidFill>
                      <a:srgbClr val="EDF1F8"/>
                    </a:solidFill>
                  </a:tcPr>
                </a:tc>
              </a:tr>
            </a:tbl>
          </a:graphicData>
        </a:graphic>
      </p:graphicFrame>
      <p:sp>
        <p:nvSpPr>
          <p:cNvPr id="12" name="TextBox 11"/>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نتیجه</a:t>
            </a:r>
          </a:p>
        </p:txBody>
      </p:sp>
      <p:graphicFrame>
        <p:nvGraphicFramePr>
          <p:cNvPr id="13" name="Table 12"/>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00" b="1" i="0">
                          <a:solidFill>
                            <a:srgbClr val="FFFFFF"/>
                          </a:solidFill>
                          <a:latin typeface="Vazir"/>
                          <a:cs typeface="Vazir"/>
                        </a:rPr>
                        <a:t>سر طبقه‌بند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ماکرو F1، میانگین ۵ بذر</a:t>
                      </a:r>
                    </a:p>
                  </a:txBody>
                  <a:tcPr marL="36576" marR="36576" marT="18288" marB="18288" anchor="ctr">
                    <a:solidFill>
                      <a:srgbClr val="16264F"/>
                    </a:solidFill>
                  </a:tcPr>
                </a:tc>
              </a:tr>
              <a:tr h="384048">
                <a:tc>
                  <a:txBody>
                    <a:bodyPr wrap="square"/>
                    <a:lstStyle/>
                    <a:p>
                      <a:pPr rtl="1" algn="r">
                        <a:spcBef>
                          <a:spcPts val="0"/>
                        </a:spcBef>
                        <a:spcAft>
                          <a:spcPts val="0"/>
                        </a:spcAft>
                      </a:pPr>
                      <a:r>
                        <a:rPr sz="1250" b="0" i="0">
                          <a:solidFill>
                            <a:srgbClr val="1B2236"/>
                          </a:solidFill>
                          <a:latin typeface="Vazir"/>
                          <a:cs typeface="Vazir"/>
                        </a:rPr>
                        <a:t>سر نقطه‌ای — خط پایه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0.3049</a:t>
                      </a:r>
                    </a:p>
                  </a:txBody>
                  <a:tcPr marL="36576" marR="36576" marT="18288" marB="18288" anchor="ctr">
                    <a:solidFill>
                      <a:srgbClr val="EDF1F8"/>
                    </a:solidFill>
                  </a:tcPr>
                </a:tc>
              </a:tr>
              <a:tr h="384048">
                <a:tc>
                  <a:txBody>
                    <a:bodyPr wrap="square"/>
                    <a:lstStyle/>
                    <a:p>
                      <a:pPr rtl="1" algn="r">
                        <a:spcBef>
                          <a:spcPts val="0"/>
                        </a:spcBef>
                        <a:spcAft>
                          <a:spcPts val="0"/>
                        </a:spcAft>
                      </a:pPr>
                      <a:r>
                        <a:rPr sz="1250" b="1" i="0">
                          <a:solidFill>
                            <a:srgbClr val="16264F"/>
                          </a:solidFill>
                          <a:latin typeface="Vazir"/>
                          <a:cs typeface="Vazir"/>
                        </a:rPr>
                        <a:t>سر ترنسفورمر زمانی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0.3480</a:t>
                      </a:r>
                    </a:p>
                  </a:txBody>
                  <a:tcPr marL="36576" marR="36576" marT="18288" marB="18288" anchor="ctr">
                    <a:solidFill>
                      <a:srgbClr val="FFF2DC"/>
                    </a:solidFill>
                  </a:tcPr>
                </a:tc>
              </a:tr>
            </a:tbl>
          </a:graphicData>
        </a:graphic>
      </p:graphicFrame>
      <p:sp>
        <p:nvSpPr>
          <p:cNvPr id="14" name="TextBox 13"/>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Vazir"/>
                <a:cs typeface="Vazir"/>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ارتقای ظرفیت رمزگذار</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graphicFrame>
        <p:nvGraphicFramePr>
          <p:cNvPr id="4" name="Table 3"/>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00" b="1" i="0">
                          <a:solidFill>
                            <a:srgbClr val="FFFFFF"/>
                          </a:solidFill>
                          <a:latin typeface="Vazir"/>
                          <a:cs typeface="Vazir"/>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ViT-B</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ViT-L</a:t>
                      </a:r>
                    </a:p>
                  </a:txBody>
                  <a:tcPr marL="36576" marR="36576" marT="18288" marB="18288" anchor="ctr">
                    <a:solidFill>
                      <a:srgbClr val="16264F"/>
                    </a:solidFill>
                  </a:tcPr>
                </a:tc>
              </a:tr>
              <a:tr h="365760">
                <a:tc>
                  <a:txBody>
                    <a:bodyPr wrap="square"/>
                    <a:lstStyle/>
                    <a:p>
                      <a:pPr rtl="1" algn="r">
                        <a:spcBef>
                          <a:spcPts val="0"/>
                        </a:spcBef>
                        <a:spcAft>
                          <a:spcPts val="0"/>
                        </a:spcAft>
                      </a:pPr>
                      <a:r>
                        <a:rPr sz="1250" b="0" i="0">
                          <a:solidFill>
                            <a:srgbClr val="1B2236"/>
                          </a:solidFill>
                          <a:latin typeface="Vazir"/>
                          <a:cs typeface="Vazir"/>
                        </a:rPr>
                        <a:t>تعداد لایه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12</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24</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Vazir"/>
                          <a:cs typeface="Vazir"/>
                        </a:rPr>
                        <a:t>پهنای بردار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768</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1024</a:t>
                      </a:r>
                    </a:p>
                  </a:txBody>
                  <a:tcPr marL="36576" marR="36576" marT="18288" marB="18288" anchor="ctr">
                    <a:solidFill>
                      <a:srgbClr val="FFFFFF"/>
                    </a:solidFill>
                  </a:tcPr>
                </a:tc>
              </a:tr>
              <a:tr h="365760">
                <a:tc>
                  <a:txBody>
                    <a:bodyPr wrap="square"/>
                    <a:lstStyle/>
                    <a:p>
                      <a:pPr rtl="1" algn="r">
                        <a:spcBef>
                          <a:spcPts val="0"/>
                        </a:spcBef>
                        <a:spcAft>
                          <a:spcPts val="0"/>
                        </a:spcAft>
                      </a:pPr>
                      <a:r>
                        <a:rPr sz="1250" b="0" i="0">
                          <a:solidFill>
                            <a:srgbClr val="1B2236"/>
                          </a:solidFill>
                          <a:latin typeface="Vazir"/>
                          <a:cs typeface="Vazir"/>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 87 میلیون</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 300 میلیون</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Vazir"/>
                          <a:cs typeface="Vazir"/>
                        </a:rPr>
                        <a:t>اندازه وصله</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16 × 16</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16 × 16</a:t>
                      </a:r>
                    </a:p>
                  </a:txBody>
                  <a:tcPr marL="36576" marR="36576" marT="18288" marB="18288" anchor="ctr">
                    <a:solidFill>
                      <a:srgbClr val="FFFFFF"/>
                    </a:solidFill>
                  </a:tcPr>
                </a:tc>
              </a:tr>
              <a:tr h="365760">
                <a:tc>
                  <a:txBody>
                    <a:bodyPr wrap="square"/>
                    <a:lstStyle/>
                    <a:p>
                      <a:pPr rtl="1" algn="r">
                        <a:spcBef>
                          <a:spcPts val="0"/>
                        </a:spcBef>
                        <a:spcAft>
                          <a:spcPts val="0"/>
                        </a:spcAft>
                      </a:pPr>
                      <a:r>
                        <a:rPr sz="1250" b="1" i="0">
                          <a:solidFill>
                            <a:srgbClr val="16264F"/>
                          </a:solidFill>
                          <a:latin typeface="Vazir"/>
                          <a:cs typeface="Vazir"/>
                        </a:rPr>
                        <a:t>ماکرو F1، میانگین ۵ بذر</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0.3405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0.3955</a:t>
                      </a:r>
                    </a:p>
                  </a:txBody>
                  <a:tcPr marL="36576" marR="36576" marT="18288" marB="18288" anchor="ctr">
                    <a:solidFill>
                      <a:srgbClr val="FFF2DC"/>
                    </a:solidFill>
                  </a:tcPr>
                </a:tc>
              </a:tr>
              <a:tr h="365760">
                <a:tc>
                  <a:txBody>
                    <a:bodyPr wrap="square"/>
                    <a:lstStyle/>
                    <a:p>
                      <a:pPr rtl="1" algn="r">
                        <a:spcBef>
                          <a:spcPts val="0"/>
                        </a:spcBef>
                        <a:spcAft>
                          <a:spcPts val="0"/>
                        </a:spcAft>
                      </a:pPr>
                      <a:r>
                        <a:rPr sz="1250" b="1" i="0">
                          <a:solidFill>
                            <a:srgbClr val="16264F"/>
                          </a:solidFill>
                          <a:latin typeface="Vazir"/>
                          <a:cs typeface="Vazir"/>
                        </a:rPr>
                        <a:t>ماکرو F1، نتیجه گروهی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0.3645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0.4122</a:t>
                      </a:r>
                    </a:p>
                  </a:txBody>
                  <a:tcPr marL="36576" marR="36576" marT="18288" marB="18288" anchor="ctr">
                    <a:solidFill>
                      <a:srgbClr val="FFF2DC"/>
                    </a:solidFill>
                  </a:tcPr>
                </a:tc>
              </a:tr>
            </a:tbl>
          </a:graphicData>
        </a:graphic>
      </p:graphicFrame>
      <p:sp>
        <p:nvSpPr>
          <p:cNvPr id="5" name="Rounded Rectangle 4"/>
          <p:cNvSpPr/>
          <p:nvPr/>
        </p:nvSpPr>
        <p:spPr>
          <a:xfrm>
            <a:off x="7406640" y="1691640"/>
            <a:ext cx="4206240" cy="21488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Vazir"/>
                <a:cs typeface="Vazir"/>
              </a:rPr>
              <a:t>نکته‌ای که نباید اشتباه گفت</a:t>
            </a:r>
          </a:p>
        </p:txBody>
      </p:sp>
      <p:sp>
        <p:nvSpPr>
          <p:cNvPr id="7" name="TextBox 6"/>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اندازه وصله در هر دو یکسان است، پس تعداد وصله‌ها فرق نمی‌کند. بهبود از ظرفیت مدل می‌آید، نه از وضوح مکانی بیشتر.</a:t>
            </a:r>
          </a:p>
        </p:txBody>
      </p:sp>
      <p:sp>
        <p:nvSpPr>
          <p:cNvPr id="8" name="TextBox 7"/>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چرا این تنها بهبود قطعی پروژه است</a:t>
            </a:r>
          </a:p>
        </p:txBody>
      </p:sp>
      <p:sp>
        <p:nvSpPr>
          <p:cNvPr id="9" name="Rounded Rectangle 8"/>
          <p:cNvSpPr/>
          <p:nvPr/>
        </p:nvSpPr>
        <p:spPr>
          <a:xfrm>
            <a:off x="548640" y="4663440"/>
            <a:ext cx="356616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بازه پنج بذر ViT-B</a:t>
            </a:r>
          </a:p>
        </p:txBody>
      </p:sp>
      <p:sp>
        <p:nvSpPr>
          <p:cNvPr id="11" name="TextBox 10"/>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C9483B"/>
                </a:solidFill>
                <a:latin typeface="Vazir"/>
                <a:cs typeface="Vazir"/>
              </a:rPr>
              <a:t>0.310 — 0.354</a:t>
            </a:r>
          </a:p>
        </p:txBody>
      </p:sp>
      <p:sp>
        <p:nvSpPr>
          <p:cNvPr id="12" name="Rounded Rectangle 11"/>
          <p:cNvSpPr/>
          <p:nvPr/>
        </p:nvSpPr>
        <p:spPr>
          <a:xfrm>
            <a:off x="4297680" y="4663440"/>
            <a:ext cx="3566160" cy="137160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بازه پنج بذر ViT-L</a:t>
            </a:r>
          </a:p>
        </p:txBody>
      </p:sp>
      <p:sp>
        <p:nvSpPr>
          <p:cNvPr id="14" name="TextBox 13"/>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3FA7A0"/>
                </a:solidFill>
                <a:latin typeface="Vazir"/>
                <a:cs typeface="Vazir"/>
              </a:rPr>
              <a:t>0.370 — 0.423</a:t>
            </a:r>
          </a:p>
        </p:txBody>
      </p:sp>
      <p:sp>
        <p:nvSpPr>
          <p:cNvPr id="15" name="Rounded Rectangle 14"/>
          <p:cNvSpPr/>
          <p:nvPr/>
        </p:nvSpPr>
        <p:spPr>
          <a:xfrm>
            <a:off x="8046720" y="4663440"/>
            <a:ext cx="356616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آزمون من-ویتنی</a:t>
            </a:r>
          </a:p>
        </p:txBody>
      </p:sp>
      <p:sp>
        <p:nvSpPr>
          <p:cNvPr id="17" name="TextBox 16"/>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E8A33D"/>
                </a:solidFill>
                <a:latin typeface="Vazir"/>
                <a:cs typeface="Vazir"/>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آمیزش و تنظیم لاجیت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ounded Rectangle 3"/>
          <p:cNvSpPr/>
          <p:nvPr/>
        </p:nvSpPr>
        <p:spPr>
          <a:xfrm>
            <a:off x="548640" y="1645920"/>
            <a:ext cx="5394960" cy="19659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آمیزش در فضای ویژگی</a:t>
            </a:r>
          </a:p>
        </p:txBody>
      </p:sp>
      <p:sp>
        <p:nvSpPr>
          <p:cNvPr id="6" name="TextBox 5"/>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مدل تا دوره دهم زیان آموزش را تقریباً صفر می‌کرد، یعنی حفظ می‌کرد. ترکیب محدب دو ویدیو نمونه‌هایی می‌سازد که در داده نیستند.</a:t>
            </a:r>
          </a:p>
        </p:txBody>
      </p:sp>
      <p:sp>
        <p:nvSpPr>
          <p:cNvPr id="7" name="Rounded Rectangle 6"/>
          <p:cNvSpPr/>
          <p:nvPr/>
        </p:nvSpPr>
        <p:spPr>
          <a:xfrm>
            <a:off x="6217920" y="1645920"/>
            <a:ext cx="539496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تنظیم لاجیت برای دم بلند</a:t>
            </a:r>
          </a:p>
        </p:txBody>
      </p:sp>
      <p:sp>
        <p:nvSpPr>
          <p:cNvPr id="9" name="TextBox 8"/>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مقداری متناسب با لگاریتم احتمال پیشین از لاجیت هر کلاس کسر می‌شود تا مرز تصمیم به سود کلاس‌های کمیاب جابه‌جا شود.</a:t>
            </a:r>
          </a:p>
        </p:txBody>
      </p:sp>
      <p:sp>
        <p:nvSpPr>
          <p:cNvPr id="10" name="Rounded Rectangle 9"/>
          <p:cNvSpPr/>
          <p:nvPr/>
        </p:nvSpPr>
        <p:spPr>
          <a:xfrm>
            <a:off x="548640" y="3794760"/>
            <a:ext cx="11064240" cy="1051560"/>
          </a:xfrm>
          <a:prstGeom prst="roundRect">
            <a:avLst/>
          </a:prstGeom>
          <a:solidFill>
            <a:srgbClr val="FDEEEC"/>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C9483B"/>
                </a:solidFill>
                <a:latin typeface="Vazir"/>
                <a:cs typeface="Vazir"/>
              </a:rPr>
              <a:t>آزمایشی که شکست خورد و از آن یاد گرفتیم</a:t>
            </a:r>
          </a:p>
        </p:txBody>
      </p:sp>
      <p:sp>
        <p:nvSpPr>
          <p:cNvPr id="12" name="TextBox 11"/>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Vazir"/>
                <a:cs typeface="Vazir"/>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3" name="Table 12"/>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200" b="1" i="0">
                          <a:solidFill>
                            <a:srgbClr val="FFFFFF"/>
                          </a:solidFill>
                          <a:latin typeface="Vazir"/>
                          <a:cs typeface="Vazir"/>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میانگین بذرها</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نتیجه گروهی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صحت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صحت نوع</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Vazir"/>
                          <a:cs typeface="Vazir"/>
                        </a:rPr>
                        <a:t>پایه ViT-L</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0.3955</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0.4122</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0.6897</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0.4786</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Vazir"/>
                          <a:cs typeface="Vazir"/>
                        </a:rPr>
                        <a:t>آمیزش ۰٫۲</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0.4203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0.4161</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0.6793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0.4714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1" i="0">
                          <a:solidFill>
                            <a:srgbClr val="16264F"/>
                          </a:solidFill>
                          <a:latin typeface="Vazir"/>
                          <a:cs typeface="Vazir"/>
                        </a:rPr>
                        <a:t>آمیزش ۰٫۲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Vazir"/>
                          <a:cs typeface="Vazir"/>
                        </a:rPr>
                        <a:t>0.4147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Vazir"/>
                          <a:cs typeface="Vazir"/>
                        </a:rPr>
                        <a:t>0.4298</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Vazir"/>
                          <a:cs typeface="Vazir"/>
                        </a:rPr>
                        <a:t>0.6897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Vazir"/>
                          <a:cs typeface="Vazir"/>
                        </a:rPr>
                        <a:t>0.5000</a:t>
                      </a:r>
                    </a:p>
                  </a:txBody>
                  <a:tcPr marL="36576" marR="36576" marT="18288" marB="18288" anchor="ctr">
                    <a:solidFill>
                      <a:srgbClr val="FFF2DC"/>
                    </a:solidFill>
                  </a:tcPr>
                </a:tc>
              </a:tr>
              <a:tr h="274320">
                <a:tc>
                  <a:txBody>
                    <a:bodyPr wrap="square"/>
                    <a:lstStyle/>
                    <a:p>
                      <a:pPr rtl="1" algn="r">
                        <a:spcBef>
                          <a:spcPts val="0"/>
                        </a:spcBef>
                        <a:spcAft>
                          <a:spcPts val="0"/>
                        </a:spcAft>
                      </a:pPr>
                      <a:r>
                        <a:rPr sz="1150" b="0" i="0">
                          <a:solidFill>
                            <a:srgbClr val="1B2236"/>
                          </a:solidFill>
                          <a:latin typeface="Vazir"/>
                          <a:cs typeface="Vazir"/>
                        </a:rPr>
                        <a:t>آمیزش ۰٫۴ + تنظیم لاجیت</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0.4135</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0.4248</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0.6759</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0.4929</a:t>
                      </a:r>
                    </a:p>
                  </a:txBody>
                  <a:tcPr marL="36576" marR="36576" marT="18288" marB="18288"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مسیر بهبود، گام به گام</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ectangle 3"/>
          <p:cNvSpPr/>
          <p:nvPr/>
        </p:nvSpPr>
        <p:spPr>
          <a:xfrm>
            <a:off x="1325880" y="4116977"/>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Vazir"/>
                <a:cs typeface="Vazir"/>
              </a:rPr>
              <a:t>0.30</a:t>
            </a:r>
          </a:p>
        </p:txBody>
      </p:sp>
      <p:sp>
        <p:nvSpPr>
          <p:cNvPr id="6" name="Rectangle 5"/>
          <p:cNvSpPr/>
          <p:nvPr/>
        </p:nvSpPr>
        <p:spPr>
          <a:xfrm>
            <a:off x="1325880" y="3387634"/>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Vazir"/>
                <a:cs typeface="Vazir"/>
              </a:rPr>
              <a:t>0.35</a:t>
            </a:r>
          </a:p>
        </p:txBody>
      </p:sp>
      <p:sp>
        <p:nvSpPr>
          <p:cNvPr id="8" name="Rectangle 7"/>
          <p:cNvSpPr/>
          <p:nvPr/>
        </p:nvSpPr>
        <p:spPr>
          <a:xfrm>
            <a:off x="1325880" y="2658291"/>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Vazir"/>
                <a:cs typeface="Vazir"/>
              </a:rPr>
              <a:t>0.40</a:t>
            </a:r>
          </a:p>
        </p:txBody>
      </p:sp>
      <p:sp>
        <p:nvSpPr>
          <p:cNvPr id="10" name="Rectangle 9"/>
          <p:cNvSpPr/>
          <p:nvPr/>
        </p:nvSpPr>
        <p:spPr>
          <a:xfrm>
            <a:off x="1325880" y="1928948"/>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Vazir"/>
                <a:cs typeface="Vazir"/>
              </a:rPr>
              <a:t>0.45</a:t>
            </a:r>
          </a:p>
        </p:txBody>
      </p:sp>
      <p:sp>
        <p:nvSpPr>
          <p:cNvPr id="12" name="Rectangle 11"/>
          <p:cNvSpPr/>
          <p:nvPr/>
        </p:nvSpPr>
        <p:spPr>
          <a:xfrm>
            <a:off x="1325880" y="4846320"/>
            <a:ext cx="10287000" cy="22860"/>
          </a:xfrm>
          <a:prstGeom prst="rect">
            <a:avLst/>
          </a:prstGeom>
          <a:solidFill>
            <a:srgbClr val="C7D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588769" y="4153444"/>
            <a:ext cx="1188720" cy="69287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0.2975</a:t>
            </a:r>
          </a:p>
        </p:txBody>
      </p:sp>
      <p:sp>
        <p:nvSpPr>
          <p:cNvPr id="15" name="TextBox 14"/>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MLP / ViT-B</a:t>
            </a:r>
          </a:p>
        </p:txBody>
      </p:sp>
      <p:sp>
        <p:nvSpPr>
          <p:cNvPr id="16" name="Rectangle 15"/>
          <p:cNvSpPr/>
          <p:nvPr/>
        </p:nvSpPr>
        <p:spPr>
          <a:xfrm>
            <a:off x="3303270" y="3469320"/>
            <a:ext cx="1188720" cy="1376999"/>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0.3444</a:t>
            </a:r>
          </a:p>
        </p:txBody>
      </p:sp>
      <p:sp>
        <p:nvSpPr>
          <p:cNvPr id="18" name="TextBox 17"/>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Temporal</a:t>
            </a:r>
          </a:p>
        </p:txBody>
      </p:sp>
      <p:sp>
        <p:nvSpPr>
          <p:cNvPr id="19" name="Rectangle 18"/>
          <p:cNvSpPr/>
          <p:nvPr/>
        </p:nvSpPr>
        <p:spPr>
          <a:xfrm>
            <a:off x="5017770" y="3176124"/>
            <a:ext cx="1188720" cy="167019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0.3645</a:t>
            </a:r>
          </a:p>
        </p:txBody>
      </p:sp>
      <p:sp>
        <p:nvSpPr>
          <p:cNvPr id="21" name="TextBox 20"/>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lr 3e-4</a:t>
            </a:r>
          </a:p>
        </p:txBody>
      </p:sp>
      <p:sp>
        <p:nvSpPr>
          <p:cNvPr id="22" name="Rectangle 21"/>
          <p:cNvSpPr/>
          <p:nvPr/>
        </p:nvSpPr>
        <p:spPr>
          <a:xfrm>
            <a:off x="6732270" y="2480331"/>
            <a:ext cx="1188720" cy="23659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0.4122</a:t>
            </a:r>
          </a:p>
        </p:txBody>
      </p:sp>
      <p:sp>
        <p:nvSpPr>
          <p:cNvPr id="24" name="TextBox 23"/>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ViT-L</a:t>
            </a:r>
          </a:p>
        </p:txBody>
      </p:sp>
      <p:sp>
        <p:nvSpPr>
          <p:cNvPr id="25" name="Rectangle 24"/>
          <p:cNvSpPr/>
          <p:nvPr/>
        </p:nvSpPr>
        <p:spPr>
          <a:xfrm>
            <a:off x="8446769" y="2423443"/>
            <a:ext cx="1188720" cy="24228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0.4161</a:t>
            </a:r>
          </a:p>
        </p:txBody>
      </p:sp>
      <p:sp>
        <p:nvSpPr>
          <p:cNvPr id="27" name="TextBox 26"/>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Mixup</a:t>
            </a:r>
          </a:p>
        </p:txBody>
      </p:sp>
      <p:sp>
        <p:nvSpPr>
          <p:cNvPr id="28" name="Rectangle 27"/>
          <p:cNvSpPr/>
          <p:nvPr/>
        </p:nvSpPr>
        <p:spPr>
          <a:xfrm>
            <a:off x="10161269" y="2223603"/>
            <a:ext cx="1188720" cy="262271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0.4298</a:t>
            </a:r>
          </a:p>
        </p:txBody>
      </p:sp>
      <p:sp>
        <p:nvSpPr>
          <p:cNvPr id="30" name="TextBox 29"/>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Logit adj.</a:t>
            </a:r>
          </a:p>
        </p:txBody>
      </p:sp>
      <p:sp>
        <p:nvSpPr>
          <p:cNvPr id="31" name="TextBox 30"/>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Vazir"/>
                <a:cs typeface="Vazir"/>
              </a:rPr>
              <a:t>+0.1323</a:t>
            </a:r>
          </a:p>
        </p:txBody>
      </p:sp>
      <p:sp>
        <p:nvSpPr>
          <p:cNvPr id="32" name="TextBox 31"/>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بهبود مطلق ماکرو F1</a:t>
            </a:r>
          </a:p>
        </p:txBody>
      </p:sp>
      <p:sp>
        <p:nvSpPr>
          <p:cNvPr id="33" name="TextBox 32"/>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Vazir"/>
                <a:cs typeface="Vazir"/>
              </a:rPr>
              <a:t>+44%</a:t>
            </a:r>
          </a:p>
        </p:txBody>
      </p:sp>
      <p:sp>
        <p:nvSpPr>
          <p:cNvPr id="34" name="TextBox 33"/>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بهبود نسبی</a:t>
            </a:r>
          </a:p>
        </p:txBody>
      </p:sp>
      <p:sp>
        <p:nvSpPr>
          <p:cNvPr id="35" name="TextBox 34"/>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Vazir"/>
                <a:cs typeface="Vazir"/>
              </a:rPr>
              <a:t>0.075</a:t>
            </a:r>
          </a:p>
        </p:txBody>
      </p:sp>
      <p:sp>
        <p:nvSpPr>
          <p:cNvPr id="36" name="TextBox 35"/>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آزمایش‌هایی که نتیجه ندادند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صداقت روش‌شناختی</a:t>
            </a:r>
          </a:p>
        </p:txBody>
      </p:sp>
      <p:graphicFrame>
        <p:nvGraphicFramePr>
          <p:cNvPr id="4" name="Table 3"/>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FFFFFF"/>
                          </a:solidFill>
                          <a:latin typeface="Vazir"/>
                          <a:cs typeface="Vazir"/>
                        </a:rPr>
                        <a:t>آزمایش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نتیجه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مرجع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داوری</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Vazir"/>
                          <a:cs typeface="Vazir"/>
                        </a:rPr>
                        <a:t>نمونه‌برداری سبک Kinetics با گام ۴ فریم</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0.3089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0.3405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بدتر</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Vazir"/>
                          <a:cs typeface="Vazir"/>
                        </a:rPr>
                        <a:t>دو برابر کردن تعداد قطعه‌ها به ۳۲</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0.3875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0.3955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بدتر</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Vazir"/>
                          <a:cs typeface="Vazir"/>
                        </a:rPr>
                        <a:t>الحاق ویژگی دو رمزگذار</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0.3974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Vazir"/>
                          <a:cs typeface="Vazir"/>
                        </a:rPr>
                        <a:t>آموزش با یک قطعه برتر</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Vazir"/>
                          <a:cs typeface="Vazir"/>
                        </a:rPr>
                        <a:t>تنظیم لاجیت به‌تنهایی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0.4114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Vazir"/>
                          <a:cs typeface="Vazir"/>
                        </a:rPr>
                        <a:t>میانگین‌گیری بذرها برای ماکرو F1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Vazir"/>
                          <a:cs typeface="Vazir"/>
                        </a:rPr>
                        <a:t>بازنویسی توصیف‌های متنی کلاس‌ها</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0.86</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بدتر</a:t>
                      </a:r>
                    </a:p>
                  </a:txBody>
                  <a:tcPr marL="36576" marR="36576" marT="18288" marB="18288" anchor="ctr">
                    <a:solidFill>
                      <a:srgbClr val="EDF1F8"/>
                    </a:solidFill>
                  </a:tcPr>
                </a:tc>
              </a:tr>
            </a:tbl>
          </a:graphicData>
        </a:graphic>
      </p:graphicFrame>
      <p:sp>
        <p:nvSpPr>
          <p:cNvPr id="5" name="Rounded Rectangle 4"/>
          <p:cNvSpPr/>
          <p:nvPr/>
        </p:nvSpPr>
        <p:spPr>
          <a:xfrm>
            <a:off x="548640" y="4343400"/>
            <a:ext cx="11064240" cy="178308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Vazir"/>
                <a:cs typeface="Vazir"/>
              </a:rPr>
              <a:t>چرا نمونه‌برداری استاندارد بدتر شد — مهم‌ترین یافته منفی</a:t>
            </a:r>
          </a:p>
        </p:txBody>
      </p:sp>
      <p:sp>
        <p:nvSpPr>
          <p:cNvPr id="7" name="TextBox 6"/>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1B2236"/>
                </a:solidFill>
                <a:latin typeface="Vazir"/>
                <a:cs typeface="Vazir"/>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1B2236"/>
                </a:solidFill>
                <a:latin typeface="Vazir"/>
                <a:cs typeface="Vazir"/>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چقدر از این اعداد نوفه است؟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اعتبارسنجی آماری</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Vazir"/>
                <a:cs typeface="Vazir"/>
              </a:rPr>
              <a:t>مجموعه آزمون با ۴۰۰۰ بار بازنمونه‌گیری خودگردان تحلیل شد تا پراکندگی مورد انتظار تخمین زده شود.</a:t>
            </a:r>
          </a:p>
        </p:txBody>
      </p:sp>
      <p:graphicFrame>
        <p:nvGraphicFramePr>
          <p:cNvPr id="5" name="Table 4"/>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FFFFFF"/>
                          </a:solidFill>
                          <a:latin typeface="Vazir"/>
                          <a:cs typeface="Vazir"/>
                        </a:rPr>
                        <a:t>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مقدار نقطه‌ای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انحراف 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بازه اطمینان ۹۵ درصد</a:t>
                      </a:r>
                    </a:p>
                  </a:txBody>
                  <a:tcPr marL="36576" marR="36576" marT="18288" marB="18288" anchor="ctr">
                    <a:solidFill>
                      <a:srgbClr val="16264F"/>
                    </a:solidFill>
                  </a:tcPr>
                </a:tc>
              </a:tr>
              <a:tr h="384048">
                <a:tc>
                  <a:txBody>
                    <a:bodyPr wrap="square"/>
                    <a:lstStyle/>
                    <a:p>
                      <a:pPr rtl="1" algn="r">
                        <a:spcBef>
                          <a:spcPts val="0"/>
                        </a:spcBef>
                        <a:spcAft>
                          <a:spcPts val="0"/>
                        </a:spcAft>
                      </a:pPr>
                      <a:r>
                        <a:rPr sz="1200" b="1" i="0">
                          <a:solidFill>
                            <a:srgbClr val="16264F"/>
                          </a:solidFill>
                          <a:latin typeface="Vazir"/>
                          <a:cs typeface="Vazir"/>
                        </a:rPr>
                        <a:t>ماکرو F1</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0.4298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0.037</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[0.339 , 0.503]</a:t>
                      </a:r>
                    </a:p>
                  </a:txBody>
                  <a:tcPr marL="36576" marR="36576" marT="18288" marB="18288" anchor="ctr">
                    <a:solidFill>
                      <a:srgbClr val="FFF2DC"/>
                    </a:solidFill>
                  </a:tcPr>
                </a:tc>
              </a:tr>
              <a:tr h="384048">
                <a:tc>
                  <a:txBody>
                    <a:bodyPr wrap="square"/>
                    <a:lstStyle/>
                    <a:p>
                      <a:pPr rtl="1" algn="r">
                        <a:spcBef>
                          <a:spcPts val="0"/>
                        </a:spcBef>
                        <a:spcAft>
                          <a:spcPts val="0"/>
                        </a:spcAft>
                      </a:pPr>
                      <a:r>
                        <a:rPr sz="1200" b="0" i="0">
                          <a:solidFill>
                            <a:srgbClr val="1B2236"/>
                          </a:solidFill>
                          <a:latin typeface="Vazir"/>
                          <a:cs typeface="Vazir"/>
                        </a:rPr>
                        <a:t>صحت چندکلاسه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0.6897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0.027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[0.635 , 0.745]</a:t>
                      </a:r>
                    </a:p>
                  </a:txBody>
                  <a:tcPr marL="36576" marR="36576" marT="18288" marB="18288" anchor="ctr">
                    <a:solidFill>
                      <a:srgbClr val="FFFFFF"/>
                    </a:solidFill>
                  </a:tcPr>
                </a:tc>
              </a:tr>
              <a:tr h="384048">
                <a:tc>
                  <a:txBody>
                    <a:bodyPr wrap="square"/>
                    <a:lstStyle/>
                    <a:p>
                      <a:pPr rtl="1" algn="r">
                        <a:spcBef>
                          <a:spcPts val="0"/>
                        </a:spcBef>
                        <a:spcAft>
                          <a:spcPts val="0"/>
                        </a:spcAft>
                      </a:pPr>
                      <a:r>
                        <a:rPr sz="1200" b="0" i="0">
                          <a:solidFill>
                            <a:srgbClr val="1B2236"/>
                          </a:solidFill>
                          <a:latin typeface="Vazir"/>
                          <a:cs typeface="Vazir"/>
                        </a:rPr>
                        <a:t>صحت نوع ناهنجاری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0.5000</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0.041</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[0.420 , 0.585]</a:t>
                      </a:r>
                    </a:p>
                  </a:txBody>
                  <a:tcPr marL="36576" marR="36576" marT="18288" marB="18288" anchor="ctr">
                    <a:solidFill>
                      <a:srgbClr val="EDF1F8"/>
                    </a:solidFill>
                  </a:tcPr>
                </a:tc>
              </a:tr>
              <a:tr h="384048">
                <a:tc>
                  <a:txBody>
                    <a:bodyPr wrap="square"/>
                    <a:lstStyle/>
                    <a:p>
                      <a:pPr rtl="1" algn="r">
                        <a:spcBef>
                          <a:spcPts val="0"/>
                        </a:spcBef>
                        <a:spcAft>
                          <a:spcPts val="0"/>
                        </a:spcAft>
                      </a:pPr>
                      <a:r>
                        <a:rPr sz="1200" b="0" i="0">
                          <a:solidFill>
                            <a:srgbClr val="1B2236"/>
                          </a:solidFill>
                          <a:latin typeface="Vazir"/>
                          <a:cs typeface="Vazir"/>
                        </a:rPr>
                        <a:t>AUC دودویی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0.9610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0.011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[0.938 , 0.980]</a:t>
                      </a:r>
                    </a:p>
                  </a:txBody>
                  <a:tcPr marL="36576" marR="36576" marT="18288" marB="18288" anchor="ctr">
                    <a:solidFill>
                      <a:srgbClr val="FFFFFF"/>
                    </a:solidFill>
                  </a:tcPr>
                </a:tc>
              </a:tr>
            </a:tbl>
          </a:graphicData>
        </a:graphic>
      </p:graphicFrame>
      <p:sp>
        <p:nvSpPr>
          <p:cNvPr id="6" name="Rounded Rectangle 5"/>
          <p:cNvSpPr/>
          <p:nvPr/>
        </p:nvSpPr>
        <p:spPr>
          <a:xfrm>
            <a:off x="7498079" y="2148840"/>
            <a:ext cx="411480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کف نوفه</a:t>
            </a:r>
          </a:p>
        </p:txBody>
      </p:sp>
      <p:sp>
        <p:nvSpPr>
          <p:cNvPr id="8" name="TextBox 7"/>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E8A33D"/>
                </a:solidFill>
                <a:latin typeface="Vazir"/>
                <a:cs typeface="Vazir"/>
              </a:rPr>
              <a:t>0.075</a:t>
            </a:r>
          </a:p>
        </p:txBody>
      </p:sp>
      <p:sp>
        <p:nvSpPr>
          <p:cNvPr id="9" name="TextBox 8"/>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Vazir"/>
                <a:cs typeface="Vazir"/>
              </a:rPr>
              <a:t>اختلاف کمتر از این مقدار در ماکرو F1 روی این تقسیم از نوفه قابل تفکیک نیست.</a:t>
            </a:r>
          </a:p>
        </p:txBody>
      </p:sp>
      <p:sp>
        <p:nvSpPr>
          <p:cNvPr id="10" name="TextBox 9"/>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سقف تنظیم روی یک مجموعه آزمون کوچک</a:t>
            </a:r>
          </a:p>
        </p:txBody>
      </p:sp>
      <p:graphicFrame>
        <p:nvGraphicFramePr>
          <p:cNvPr id="11" name="Table 10"/>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FFFFFF"/>
                          </a:solidFill>
                          <a:latin typeface="Vazir"/>
                          <a:cs typeface="Vazir"/>
                        </a:rPr>
                        <a:t>تعداد ارزیابی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تورم مورد انتظار</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Vazir"/>
                          <a:cs typeface="Vazir"/>
                        </a:rPr>
                        <a:t>۸</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+0.069</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Vazir"/>
                          <a:cs typeface="Vazir"/>
                        </a:rPr>
                        <a:t>۵۰</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+0.095</a:t>
                      </a:r>
                    </a:p>
                  </a:txBody>
                  <a:tcPr marL="36576" marR="36576" marT="18288" marB="18288" anchor="ctr">
                    <a:solidFill>
                      <a:srgbClr val="FFFFFF"/>
                    </a:solidFill>
                  </a:tcPr>
                </a:tc>
              </a:tr>
              <a:tr h="301752">
                <a:tc>
                  <a:txBody>
                    <a:bodyPr wrap="square"/>
                    <a:lstStyle/>
                    <a:p>
                      <a:pPr rtl="1" algn="r">
                        <a:spcBef>
                          <a:spcPts val="0"/>
                        </a:spcBef>
                        <a:spcAft>
                          <a:spcPts val="0"/>
                        </a:spcAft>
                      </a:pPr>
                      <a:r>
                        <a:rPr sz="1200" b="1" i="0">
                          <a:solidFill>
                            <a:srgbClr val="16264F"/>
                          </a:solidFill>
                          <a:latin typeface="Vazir"/>
                          <a:cs typeface="Vazir"/>
                        </a:rPr>
                        <a:t>۲۰۰</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+0.111</a:t>
                      </a:r>
                    </a:p>
                  </a:txBody>
                  <a:tcPr marL="36576" marR="36576" marT="18288" marB="18288" anchor="ctr">
                    <a:solidFill>
                      <a:srgbClr val="FFF2DC"/>
                    </a:solidFill>
                  </a:tcPr>
                </a:tc>
              </a:tr>
            </a:tbl>
          </a:graphicData>
        </a:graphic>
      </p:graphicFrame>
      <p:sp>
        <p:nvSpPr>
          <p:cNvPr id="12" name="Rounded Rectangle 11"/>
          <p:cNvSpPr/>
          <p:nvPr/>
        </p:nvSpPr>
        <p:spPr>
          <a:xfrm>
            <a:off x="5120640" y="4754880"/>
            <a:ext cx="6492240" cy="13258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Vazir"/>
                <a:cs typeface="Vazir"/>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جدول کامل نتایج</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جمع‌بندی نتایج</a:t>
            </a:r>
          </a:p>
        </p:txBody>
      </p:sp>
      <p:graphicFrame>
        <p:nvGraphicFramePr>
          <p:cNvPr id="4" name="Table 3"/>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50" b="1" i="0">
                          <a:solidFill>
                            <a:srgbClr val="FFFFFF"/>
                          </a:solidFill>
                          <a:latin typeface="Vazir"/>
                          <a:cs typeface="Vazir"/>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رمزگذار</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صحت کلی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AUC</a:t>
                      </a:r>
                    </a:p>
                  </a:txBody>
                  <a:tcPr marL="36576" marR="36576" marT="18288" marB="18288" anchor="ctr">
                    <a:solidFill>
                      <a:srgbClr val="16264F"/>
                    </a:solidFill>
                  </a:tcPr>
                </a:tc>
              </a:tr>
              <a:tr h="329184">
                <a:tc>
                  <a:txBody>
                    <a:bodyPr wrap="square"/>
                    <a:lstStyle/>
                    <a:p>
                      <a:pPr rtl="1" algn="r">
                        <a:spcBef>
                          <a:spcPts val="0"/>
                        </a:spcBef>
                        <a:spcAft>
                          <a:spcPts val="0"/>
                        </a:spcAft>
                      </a:pPr>
                      <a:r>
                        <a:rPr sz="1100" b="0" i="0">
                          <a:solidFill>
                            <a:srgbClr val="1B2236"/>
                          </a:solidFill>
                          <a:latin typeface="Vazir"/>
                          <a:cs typeface="Vazir"/>
                        </a:rPr>
                        <a:t>مسیر اول — اسم خام کلاس، وزن دستی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0.3327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0.3716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0.6385</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0.9473</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Vazir"/>
                          <a:cs typeface="Vazir"/>
                        </a:rPr>
                        <a:t>مسیر اول — توصیف بصری + وزن معکوس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X-CLIP ViT-B/32</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0.3713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0.4054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0.6351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0.9637</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Vazir"/>
                          <a:cs typeface="Vazir"/>
                        </a:rPr>
                        <a:t>مسیر اول — چهار نمای زمانی در آزمون</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0.3881</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0.4257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0.6419</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0.9629</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سر نقطه‌ای، خط پایه</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0.2975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0.3860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0.5660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سر ترنسفورمر زمانی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VideoMAE ViT-B</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0.3444</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0.3930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0.6350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نرخ یادگیری ۰٫۰۰۰۳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0.3645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0.4210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0.6550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ارتقا به رمزگذار بزرگ</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VideoMAE ViT-L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0.4122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0.4786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0.6897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افزودن آمیزش</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VideoMAE ViT-L</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0.4161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0.4714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0.6793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1" i="0">
                          <a:solidFill>
                            <a:srgbClr val="16264F"/>
                          </a:solidFill>
                          <a:latin typeface="Vazir"/>
                          <a:cs typeface="Vazir"/>
                        </a:rPr>
                        <a:t>مسیر دوم — آمیزش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VideoMAE ViT-L</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0.4298</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0.5000</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0.6897</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0.9610</a:t>
                      </a:r>
                    </a:p>
                  </a:txBody>
                  <a:tcPr marL="36576" marR="36576" marT="18288" marB="18288" anchor="ctr">
                    <a:solidFill>
                      <a:srgbClr val="FFF2DC"/>
                    </a:solidFill>
                  </a:tcPr>
                </a:tc>
              </a:tr>
            </a:tbl>
          </a:graphicData>
        </a:graphic>
      </p:graphicFrame>
      <p:sp>
        <p:nvSpPr>
          <p:cNvPr id="5" name="TextBox 4"/>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6A748C"/>
                </a:solidFill>
                <a:latin typeface="Vazir"/>
                <a:cs typeface="Vazir"/>
              </a:rPr>
              <a:t>مسیر اول روی تقسیمی با ۲۹۶ ویدیوی آزمون و مسیر دوم روی تقسیم استاندارد با ۲۹۰ ویدیو اجرا شده‌اند.</a:t>
            </a:r>
          </a:p>
        </p:txBody>
      </p:sp>
      <p:sp>
        <p:nvSpPr>
          <p:cNvPr id="6" name="TextBox 5"/>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Vazir"/>
                <a:cs typeface="Vazir"/>
              </a:rPr>
              <a:t>0.4298</a:t>
            </a:r>
          </a:p>
        </p:txBody>
      </p:sp>
      <p:sp>
        <p:nvSpPr>
          <p:cNvPr id="7" name="TextBox 6"/>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ماکرو F1 نهایی</a:t>
            </a:r>
          </a:p>
        </p:txBody>
      </p:sp>
      <p:sp>
        <p:nvSpPr>
          <p:cNvPr id="8" name="TextBox 7"/>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0.5000</a:t>
            </a:r>
          </a:p>
        </p:txBody>
      </p:sp>
      <p:sp>
        <p:nvSpPr>
          <p:cNvPr id="9" name="TextBox 8"/>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صحت نوع ناهنجاری</a:t>
            </a:r>
          </a:p>
        </p:txBody>
      </p:sp>
      <p:sp>
        <p:nvSpPr>
          <p:cNvPr id="10" name="TextBox 9"/>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0.6897</a:t>
            </a:r>
          </a:p>
        </p:txBody>
      </p:sp>
      <p:sp>
        <p:nvSpPr>
          <p:cNvPr id="11" name="TextBox 10"/>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FFFFFF"/>
                </a:solidFill>
                <a:latin typeface="Vazir"/>
                <a:cs typeface="Vazir"/>
              </a:rPr>
              <a:t>جمع‌بندی و کارهای آینده</a:t>
            </a:r>
          </a:p>
        </p:txBody>
      </p:sp>
      <p:sp>
        <p:nvSpPr>
          <p:cNvPr id="4" name="Rounded Rectangle 3"/>
          <p:cNvSpPr/>
          <p:nvPr/>
        </p:nvSpPr>
        <p:spPr>
          <a:xfrm>
            <a:off x="640080" y="1600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7FD3CC"/>
                </a:solidFill>
                <a:latin typeface="Vazir"/>
                <a:cs typeface="Vazir"/>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Vazir"/>
                <a:cs typeface="Vazir"/>
              </a:rPr>
              <a:t>اصلاح سه اشکال بنیادی، بازطراحی معماری با رمزگذار منجمد، سر ترنسفورمر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5C27A"/>
                </a:solidFill>
                <a:latin typeface="Vazir"/>
                <a:cs typeface="Vazir"/>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Vazir"/>
                <a:cs typeface="Vazir"/>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BFD4F2"/>
                </a:solidFill>
                <a:latin typeface="Vazir"/>
                <a:cs typeface="Vazir"/>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Vazir"/>
                <a:cs typeface="Vazir"/>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1B1300"/>
                </a:solidFill>
                <a:latin typeface="Vazir"/>
                <a:cs typeface="Vazir"/>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