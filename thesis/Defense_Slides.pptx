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244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E8A33D"/>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Arial"/>
                <a:cs typeface="Arial"/>
              </a:rPr>
              <a:t>تشخیص نوع ناهنجاری</a:t>
            </a:r>
          </a:p>
          <a:p>
            <a:pPr rtl="1" algn="r">
              <a:lnSpc>
                <a:spcPts val="4600"/>
              </a:lnSpc>
              <a:spcBef>
                <a:spcPts val="0"/>
              </a:spcBef>
              <a:spcAft>
                <a:spcPts val="0"/>
              </a:spcAft>
            </a:pPr>
            <a:r>
              <a:rPr sz="3800" b="1" i="0">
                <a:solidFill>
                  <a:srgbClr val="FFFFFF"/>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BFD4F2"/>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FD4F2"/>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E8A33D"/>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BFD4F2"/>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8FA6D4"/>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فصل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صورت مسئله</a:t>
            </a:r>
          </a:p>
        </p:txBody>
      </p:sp>
      <p:sp>
        <p:nvSpPr>
          <p:cNvPr id="4" name="Rounded Rectangle 3"/>
          <p:cNvSpPr/>
          <p:nvPr/>
        </p:nvSpPr>
        <p:spPr>
          <a:xfrm>
            <a:off x="548640" y="1600200"/>
            <a:ext cx="5394960" cy="19202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6A748C"/>
                </a:solidFill>
                <a:latin typeface="Arial"/>
                <a:cs typeface="Arial"/>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Arial"/>
                <a:cs typeface="Arial"/>
              </a:rPr>
              <a:t>آیا این ویدیو ناهنجار است؟</a:t>
            </a:r>
          </a:p>
          <a:p>
            <a:pPr rtl="1" algn="r">
              <a:lnSpc>
                <a:spcPts val="2400"/>
              </a:lnSpc>
              <a:spcBef>
                <a:spcPts val="0"/>
              </a:spcBef>
              <a:spcAft>
                <a:spcPts val="0"/>
              </a:spcAft>
            </a:pPr>
            <a:r>
              <a:rPr sz="1500" b="0" i="0">
                <a:solidFill>
                  <a:srgbClr val="1B2236"/>
                </a:solidFill>
                <a:latin typeface="Arial"/>
                <a:cs typeface="Arial"/>
              </a:rPr>
              <a:t>جواب: بله یا خیر</a:t>
            </a:r>
          </a:p>
        </p:txBody>
      </p:sp>
      <p:sp>
        <p:nvSpPr>
          <p:cNvPr id="7" name="Rounded Rectangle 6"/>
          <p:cNvSpPr/>
          <p:nvPr/>
        </p:nvSpPr>
        <p:spPr>
          <a:xfrm>
            <a:off x="6217920" y="1600200"/>
            <a:ext cx="5394960" cy="19202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Arial"/>
                <a:cs typeface="Arial"/>
              </a:rPr>
              <a:t>کدام نوع ناهنجاری رخ داده؟</a:t>
            </a:r>
          </a:p>
          <a:p>
            <a:pPr rtl="1" algn="r">
              <a:lnSpc>
                <a:spcPts val="2400"/>
              </a:lnSpc>
              <a:spcBef>
                <a:spcPts val="0"/>
              </a:spcBef>
              <a:spcAft>
                <a:spcPts val="0"/>
              </a:spcAft>
            </a:pPr>
            <a:r>
              <a:rPr sz="1500" b="0" i="0">
                <a:solidFill>
                  <a:srgbClr val="1B2236"/>
                </a:solidFill>
                <a:latin typeface="Arial"/>
                <a:cs typeface="Arial"/>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Arial"/>
                <a:cs typeface="Arial"/>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1B2236"/>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1B2236"/>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1B2236"/>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مجموعه داده UCF-Crime</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Arial"/>
                <a:cs typeface="Arial"/>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فایل خراب</a:t>
            </a:r>
          </a:p>
        </p:txBody>
      </p:sp>
      <p:sp>
        <p:nvSpPr>
          <p:cNvPr id="12" name="Rounded Rectangle 11"/>
          <p:cNvSpPr/>
          <p:nvPr/>
        </p:nvSpPr>
        <p:spPr>
          <a:xfrm>
            <a:off x="548640" y="3200400"/>
            <a:ext cx="5394960" cy="2834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1B2236"/>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1B2236"/>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1B2236"/>
                </a:solidFill>
                <a:latin typeface="Arial"/>
                <a:cs typeface="Arial"/>
              </a:rPr>
              <a:t>●  برچسب فقط در سطح کل ویدیو</a:t>
            </a:r>
          </a:p>
        </p:txBody>
      </p:sp>
      <p:sp>
        <p:nvSpPr>
          <p:cNvPr id="15" name="Rounded Rectangle 14"/>
          <p:cNvSpPr/>
          <p:nvPr/>
        </p:nvSpPr>
        <p:spPr>
          <a:xfrm>
            <a:off x="6217920" y="3200400"/>
            <a:ext cx="5394960" cy="28346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1B2236"/>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1B2236"/>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1B2236"/>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تقسیم 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تعداد ویدیو در هر کلاس — مجموعه آموزش</a:t>
            </a:r>
          </a:p>
        </p:txBody>
      </p:sp>
      <p:graphicFrame>
        <p:nvGraphicFramePr>
          <p:cNvPr id="4" name="Table 3"/>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16264F"/>
                    </a:solidFill>
                  </a:tcPr>
                </a:tc>
              </a:tr>
              <a:tr h="310896">
                <a:tc>
                  <a:txBody>
                    <a:bodyPr wrap="square"/>
                    <a:lstStyle/>
                    <a:p>
                      <a:pPr rtl="1" algn="r">
                        <a:spcBef>
                          <a:spcPts val="0"/>
                        </a:spcBef>
                        <a:spcAft>
                          <a:spcPts val="0"/>
                        </a:spcAft>
                      </a:pPr>
                      <a:r>
                        <a:rPr sz="1200" b="0" i="0">
                          <a:solidFill>
                            <a:srgbClr val="1B2236"/>
                          </a:solidFill>
                          <a:latin typeface="Arial"/>
                          <a:cs typeface="Arial"/>
                        </a:rPr>
                        <a:t>Normal — عادی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800</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Robbery — سرقت</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127</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95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Burglary — سرقت از منزل</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87</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48</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Assault — تعرض</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47</a:t>
                      </a:r>
                    </a:p>
                  </a:txBody>
                  <a:tcPr marL="36576" marR="36576" marT="18288" marB="18288" anchor="ctr">
                    <a:solidFill>
                      <a:srgbClr val="EDF1F8"/>
                    </a:solidFill>
                  </a:tcPr>
                </a:tc>
              </a:tr>
            </a:tbl>
          </a:graphicData>
        </a:graphic>
      </p:graphicFrame>
      <p:graphicFrame>
        <p:nvGraphicFramePr>
          <p:cNvPr id="5" name="Table 4"/>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16264F"/>
                    </a:solidFill>
                  </a:tcPr>
                </a:tc>
              </a:tr>
              <a:tr h="310896">
                <a:tc>
                  <a:txBody>
                    <a:bodyPr wrap="square"/>
                    <a:lstStyle/>
                    <a:p>
                      <a:pPr rtl="1" algn="r">
                        <a:spcBef>
                          <a:spcPts val="0"/>
                        </a:spcBef>
                        <a:spcAft>
                          <a:spcPts val="0"/>
                        </a:spcAft>
                      </a:pPr>
                      <a:r>
                        <a:rPr sz="1200" b="0" i="0">
                          <a:solidFill>
                            <a:srgbClr val="1B2236"/>
                          </a:solidFill>
                          <a:latin typeface="Arial"/>
                          <a:cs typeface="Arial"/>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Fighting — درگیری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Arson — آتش‌افروزی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41</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Explosion — انفجار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29</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Shoplifting — دزدی از مغازه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29</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Shooting — تیراندازی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27</a:t>
                      </a:r>
                    </a:p>
                  </a:txBody>
                  <a:tcPr marL="36576" marR="36576" marT="18288" marB="18288" anchor="ctr">
                    <a:solidFill>
                      <a:srgbClr val="EDF1F8"/>
                    </a:solidFill>
                  </a:tcPr>
                </a:tc>
              </a:tr>
            </a:tbl>
          </a:graphicData>
        </a:graphic>
      </p:graphicFrame>
      <p:sp>
        <p:nvSpPr>
          <p:cNvPr id="6" name="Rounded Rectangle 5"/>
          <p:cNvSpPr/>
          <p:nvPr/>
        </p:nvSpPr>
        <p:spPr>
          <a:xfrm>
            <a:off x="548640" y="4709160"/>
            <a:ext cx="1106424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جمع: ۱۶۱۰ ویدیوی آموزش  ·  ۸۰۰ عادی و ۸۱۰ ناهنجار</a:t>
            </a:r>
          </a:p>
        </p:txBody>
      </p:sp>
      <p:sp>
        <p:nvSpPr>
          <p:cNvPr id="8" name="TextBox 7"/>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تقسیم 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تعداد ویدیو در هر کلاس — مجموعه آزمون</a:t>
            </a:r>
          </a:p>
        </p:txBody>
      </p:sp>
      <p:graphicFrame>
        <p:nvGraphicFramePr>
          <p:cNvPr id="4" name="Table 3"/>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5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تقسیم استاندارد</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تقسیم مسیر اول</a:t>
                      </a:r>
                    </a:p>
                  </a:txBody>
                  <a:tcPr marL="36576" marR="36576" marT="18288" marB="18288" anchor="ctr">
                    <a:solidFill>
                      <a:srgbClr val="16264F"/>
                    </a:solidFill>
                  </a:tcPr>
                </a:tc>
              </a:tr>
              <a:tr h="246888">
                <a:tc>
                  <a:txBody>
                    <a:bodyPr wrap="square"/>
                    <a:lstStyle/>
                    <a:p>
                      <a:pPr rtl="1" algn="r">
                        <a:spcBef>
                          <a:spcPts val="0"/>
                        </a:spcBef>
                        <a:spcAft>
                          <a:spcPts val="0"/>
                        </a:spcAft>
                      </a:pPr>
                      <a:r>
                        <a:rPr sz="1100" b="0" i="0">
                          <a:solidFill>
                            <a:srgbClr val="1B2236"/>
                          </a:solidFill>
                          <a:latin typeface="Arial"/>
                          <a:cs typeface="Arial"/>
                        </a:rPr>
                        <a:t>Normal — عادی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150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148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RoadAccidents — تصادف رانندگی</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Shooting — تیراندازی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Explosion — انفجار</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Shoplifting — دزدی از مغازه</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21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Burglary — سرقت از منزل</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15</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Arson — آتش‌افروزی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1" i="0">
                          <a:solidFill>
                            <a:srgbClr val="16264F"/>
                          </a:solidFill>
                          <a:latin typeface="Arial"/>
                          <a:cs typeface="Arial"/>
                        </a:rPr>
                        <a:t>Arrest — بازداشت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Robbery — سرقت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23</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Stealing — دزدی</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15</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Vandalism — تخریب اموال</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4</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Abuse — سوءاستفاده</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3</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Assault — تعرض</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3</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bl>
          </a:graphicData>
        </a:graphic>
      </p:graphicFrame>
      <p:sp>
        <p:nvSpPr>
          <p:cNvPr id="5" name="TextBox 4"/>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6" name="Rounded Rectangle 5"/>
          <p:cNvSpPr/>
          <p:nvPr/>
        </p:nvSpPr>
        <p:spPr>
          <a:xfrm>
            <a:off x="7589520" y="1572768"/>
            <a:ext cx="402336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دو تقسیم متفاوت</a:t>
            </a:r>
          </a:p>
        </p:txBody>
      </p:sp>
      <p:sp>
        <p:nvSpPr>
          <p:cNvPr id="8" name="TextBox 7"/>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1B2236"/>
                </a:solidFill>
                <a:latin typeface="Arial"/>
                <a:cs typeface="Arial"/>
              </a:rPr>
              <a:t>مسیر X-CLIP روی تقسیمی با ۲۹۶ ویدیوی آزمون اجرا شد و مسیر VideoMAE روی تقسیم استاندارد با ۲۹۰ ویدیو.</a:t>
            </a:r>
          </a:p>
        </p:txBody>
      </p:sp>
      <p:sp>
        <p:nvSpPr>
          <p:cNvPr id="9" name="Rounded Rectangle 8"/>
          <p:cNvSpPr/>
          <p:nvPr/>
        </p:nvSpPr>
        <p:spPr>
          <a:xfrm>
            <a:off x="7589520" y="3520440"/>
            <a:ext cx="4023360" cy="1691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چرا ارزیابی نوفه‌آلود است</a:t>
            </a:r>
          </a:p>
        </p:txBody>
      </p:sp>
      <p:sp>
        <p:nvSpPr>
          <p:cNvPr id="11" name="TextBox 10"/>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1B2236"/>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2" name="Rounded Rectangle 11"/>
          <p:cNvSpPr/>
          <p:nvPr/>
        </p:nvSpPr>
        <p:spPr>
          <a:xfrm>
            <a:off x="7589520" y="5394960"/>
            <a:ext cx="4023360" cy="96012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C9483B"/>
                </a:solidFill>
                <a:latin typeface="Arial"/>
                <a:cs typeface="Arial"/>
              </a:rPr>
              <a:t>پیش از ارائه این اعداد را با فایل تقسیم خودتان بسنجید.</a:t>
            </a:r>
          </a:p>
        </p:txBody>
      </p:sp>
      <p:sp>
        <p:nvSpPr>
          <p:cNvPr id="14" name="TextBox 13"/>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290</a:t>
            </a:r>
          </a:p>
        </p:txBody>
      </p:sp>
      <p:sp>
        <p:nvSpPr>
          <p:cNvPr id="15" name="TextBox 14"/>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مجموعه آزمون</a:t>
            </a:r>
          </a:p>
        </p:txBody>
      </p:sp>
      <p:sp>
        <p:nvSpPr>
          <p:cNvPr id="16" name="TextBox 15"/>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1610</a:t>
            </a:r>
          </a:p>
        </p:txBody>
      </p:sp>
      <p:sp>
        <p:nvSpPr>
          <p:cNvPr id="17" name="TextBox 16"/>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مجموعه آموزش</a:t>
            </a:r>
          </a:p>
        </p:txBody>
      </p:sp>
      <p:sp>
        <p:nvSpPr>
          <p:cNvPr id="18" name="TextBox 17"/>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0%</a:t>
            </a:r>
          </a:p>
        </p:txBody>
      </p:sp>
      <p:sp>
        <p:nvSpPr>
          <p:cNvPr id="19" name="TextBox 18"/>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چارچوب</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نظارت ضعیف و یادگیری چندنمونه‌ای</a:t>
            </a:r>
          </a:p>
        </p:txBody>
      </p:sp>
      <p:graphicFrame>
        <p:nvGraphicFramePr>
          <p:cNvPr id="4" name="Table 3"/>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FFFFFF"/>
                          </a:solidFill>
                          <a:latin typeface="Arial"/>
                          <a:cs typeface="Arial"/>
                        </a:rPr>
                        <a:t>سطح نظارت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برچسب چیست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هزینه</a:t>
                      </a:r>
                    </a:p>
                  </a:txBody>
                  <a:tcPr marL="36576" marR="36576" marT="18288" marB="18288" anchor="ctr">
                    <a:solidFill>
                      <a:srgbClr val="16264F"/>
                    </a:solidFill>
                  </a:tcPr>
                </a:tc>
              </a:tr>
              <a:tr h="365760">
                <a:tc>
                  <a:txBody>
                    <a:bodyPr wrap="square"/>
                    <a:lstStyle/>
                    <a:p>
                      <a:pPr rtl="1" algn="r">
                        <a:spcBef>
                          <a:spcPts val="0"/>
                        </a:spcBef>
                        <a:spcAft>
                          <a:spcPts val="0"/>
                        </a:spcAft>
                      </a:pPr>
                      <a:r>
                        <a:rPr sz="1200" b="0" i="0">
                          <a:solidFill>
                            <a:srgbClr val="1B2236"/>
                          </a:solidFill>
                          <a:latin typeface="Arial"/>
                          <a:cs typeface="Arial"/>
                        </a:rPr>
                        <a:t>نظارت کامل</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هر فریم برچسب دارد</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بسیار پرهزینه</a:t>
                      </a:r>
                    </a:p>
                  </a:txBody>
                  <a:tcPr marL="36576" marR="36576" marT="18288" marB="18288" anchor="ctr">
                    <a:solidFill>
                      <a:srgbClr val="EDF1F8"/>
                    </a:solidFill>
                  </a:tcPr>
                </a:tc>
              </a:tr>
              <a:tr h="365760">
                <a:tc>
                  <a:txBody>
                    <a:bodyPr wrap="square"/>
                    <a:lstStyle/>
                    <a:p>
                      <a:pPr rtl="1" algn="r">
                        <a:spcBef>
                          <a:spcPts val="0"/>
                        </a:spcBef>
                        <a:spcAft>
                          <a:spcPts val="0"/>
                        </a:spcAft>
                      </a:pPr>
                      <a:r>
                        <a:rPr sz="1200" b="1" i="0">
                          <a:solidFill>
                            <a:srgbClr val="16264F"/>
                          </a:solidFill>
                          <a:latin typeface="Arial"/>
                          <a:cs typeface="Arial"/>
                        </a:rPr>
                        <a:t>نظارت ضعیف</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فقط کل ویدیو برچسب دارد</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کم‌هزینه</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Arial"/>
                          <a:cs typeface="Arial"/>
                        </a:rPr>
                        <a:t>بدون نظارت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هیچ برچسبی نیست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رایگان</a:t>
                      </a:r>
                    </a:p>
                  </a:txBody>
                  <a:tcPr marL="36576" marR="36576" marT="18288" marB="18288" anchor="ctr">
                    <a:solidFill>
                      <a:srgbClr val="EDF1F8"/>
                    </a:solidFill>
                  </a:tcPr>
                </a:tc>
              </a:tr>
            </a:tbl>
          </a:graphicData>
        </a:graphic>
      </p:graphicFrame>
      <p:sp>
        <p:nvSpPr>
          <p:cNvPr id="5" name="Rounded Rectangle 4"/>
          <p:cNvSpPr/>
          <p:nvPr/>
        </p:nvSpPr>
        <p:spPr>
          <a:xfrm>
            <a:off x="6492240" y="1645920"/>
            <a:ext cx="5120640" cy="18288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مسئله ما</a:t>
            </a:r>
          </a:p>
        </p:txBody>
      </p:sp>
      <p:sp>
        <p:nvSpPr>
          <p:cNvPr id="7" name="TextBox 6"/>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8" name="TextBox 7"/>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Arial"/>
                <a:cs typeface="Arial"/>
              </a:rPr>
              <a:t>راه حل: هر ویدیو یک کیف، هر قطعه یک نمونه</a:t>
            </a:r>
          </a:p>
        </p:txBody>
      </p:sp>
      <p:sp>
        <p:nvSpPr>
          <p:cNvPr id="9" name="Rounded Rectangle 8"/>
          <p:cNvSpPr/>
          <p:nvPr/>
        </p:nvSpPr>
        <p:spPr>
          <a:xfrm>
            <a:off x="905256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97280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11" name="TextBox 10"/>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ویدیو به ۱۶ قطعه شکسته می‌شود</a:t>
            </a:r>
          </a:p>
        </p:txBody>
      </p:sp>
      <p:sp>
        <p:nvSpPr>
          <p:cNvPr id="12" name="Rounded Rectangle 11"/>
          <p:cNvSpPr/>
          <p:nvPr/>
        </p:nvSpPr>
        <p:spPr>
          <a:xfrm>
            <a:off x="621792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13816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4" name="TextBox 13"/>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مدل به هر قطعه نمره می‌دهد</a:t>
            </a:r>
          </a:p>
        </p:txBody>
      </p:sp>
      <p:sp>
        <p:nvSpPr>
          <p:cNvPr id="15" name="Rounded Rectangle 14"/>
          <p:cNvSpPr/>
          <p:nvPr/>
        </p:nvSpPr>
        <p:spPr>
          <a:xfrm>
            <a:off x="338328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30352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7" name="TextBox 16"/>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مشکوک‌ترین قطعه‌ها انتخاب می‌شوند</a:t>
            </a:r>
          </a:p>
        </p:txBody>
      </p:sp>
      <p:sp>
        <p:nvSpPr>
          <p:cNvPr id="18" name="Rounded Rectangle 17"/>
          <p:cNvSpPr/>
          <p:nvPr/>
        </p:nvSpPr>
        <p:spPr>
          <a:xfrm>
            <a:off x="548639"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2468879" y="4526280"/>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20" name="TextBox 19"/>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X-CLIP چطور کار می‌کند</a:t>
            </a:r>
          </a:p>
        </p:txBody>
      </p:sp>
      <p:sp>
        <p:nvSpPr>
          <p:cNvPr id="4" name="Rounded Rectangle 3"/>
          <p:cNvSpPr/>
          <p:nvPr/>
        </p:nvSpPr>
        <p:spPr>
          <a:xfrm>
            <a:off x="548640" y="1600200"/>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6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881360" y="296265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881360" y="4078223"/>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881360" y="519379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سه اشکال بنیادی که پیدا و اصلاح شد</a:t>
            </a:r>
          </a:p>
        </p:txBody>
      </p:sp>
      <p:sp>
        <p:nvSpPr>
          <p:cNvPr id="4" name="Rounded Rectangle 3"/>
          <p:cNvSpPr/>
          <p:nvPr/>
        </p:nvSpPr>
        <p:spPr>
          <a:xfrm>
            <a:off x="8092440"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59"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104888"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بازمحاسبه پیش‌فرض</a:t>
            </a:r>
          </a:p>
        </p:txBody>
      </p:sp>
      <p:sp>
        <p:nvSpPr>
          <p:cNvPr id="14" name="Rounded Rectangle 13"/>
          <p:cNvSpPr/>
          <p:nvPr/>
        </p:nvSpPr>
        <p:spPr>
          <a:xfrm>
            <a:off x="539495"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28415"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تصمیم دومرحله‌ای</a:t>
            </a:r>
          </a:p>
        </p:txBody>
      </p:sp>
      <p:sp>
        <p:nvSpPr>
          <p:cNvPr id="4" name="Rounded Rectangle 3"/>
          <p:cNvSpPr/>
          <p:nvPr/>
        </p:nvSpPr>
        <p:spPr>
          <a:xfrm>
            <a:off x="548640" y="1600200"/>
            <a:ext cx="5394960" cy="22860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Arial"/>
                <a:cs typeface="Arial"/>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Arial"/>
                <a:cs typeface="Arial"/>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200" b="1" i="0">
                          <a:solidFill>
                            <a:srgbClr val="FFFFFF"/>
                          </a:solidFill>
                          <a:latin typeface="Arial"/>
                          <a:cs typeface="Arial"/>
                        </a:rPr>
                        <a:t>روش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نمره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در برابر آستانه ۰٫۵</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تصمیم</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Arial"/>
                          <a:cs typeface="Arial"/>
                        </a:rPr>
                        <a:t>میانگین‌گیری روی ۸ قطعه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0.26</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زیر آستانه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عادی — غلط</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Arial"/>
                          <a:cs typeface="Arial"/>
                        </a:rPr>
                        <a:t>بیشینه روی همان ۸ قطعه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0.85</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بالای آستانه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ناهنجار — درست</a:t>
                      </a:r>
                    </a:p>
                  </a:txBody>
                  <a:tcPr marL="36576" marR="36576" marT="18288" marB="18288" anchor="ctr">
                    <a:solidFill>
                      <a:srgbClr val="FFF2D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کلاسی که مدل یاد گرفت هرگز نگوید</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ویدیوی واقعی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چند بار پیش‌بینی شد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نسبت</a:t>
                      </a:r>
                    </a:p>
                  </a:txBody>
                  <a:tcPr marL="36576" marR="36576" marT="18288" marB="18288" anchor="ctr">
                    <a:solidFill>
                      <a:srgbClr val="16264F"/>
                    </a:solidFill>
                  </a:tcPr>
                </a:tc>
              </a:tr>
              <a:tr h="365760">
                <a:tc>
                  <a:txBody>
                    <a:bodyPr wrap="square"/>
                    <a:lstStyle/>
                    <a:p>
                      <a:pPr rtl="1" algn="r">
                        <a:spcBef>
                          <a:spcPts val="0"/>
                        </a:spcBef>
                        <a:spcAft>
                          <a:spcPts val="0"/>
                        </a:spcAft>
                      </a:pPr>
                      <a:r>
                        <a:rPr sz="1200" b="1" i="0">
                          <a:solidFill>
                            <a:srgbClr val="16264F"/>
                          </a:solidFill>
                          <a:latin typeface="Arial"/>
                          <a:cs typeface="Arial"/>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2</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0.25</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Arial"/>
                          <a:cs typeface="Arial"/>
                        </a:rPr>
                        <a:t>Assault — تعرض</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8</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3</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0.38</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Arial"/>
                          <a:cs typeface="Arial"/>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0.62</a:t>
                      </a:r>
                    </a:p>
                  </a:txBody>
                  <a:tcPr marL="36576" marR="36576" marT="18288" marB="18288" anchor="ctr">
                    <a:solidFill>
                      <a:srgbClr val="EDF1F8"/>
                    </a:solidFill>
                  </a:tcPr>
                </a:tc>
              </a:tr>
              <a:tr h="365760">
                <a:tc>
                  <a:txBody>
                    <a:bodyPr wrap="square"/>
                    <a:lstStyle/>
                    <a:p>
                      <a:pPr rtl="1" algn="r">
                        <a:spcBef>
                          <a:spcPts val="0"/>
                        </a:spcBef>
                        <a:spcAft>
                          <a:spcPts val="0"/>
                        </a:spcAft>
                      </a:pPr>
                      <a:r>
                        <a:rPr sz="1200" b="0" i="0">
                          <a:solidFill>
                            <a:srgbClr val="1B2236"/>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20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1.33</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Arial"/>
                          <a:cs typeface="Arial"/>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23</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39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1.70</a:t>
                      </a:r>
                    </a:p>
                  </a:txBody>
                  <a:tcPr marL="36576" marR="36576" marT="18288" marB="18288" anchor="ctr">
                    <a:solidFill>
                      <a:srgbClr val="EDF1F8"/>
                    </a:solidFill>
                  </a:tcPr>
                </a:tc>
              </a:tr>
            </a:tbl>
          </a:graphicData>
        </a:graphic>
      </p:graphicFrame>
      <p:sp>
        <p:nvSpPr>
          <p:cNvPr id="6" name="Rounded Rectangle 5"/>
          <p:cNvSpPr/>
          <p:nvPr/>
        </p:nvSpPr>
        <p:spPr>
          <a:xfrm>
            <a:off x="7498079" y="2148840"/>
            <a:ext cx="411480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1B2236"/>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1B2236"/>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محدودیت بنیادی: هندسه فضای متنی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200" b="1" i="0">
                          <a:solidFill>
                            <a:srgbClr val="FFFFFF"/>
                          </a:solidFill>
                          <a:latin typeface="Arial"/>
                          <a:cs typeface="Arial"/>
                        </a:rPr>
                        <a:t>جفت 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شباهت کسینوسی</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Arial"/>
                          <a:cs typeface="Arial"/>
                        </a:rPr>
                        <a:t>Abuse  /  Stealing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0.91</a:t>
                      </a:r>
                    </a:p>
                  </a:txBody>
                  <a:tcPr marL="36576" marR="36576" marT="18288" marB="18288" anchor="ctr">
                    <a:solidFill>
                      <a:srgbClr val="EDF1F8"/>
                    </a:solidFill>
                  </a:tcPr>
                </a:tc>
              </a:tr>
              <a:tr h="384048">
                <a:tc>
                  <a:txBody>
                    <a:bodyPr wrap="square"/>
                    <a:lstStyle/>
                    <a:p>
                      <a:pPr rtl="1" algn="r">
                        <a:spcBef>
                          <a:spcPts val="0"/>
                        </a:spcBef>
                        <a:spcAft>
                          <a:spcPts val="0"/>
                        </a:spcAft>
                      </a:pPr>
                      <a:r>
                        <a:rPr sz="1300" b="0" i="0">
                          <a:solidFill>
                            <a:srgbClr val="1B2236"/>
                          </a:solidFill>
                          <a:latin typeface="Arial"/>
                          <a:cs typeface="Arial"/>
                        </a:rPr>
                        <a:t>Assault  /  Arrest</a:t>
                      </a:r>
                    </a:p>
                  </a:txBody>
                  <a:tcPr marL="36576" marR="36576" marT="18288" marB="18288" anchor="ctr">
                    <a:solidFill>
                      <a:srgbClr val="FFFFFF"/>
                    </a:solidFill>
                  </a:tcPr>
                </a:tc>
                <a:tc>
                  <a:txBody>
                    <a:bodyPr wrap="square"/>
                    <a:lstStyle/>
                    <a:p>
                      <a:pPr rtl="1" algn="ctr">
                        <a:spcBef>
                          <a:spcPts val="0"/>
                        </a:spcBef>
                        <a:spcAft>
                          <a:spcPts val="0"/>
                        </a:spcAft>
                      </a:pPr>
                      <a:r>
                        <a:rPr sz="1300" b="0" i="0">
                          <a:solidFill>
                            <a:srgbClr val="1B2236"/>
                          </a:solidFill>
                          <a:latin typeface="Arial"/>
                          <a:cs typeface="Arial"/>
                        </a:rPr>
                        <a:t>0.91</a:t>
                      </a:r>
                    </a:p>
                  </a:txBody>
                  <a:tcPr marL="36576" marR="36576" marT="18288" marB="18288" anchor="ctr">
                    <a:solidFill>
                      <a:srgbClr val="FFFFFF"/>
                    </a:solidFill>
                  </a:tcPr>
                </a:tc>
              </a:tr>
              <a:tr h="384048">
                <a:tc>
                  <a:txBody>
                    <a:bodyPr wrap="square"/>
                    <a:lstStyle/>
                    <a:p>
                      <a:pPr rtl="1" algn="r">
                        <a:spcBef>
                          <a:spcPts val="0"/>
                        </a:spcBef>
                        <a:spcAft>
                          <a:spcPts val="0"/>
                        </a:spcAft>
                      </a:pPr>
                      <a:r>
                        <a:rPr sz="1300" b="0" i="0">
                          <a:solidFill>
                            <a:srgbClr val="1B2236"/>
                          </a:solidFill>
                          <a:latin typeface="Arial"/>
                          <a:cs typeface="Arial"/>
                        </a:rPr>
                        <a:t>Fighting  /  Shooting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0.90</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Arial"/>
                          <a:cs typeface="Arial"/>
                        </a:rPr>
                        <a:t>میانگین همه جفت‌ها</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0.83</a:t>
                      </a:r>
                    </a:p>
                  </a:txBody>
                  <a:tcPr marL="36576" marR="36576" marT="18288" marB="18288" anchor="ctr">
                    <a:solidFill>
                      <a:srgbClr val="FFF2DC"/>
                    </a:solidFill>
                  </a:tcPr>
                </a:tc>
              </a:tr>
            </a:tbl>
          </a:graphicData>
        </a:graphic>
      </p:graphicFrame>
      <p:sp>
        <p:nvSpPr>
          <p:cNvPr id="6" name="Rounded Rectangle 5"/>
          <p:cNvSpPr/>
          <p:nvPr/>
        </p:nvSpPr>
        <p:spPr>
          <a:xfrm>
            <a:off x="5852160" y="2148840"/>
            <a:ext cx="576072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C9483B"/>
                </a:solidFill>
                <a:latin typeface="Arial"/>
                <a:cs typeface="Arial"/>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Arial"/>
                <a:cs typeface="Arial"/>
              </a:rPr>
              <a:t>سقف اندازه‌گیری‌شده: 0.44</a:t>
            </a:r>
          </a:p>
        </p:txBody>
      </p:sp>
      <p:sp>
        <p:nvSpPr>
          <p:cNvPr id="14" name="Rounded Rectangle 13"/>
          <p:cNvSpPr/>
          <p:nvPr/>
        </p:nvSpPr>
        <p:spPr>
          <a:xfrm>
            <a:off x="6309360" y="4663440"/>
            <a:ext cx="5303520" cy="128016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3FA7A0"/>
                </a:solidFill>
                <a:latin typeface="Arial"/>
                <a:cs typeface="Arial"/>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نتایج 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AUC دودویی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کلی</a:t>
                      </a:r>
                    </a:p>
                  </a:txBody>
                  <a:tcPr marL="36576" marR="36576" marT="18288" marB="18288" anchor="ctr">
                    <a:solidFill>
                      <a:srgbClr val="16264F"/>
                    </a:solidFill>
                  </a:tcPr>
                </a:tc>
              </a:tr>
              <a:tr h="402336">
                <a:tc>
                  <a:txBody>
                    <a:bodyPr wrap="square"/>
                    <a:lstStyle/>
                    <a:p>
                      <a:pPr rtl="1" algn="r">
                        <a:spcBef>
                          <a:spcPts val="0"/>
                        </a:spcBef>
                        <a:spcAft>
                          <a:spcPts val="0"/>
                        </a:spcAft>
                      </a:pPr>
                      <a:r>
                        <a:rPr sz="1250" b="0" i="0">
                          <a:solidFill>
                            <a:srgbClr val="1B2236"/>
                          </a:solidFill>
                          <a:latin typeface="Arial"/>
                          <a:cs typeface="Arial"/>
                        </a:rPr>
                        <a:t>اجرای پایه — اسم خام، وزن دستی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0.9473</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0.3327</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0.3716</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0.6385</a:t>
                      </a:r>
                    </a:p>
                  </a:txBody>
                  <a:tcPr marL="36576" marR="36576" marT="18288" marB="18288" anchor="ctr">
                    <a:solidFill>
                      <a:srgbClr val="EDF1F8"/>
                    </a:solidFill>
                  </a:tcPr>
                </a:tc>
              </a:tr>
              <a:tr h="402336">
                <a:tc>
                  <a:txBody>
                    <a:bodyPr wrap="square"/>
                    <a:lstStyle/>
                    <a:p>
                      <a:pPr rtl="1" algn="r">
                        <a:spcBef>
                          <a:spcPts val="0"/>
                        </a:spcBef>
                        <a:spcAft>
                          <a:spcPts val="0"/>
                        </a:spcAft>
                      </a:pPr>
                      <a:r>
                        <a:rPr sz="1250" b="0" i="0">
                          <a:solidFill>
                            <a:srgbClr val="1B2236"/>
                          </a:solidFill>
                          <a:latin typeface="Arial"/>
                          <a:cs typeface="Arial"/>
                        </a:rPr>
                        <a:t>توصیف بصری + وزن معکوس فراوانی</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0.9637</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0.6351</a:t>
                      </a:r>
                    </a:p>
                  </a:txBody>
                  <a:tcPr marL="36576" marR="36576" marT="18288" marB="18288" anchor="ctr">
                    <a:solidFill>
                      <a:srgbClr val="FFFFFF"/>
                    </a:solidFill>
                  </a:tcPr>
                </a:tc>
              </a:tr>
              <a:tr h="402336">
                <a:tc>
                  <a:txBody>
                    <a:bodyPr wrap="square"/>
                    <a:lstStyle/>
                    <a:p>
                      <a:pPr rtl="1" algn="r">
                        <a:spcBef>
                          <a:spcPts val="0"/>
                        </a:spcBef>
                        <a:spcAft>
                          <a:spcPts val="0"/>
                        </a:spcAft>
                      </a:pPr>
                      <a:r>
                        <a:rPr sz="1250" b="1" i="0">
                          <a:solidFill>
                            <a:srgbClr val="16264F"/>
                          </a:solidFill>
                          <a:latin typeface="Arial"/>
                          <a:cs typeface="Arial"/>
                        </a:rPr>
                        <a:t>افزودن چهار نمای زمانی در آزمون</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0.9629</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0.3881</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0.4257</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0.6419</a:t>
                      </a:r>
                    </a:p>
                  </a:txBody>
                  <a:tcPr marL="36576" marR="36576" marT="18288" marB="18288" anchor="ctr">
                    <a:solidFill>
                      <a:srgbClr val="FFF2DC"/>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F1 پیش از تغییر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F1 پس از تغییر</a:t>
                      </a:r>
                    </a:p>
                  </a:txBody>
                  <a:tcPr marL="36576" marR="36576" marT="18288" marB="18288" anchor="ctr">
                    <a:solidFill>
                      <a:srgbClr val="16264F"/>
                    </a:solidFill>
                  </a:tcPr>
                </a:tc>
              </a:tr>
              <a:tr h="329184">
                <a:tc>
                  <a:txBody>
                    <a:bodyPr wrap="square"/>
                    <a:lstStyle/>
                    <a:p>
                      <a:pPr rtl="1" algn="r">
                        <a:spcBef>
                          <a:spcPts val="0"/>
                        </a:spcBef>
                        <a:spcAft>
                          <a:spcPts val="0"/>
                        </a:spcAft>
                      </a:pPr>
                      <a:r>
                        <a:rPr sz="1150" b="0" i="0">
                          <a:solidFill>
                            <a:srgbClr val="1B2236"/>
                          </a:solidFill>
                          <a:latin typeface="Arial"/>
                          <a:cs typeface="Arial"/>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0.000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0.556</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0.462</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0.714</a:t>
                      </a:r>
                    </a:p>
                  </a:txBody>
                  <a:tcPr marL="36576" marR="36576" marT="18288" marB="18288" anchor="ctr">
                    <a:solidFill>
                      <a:srgbClr val="FFFFFF"/>
                    </a:solidFill>
                  </a:tcPr>
                </a:tc>
              </a:tr>
              <a:tr h="329184">
                <a:tc>
                  <a:txBody>
                    <a:bodyPr wrap="square"/>
                    <a:lstStyle/>
                    <a:p>
                      <a:pPr rtl="1" algn="r">
                        <a:spcBef>
                          <a:spcPts val="0"/>
                        </a:spcBef>
                        <a:spcAft>
                          <a:spcPts val="0"/>
                        </a:spcAft>
                      </a:pPr>
                      <a:r>
                        <a:rPr sz="1150" b="0" i="0">
                          <a:solidFill>
                            <a:srgbClr val="1B2236"/>
                          </a:solidFill>
                          <a:latin typeface="Arial"/>
                          <a:cs typeface="Arial"/>
                        </a:rPr>
                        <a:t>Stealing — دزدی</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0.200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0.350</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Arial"/>
                          <a:cs typeface="Arial"/>
                        </a:rPr>
                        <a:t>Vandalism — تخریب</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0.000</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0.167</a:t>
                      </a:r>
                    </a:p>
                  </a:txBody>
                  <a:tcPr marL="36576" marR="36576" marT="18288" marB="18288" anchor="ctr">
                    <a:solidFill>
                      <a:srgbClr val="FFFFFF"/>
                    </a:solidFill>
                  </a:tcPr>
                </a:tc>
              </a:tr>
            </a:tbl>
          </a:graphicData>
        </a:graphic>
      </p:graphicFrame>
      <p:sp>
        <p:nvSpPr>
          <p:cNvPr id="7" name="Rounded Rectangle 6"/>
          <p:cNvSpPr/>
          <p:nvPr/>
        </p:nvSpPr>
        <p:spPr>
          <a:xfrm>
            <a:off x="6400800" y="3611880"/>
            <a:ext cx="5212080" cy="23317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1B2236"/>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1B2236"/>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1B2236"/>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VideoMAE چطور یاد گرفت</a:t>
            </a:r>
          </a:p>
        </p:txBody>
      </p:sp>
      <p:sp>
        <p:nvSpPr>
          <p:cNvPr id="4" name="Rounded Rectangle 3"/>
          <p:cNvSpPr/>
          <p:nvPr/>
        </p:nvSpPr>
        <p:spPr>
          <a:xfrm>
            <a:off x="548640" y="1645920"/>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0664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06640" y="287121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06640" y="3895344"/>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406640" y="491947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1B2236"/>
                </a:solidFill>
                <a:latin typeface="Arial"/>
                <a:cs typeface="Arial"/>
              </a:rPr>
              <a:t>X-CLIP از متن یاد گرفت.</a:t>
            </a:r>
          </a:p>
          <a:p>
            <a:pPr rtl="1" algn="r">
              <a:lnSpc>
                <a:spcPts val="2000"/>
              </a:lnSpc>
              <a:spcBef>
                <a:spcPts val="0"/>
              </a:spcBef>
              <a:spcAft>
                <a:spcPts val="0"/>
              </a:spcAft>
            </a:pPr>
            <a:r>
              <a:rPr sz="1250" b="0" i="0">
                <a:solidFill>
                  <a:srgbClr val="1B2236"/>
                </a:solidFill>
                <a:latin typeface="Arial"/>
                <a:cs typeface="Arial"/>
              </a:rPr>
              <a:t/>
            </a:r>
          </a:p>
          <a:p>
            <a:pPr rtl="1" algn="r">
              <a:lnSpc>
                <a:spcPts val="2000"/>
              </a:lnSpc>
              <a:spcBef>
                <a:spcPts val="0"/>
              </a:spcBef>
              <a:spcAft>
                <a:spcPts val="0"/>
              </a:spcAft>
            </a:pPr>
            <a:r>
              <a:rPr sz="1250" b="0" i="0">
                <a:solidFill>
                  <a:srgbClr val="1B2236"/>
                </a:solidFill>
                <a:latin typeface="Arial"/>
                <a:cs typeface="Arial"/>
              </a:rPr>
              <a:t>VideoMAE از خود ویدیو.</a:t>
            </a:r>
          </a:p>
          <a:p>
            <a:pPr rtl="1" algn="r">
              <a:lnSpc>
                <a:spcPts val="2000"/>
              </a:lnSpc>
              <a:spcBef>
                <a:spcPts val="0"/>
              </a:spcBef>
              <a:spcAft>
                <a:spcPts val="0"/>
              </a:spcAft>
            </a:pPr>
            <a:r>
              <a:rPr sz="1250" b="0" i="0">
                <a:solidFill>
                  <a:srgbClr val="1B2236"/>
                </a:solidFill>
                <a:latin typeface="Arial"/>
                <a:cs typeface="Arial"/>
              </a:rPr>
              <a:t/>
            </a:r>
          </a:p>
          <a:p>
            <a:pPr rtl="1" algn="r">
              <a:lnSpc>
                <a:spcPts val="2000"/>
              </a:lnSpc>
              <a:spcBef>
                <a:spcPts val="0"/>
              </a:spcBef>
              <a:spcAft>
                <a:spcPts val="0"/>
              </a:spcAft>
            </a:pPr>
            <a:r>
              <a:rPr sz="1250" b="0" i="0">
                <a:solidFill>
                  <a:srgbClr val="1B2236"/>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مهم‌ترین تصمیم پروژه: یخ زدن رمزگذار</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Arial"/>
                <a:cs typeface="Arial"/>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ساعت برای هر آزمایش — روش قدیم</a:t>
            </a:r>
          </a:p>
        </p:txBody>
      </p:sp>
      <p:sp>
        <p:nvSpPr>
          <p:cNvPr id="7" name="Left Arrow 6"/>
          <p:cNvSpPr/>
          <p:nvPr/>
        </p:nvSpPr>
        <p:spPr>
          <a:xfrm>
            <a:off x="6675120" y="2377440"/>
            <a:ext cx="1188720" cy="5029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روش قدیم</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روش جدید</a:t>
                      </a:r>
                    </a:p>
                  </a:txBody>
                  <a:tcPr marL="36576" marR="36576" marT="18288" marB="18288" anchor="ctr">
                    <a:solidFill>
                      <a:srgbClr val="16264F"/>
                    </a:solidFill>
                  </a:tcPr>
                </a:tc>
              </a:tr>
              <a:tr h="320040">
                <a:tc>
                  <a:txBody>
                    <a:bodyPr wrap="square"/>
                    <a:lstStyle/>
                    <a:p>
                      <a:pPr rtl="1" algn="r">
                        <a:spcBef>
                          <a:spcPts val="0"/>
                        </a:spcBef>
                        <a:spcAft>
                          <a:spcPts val="0"/>
                        </a:spcAft>
                      </a:pPr>
                      <a:r>
                        <a:rPr sz="1250" b="0" i="0">
                          <a:solidFill>
                            <a:srgbClr val="1B2236"/>
                          </a:solidFill>
                          <a:latin typeface="Arial"/>
                          <a:cs typeface="Arial"/>
                        </a:rPr>
                        <a:t>رمزگشایی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هر دوره تکرار می‌شد</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یک بار، هرگز دوباره</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Arial"/>
                          <a:cs typeface="Arial"/>
                        </a:rPr>
                        <a:t>اجرای رمزگذار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هر دوره تکرار می‌شد</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یک بار، هرگز دوباره</a:t>
                      </a:r>
                    </a:p>
                  </a:txBody>
                  <a:tcPr marL="36576" marR="36576" marT="18288" marB="18288" anchor="ctr">
                    <a:solidFill>
                      <a:srgbClr val="FFFFFF"/>
                    </a:solidFill>
                  </a:tcPr>
                </a:tc>
              </a:tr>
              <a:tr h="320040">
                <a:tc>
                  <a:txBody>
                    <a:bodyPr wrap="square"/>
                    <a:lstStyle/>
                    <a:p>
                      <a:pPr rtl="1" algn="r">
                        <a:spcBef>
                          <a:spcPts val="0"/>
                        </a:spcBef>
                        <a:spcAft>
                          <a:spcPts val="0"/>
                        </a:spcAft>
                      </a:pPr>
                      <a:r>
                        <a:rPr sz="1250" b="0" i="0">
                          <a:solidFill>
                            <a:srgbClr val="1B2236"/>
                          </a:solidFill>
                          <a:latin typeface="Arial"/>
                          <a:cs typeface="Arial"/>
                        </a:rPr>
                        <a:t>حجم داده ورودی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۷۰ گیگابایت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۹۳ مگابایت عدد</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Arial"/>
                          <a:cs typeface="Arial"/>
                        </a:rPr>
                        <a:t>پارامترهای آموزش‌پذیر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حدود ۳۰۰ میلیون</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۴٫۸ میلیون</a:t>
                      </a:r>
                    </a:p>
                  </a:txBody>
                  <a:tcPr marL="36576" marR="36576" marT="18288" marB="18288" anchor="ctr">
                    <a:solidFill>
                      <a:srgbClr val="FFFFFF"/>
                    </a:solidFill>
                  </a:tcPr>
                </a:tc>
              </a:tr>
              <a:tr h="320040">
                <a:tc>
                  <a:txBody>
                    <a:bodyPr wrap="square"/>
                    <a:lstStyle/>
                    <a:p>
                      <a:pPr rtl="1" algn="r">
                        <a:spcBef>
                          <a:spcPts val="0"/>
                        </a:spcBef>
                        <a:spcAft>
                          <a:spcPts val="0"/>
                        </a:spcAft>
                      </a:pPr>
                      <a:r>
                        <a:rPr sz="1250" b="1" i="0">
                          <a:solidFill>
                            <a:srgbClr val="16264F"/>
                          </a:solidFill>
                          <a:latin typeface="Arial"/>
                          <a:cs typeface="Arial"/>
                        </a:rPr>
                        <a:t>زمان ۲۰۰ آزمایش</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حدود ۱۳۳ روز</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حدود ۴ ساعت</a:t>
                      </a:r>
                    </a:p>
                  </a:txBody>
                  <a:tcPr marL="36576" marR="36576" marT="18288" marB="18288" anchor="ctr">
                    <a:solidFill>
                      <a:srgbClr val="FFF2DC"/>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خط لوله نهایی</a:t>
            </a:r>
          </a:p>
        </p:txBody>
      </p:sp>
      <p:sp>
        <p:nvSpPr>
          <p:cNvPr id="4" name="Rounded Rectangle 3"/>
          <p:cNvSpPr/>
          <p:nvPr/>
        </p:nvSpPr>
        <p:spPr>
          <a:xfrm>
            <a:off x="909828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۹۰۰۰ فریم</a:t>
            </a:r>
          </a:p>
          <a:p>
            <a:pPr rtl="1" algn="ctr">
              <a:lnSpc>
                <a:spcPts val="1700"/>
              </a:lnSpc>
              <a:spcBef>
                <a:spcPts val="0"/>
              </a:spcBef>
              <a:spcAft>
                <a:spcPts val="0"/>
              </a:spcAft>
            </a:pPr>
            <a:r>
              <a:rPr sz="1150" b="0" i="0">
                <a:solidFill>
                  <a:srgbClr val="6A748C"/>
                </a:solidFill>
                <a:latin typeface="Arial"/>
                <a:cs typeface="Arial"/>
              </a:rPr>
              <a:t>۴۰ مگابایت</a:t>
            </a:r>
          </a:p>
        </p:txBody>
      </p:sp>
      <p:sp>
        <p:nvSpPr>
          <p:cNvPr id="7" name="Left Arrow 6"/>
          <p:cNvSpPr/>
          <p:nvPr/>
        </p:nvSpPr>
        <p:spPr>
          <a:xfrm>
            <a:off x="8842248"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هر قطعه ۱۶ فریم</a:t>
            </a:r>
          </a:p>
          <a:p>
            <a:pPr rtl="1" algn="ctr">
              <a:lnSpc>
                <a:spcPts val="1700"/>
              </a:lnSpc>
              <a:spcBef>
                <a:spcPts val="0"/>
              </a:spcBef>
              <a:spcAft>
                <a:spcPts val="0"/>
              </a:spcAft>
            </a:pPr>
            <a:r>
              <a:rPr sz="1150" b="0" i="0">
                <a:solidFill>
                  <a:srgbClr val="6A748C"/>
                </a:solidFill>
                <a:latin typeface="Arial"/>
                <a:cs typeface="Arial"/>
              </a:rPr>
              <a:t>۲۲۴ در ۲۲۴</a:t>
            </a:r>
          </a:p>
        </p:txBody>
      </p:sp>
      <p:sp>
        <p:nvSpPr>
          <p:cNvPr id="11" name="Left Arrow 10"/>
          <p:cNvSpPr/>
          <p:nvPr/>
        </p:nvSpPr>
        <p:spPr>
          <a:xfrm>
            <a:off x="596188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Arial"/>
                <a:cs typeface="Arial"/>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منجمد</a:t>
            </a:r>
          </a:p>
          <a:p>
            <a:pPr rtl="1" algn="ctr">
              <a:lnSpc>
                <a:spcPts val="1700"/>
              </a:lnSpc>
              <a:spcBef>
                <a:spcPts val="0"/>
              </a:spcBef>
              <a:spcAft>
                <a:spcPts val="0"/>
              </a:spcAft>
            </a:pPr>
            <a:r>
              <a:rPr sz="1150" b="0" i="0">
                <a:solidFill>
                  <a:srgbClr val="6A748C"/>
                </a:solidFill>
                <a:latin typeface="Arial"/>
                <a:cs typeface="Arial"/>
              </a:rPr>
              <a:t>یک بار اجرا</a:t>
            </a:r>
          </a:p>
        </p:txBody>
      </p:sp>
      <p:sp>
        <p:nvSpPr>
          <p:cNvPr id="15" name="Left Arrow 14"/>
          <p:cNvSpPr/>
          <p:nvPr/>
        </p:nvSpPr>
        <p:spPr>
          <a:xfrm>
            <a:off x="308152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Arial"/>
                <a:cs typeface="Arial"/>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۱۶ در ۱۰۲۴</a:t>
            </a:r>
          </a:p>
          <a:p>
            <a:pPr rtl="1" algn="ctr">
              <a:lnSpc>
                <a:spcPts val="1700"/>
              </a:lnSpc>
              <a:spcBef>
                <a:spcPts val="0"/>
              </a:spcBef>
              <a:spcAft>
                <a:spcPts val="0"/>
              </a:spcAft>
            </a:pPr>
            <a:r>
              <a:rPr sz="1150" b="0" i="0">
                <a:solidFill>
                  <a:srgbClr val="6A748C"/>
                </a:solidFill>
                <a:latin typeface="Arial"/>
                <a:cs typeface="Arial"/>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Arial"/>
                <a:cs typeface="Arial"/>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سر ترنسفورمر</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دو لایه توجه</a:t>
            </a:r>
          </a:p>
          <a:p>
            <a:pPr rtl="1" algn="ctr">
              <a:lnSpc>
                <a:spcPts val="1700"/>
              </a:lnSpc>
              <a:spcBef>
                <a:spcPts val="0"/>
              </a:spcBef>
              <a:spcAft>
                <a:spcPts val="0"/>
              </a:spcAft>
            </a:pPr>
            <a:r>
              <a:rPr sz="1150" b="0" i="0">
                <a:solidFill>
                  <a:srgbClr val="6A748C"/>
                </a:solidFill>
                <a:latin typeface="Arial"/>
                <a:cs typeface="Arial"/>
              </a:rPr>
              <a:t>روی محور زمان</a:t>
            </a:r>
          </a:p>
        </p:txBody>
      </p:sp>
      <p:sp>
        <p:nvSpPr>
          <p:cNvPr id="23" name="Left Arrow 22"/>
          <p:cNvSpPr/>
          <p:nvPr/>
        </p:nvSpPr>
        <p:spPr>
          <a:xfrm>
            <a:off x="8842248"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۱۶ در ۱۴</a:t>
            </a:r>
          </a:p>
        </p:txBody>
      </p:sp>
      <p:sp>
        <p:nvSpPr>
          <p:cNvPr id="27" name="Left Arrow 26"/>
          <p:cNvSpPr/>
          <p:nvPr/>
        </p:nvSpPr>
        <p:spPr>
          <a:xfrm>
            <a:off x="596188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Arial"/>
                <a:cs typeface="Arial"/>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وجود، سپس نوع</a:t>
            </a:r>
          </a:p>
        </p:txBody>
      </p:sp>
      <p:sp>
        <p:nvSpPr>
          <p:cNvPr id="31" name="Left Arrow 30"/>
          <p:cNvSpPr/>
          <p:nvPr/>
        </p:nvSpPr>
        <p:spPr>
          <a:xfrm>
            <a:off x="308152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Arial"/>
                <a:cs typeface="Arial"/>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Arial"/>
                <a:cs typeface="Arial"/>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E8A33D"/>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سر ترنسفورمر روی محور زمان</a:t>
            </a:r>
          </a:p>
        </p:txBody>
      </p:sp>
      <p:sp>
        <p:nvSpPr>
          <p:cNvPr id="4" name="Rounded Rectangle 3"/>
          <p:cNvSpPr/>
          <p:nvPr/>
        </p:nvSpPr>
        <p:spPr>
          <a:xfrm>
            <a:off x="548640" y="1645920"/>
            <a:ext cx="5394960" cy="2103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6A748C"/>
                </a:solidFill>
                <a:latin typeface="Arial"/>
                <a:cs typeface="Arial"/>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200" b="1" i="0">
                          <a:solidFill>
                            <a:srgbClr val="FFFFFF"/>
                          </a:solidFill>
                          <a:latin typeface="Arial"/>
                          <a:cs typeface="Arial"/>
                        </a:rPr>
                        <a:t>پارامتر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مقدار</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Arial"/>
                          <a:cs typeface="Arial"/>
                        </a:rPr>
                        <a:t>بعد پنهان</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512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سرهای توجه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Arial"/>
                          <a:cs typeface="Arial"/>
                        </a:rPr>
                        <a:t>لایه‌ها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حذف تصادفی</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0.3</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Arial"/>
                          <a:cs typeface="Arial"/>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4,772,366</a:t>
                      </a:r>
                    </a:p>
                  </a:txBody>
                  <a:tcPr marL="36576" marR="36576" marT="18288" marB="18288" anchor="ctr">
                    <a:solidFill>
                      <a:srgbClr val="EDF1F8"/>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00" b="1" i="0">
                          <a:solidFill>
                            <a:srgbClr val="FFFFFF"/>
                          </a:solidFill>
                          <a:latin typeface="Arial"/>
                          <a:cs typeface="Arial"/>
                        </a:rPr>
                        <a:t>سر طبقه‌بند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ماکرو F1، میانگین ۵ بذر</a:t>
                      </a:r>
                    </a:p>
                  </a:txBody>
                  <a:tcPr marL="36576" marR="36576" marT="18288" marB="18288" anchor="ctr">
                    <a:solidFill>
                      <a:srgbClr val="16264F"/>
                    </a:solidFill>
                  </a:tcPr>
                </a:tc>
              </a:tr>
              <a:tr h="384048">
                <a:tc>
                  <a:txBody>
                    <a:bodyPr wrap="square"/>
                    <a:lstStyle/>
                    <a:p>
                      <a:pPr rtl="1" algn="r">
                        <a:spcBef>
                          <a:spcPts val="0"/>
                        </a:spcBef>
                        <a:spcAft>
                          <a:spcPts val="0"/>
                        </a:spcAft>
                      </a:pPr>
                      <a:r>
                        <a:rPr sz="1250" b="0" i="0">
                          <a:solidFill>
                            <a:srgbClr val="1B2236"/>
                          </a:solidFill>
                          <a:latin typeface="Arial"/>
                          <a:cs typeface="Arial"/>
                        </a:rPr>
                        <a:t>سر نقطه‌ای — خط پایه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0.3049</a:t>
                      </a:r>
                    </a:p>
                  </a:txBody>
                  <a:tcPr marL="36576" marR="36576" marT="18288" marB="18288" anchor="ctr">
                    <a:solidFill>
                      <a:srgbClr val="EDF1F8"/>
                    </a:solidFill>
                  </a:tcPr>
                </a:tc>
              </a:tr>
              <a:tr h="384048">
                <a:tc>
                  <a:txBody>
                    <a:bodyPr wrap="square"/>
                    <a:lstStyle/>
                    <a:p>
                      <a:pPr rtl="1" algn="r">
                        <a:spcBef>
                          <a:spcPts val="0"/>
                        </a:spcBef>
                        <a:spcAft>
                          <a:spcPts val="0"/>
                        </a:spcAft>
                      </a:pPr>
                      <a:r>
                        <a:rPr sz="1250" b="1" i="0">
                          <a:solidFill>
                            <a:srgbClr val="16264F"/>
                          </a:solidFill>
                          <a:latin typeface="Arial"/>
                          <a:cs typeface="Arial"/>
                        </a:rPr>
                        <a:t>سر ترنسفورمر زمانی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0.3480</a:t>
                      </a:r>
                    </a:p>
                  </a:txBody>
                  <a:tcPr marL="36576" marR="36576" marT="18288" marB="18288" anchor="ctr">
                    <a:solidFill>
                      <a:srgbClr val="FFF2DC"/>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ارتقای ظرفیت رمزگذار</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ViT-B</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ViT-L</a:t>
                      </a:r>
                    </a:p>
                  </a:txBody>
                  <a:tcPr marL="36576" marR="36576" marT="18288" marB="18288" anchor="ctr">
                    <a:solidFill>
                      <a:srgbClr val="16264F"/>
                    </a:solidFill>
                  </a:tcPr>
                </a:tc>
              </a:tr>
              <a:tr h="365760">
                <a:tc>
                  <a:txBody>
                    <a:bodyPr wrap="square"/>
                    <a:lstStyle/>
                    <a:p>
                      <a:pPr rtl="1" algn="r">
                        <a:spcBef>
                          <a:spcPts val="0"/>
                        </a:spcBef>
                        <a:spcAft>
                          <a:spcPts val="0"/>
                        </a:spcAft>
                      </a:pPr>
                      <a:r>
                        <a:rPr sz="1250" b="0" i="0">
                          <a:solidFill>
                            <a:srgbClr val="1B2236"/>
                          </a:solidFill>
                          <a:latin typeface="Arial"/>
                          <a:cs typeface="Arial"/>
                        </a:rPr>
                        <a:t>تعداد لایه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12</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24</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Arial"/>
                          <a:cs typeface="Arial"/>
                        </a:rPr>
                        <a:t>پهنای بردار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768</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1024</a:t>
                      </a:r>
                    </a:p>
                  </a:txBody>
                  <a:tcPr marL="36576" marR="36576" marT="18288" marB="18288" anchor="ctr">
                    <a:solidFill>
                      <a:srgbClr val="FFFFFF"/>
                    </a:solidFill>
                  </a:tcPr>
                </a:tc>
              </a:tr>
              <a:tr h="365760">
                <a:tc>
                  <a:txBody>
                    <a:bodyPr wrap="square"/>
                    <a:lstStyle/>
                    <a:p>
                      <a:pPr rtl="1" algn="r">
                        <a:spcBef>
                          <a:spcPts val="0"/>
                        </a:spcBef>
                        <a:spcAft>
                          <a:spcPts val="0"/>
                        </a:spcAft>
                      </a:pPr>
                      <a:r>
                        <a:rPr sz="1250" b="0" i="0">
                          <a:solidFill>
                            <a:srgbClr val="1B2236"/>
                          </a:solidFill>
                          <a:latin typeface="Arial"/>
                          <a:cs typeface="Arial"/>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 87 میلیون</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 300 میلیون</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Arial"/>
                          <a:cs typeface="Arial"/>
                        </a:rPr>
                        <a:t>اندازه وصله</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16 × 16</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16 × 16</a:t>
                      </a:r>
                    </a:p>
                  </a:txBody>
                  <a:tcPr marL="36576" marR="36576" marT="18288" marB="18288" anchor="ctr">
                    <a:solidFill>
                      <a:srgbClr val="FFFFFF"/>
                    </a:solidFill>
                  </a:tcPr>
                </a:tc>
              </a:tr>
              <a:tr h="365760">
                <a:tc>
                  <a:txBody>
                    <a:bodyPr wrap="square"/>
                    <a:lstStyle/>
                    <a:p>
                      <a:pPr rtl="1" algn="r">
                        <a:spcBef>
                          <a:spcPts val="0"/>
                        </a:spcBef>
                        <a:spcAft>
                          <a:spcPts val="0"/>
                        </a:spcAft>
                      </a:pPr>
                      <a:r>
                        <a:rPr sz="1250" b="1" i="0">
                          <a:solidFill>
                            <a:srgbClr val="16264F"/>
                          </a:solidFill>
                          <a:latin typeface="Arial"/>
                          <a:cs typeface="Arial"/>
                        </a:rPr>
                        <a:t>ماکرو F1، میانگین ۵ بذر</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0.3405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0.3955</a:t>
                      </a:r>
                    </a:p>
                  </a:txBody>
                  <a:tcPr marL="36576" marR="36576" marT="18288" marB="18288" anchor="ctr">
                    <a:solidFill>
                      <a:srgbClr val="FFF2DC"/>
                    </a:solidFill>
                  </a:tcPr>
                </a:tc>
              </a:tr>
              <a:tr h="365760">
                <a:tc>
                  <a:txBody>
                    <a:bodyPr wrap="square"/>
                    <a:lstStyle/>
                    <a:p>
                      <a:pPr rtl="1" algn="r">
                        <a:spcBef>
                          <a:spcPts val="0"/>
                        </a:spcBef>
                        <a:spcAft>
                          <a:spcPts val="0"/>
                        </a:spcAft>
                      </a:pPr>
                      <a:r>
                        <a:rPr sz="1250" b="1" i="0">
                          <a:solidFill>
                            <a:srgbClr val="16264F"/>
                          </a:solidFill>
                          <a:latin typeface="Arial"/>
                          <a:cs typeface="Arial"/>
                        </a:rPr>
                        <a:t>ماکرو F1، نتیجه گروهی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0.3645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0.4122</a:t>
                      </a:r>
                    </a:p>
                  </a:txBody>
                  <a:tcPr marL="36576" marR="36576" marT="18288" marB="18288" anchor="ctr">
                    <a:solidFill>
                      <a:srgbClr val="FFF2DC"/>
                    </a:solidFill>
                  </a:tcPr>
                </a:tc>
              </a:tr>
            </a:tbl>
          </a:graphicData>
        </a:graphic>
      </p:graphicFrame>
      <p:sp>
        <p:nvSpPr>
          <p:cNvPr id="5" name="Rounded Rectangle 4"/>
          <p:cNvSpPr/>
          <p:nvPr/>
        </p:nvSpPr>
        <p:spPr>
          <a:xfrm>
            <a:off x="7406640" y="1691640"/>
            <a:ext cx="4206240" cy="21488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C9483B"/>
                </a:solidFill>
                <a:latin typeface="Arial"/>
                <a:cs typeface="Arial"/>
              </a:rPr>
              <a:t>0.310 — 0.354</a:t>
            </a:r>
          </a:p>
        </p:txBody>
      </p:sp>
      <p:sp>
        <p:nvSpPr>
          <p:cNvPr id="12" name="Rounded Rectangle 11"/>
          <p:cNvSpPr/>
          <p:nvPr/>
        </p:nvSpPr>
        <p:spPr>
          <a:xfrm>
            <a:off x="4297680" y="4663440"/>
            <a:ext cx="356616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3FA7A0"/>
                </a:solidFill>
                <a:latin typeface="Arial"/>
                <a:cs typeface="Arial"/>
              </a:rPr>
              <a:t>0.370 — 0.423</a:t>
            </a:r>
          </a:p>
        </p:txBody>
      </p:sp>
      <p:sp>
        <p:nvSpPr>
          <p:cNvPr id="15" name="Rounded Rectangle 14"/>
          <p:cNvSpPr/>
          <p:nvPr/>
        </p:nvSpPr>
        <p:spPr>
          <a:xfrm>
            <a:off x="8046720" y="4663440"/>
            <a:ext cx="356616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E8A33D"/>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آمیزش و تنظیم لاجیت</a:t>
            </a:r>
          </a:p>
        </p:txBody>
      </p:sp>
      <p:sp>
        <p:nvSpPr>
          <p:cNvPr id="4" name="Rounded Rectangle 3"/>
          <p:cNvSpPr/>
          <p:nvPr/>
        </p:nvSpPr>
        <p:spPr>
          <a:xfrm>
            <a:off x="548640" y="1645920"/>
            <a:ext cx="5394960" cy="19659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C9483B"/>
                </a:solidFill>
                <a:latin typeface="Arial"/>
                <a:cs typeface="Arial"/>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میانگین بذرها</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نتیجه گروهی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Arial"/>
                          <a:cs typeface="Arial"/>
                        </a:rPr>
                        <a:t>پایه ViT-L</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0.4122</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0.6897</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0.4786</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آمیزش ۰٫۲</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0.4203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0.4714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1" i="0">
                          <a:solidFill>
                            <a:srgbClr val="16264F"/>
                          </a:solidFill>
                          <a:latin typeface="Arial"/>
                          <a:cs typeface="Arial"/>
                        </a:rPr>
                        <a:t>آمیزش ۰٫۲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0.4147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0.6897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0.5000</a:t>
                      </a:r>
                    </a:p>
                  </a:txBody>
                  <a:tcPr marL="36576" marR="36576" marT="18288" marB="18288" anchor="ctr">
                    <a:solidFill>
                      <a:srgbClr val="FFF2DC"/>
                    </a:solidFill>
                  </a:tcPr>
                </a:tc>
              </a:tr>
              <a:tr h="274320">
                <a:tc>
                  <a:txBody>
                    <a:bodyPr wrap="square"/>
                    <a:lstStyle/>
                    <a:p>
                      <a:pPr rtl="1" algn="r">
                        <a:spcBef>
                          <a:spcPts val="0"/>
                        </a:spcBef>
                        <a:spcAft>
                          <a:spcPts val="0"/>
                        </a:spcAft>
                      </a:pPr>
                      <a:r>
                        <a:rPr sz="1150" b="0" i="0">
                          <a:solidFill>
                            <a:srgbClr val="1B2236"/>
                          </a:solidFill>
                          <a:latin typeface="Arial"/>
                          <a:cs typeface="Arial"/>
                        </a:rPr>
                        <a:t>آمیزش ۰٫۴ + تنظیم لاجیت</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0.4135</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0.4248</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0.6759</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0.4929</a:t>
                      </a:r>
                    </a:p>
                  </a:txBody>
                  <a:tcPr marL="36576" marR="36576" marT="18288" marB="18288"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مسیر بهبود، گام به گام</a:t>
            </a:r>
          </a:p>
        </p:txBody>
      </p:sp>
      <p:sp>
        <p:nvSpPr>
          <p:cNvPr id="4" name="Rectangle 3"/>
          <p:cNvSpPr/>
          <p:nvPr/>
        </p:nvSpPr>
        <p:spPr>
          <a:xfrm>
            <a:off x="1325880" y="4116977"/>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0.30</a:t>
            </a:r>
          </a:p>
        </p:txBody>
      </p:sp>
      <p:sp>
        <p:nvSpPr>
          <p:cNvPr id="6" name="Rectangle 5"/>
          <p:cNvSpPr/>
          <p:nvPr/>
        </p:nvSpPr>
        <p:spPr>
          <a:xfrm>
            <a:off x="1325880" y="3387634"/>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0.35</a:t>
            </a:r>
          </a:p>
        </p:txBody>
      </p:sp>
      <p:sp>
        <p:nvSpPr>
          <p:cNvPr id="8" name="Rectangle 7"/>
          <p:cNvSpPr/>
          <p:nvPr/>
        </p:nvSpPr>
        <p:spPr>
          <a:xfrm>
            <a:off x="1325880" y="2658291"/>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0.40</a:t>
            </a:r>
          </a:p>
        </p:txBody>
      </p:sp>
      <p:sp>
        <p:nvSpPr>
          <p:cNvPr id="10" name="Rectangle 9"/>
          <p:cNvSpPr/>
          <p:nvPr/>
        </p:nvSpPr>
        <p:spPr>
          <a:xfrm>
            <a:off x="1325880" y="1928948"/>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0.45</a:t>
            </a:r>
          </a:p>
        </p:txBody>
      </p:sp>
      <p:sp>
        <p:nvSpPr>
          <p:cNvPr id="12" name="Rectangle 11"/>
          <p:cNvSpPr/>
          <p:nvPr/>
        </p:nvSpPr>
        <p:spPr>
          <a:xfrm>
            <a:off x="1325880" y="4846320"/>
            <a:ext cx="10287000" cy="22860"/>
          </a:xfrm>
          <a:prstGeom prst="rect">
            <a:avLst/>
          </a:prstGeom>
          <a:solidFill>
            <a:srgbClr val="C7D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MLP / ViT-B</a:t>
            </a:r>
          </a:p>
        </p:txBody>
      </p:sp>
      <p:sp>
        <p:nvSpPr>
          <p:cNvPr id="16" name="Rectangle 15"/>
          <p:cNvSpPr/>
          <p:nvPr/>
        </p:nvSpPr>
        <p:spPr>
          <a:xfrm>
            <a:off x="3303270" y="3469320"/>
            <a:ext cx="1188720" cy="1376999"/>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Temporal</a:t>
            </a:r>
          </a:p>
        </p:txBody>
      </p:sp>
      <p:sp>
        <p:nvSpPr>
          <p:cNvPr id="19" name="Rectangle 18"/>
          <p:cNvSpPr/>
          <p:nvPr/>
        </p:nvSpPr>
        <p:spPr>
          <a:xfrm>
            <a:off x="5017770" y="3176124"/>
            <a:ext cx="1188720" cy="167019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lr 3e-4</a:t>
            </a:r>
          </a:p>
        </p:txBody>
      </p:sp>
      <p:sp>
        <p:nvSpPr>
          <p:cNvPr id="22" name="Rectangle 21"/>
          <p:cNvSpPr/>
          <p:nvPr/>
        </p:nvSpPr>
        <p:spPr>
          <a:xfrm>
            <a:off x="6732270" y="2480331"/>
            <a:ext cx="1188720" cy="23659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ViT-L</a:t>
            </a:r>
          </a:p>
        </p:txBody>
      </p:sp>
      <p:sp>
        <p:nvSpPr>
          <p:cNvPr id="25" name="Rectangle 24"/>
          <p:cNvSpPr/>
          <p:nvPr/>
        </p:nvSpPr>
        <p:spPr>
          <a:xfrm>
            <a:off x="8446769" y="2423443"/>
            <a:ext cx="1188720" cy="24228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Mixup</a:t>
            </a:r>
          </a:p>
        </p:txBody>
      </p:sp>
      <p:sp>
        <p:nvSpPr>
          <p:cNvPr id="28" name="Rectangle 27"/>
          <p:cNvSpPr/>
          <p:nvPr/>
        </p:nvSpPr>
        <p:spPr>
          <a:xfrm>
            <a:off x="10161269" y="2223603"/>
            <a:ext cx="1188720" cy="262271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Arial"/>
                <a:cs typeface="Arial"/>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صداقت روش‌شناختی</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آزمایش‌هایی که نتیجه ندادند</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FFFF"/>
                          </a:solidFill>
                          <a:latin typeface="Arial"/>
                          <a:cs typeface="Arial"/>
                        </a:rPr>
                        <a:t>آزمایش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نتیجه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مرجع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داوری</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Arial"/>
                          <a:cs typeface="Arial"/>
                        </a:rPr>
                        <a:t>نمونه‌برداری سبک Kinetics با گام ۴ فریم</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0.3089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0.3405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دو برابر کردن تعداد قطعه‌ها به ۳۲</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0.3875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الحاق ویژگی دو رمزگذار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آموزش با یک قطعه برتر</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تنظیم لاجیت به‌تنهایی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0.4114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میانگین‌گیری بذرها برای ماکرو F1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بازنویسی توصیف‌های متنی کلاس‌ها</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0.86</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EDF1F8"/>
                    </a:solidFill>
                  </a:tcPr>
                </a:tc>
              </a:tr>
            </a:tbl>
          </a:graphicData>
        </a:graphic>
      </p:graphicFrame>
      <p:sp>
        <p:nvSpPr>
          <p:cNvPr id="5" name="Rounded Rectangle 4"/>
          <p:cNvSpPr/>
          <p:nvPr/>
        </p:nvSpPr>
        <p:spPr>
          <a:xfrm>
            <a:off x="548640" y="4343400"/>
            <a:ext cx="1106424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1B2236"/>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1B2236"/>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اعتبارسنجی آماری</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چقدر از این اعداد نوفه است؟</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FFFF"/>
                          </a:solidFill>
                          <a:latin typeface="Arial"/>
                          <a:cs typeface="Arial"/>
                        </a:rPr>
                        <a:t>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مقدار نقطه‌ای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انحراف 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بازه اطمینان ۹۵ درصد</a:t>
                      </a:r>
                    </a:p>
                  </a:txBody>
                  <a:tcPr marL="36576" marR="36576" marT="18288" marB="18288" anchor="ctr">
                    <a:solidFill>
                      <a:srgbClr val="16264F"/>
                    </a:solidFill>
                  </a:tcPr>
                </a:tc>
              </a:tr>
              <a:tr h="384048">
                <a:tc>
                  <a:txBody>
                    <a:bodyPr wrap="square"/>
                    <a:lstStyle/>
                    <a:p>
                      <a:pPr rtl="1" algn="r">
                        <a:spcBef>
                          <a:spcPts val="0"/>
                        </a:spcBef>
                        <a:spcAft>
                          <a:spcPts val="0"/>
                        </a:spcAft>
                      </a:pPr>
                      <a:r>
                        <a:rPr sz="1200" b="1" i="0">
                          <a:solidFill>
                            <a:srgbClr val="16264F"/>
                          </a:solidFill>
                          <a:latin typeface="Arial"/>
                          <a:cs typeface="Arial"/>
                        </a:rPr>
                        <a:t>ماکرو F1</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0.037</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[0.339 , 0.503]</a:t>
                      </a:r>
                    </a:p>
                  </a:txBody>
                  <a:tcPr marL="36576" marR="36576" marT="18288" marB="18288" anchor="ctr">
                    <a:solidFill>
                      <a:srgbClr val="FFF2DC"/>
                    </a:solidFill>
                  </a:tcPr>
                </a:tc>
              </a:tr>
              <a:tr h="384048">
                <a:tc>
                  <a:txBody>
                    <a:bodyPr wrap="square"/>
                    <a:lstStyle/>
                    <a:p>
                      <a:pPr rtl="1" algn="r">
                        <a:spcBef>
                          <a:spcPts val="0"/>
                        </a:spcBef>
                        <a:spcAft>
                          <a:spcPts val="0"/>
                        </a:spcAft>
                      </a:pPr>
                      <a:r>
                        <a:rPr sz="1200" b="0" i="0">
                          <a:solidFill>
                            <a:srgbClr val="1B2236"/>
                          </a:solidFill>
                          <a:latin typeface="Arial"/>
                          <a:cs typeface="Arial"/>
                        </a:rPr>
                        <a:t>صحت چندکلاسه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0.6897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0.027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[0.635 , 0.745]</a:t>
                      </a:r>
                    </a:p>
                  </a:txBody>
                  <a:tcPr marL="36576" marR="36576" marT="18288" marB="18288" anchor="ctr">
                    <a:solidFill>
                      <a:srgbClr val="FFFFFF"/>
                    </a:solidFill>
                  </a:tcPr>
                </a:tc>
              </a:tr>
              <a:tr h="384048">
                <a:tc>
                  <a:txBody>
                    <a:bodyPr wrap="square"/>
                    <a:lstStyle/>
                    <a:p>
                      <a:pPr rtl="1" algn="r">
                        <a:spcBef>
                          <a:spcPts val="0"/>
                        </a:spcBef>
                        <a:spcAft>
                          <a:spcPts val="0"/>
                        </a:spcAft>
                      </a:pPr>
                      <a:r>
                        <a:rPr sz="1200" b="0" i="0">
                          <a:solidFill>
                            <a:srgbClr val="1B2236"/>
                          </a:solidFill>
                          <a:latin typeface="Arial"/>
                          <a:cs typeface="Arial"/>
                        </a:rPr>
                        <a:t>صحت نوع ناهنجاری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0.5000</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0.041</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[0.420 , 0.585]</a:t>
                      </a:r>
                    </a:p>
                  </a:txBody>
                  <a:tcPr marL="36576" marR="36576" marT="18288" marB="18288" anchor="ctr">
                    <a:solidFill>
                      <a:srgbClr val="EDF1F8"/>
                    </a:solidFill>
                  </a:tcPr>
                </a:tc>
              </a:tr>
              <a:tr h="384048">
                <a:tc>
                  <a:txBody>
                    <a:bodyPr wrap="square"/>
                    <a:lstStyle/>
                    <a:p>
                      <a:pPr rtl="1" algn="r">
                        <a:spcBef>
                          <a:spcPts val="0"/>
                        </a:spcBef>
                        <a:spcAft>
                          <a:spcPts val="0"/>
                        </a:spcAft>
                      </a:pPr>
                      <a:r>
                        <a:rPr sz="1200" b="0" i="0">
                          <a:solidFill>
                            <a:srgbClr val="1B2236"/>
                          </a:solidFill>
                          <a:latin typeface="Arial"/>
                          <a:cs typeface="Arial"/>
                        </a:rPr>
                        <a:t>AUC دودویی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0.9610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0.011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[0.938 , 0.980]</a:t>
                      </a:r>
                    </a:p>
                  </a:txBody>
                  <a:tcPr marL="36576" marR="36576" marT="18288" marB="18288" anchor="ctr">
                    <a:solidFill>
                      <a:srgbClr val="FFFFFF"/>
                    </a:solidFill>
                  </a:tcPr>
                </a:tc>
              </a:tr>
            </a:tbl>
          </a:graphicData>
        </a:graphic>
      </p:graphicFrame>
      <p:sp>
        <p:nvSpPr>
          <p:cNvPr id="6" name="Rounded Rectangle 5"/>
          <p:cNvSpPr/>
          <p:nvPr/>
        </p:nvSpPr>
        <p:spPr>
          <a:xfrm>
            <a:off x="7498079" y="2148840"/>
            <a:ext cx="411480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E8A33D"/>
                </a:solidFill>
                <a:latin typeface="Arial"/>
                <a:cs typeface="Arial"/>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FFFF"/>
                          </a:solidFill>
                          <a:latin typeface="Arial"/>
                          <a:cs typeface="Arial"/>
                        </a:rPr>
                        <a:t>تعداد ارزیابی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تورم مورد انتظار</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Arial"/>
                          <a:cs typeface="Arial"/>
                        </a:rPr>
                        <a:t>۸</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+0.069</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۵۰</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+0.095</a:t>
                      </a:r>
                    </a:p>
                  </a:txBody>
                  <a:tcPr marL="36576" marR="36576" marT="18288" marB="18288" anchor="ctr">
                    <a:solidFill>
                      <a:srgbClr val="FFFFFF"/>
                    </a:solidFill>
                  </a:tcPr>
                </a:tc>
              </a:tr>
              <a:tr h="301752">
                <a:tc>
                  <a:txBody>
                    <a:bodyPr wrap="square"/>
                    <a:lstStyle/>
                    <a:p>
                      <a:pPr rtl="1" algn="r">
                        <a:spcBef>
                          <a:spcPts val="0"/>
                        </a:spcBef>
                        <a:spcAft>
                          <a:spcPts val="0"/>
                        </a:spcAft>
                      </a:pPr>
                      <a:r>
                        <a:rPr sz="1200" b="1" i="0">
                          <a:solidFill>
                            <a:srgbClr val="16264F"/>
                          </a:solidFill>
                          <a:latin typeface="Arial"/>
                          <a:cs typeface="Arial"/>
                        </a:rPr>
                        <a:t>۲۰۰</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+0.111</a:t>
                      </a:r>
                    </a:p>
                  </a:txBody>
                  <a:tcPr marL="36576" marR="36576" marT="18288" marB="18288" anchor="ctr">
                    <a:solidFill>
                      <a:srgbClr val="FFF2DC"/>
                    </a:solidFill>
                  </a:tcPr>
                </a:tc>
              </a:tr>
            </a:tbl>
          </a:graphicData>
        </a:graphic>
      </p:graphicFrame>
      <p:sp>
        <p:nvSpPr>
          <p:cNvPr id="12" name="Rounded Rectangle 11"/>
          <p:cNvSpPr/>
          <p:nvPr/>
        </p:nvSpPr>
        <p:spPr>
          <a:xfrm>
            <a:off x="5120640" y="4754880"/>
            <a:ext cx="6492240" cy="13258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جمع‌بندی نتایج</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جدول کامل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5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رمزگذار</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صحت کلی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AUC</a:t>
                      </a:r>
                    </a:p>
                  </a:txBody>
                  <a:tcPr marL="36576" marR="36576" marT="18288" marB="18288" anchor="ctr">
                    <a:solidFill>
                      <a:srgbClr val="16264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اسم خام کلاس، وزن دستی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0.3327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0.3716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0.6385</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0.9473</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توصیف بصری + وزن معکوس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0.6351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0.9637</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چهار نمای زمانی در آزمون</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0.3881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0.4257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0.6419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0.9629</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سر نقطه‌ای، خط پایه</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0.2975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0.3860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0.5660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سر ترنسفورمر زمانی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0.3444</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0.3930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0.6350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نرخ یادگیری ۰٫۰۰۰۳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0.3645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0.4210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0.6550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ارتقا به رمزگذار بزرگ</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VideoMAE ViT-L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0.4122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0.4786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0.6897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افزودن آمیزش</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ViT-L</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0.4714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1" i="0">
                          <a:solidFill>
                            <a:srgbClr val="16264F"/>
                          </a:solidFill>
                          <a:latin typeface="Arial"/>
                          <a:cs typeface="Arial"/>
                        </a:rPr>
                        <a:t>مسیر دوم — آمیزش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VideoMAE ViT-L</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0.5000</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0.6897</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0.9610</a:t>
                      </a:r>
                    </a:p>
                  </a:txBody>
                  <a:tcPr marL="36576" marR="36576" marT="18288" marB="18288" anchor="ctr">
                    <a:solidFill>
                      <a:srgbClr val="FFF2DC"/>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6A748C"/>
                </a:solidFill>
                <a:latin typeface="Arial"/>
                <a:cs typeface="Arial"/>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Arial"/>
                <a:cs typeface="Arial"/>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3FA7A0"/>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BFD4F2"/>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1B1300"/>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