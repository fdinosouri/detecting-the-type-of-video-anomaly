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macro F1</c:v>
                </c:pt>
              </c:strCache>
            </c:strRef>
          </c:tx>
          <c:spPr>
            <a:solidFill>
              <a:srgbClr val="16264F"/>
            </a:solidFill>
            <a:effectLst/>
          </c:spPr>
          <c:invertIfNegative val="0"/>
          <c:dLbls>
            <c:numFmt formatCode="0.0000" sourceLinked="0"/>
            <c:txPr>
              <a:bodyPr/>
              <a:lstStyle/>
              <a:p>
                <a:pPr>
                  <a:defRPr b="0" i="0" strike="noStrike" sz="1100" u="none">
                    <a:solidFill>
                      <a:srgbClr val="1B2236"/>
                    </a:solidFill>
                    <a:latin typeface="Arial"/>
                  </a:defRPr>
                </a:pPr>
              </a:p>
            </c:txPr>
            <c:showLegendKey val="0"/>
            <c:showVal val="1"/>
            <c:showCatName val="0"/>
            <c:showSerName val="0"/>
            <c:showPercent val="0"/>
            <c:showBubbleSize val="0"/>
            <c:showLeaderLines val="0"/>
          </c:dLbls>
          <c:dPt>
            <c:idx val="0"/>
            <c:invertIfNegative val="0"/>
            <c:bubble3D val="0"/>
            <c:spPr>
              <a:solidFill>
                <a:srgbClr val="16264F"/>
              </a:solidFill>
              <a:effectLst/>
            </c:spPr>
          </c:dPt>
          <c:dPt>
            <c:idx val="1"/>
            <c:invertIfNegative val="0"/>
            <c:bubble3D val="0"/>
            <c:spPr>
              <a:solidFill>
                <a:srgbClr val="16264F"/>
              </a:solidFill>
              <a:effectLst/>
            </c:spPr>
          </c:dPt>
          <c:dPt>
            <c:idx val="2"/>
            <c:invertIfNegative val="0"/>
            <c:bubble3D val="0"/>
            <c:spPr>
              <a:solidFill>
                <a:srgbClr val="16264F"/>
              </a:solidFill>
              <a:effectLst/>
            </c:spPr>
          </c:dPt>
          <c:dPt>
            <c:idx val="3"/>
            <c:invertIfNegative val="0"/>
            <c:bubble3D val="0"/>
            <c:spPr>
              <a:solidFill>
                <a:srgbClr val="E8A33D"/>
              </a:solidFill>
              <a:effectLst/>
            </c:spPr>
          </c:dPt>
          <c:dPt>
            <c:idx val="4"/>
            <c:invertIfNegative val="0"/>
            <c:bubble3D val="0"/>
            <c:spPr>
              <a:solidFill>
                <a:srgbClr val="E8A33D"/>
              </a:solidFill>
              <a:effectLst/>
            </c:spPr>
          </c:dPt>
          <c:dPt>
            <c:idx val="5"/>
            <c:invertIfNegative val="0"/>
            <c:bubble3D val="0"/>
            <c:spPr>
              <a:solidFill>
                <a:srgbClr val="E8A33D"/>
              </a:solidFill>
              <a:effectLst/>
            </c:spPr>
          </c:dPt>
          <c:cat>
            <c:multiLvlStrRef>
              <c:f>Sheet1!$A$2:$A$7</c:f>
              <c:multiLvlStrCache>
                <c:ptCount val="6"/>
                <c:lvl>
                  <c:pt idx="0">
                    <c:v>MLP / ViT-B</c:v>
                  </c:pt>
                  <c:pt idx="1">
                    <c:v>+ Temporal</c:v>
                  </c:pt>
                  <c:pt idx="2">
                    <c:v>+ lr 3e-4</c:v>
                  </c:pt>
                  <c:pt idx="3">
                    <c:v>+ ViT-L</c:v>
                  </c:pt>
                  <c:pt idx="4">
                    <c:v>+ Mixup</c:v>
                  </c:pt>
                  <c:pt idx="5">
                    <c:v>+ Logit adj.</c:v>
                  </c:pt>
                </c:lvl>
              </c:multiLvlStrCache>
            </c:multiLvlStrRef>
          </c:cat>
          <c:val>
            <c:numRef>
              <c:f>Sheet1!$B$2:$B$7</c:f>
              <c:numCache>
                <c:formatCode>General</c:formatCode>
                <c:ptCount val="6"/>
                <c:pt idx="0">
                  <c:v>0.2975</c:v>
                </c:pt>
                <c:pt idx="1">
                  <c:v>0.3444</c:v>
                </c:pt>
                <c:pt idx="2">
                  <c:v>0.3645</c:v>
                </c:pt>
                <c:pt idx="3">
                  <c:v>0.4122</c:v>
                </c:pt>
                <c:pt idx="4">
                  <c:v>0.4161</c:v>
                </c:pt>
                <c:pt idx="5">
                  <c:v>0.4298</c:v>
                </c:pt>
              </c:numCache>
            </c:numRef>
          </c:val>
        </c:ser>
        <c:dLbls>
          <c:numFmt formatCode="0.0000" sourceLinked="0"/>
          <c:txPr>
            <a:bodyPr/>
            <a:lstStyle/>
            <a:p>
              <a:pPr>
                <a:defRPr b="0" i="0" strike="noStrike" sz="1100" u="none">
                  <a:solidFill>
                    <a:srgbClr val="1B2236"/>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236"/>
                </a:solidFill>
                <a:latin typeface="Arial"/>
              </a:defRPr>
            </a:pPr>
            <a:endParaRPr lang="en-US"/>
          </a:p>
        </c:txPr>
        <c:crossAx val="2094734552"/>
        <c:crosses val="autoZero"/>
        <c:auto val="1"/>
        <c:lblAlgn val="ctr"/>
        <c:noMultiLvlLbl val="1"/>
      </c:catAx>
      <c:valAx>
        <c:axId val="2094734552"/>
        <c:scaling>
          <c:orientation val="minMax"/>
          <c:max val="0.46"/>
          <c:min val="0.25"/>
        </c:scaling>
        <c:delete val="0"/>
        <c:axPos val="l"/>
        <c:majorGridlines>
          <c:spPr>
            <a:ln w="12700" cap="flat">
              <a:solidFill>
                <a:srgbClr val="E4E9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748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معرفی: پروژه تبدیل یک سامانه تشخیص ناهنجاری دودویی به سامانه چهارده‌کلاسه است. عدد نهایی ماکرو F1 برابر 0.4298 در برابر خط پایه 0.2975.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تفاوت کلیدی: بیشتر پژوهش‌ها مسئله را دودویی تعریف می‌کنند. ما یک گام جلوتر رفتیم.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نامتوازنی هم آموزش را دشوار می‌کند و هم ارزیابی را نوفه‌آلود. این نکته در تفسیر همه اعداد برمی‌گردد.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توزیع استاندارد UCF-Crime است و جمعش دقیقا 1610 می‌شود. پیش از جلسه اعداد را از فایل تقسیم خودتان تایید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مهم: پیش از جلسه اعداد دقیق هر کلاس را از فایل‌های تقسیم خودتان چاپ کنید. ستون دوم از گزارش آزمایش‌ها بازسازی شده و ستون سوم تقریبی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نظارت ضعیف یک معامله است: داده بیشتر با کیفیت برچسب کمتر. MIL چارچوب استانداردی است که با آن کار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اول روی کد UMIL بنا شد. ماکرو F1 از 0.3327 به 0.3881 رسید.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کلیدی: در X-CLIP، وزن‌های طبقه‌بند از متن ساخته می‌شوند. این همان جایی است که بعدا سقف پیدا 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سه اصلاح مقدم بر هر ایده جدیدی بود. بدون آن‌ها هیچ اندازه‌گیری قابل اعتماد نبود.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اصلاح، ریشه‌ای‌ترین تغییر در ارزیابی بود. مدل درست کار می‌کرد و مرحله تجمیع نتیجه را نابود می‌کرد.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صادقانه: با وجود ۹ پیش‌بینی، هنوز هیچ‌کدام درست نبود. مشکل دوم بصری بود، نه وزنی.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اصطلاحات حقوقی انتزاعی در فضای زبانی خوشه می‌شوند؛ توصیف آنچه دوربین می‌بیند نه. این مهم‌ترین کشف مسیر اول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اول به 0.3881 رسید. دو دیوار باقی ماند: هزینه آزمایش و ماهیت مکانی خطای خوشه دزدی.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مسیر دوم از صفر نوشته شد. ماکرو F1 از 0.2975 به 0.4298 رسید.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پوشاندن لوله‌ای است: اگر جایی پوشانده شود، در همه فریم‌ها پوشانده می‌شود، تا مدل از فریم بغلی کپی نکند.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تصمیم خودش نتیجه را بهتر نکرد. اجازه داد بقیه چیزها را پیدا کنیم. با ۱۶ ساعت، هیچ‌کدام از یافته‌های بعدی ممکن نبود.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ویدیوی ۴۰ مگابایتی به آرایه ۶۴ کیلوبایتی تبدیل می‌شود. این فشرده‌سازی، کل معماری را ممکن کرده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تغییر از تحلیل خطا آمد، نه از جستجوی ابرپارامتر. تعبیه جایگاهی لازم است چون خودتوجهی نسبت به جایگشت هم‌ارز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 بازه هیچ همپوشانی ندارند. بدترین بذر ViT-L از بهترین بذر ViT-B بالاتر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ترکیب روی هر سه معیار بهترین یا هم‌ارز بهترین است. سه ترکیب مقایسه شد، پس تورم انتخاب حدود ۰٫۰۵ است؛ دفاع مکانیزمی است نه آماری.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 گام از شش گام بیشترین سهم را داشتند: توجه زمانی و ارتقای رمزگذار. هر دو از تحلیل خطا آمدند.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گزارش نتایج منفی بخشی از نتیجه است، نه حاشیه آن. هر کدام یک فرضیه معقول را رد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تحلیل تفسیر کل پروژه را عوض کرد. ارتقای رمزگذار از کف نوفه عبور می‌کند؛ بقیه بهبودها با احتیاط گزارش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جدول کامل نتایج هر دو مسیر است. عدد قابل دفاع نهایی 0.4298 با بودجه ثابت و بدون انتخاب روی مجموعه آزمون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پایان. سوال‌های محتمل: چرا رمزگذار را تنظیم دقیق نکردید، چرا عدد از مقالات پیشرفته پایین‌تر است، و از کجا معلوم آستانه روی تست تنظیم نشده.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8503920" y="-1463040"/>
            <a:ext cx="5669280" cy="5669280"/>
          </a:xfrm>
          <a:prstGeom prst="ellipse">
            <a:avLst/>
          </a:prstGeom>
          <a:solidFill>
            <a:srgbClr val="1E3566"/>
          </a:solidFill>
          <a:ln w="12700">
            <a:solidFill>
              <a:srgbClr val="333333"/>
            </a:solidFill>
            <a:prstDash val="solid"/>
          </a:ln>
        </p:spPr>
      </p:sp>
      <p:sp>
        <p:nvSpPr>
          <p:cNvPr id="3" name="Shape 1"/>
          <p:cNvSpPr/>
          <p:nvPr/>
        </p:nvSpPr>
        <p:spPr>
          <a:xfrm>
            <a:off x="9966960" y="3291840"/>
            <a:ext cx="3291840" cy="3291840"/>
          </a:xfrm>
          <a:prstGeom prst="ellipse">
            <a:avLst/>
          </a:prstGeom>
          <a:solidFill>
            <a:srgbClr val="24427D"/>
          </a:solidFill>
          <a:ln w="12700">
            <a:solidFill>
              <a:srgbClr val="333333"/>
            </a:solidFill>
            <a:prstDash val="solid"/>
          </a:ln>
        </p:spPr>
      </p:sp>
      <p:sp>
        <p:nvSpPr>
          <p:cNvPr id="4" name="Text 2"/>
          <p:cNvSpPr txBox="1"/>
          <p:nvPr/>
        </p:nvSpPr>
        <p:spPr>
          <a:xfrm>
            <a:off x="731520" y="1371600"/>
            <a:ext cx="7680960" cy="365760"/>
          </a:xfrm>
          <a:prstGeom prst="rect">
            <a:avLst/>
          </a:prstGeom>
          <a:noFill/>
          <a:ln/>
        </p:spPr>
        <p:txBody>
          <a:bodyPr wrap="square" lIns="0" tIns="0" rIns="0" bIns="0" rtlCol="0" anchor="t"/>
          <a:lstStyle/>
          <a:p>
            <a:pPr rtl="1" algn="r" indent="0" marL="0">
              <a:buNone/>
            </a:pPr>
            <a:r>
              <a:rPr lang="en-US" sz="1400" b="1" dirty="0">
                <a:solidFill>
                  <a:srgbClr val="E8A33D"/>
                </a:solidFill>
                <a:latin typeface="Arial" pitchFamily="34" charset="0"/>
                <a:ea typeface="Arial" pitchFamily="34" charset="-122"/>
                <a:cs typeface="Arial" pitchFamily="34" charset="-120"/>
              </a:rPr>
              <a:t>پایان‌نامه کارشناسی مهندسی کامپیوتر</a:t>
            </a:r>
            <a:endParaRPr lang="en-US" sz="1400" dirty="0"/>
          </a:p>
        </p:txBody>
      </p:sp>
      <p:sp>
        <p:nvSpPr>
          <p:cNvPr id="5" name="Text 3"/>
          <p:cNvSpPr txBox="1"/>
          <p:nvPr/>
        </p:nvSpPr>
        <p:spPr>
          <a:xfrm>
            <a:off x="731520" y="1874520"/>
            <a:ext cx="7680960" cy="1737360"/>
          </a:xfrm>
          <a:prstGeom prst="rect">
            <a:avLst/>
          </a:prstGeom>
          <a:noFill/>
          <a:ln/>
        </p:spPr>
        <p:txBody>
          <a:bodyPr wrap="square" lIns="0" tIns="0" rIns="0" bIns="0" rtlCol="0" anchor="t"/>
          <a:lstStyle/>
          <a:p>
            <a:pPr rtl="1" algn="r" indent="0" marL="0">
              <a:lnSpc>
                <a:spcPts val="4800"/>
              </a:lnSpc>
              <a:buNone/>
            </a:pPr>
            <a:r>
              <a:rPr lang="en-US" sz="4000" b="1" dirty="0">
                <a:solidFill>
                  <a:srgbClr val="FFFFFF"/>
                </a:solidFill>
                <a:latin typeface="Arial" pitchFamily="34" charset="0"/>
                <a:ea typeface="Arial" pitchFamily="34" charset="-122"/>
                <a:cs typeface="Arial" pitchFamily="34" charset="-120"/>
              </a:rPr>
              <a:t>تشخیص نوع ناهنجاری</a:t>
            </a:r>
            <a:endParaRPr lang="en-US" sz="4000" dirty="0"/>
          </a:p>
          <a:p>
            <a:pPr rtl="1" algn="r" indent="0" marL="0">
              <a:lnSpc>
                <a:spcPts val="4800"/>
              </a:lnSpc>
              <a:buNone/>
            </a:pPr>
            <a:r>
              <a:rPr lang="en-US" sz="4000" b="1" dirty="0">
                <a:solidFill>
                  <a:srgbClr val="FFFFFF"/>
                </a:solidFill>
                <a:latin typeface="Arial" pitchFamily="34" charset="0"/>
                <a:ea typeface="Arial" pitchFamily="34" charset="-122"/>
                <a:cs typeface="Arial" pitchFamily="34" charset="-120"/>
              </a:rPr>
              <a:t>در ویدیوهای نظارتی</a:t>
            </a:r>
            <a:endParaRPr lang="en-US" sz="4000" dirty="0"/>
          </a:p>
        </p:txBody>
      </p:sp>
      <p:sp>
        <p:nvSpPr>
          <p:cNvPr id="6" name="Text 4"/>
          <p:cNvSpPr txBox="1"/>
          <p:nvPr/>
        </p:nvSpPr>
        <p:spPr>
          <a:xfrm>
            <a:off x="731520" y="3703320"/>
            <a:ext cx="7680960" cy="457200"/>
          </a:xfrm>
          <a:prstGeom prst="rect">
            <a:avLst/>
          </a:prstGeom>
          <a:noFill/>
          <a:ln/>
        </p:spPr>
        <p:txBody>
          <a:bodyPr wrap="square" lIns="0" tIns="0" rIns="0" bIns="0" rtlCol="0" anchor="t"/>
          <a:lstStyle/>
          <a:p>
            <a:pPr rtl="1" algn="r" indent="0" marL="0">
              <a:buNone/>
            </a:pPr>
            <a:r>
              <a:rPr lang="en-US" sz="1600" dirty="0">
                <a:solidFill>
                  <a:srgbClr val="BFD4F2"/>
                </a:solidFill>
                <a:latin typeface="Arial" pitchFamily="34" charset="0"/>
                <a:ea typeface="Arial" pitchFamily="34" charset="-122"/>
                <a:cs typeface="Arial" pitchFamily="34" charset="-120"/>
              </a:rPr>
              <a:t>یادگیری چندنمونه‌ای ضعیف‌نظارت با ستون فقرات ترنسفورمر ویدیویی</a:t>
            </a:r>
            <a:endParaRPr lang="en-US" sz="1600" dirty="0"/>
          </a:p>
        </p:txBody>
      </p:sp>
      <p:sp>
        <p:nvSpPr>
          <p:cNvPr id="7" name="Text 5"/>
          <p:cNvSpPr txBox="1"/>
          <p:nvPr/>
        </p:nvSpPr>
        <p:spPr>
          <a:xfrm>
            <a:off x="731520" y="4709160"/>
            <a:ext cx="2743200" cy="274320"/>
          </a:xfrm>
          <a:prstGeom prst="rect">
            <a:avLst/>
          </a:prstGeom>
          <a:noFill/>
          <a:ln/>
        </p:spPr>
        <p:txBody>
          <a:bodyPr wrap="square" lIns="0" tIns="0" rIns="0" bIns="0" rtlCol="0" anchor="t"/>
          <a:lstStyle/>
          <a:p>
            <a:pPr rtl="1" algn="r" indent="0" marL="0">
              <a:buNone/>
            </a:pPr>
            <a:r>
              <a:rPr lang="en-US" sz="1200" dirty="0">
                <a:solidFill>
                  <a:srgbClr val="BFD4F2"/>
                </a:solidFill>
                <a:latin typeface="Arial" pitchFamily="34" charset="0"/>
                <a:ea typeface="Arial" pitchFamily="34" charset="-122"/>
                <a:cs typeface="Arial" pitchFamily="34" charset="-120"/>
              </a:rPr>
              <a:t>ماکرو F1 نهایی</a:t>
            </a:r>
            <a:endParaRPr lang="en-US" sz="1200" dirty="0"/>
          </a:p>
        </p:txBody>
      </p:sp>
      <p:sp>
        <p:nvSpPr>
          <p:cNvPr id="8" name="Text 6"/>
          <p:cNvSpPr txBox="1"/>
          <p:nvPr/>
        </p:nvSpPr>
        <p:spPr>
          <a:xfrm>
            <a:off x="731520" y="4983480"/>
            <a:ext cx="2743200" cy="731520"/>
          </a:xfrm>
          <a:prstGeom prst="rect">
            <a:avLst/>
          </a:prstGeom>
          <a:noFill/>
          <a:ln/>
        </p:spPr>
        <p:txBody>
          <a:bodyPr wrap="square" lIns="0" tIns="0" rIns="0" bIns="0" rtlCol="0" anchor="t"/>
          <a:lstStyle/>
          <a:p>
            <a:pPr algn="l" indent="0" marL="0">
              <a:buNone/>
            </a:pPr>
            <a:r>
              <a:rPr lang="en-US" sz="4200" b="1" dirty="0">
                <a:solidFill>
                  <a:srgbClr val="E8A33D"/>
                </a:solidFill>
                <a:latin typeface="Arial" pitchFamily="34" charset="0"/>
                <a:ea typeface="Arial" pitchFamily="34" charset="-122"/>
                <a:cs typeface="Arial" pitchFamily="34" charset="-120"/>
              </a:rPr>
              <a:t>0.4298</a:t>
            </a:r>
            <a:endParaRPr lang="en-US" sz="4200" dirty="0"/>
          </a:p>
        </p:txBody>
      </p:sp>
      <p:sp>
        <p:nvSpPr>
          <p:cNvPr id="9" name="Text 7"/>
          <p:cNvSpPr txBox="1"/>
          <p:nvPr/>
        </p:nvSpPr>
        <p:spPr>
          <a:xfrm>
            <a:off x="3657600" y="5230368"/>
            <a:ext cx="2926080" cy="365760"/>
          </a:xfrm>
          <a:prstGeom prst="rect">
            <a:avLst/>
          </a:prstGeom>
          <a:noFill/>
          <a:ln/>
        </p:spPr>
        <p:txBody>
          <a:bodyPr wrap="square" lIns="0" tIns="0" rIns="0" bIns="0" rtlCol="0" anchor="t"/>
          <a:lstStyle/>
          <a:p>
            <a:pPr rtl="1" algn="r" indent="0" marL="0">
              <a:buNone/>
            </a:pPr>
            <a:r>
              <a:rPr lang="en-US" sz="1300" dirty="0">
                <a:solidFill>
                  <a:srgbClr val="BFD4F2"/>
                </a:solidFill>
                <a:latin typeface="Arial" pitchFamily="34" charset="0"/>
                <a:ea typeface="Arial" pitchFamily="34" charset="-122"/>
                <a:cs typeface="Arial" pitchFamily="34" charset="-120"/>
              </a:rPr>
              <a:t>از خط پایه 0.2975</a:t>
            </a:r>
            <a:endParaRPr lang="en-US" sz="1300" dirty="0"/>
          </a:p>
        </p:txBody>
      </p:sp>
      <p:sp>
        <p:nvSpPr>
          <p:cNvPr id="10" name="Text 8"/>
          <p:cNvSpPr txBox="1"/>
          <p:nvPr/>
        </p:nvSpPr>
        <p:spPr>
          <a:xfrm>
            <a:off x="731520" y="6035040"/>
            <a:ext cx="7680960" cy="320040"/>
          </a:xfrm>
          <a:prstGeom prst="rect">
            <a:avLst/>
          </a:prstGeom>
          <a:noFill/>
          <a:ln/>
        </p:spPr>
        <p:txBody>
          <a:bodyPr wrap="square" lIns="0" tIns="0" rIns="0" bIns="0" rtlCol="0" anchor="t"/>
          <a:lstStyle/>
          <a:p>
            <a:pPr rtl="1" algn="r" indent="0" marL="0">
              <a:buNone/>
            </a:pPr>
            <a:r>
              <a:rPr lang="en-US" sz="1200" dirty="0">
                <a:solidFill>
                  <a:srgbClr val="8FA6D4"/>
                </a:solidFill>
                <a:latin typeface="Arial" pitchFamily="34" charset="0"/>
                <a:ea typeface="Arial" pitchFamily="34" charset="-122"/>
                <a:cs typeface="Arial" pitchFamily="34" charset="-120"/>
              </a:rPr>
              <a:t>دانشگاه صنعتی همدان  ·  گروه مهندسی کامپیوتر</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فصل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صورت مسئله</a:t>
            </a:r>
            <a:endParaRPr lang="en-US" sz="3000" dirty="0"/>
          </a:p>
        </p:txBody>
      </p:sp>
      <p:sp>
        <p:nvSpPr>
          <p:cNvPr id="4" name="Shape 2"/>
          <p:cNvSpPr/>
          <p:nvPr/>
        </p:nvSpPr>
        <p:spPr>
          <a:xfrm>
            <a:off x="548640" y="1600200"/>
            <a:ext cx="5394960" cy="1920240"/>
          </a:xfrm>
          <a:prstGeom prst="roundRect">
            <a:avLst>
              <a:gd name="adj" fmla="val 4762"/>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783080"/>
            <a:ext cx="4754880" cy="365760"/>
          </a:xfrm>
          <a:prstGeom prst="rect">
            <a:avLst/>
          </a:prstGeom>
          <a:noFill/>
          <a:ln/>
        </p:spPr>
        <p:txBody>
          <a:bodyPr wrap="square" lIns="0" tIns="0" rIns="0" bIns="0" rtlCol="0" anchor="t"/>
          <a:lstStyle/>
          <a:p>
            <a:pPr rtl="1" algn="r" indent="0" marL="0">
              <a:buNone/>
            </a:pPr>
            <a:r>
              <a:rPr lang="en-US" sz="1700" b="1" dirty="0">
                <a:solidFill>
                  <a:srgbClr val="6A748C"/>
                </a:solidFill>
                <a:latin typeface="Arial" pitchFamily="34" charset="0"/>
                <a:ea typeface="Arial" pitchFamily="34" charset="-122"/>
                <a:cs typeface="Arial" pitchFamily="34" charset="-120"/>
              </a:rPr>
              <a:t>مسئله متداول: تشخیص ناهنجاری</a:t>
            </a:r>
            <a:endParaRPr lang="en-US" sz="1700" dirty="0"/>
          </a:p>
        </p:txBody>
      </p:sp>
      <p:sp>
        <p:nvSpPr>
          <p:cNvPr id="6" name="Text 4"/>
          <p:cNvSpPr txBox="1"/>
          <p:nvPr/>
        </p:nvSpPr>
        <p:spPr>
          <a:xfrm>
            <a:off x="868680" y="2240280"/>
            <a:ext cx="4754880" cy="914400"/>
          </a:xfrm>
          <a:prstGeom prst="rect">
            <a:avLst/>
          </a:prstGeom>
          <a:noFill/>
          <a:ln/>
        </p:spPr>
        <p:txBody>
          <a:bodyPr wrap="square" lIns="0" tIns="0" rIns="0" bIns="0" rtlCol="0" anchor="t"/>
          <a:lstStyle/>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آیا این ویدیو ناهنجار است؟</a:t>
            </a:r>
            <a:endParaRPr lang="en-US" sz="1500" dirty="0"/>
          </a:p>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جواب: بله یا خیر</a:t>
            </a:r>
            <a:endParaRPr lang="en-US" sz="1500" dirty="0"/>
          </a:p>
        </p:txBody>
      </p:sp>
      <p:sp>
        <p:nvSpPr>
          <p:cNvPr id="7" name="Shape 5"/>
          <p:cNvSpPr/>
          <p:nvPr/>
        </p:nvSpPr>
        <p:spPr>
          <a:xfrm>
            <a:off x="6217920" y="1600200"/>
            <a:ext cx="5394960" cy="1920240"/>
          </a:xfrm>
          <a:prstGeom prst="roundRect">
            <a:avLst>
              <a:gd name="adj" fmla="val 4762"/>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7830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مسئله ما: تشخیص نوع ناهنجاری</a:t>
            </a:r>
            <a:endParaRPr lang="en-US" sz="1700" dirty="0"/>
          </a:p>
        </p:txBody>
      </p:sp>
      <p:sp>
        <p:nvSpPr>
          <p:cNvPr id="9" name="Text 7"/>
          <p:cNvSpPr txBox="1"/>
          <p:nvPr/>
        </p:nvSpPr>
        <p:spPr>
          <a:xfrm>
            <a:off x="6537960" y="2240280"/>
            <a:ext cx="4754880" cy="914400"/>
          </a:xfrm>
          <a:prstGeom prst="rect">
            <a:avLst/>
          </a:prstGeom>
          <a:noFill/>
          <a:ln/>
        </p:spPr>
        <p:txBody>
          <a:bodyPr wrap="square" lIns="0" tIns="0" rIns="0" bIns="0" rtlCol="0" anchor="t"/>
          <a:lstStyle/>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کدام نوع ناهنجاری رخ داده؟</a:t>
            </a:r>
            <a:endParaRPr lang="en-US" sz="1500" dirty="0"/>
          </a:p>
          <a:p>
            <a:pPr rtl="1" algn="r" indent="0" marL="0">
              <a:lnSpc>
                <a:spcPts val="2400"/>
              </a:lnSpc>
              <a:buNone/>
            </a:pPr>
            <a:r>
              <a:rPr lang="en-US" sz="1500" dirty="0">
                <a:solidFill>
                  <a:srgbClr val="1B2236"/>
                </a:solidFill>
                <a:latin typeface="Arial" pitchFamily="34" charset="0"/>
                <a:ea typeface="Arial" pitchFamily="34" charset="-122"/>
                <a:cs typeface="Arial" pitchFamily="34" charset="-120"/>
              </a:rPr>
              <a:t>جواب: یکی از ۱۴ کلاس</a:t>
            </a:r>
            <a:endParaRPr lang="en-US" sz="1500" dirty="0"/>
          </a:p>
        </p:txBody>
      </p:sp>
      <p:sp>
        <p:nvSpPr>
          <p:cNvPr id="10" name="Text 8"/>
          <p:cNvSpPr txBox="1"/>
          <p:nvPr/>
        </p:nvSpPr>
        <p:spPr>
          <a:xfrm>
            <a:off x="548640" y="3794760"/>
            <a:ext cx="11064240" cy="365760"/>
          </a:xfrm>
          <a:prstGeom prst="rect">
            <a:avLst/>
          </a:prstGeom>
          <a:noFill/>
          <a:ln/>
        </p:spPr>
        <p:txBody>
          <a:bodyPr wrap="square" lIns="0" tIns="0" rIns="0" bIns="0" rtlCol="0" anchor="t"/>
          <a:lstStyle/>
          <a:p>
            <a:pPr rtl="1" algn="r" indent="0" marL="0">
              <a:buNone/>
            </a:pPr>
            <a:r>
              <a:rPr lang="en-US" sz="1800" b="1" dirty="0">
                <a:solidFill>
                  <a:srgbClr val="16264F"/>
                </a:solidFill>
                <a:latin typeface="Arial" pitchFamily="34" charset="0"/>
                <a:ea typeface="Arial" pitchFamily="34" charset="-122"/>
                <a:cs typeface="Arial" pitchFamily="34" charset="-120"/>
              </a:rPr>
              <a:t>چرا این تفاوت مهم است</a:t>
            </a:r>
            <a:endParaRPr lang="en-US" sz="1800" dirty="0"/>
          </a:p>
        </p:txBody>
      </p:sp>
      <p:sp>
        <p:nvSpPr>
          <p:cNvPr id="11" name="Text 9"/>
          <p:cNvSpPr txBox="1"/>
          <p:nvPr/>
        </p:nvSpPr>
        <p:spPr>
          <a:xfrm>
            <a:off x="548640" y="4251960"/>
            <a:ext cx="11064240" cy="1463040"/>
          </a:xfrm>
          <a:prstGeom prst="rect">
            <a:avLst/>
          </a:prstGeom>
          <a:noFill/>
          <a:ln/>
        </p:spPr>
        <p:txBody>
          <a:bodyPr wrap="square" lIns="0" tIns="0" rIns="0" bIns="0" rtlCol="0" anchor="t"/>
          <a:lstStyle/>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پاسخ عملیاتی به تصادف رانندگی، آمبولانس است؛ به سرقت مسلحانه، نیروی مسلح.</a:t>
            </a:r>
            <a:endParaRPr lang="en-US" sz="1400" dirty="0"/>
          </a:p>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یک هشدار خام «ناهنجاری رخ داد» برای اپراتور قابل اقدام نیست.</a:t>
            </a:r>
            <a:endParaRPr lang="en-US" sz="1400" dirty="0"/>
          </a:p>
          <a:p>
            <a:pPr algn="r" indent="0" marL="0">
              <a:lnSpc>
                <a:spcPts val="2200"/>
              </a:lnSpc>
              <a:spcAft>
                <a:spcPts val="700"/>
              </a:spcAft>
              <a:buNone/>
            </a:pPr>
            <a:r>
              <a:rPr lang="en-US" sz="1400" dirty="0">
                <a:solidFill>
                  <a:srgbClr val="1B2236"/>
                </a:solidFill>
                <a:latin typeface="Arial" pitchFamily="34" charset="0"/>
                <a:ea typeface="Arial" pitchFamily="34" charset="-122"/>
                <a:cs typeface="Arial" pitchFamily="34" charset="-120"/>
              </a:rPr>
              <a:t>●  از نظر دشواری، مسئله چهارده‌کلاسه با نسخه دودویی قابل مقایسه نیست.</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مجموعه داده UCF-Crime</a:t>
            </a:r>
            <a:endParaRPr lang="en-US" sz="3000" dirty="0"/>
          </a:p>
        </p:txBody>
      </p:sp>
      <p:sp>
        <p:nvSpPr>
          <p:cNvPr id="4" name="Text 2"/>
          <p:cNvSpPr txBox="1"/>
          <p:nvPr/>
        </p:nvSpPr>
        <p:spPr>
          <a:xfrm>
            <a:off x="548640" y="1645920"/>
            <a:ext cx="26517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1900</a:t>
            </a:r>
            <a:endParaRPr lang="en-US" sz="4000" dirty="0"/>
          </a:p>
        </p:txBody>
      </p:sp>
      <p:sp>
        <p:nvSpPr>
          <p:cNvPr id="5" name="Text 3"/>
          <p:cNvSpPr txBox="1"/>
          <p:nvPr/>
        </p:nvSpPr>
        <p:spPr>
          <a:xfrm>
            <a:off x="54864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ویدیوها</a:t>
            </a:r>
            <a:endParaRPr lang="en-US" sz="1200" dirty="0"/>
          </a:p>
        </p:txBody>
      </p:sp>
      <p:sp>
        <p:nvSpPr>
          <p:cNvPr id="6" name="Text 4"/>
          <p:cNvSpPr txBox="1"/>
          <p:nvPr/>
        </p:nvSpPr>
        <p:spPr>
          <a:xfrm>
            <a:off x="3383280" y="1645920"/>
            <a:ext cx="26517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14</a:t>
            </a:r>
            <a:endParaRPr lang="en-US" sz="4000" dirty="0"/>
          </a:p>
        </p:txBody>
      </p:sp>
      <p:sp>
        <p:nvSpPr>
          <p:cNvPr id="7" name="Text 5"/>
          <p:cNvSpPr txBox="1"/>
          <p:nvPr/>
        </p:nvSpPr>
        <p:spPr>
          <a:xfrm>
            <a:off x="338328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کلاس</a:t>
            </a:r>
            <a:endParaRPr lang="en-US" sz="1200" dirty="0"/>
          </a:p>
        </p:txBody>
      </p:sp>
      <p:sp>
        <p:nvSpPr>
          <p:cNvPr id="8" name="Text 6"/>
          <p:cNvSpPr txBox="1"/>
          <p:nvPr/>
        </p:nvSpPr>
        <p:spPr>
          <a:xfrm>
            <a:off x="6217920" y="1645920"/>
            <a:ext cx="26517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1895</a:t>
            </a:r>
            <a:endParaRPr lang="en-US" sz="4000" dirty="0"/>
          </a:p>
        </p:txBody>
      </p:sp>
      <p:sp>
        <p:nvSpPr>
          <p:cNvPr id="9" name="Text 7"/>
          <p:cNvSpPr txBox="1"/>
          <p:nvPr/>
        </p:nvSpPr>
        <p:spPr>
          <a:xfrm>
            <a:off x="621792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رمزگشایی موفق</a:t>
            </a:r>
            <a:endParaRPr lang="en-US" sz="1200" dirty="0"/>
          </a:p>
        </p:txBody>
      </p:sp>
      <p:sp>
        <p:nvSpPr>
          <p:cNvPr id="10" name="Text 8"/>
          <p:cNvSpPr txBox="1"/>
          <p:nvPr/>
        </p:nvSpPr>
        <p:spPr>
          <a:xfrm>
            <a:off x="9052560" y="1645920"/>
            <a:ext cx="2651760" cy="777240"/>
          </a:xfrm>
          <a:prstGeom prst="rect">
            <a:avLst/>
          </a:prstGeom>
          <a:noFill/>
          <a:ln/>
        </p:spPr>
        <p:txBody>
          <a:bodyPr wrap="square" lIns="0" tIns="0" rIns="0" bIns="0" rtlCol="0" anchor="ctr"/>
          <a:lstStyle/>
          <a:p>
            <a:pPr algn="ctr" indent="0" marL="0">
              <a:buNone/>
            </a:pPr>
            <a:r>
              <a:rPr lang="en-US" sz="4000" b="1" dirty="0">
                <a:solidFill>
                  <a:srgbClr val="C9483B"/>
                </a:solidFill>
                <a:latin typeface="Arial" pitchFamily="34" charset="0"/>
                <a:ea typeface="Arial" pitchFamily="34" charset="-122"/>
                <a:cs typeface="Arial" pitchFamily="34" charset="-120"/>
              </a:rPr>
              <a:t>5</a:t>
            </a:r>
            <a:endParaRPr lang="en-US" sz="4000" dirty="0"/>
          </a:p>
        </p:txBody>
      </p:sp>
      <p:sp>
        <p:nvSpPr>
          <p:cNvPr id="11" name="Text 9"/>
          <p:cNvSpPr txBox="1"/>
          <p:nvPr/>
        </p:nvSpPr>
        <p:spPr>
          <a:xfrm>
            <a:off x="9052560" y="2395728"/>
            <a:ext cx="26517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فایل خراب</a:t>
            </a:r>
            <a:endParaRPr lang="en-US" sz="1200" dirty="0"/>
          </a:p>
        </p:txBody>
      </p:sp>
      <p:sp>
        <p:nvSpPr>
          <p:cNvPr id="12" name="Shape 10"/>
          <p:cNvSpPr/>
          <p:nvPr/>
        </p:nvSpPr>
        <p:spPr>
          <a:xfrm>
            <a:off x="548640" y="3200400"/>
            <a:ext cx="5394960" cy="2926080"/>
          </a:xfrm>
          <a:prstGeom prst="roundRect">
            <a:avLst>
              <a:gd name="adj" fmla="val 3125"/>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1"/>
          <p:cNvSpPr txBox="1"/>
          <p:nvPr/>
        </p:nvSpPr>
        <p:spPr>
          <a:xfrm>
            <a:off x="868680" y="3383280"/>
            <a:ext cx="475488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ویژگی‌های داده</a:t>
            </a:r>
            <a:endParaRPr lang="en-US" sz="1700" dirty="0"/>
          </a:p>
        </p:txBody>
      </p:sp>
      <p:sp>
        <p:nvSpPr>
          <p:cNvPr id="14" name="Text 12"/>
          <p:cNvSpPr txBox="1"/>
          <p:nvPr/>
        </p:nvSpPr>
        <p:spPr>
          <a:xfrm>
            <a:off x="868680" y="3840480"/>
            <a:ext cx="4754880" cy="182880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ویدیوی واقعی دوربین مداربسته، نه صحنه‌پردازی</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وضوح پایین، نور ضعیف، زاویه نامناسب</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مدت‌زمان از چند ثانیه تا چند دقیقه</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برچسب فقط در سطح کل ویدیو</a:t>
            </a:r>
            <a:endParaRPr lang="en-US" sz="1300" dirty="0"/>
          </a:p>
        </p:txBody>
      </p:sp>
      <p:sp>
        <p:nvSpPr>
          <p:cNvPr id="15" name="Shape 13"/>
          <p:cNvSpPr/>
          <p:nvPr/>
        </p:nvSpPr>
        <p:spPr>
          <a:xfrm>
            <a:off x="6217920" y="3200400"/>
            <a:ext cx="5394960" cy="2926080"/>
          </a:xfrm>
          <a:prstGeom prst="roundRect">
            <a:avLst>
              <a:gd name="adj" fmla="val 3125"/>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6" name="Text 14"/>
          <p:cNvSpPr txBox="1"/>
          <p:nvPr/>
        </p:nvSpPr>
        <p:spPr>
          <a:xfrm>
            <a:off x="6537960" y="33832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چالش اصلی: نامتوازنی شدید</a:t>
            </a:r>
            <a:endParaRPr lang="en-US" sz="1700" dirty="0"/>
          </a:p>
        </p:txBody>
      </p:sp>
      <p:sp>
        <p:nvSpPr>
          <p:cNvPr id="17" name="Text 15"/>
          <p:cNvSpPr txBox="1"/>
          <p:nvPr/>
        </p:nvSpPr>
        <p:spPr>
          <a:xfrm>
            <a:off x="6537960" y="3840480"/>
            <a:ext cx="4754880" cy="182880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عادی حدود نیمی از داده آموزش است</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تیراندازی کمتر از دو درصد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در آزمون، نه کلاس تنها هشت ویدیو دارند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کلاس Abuse تنها دو ویدیوی آزمون دارد</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تقسیم 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تعداد ویدیو در هر کلاس — مجموعه آموزش</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394960" cy="914400"/>
        </p:xfrm>
        <a:graphic>
          <a:graphicData uri="http://schemas.openxmlformats.org/drawingml/2006/table">
            <a:tbl>
              <a:tblPr/>
              <a:tblGrid>
                <a:gridCol w="3749040"/>
                <a:gridCol w="164592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ویدیو</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Normal — عادی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800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Robbery — سرقت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RoadAccidents — تصادف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Stealing — دزدی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95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Burglary — سرقت از منزل</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Abuse — سوءاستفاده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Assault — تعرض</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17920" y="1600200"/>
          <a:ext cx="5394960" cy="914400"/>
        </p:xfrm>
        <a:graphic>
          <a:graphicData uri="http://schemas.openxmlformats.org/drawingml/2006/table">
            <a:tbl>
              <a:tblPr/>
              <a:tblGrid>
                <a:gridCol w="3749040"/>
                <a:gridCol w="164592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ویدیو</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Arrest — بازداشت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Fighting — درگیری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Vandalism — تخریب</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Arson — آتش‌افروزی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Explosion — انفجار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Shoplifting — دزدی از مغازه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10896">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Shooting — تیراندازی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6" name="Shape 2"/>
          <p:cNvSpPr/>
          <p:nvPr/>
        </p:nvSpPr>
        <p:spPr>
          <a:xfrm>
            <a:off x="548640" y="4709160"/>
            <a:ext cx="1106424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3"/>
          <p:cNvSpPr txBox="1"/>
          <p:nvPr/>
        </p:nvSpPr>
        <p:spPr>
          <a:xfrm>
            <a:off x="868680" y="4892040"/>
            <a:ext cx="1042416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جمع: ۱۶۱۰ ویدیوی آموزش  ·  ۸۰۰ عادی و ۸۱۰ ناهنجار</a:t>
            </a:r>
            <a:endParaRPr lang="en-US" sz="1600" dirty="0"/>
          </a:p>
        </p:txBody>
      </p:sp>
      <p:sp>
        <p:nvSpPr>
          <p:cNvPr id="8" name="Text 4"/>
          <p:cNvSpPr txBox="1"/>
          <p:nvPr/>
        </p:nvSpPr>
        <p:spPr>
          <a:xfrm>
            <a:off x="868680" y="5303520"/>
            <a:ext cx="10424160" cy="64008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نسبت پرتکرارترین به کم‌تکرارترین کلاس ناهنجار حدود ۵ به ۱ است و نسبت کلاس عادی به کمیاب‌ترین کلاس حدود ۳۰ به ۱. همین نسبت است که وزن‌دهی معکوس فراوانی را ضروری می‌کند.</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تقسیم داده</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تعداد ویدیو در هر کلاس — مجموعه آزمون</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6766560" cy="914400"/>
        </p:xfrm>
        <a:graphic>
          <a:graphicData uri="http://schemas.openxmlformats.org/drawingml/2006/table">
            <a:tbl>
              <a:tblPr/>
              <a:tblGrid>
                <a:gridCol w="3291840"/>
                <a:gridCol w="1737360"/>
                <a:gridCol w="1737360"/>
              </a:tblGrid>
              <a:tr h="246888">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کلاس</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تقسیم استاندارد</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تقسیم مسیر اول</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Normal — عادی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148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RoadAccidents — تصادف رانندگی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Shooting — تیراندازی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Explosion — انفجار</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Shoplifting — دزدی از مغازه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Burglary — سرقت از منزل</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46888">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Arson — آتش‌افروزی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Arrest — بازداشت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Fighting — درگیری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Robbery — سرقت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23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Stealing — دزدی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Vandalism — تخریب اموال</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Abuse — سوءاستفاده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46888">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Assault — تعرض</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5358384"/>
            <a:ext cx="6766560" cy="365760"/>
          </a:xfrm>
          <a:prstGeom prst="rect">
            <a:avLst/>
          </a:prstGeom>
          <a:noFill/>
          <a:ln/>
        </p:spPr>
        <p:txBody>
          <a:bodyPr wrap="square" lIns="0" tIns="0" rIns="0" bIns="0" rtlCol="0" anchor="t"/>
          <a:lstStyle/>
          <a:p>
            <a:pPr rtl="1" algn="r" indent="0" marL="0">
              <a:lnSpc>
                <a:spcPts val="1600"/>
              </a:lnSpc>
              <a:buNone/>
            </a:pPr>
            <a:r>
              <a:rPr lang="en-US" sz="1100" dirty="0">
                <a:solidFill>
                  <a:srgbClr val="6A748C"/>
                </a:solidFill>
                <a:latin typeface="Arial" pitchFamily="34" charset="0"/>
                <a:ea typeface="Arial" pitchFamily="34" charset="-122"/>
                <a:cs typeface="Arial" pitchFamily="34" charset="-120"/>
              </a:rPr>
              <a:t>جمع ستون دوم ۲۹۰ و جمع ستون سوم ۲۹۶ است. ردیف‌های پررنگ، هفت کلاسی هستند که پنج ویدیوی آزمون یا کمتر دارند.</a:t>
            </a:r>
            <a:endParaRPr lang="en-US" sz="1100" dirty="0"/>
          </a:p>
        </p:txBody>
      </p:sp>
      <p:sp>
        <p:nvSpPr>
          <p:cNvPr id="6" name="Shape 3"/>
          <p:cNvSpPr/>
          <p:nvPr/>
        </p:nvSpPr>
        <p:spPr>
          <a:xfrm>
            <a:off x="7589520" y="1572768"/>
            <a:ext cx="4023360" cy="1783080"/>
          </a:xfrm>
          <a:prstGeom prst="roundRect">
            <a:avLst>
              <a:gd name="adj" fmla="val 512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863840" y="1737360"/>
            <a:ext cx="347472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دو تقسیم متفاوت</a:t>
            </a:r>
            <a:endParaRPr lang="en-US" sz="1500" dirty="0"/>
          </a:p>
        </p:txBody>
      </p:sp>
      <p:sp>
        <p:nvSpPr>
          <p:cNvPr id="8" name="Text 5"/>
          <p:cNvSpPr txBox="1"/>
          <p:nvPr/>
        </p:nvSpPr>
        <p:spPr>
          <a:xfrm>
            <a:off x="7863840" y="2103120"/>
            <a:ext cx="3474720" cy="1143000"/>
          </a:xfrm>
          <a:prstGeom prst="rect">
            <a:avLst/>
          </a:prstGeom>
          <a:noFill/>
          <a:ln/>
        </p:spPr>
        <p:txBody>
          <a:bodyPr wrap="square" lIns="0" tIns="0" rIns="0" bIns="0" rtlCol="0" anchor="t"/>
          <a:lstStyle/>
          <a:p>
            <a:pPr rtl="1" algn="r" indent="0" marL="0">
              <a:lnSpc>
                <a:spcPts val="1800"/>
              </a:lnSpc>
              <a:buNone/>
            </a:pPr>
            <a:r>
              <a:rPr lang="en-US" sz="1150" dirty="0">
                <a:solidFill>
                  <a:srgbClr val="1B2236"/>
                </a:solidFill>
                <a:latin typeface="Arial" pitchFamily="34" charset="0"/>
                <a:ea typeface="Arial" pitchFamily="34" charset="-122"/>
                <a:cs typeface="Arial" pitchFamily="34" charset="-120"/>
              </a:rPr>
              <a:t>مسیر X-CLIP روی تقسیمی با ۲۹۶ ویدیوی آزمون اجرا شد و مسیر VideoMAE روی تقسیم استاندارد با ۲۹۰ ویدیو. اعداد دو مسیر با این قید خوانده شوند.</a:t>
            </a:r>
            <a:endParaRPr lang="en-US" sz="1150" dirty="0"/>
          </a:p>
        </p:txBody>
      </p:sp>
      <p:sp>
        <p:nvSpPr>
          <p:cNvPr id="9" name="Shape 6"/>
          <p:cNvSpPr/>
          <p:nvPr/>
        </p:nvSpPr>
        <p:spPr>
          <a:xfrm>
            <a:off x="7589520" y="3520440"/>
            <a:ext cx="4023360" cy="1691640"/>
          </a:xfrm>
          <a:prstGeom prst="roundRect">
            <a:avLst>
              <a:gd name="adj" fmla="val 5405"/>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Text 7"/>
          <p:cNvSpPr txBox="1"/>
          <p:nvPr/>
        </p:nvSpPr>
        <p:spPr>
          <a:xfrm>
            <a:off x="7863840" y="3685032"/>
            <a:ext cx="3474720" cy="320040"/>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چرا ارزیابی نوفه‌آلود است</a:t>
            </a:r>
            <a:endParaRPr lang="en-US" sz="1500" dirty="0"/>
          </a:p>
        </p:txBody>
      </p:sp>
      <p:sp>
        <p:nvSpPr>
          <p:cNvPr id="11" name="Text 8"/>
          <p:cNvSpPr txBox="1"/>
          <p:nvPr/>
        </p:nvSpPr>
        <p:spPr>
          <a:xfrm>
            <a:off x="7863840" y="4050792"/>
            <a:ext cx="3474720" cy="1097280"/>
          </a:xfrm>
          <a:prstGeom prst="rect">
            <a:avLst/>
          </a:prstGeom>
          <a:noFill/>
          <a:ln/>
        </p:spPr>
        <p:txBody>
          <a:bodyPr wrap="square" lIns="0" tIns="0" rIns="0" bIns="0" rtlCol="0" anchor="t"/>
          <a:lstStyle/>
          <a:p>
            <a:pPr rtl="1" algn="r" indent="0" marL="0">
              <a:lnSpc>
                <a:spcPts val="1800"/>
              </a:lnSpc>
              <a:buNone/>
            </a:pPr>
            <a:r>
              <a:rPr lang="en-US" sz="1150" dirty="0">
                <a:solidFill>
                  <a:srgbClr val="1B2236"/>
                </a:solidFill>
                <a:latin typeface="Arial" pitchFamily="34" charset="0"/>
                <a:ea typeface="Arial" pitchFamily="34" charset="-122"/>
                <a:cs typeface="Arial" pitchFamily="34" charset="-120"/>
              </a:rPr>
              <a:t>کلاس Assault تنها سه ویدیوی آزمون دارد. یک ویدیو یعنی یک‌سوم یادآوری آن کلاس، و ماکرو F1 به هر ۱۴ کلاس وزن یکسان می‌دهد.</a:t>
            </a:r>
            <a:endParaRPr lang="en-US" sz="1150" dirty="0"/>
          </a:p>
        </p:txBody>
      </p:sp>
      <p:sp>
        <p:nvSpPr>
          <p:cNvPr id="12" name="Shape 9"/>
          <p:cNvSpPr/>
          <p:nvPr/>
        </p:nvSpPr>
        <p:spPr>
          <a:xfrm>
            <a:off x="7589520" y="5394960"/>
            <a:ext cx="4023360" cy="960120"/>
          </a:xfrm>
          <a:prstGeom prst="roundRect">
            <a:avLst>
              <a:gd name="adj" fmla="val 9524"/>
            </a:avLst>
          </a:prstGeom>
          <a:solidFill>
            <a:srgbClr val="FDEEEC"/>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0"/>
          <p:cNvSpPr txBox="1"/>
          <p:nvPr/>
        </p:nvSpPr>
        <p:spPr>
          <a:xfrm>
            <a:off x="7863840" y="5559552"/>
            <a:ext cx="3474720" cy="685800"/>
          </a:xfrm>
          <a:prstGeom prst="rect">
            <a:avLst/>
          </a:prstGeom>
          <a:noFill/>
          <a:ln/>
        </p:spPr>
        <p:txBody>
          <a:bodyPr wrap="square" lIns="0" tIns="0" rIns="0" bIns="0" rtlCol="0" anchor="t"/>
          <a:lstStyle/>
          <a:p>
            <a:pPr rtl="1" algn="r" indent="0" marL="0">
              <a:lnSpc>
                <a:spcPts val="1700"/>
              </a:lnSpc>
              <a:buNone/>
            </a:pPr>
            <a:r>
              <a:rPr lang="en-US" sz="1100" dirty="0">
                <a:solidFill>
                  <a:srgbClr val="C9483B"/>
                </a:solidFill>
                <a:latin typeface="Arial" pitchFamily="34" charset="0"/>
                <a:ea typeface="Arial" pitchFamily="34" charset="-122"/>
                <a:cs typeface="Arial" pitchFamily="34" charset="-120"/>
              </a:rPr>
              <a:t>پیش از ارائه، این اعداد را با فایل تقسیم خودتان بسنجید؛ فرمان در سربرگ build_slides.js است.</a:t>
            </a:r>
            <a:endParaRPr lang="en-US" sz="1100" dirty="0"/>
          </a:p>
        </p:txBody>
      </p:sp>
      <p:sp>
        <p:nvSpPr>
          <p:cNvPr id="14" name="Text 11"/>
          <p:cNvSpPr txBox="1"/>
          <p:nvPr/>
        </p:nvSpPr>
        <p:spPr>
          <a:xfrm>
            <a:off x="548640" y="5669280"/>
            <a:ext cx="21945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290</a:t>
            </a:r>
            <a:endParaRPr lang="en-US" sz="4000" dirty="0"/>
          </a:p>
        </p:txBody>
      </p:sp>
      <p:sp>
        <p:nvSpPr>
          <p:cNvPr id="15" name="Text 12"/>
          <p:cNvSpPr txBox="1"/>
          <p:nvPr/>
        </p:nvSpPr>
        <p:spPr>
          <a:xfrm>
            <a:off x="548640" y="641908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مجموعه آزمون</a:t>
            </a:r>
            <a:endParaRPr lang="en-US" sz="1200" dirty="0"/>
          </a:p>
        </p:txBody>
      </p:sp>
      <p:sp>
        <p:nvSpPr>
          <p:cNvPr id="16" name="Text 13"/>
          <p:cNvSpPr txBox="1"/>
          <p:nvPr/>
        </p:nvSpPr>
        <p:spPr>
          <a:xfrm>
            <a:off x="2834640" y="5669280"/>
            <a:ext cx="21945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1610</a:t>
            </a:r>
            <a:endParaRPr lang="en-US" sz="4000" dirty="0"/>
          </a:p>
        </p:txBody>
      </p:sp>
      <p:sp>
        <p:nvSpPr>
          <p:cNvPr id="17" name="Text 14"/>
          <p:cNvSpPr txBox="1"/>
          <p:nvPr/>
        </p:nvSpPr>
        <p:spPr>
          <a:xfrm>
            <a:off x="2834640" y="641908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کل مجموعه آموزش</a:t>
            </a:r>
            <a:endParaRPr lang="en-US" sz="1200" dirty="0"/>
          </a:p>
        </p:txBody>
      </p:sp>
      <p:sp>
        <p:nvSpPr>
          <p:cNvPr id="18" name="Text 15"/>
          <p:cNvSpPr txBox="1"/>
          <p:nvPr/>
        </p:nvSpPr>
        <p:spPr>
          <a:xfrm>
            <a:off x="5120640" y="5669280"/>
            <a:ext cx="21945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0%</a:t>
            </a:r>
            <a:endParaRPr lang="en-US" sz="4000" dirty="0"/>
          </a:p>
        </p:txBody>
      </p:sp>
      <p:sp>
        <p:nvSpPr>
          <p:cNvPr id="19" name="Text 16"/>
          <p:cNvSpPr txBox="1"/>
          <p:nvPr/>
        </p:nvSpPr>
        <p:spPr>
          <a:xfrm>
            <a:off x="5120640" y="6419088"/>
            <a:ext cx="21945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همپوشانی دو مجموعه</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چارچوب</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نظارت ضعیف و یادگیری چندنمونه‌ای</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669280" cy="914400"/>
        </p:xfrm>
        <a:graphic>
          <a:graphicData uri="http://schemas.openxmlformats.org/drawingml/2006/table">
            <a:tbl>
              <a:tblPr/>
              <a:tblGrid>
                <a:gridCol w="1737360"/>
                <a:gridCol w="2651760"/>
                <a:gridCol w="128016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سطح نظارت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برچسب چیست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نظارت کامل</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هر فریم برچسب دارد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بسیار پرهزینه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نظارت ضعیف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فقط کل ویدیو برچسب دارد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کم‌هزینه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بدون نظارت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هیچ برچسبی نیست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رایگان</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5" name="Shape 2"/>
          <p:cNvSpPr/>
          <p:nvPr/>
        </p:nvSpPr>
        <p:spPr>
          <a:xfrm>
            <a:off x="6492240" y="1645920"/>
            <a:ext cx="5120640" cy="1828800"/>
          </a:xfrm>
          <a:prstGeom prst="roundRect">
            <a:avLst>
              <a:gd name="adj" fmla="val 5000"/>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6766560" y="1810512"/>
            <a:ext cx="457200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مسئله ما</a:t>
            </a:r>
            <a:endParaRPr lang="en-US" sz="1600" dirty="0"/>
          </a:p>
        </p:txBody>
      </p:sp>
      <p:sp>
        <p:nvSpPr>
          <p:cNvPr id="7" name="Text 4"/>
          <p:cNvSpPr txBox="1"/>
          <p:nvPr/>
        </p:nvSpPr>
        <p:spPr>
          <a:xfrm>
            <a:off x="6766560" y="2194560"/>
            <a:ext cx="4572000" cy="109728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در یک ویدیوی سه‌دقیقه‌ای، سرقت شاید ۱۵ ثانیه باشد. بیش از ۹۰ درصد آنچه مدل می‌بیند، با وجود برچسب «سرقت»، عادی است.</a:t>
            </a:r>
            <a:endParaRPr lang="en-US" sz="1300" dirty="0"/>
          </a:p>
        </p:txBody>
      </p:sp>
      <p:sp>
        <p:nvSpPr>
          <p:cNvPr id="8" name="Text 5"/>
          <p:cNvSpPr txBox="1"/>
          <p:nvPr/>
        </p:nvSpPr>
        <p:spPr>
          <a:xfrm>
            <a:off x="548640" y="3794760"/>
            <a:ext cx="11064240" cy="365760"/>
          </a:xfrm>
          <a:prstGeom prst="rect">
            <a:avLst/>
          </a:prstGeom>
          <a:noFill/>
          <a:ln/>
        </p:spPr>
        <p:txBody>
          <a:bodyPr wrap="square" lIns="0" tIns="0" rIns="0" bIns="0" rtlCol="0" anchor="t"/>
          <a:lstStyle/>
          <a:p>
            <a:pPr rtl="1" algn="r" indent="0" marL="0">
              <a:buNone/>
            </a:pPr>
            <a:r>
              <a:rPr lang="en-US" sz="1800" b="1" dirty="0">
                <a:solidFill>
                  <a:srgbClr val="16264F"/>
                </a:solidFill>
                <a:latin typeface="Arial" pitchFamily="34" charset="0"/>
                <a:ea typeface="Arial" pitchFamily="34" charset="-122"/>
                <a:cs typeface="Arial" pitchFamily="34" charset="-120"/>
              </a:rPr>
              <a:t>راه حل: هر ویدیو یک کیف، هر قطعه یک نمونه</a:t>
            </a:r>
            <a:endParaRPr lang="en-US" sz="1800" dirty="0"/>
          </a:p>
        </p:txBody>
      </p:sp>
      <p:sp>
        <p:nvSpPr>
          <p:cNvPr id="9" name="Shape 6"/>
          <p:cNvSpPr/>
          <p:nvPr/>
        </p:nvSpPr>
        <p:spPr>
          <a:xfrm>
            <a:off x="905256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7"/>
          <p:cNvSpPr/>
          <p:nvPr/>
        </p:nvSpPr>
        <p:spPr>
          <a:xfrm>
            <a:off x="10972800" y="4526280"/>
            <a:ext cx="475488" cy="475488"/>
          </a:xfrm>
          <a:prstGeom prst="ellipse">
            <a:avLst/>
          </a:prstGeom>
          <a:solidFill>
            <a:srgbClr val="16264F"/>
          </a:solidFill>
          <a:ln w="12700">
            <a:solidFill>
              <a:srgbClr val="16264F"/>
            </a:solidFill>
            <a:prstDash val="solid"/>
          </a:ln>
        </p:spPr>
      </p:sp>
      <p:sp>
        <p:nvSpPr>
          <p:cNvPr id="11" name="Text 8"/>
          <p:cNvSpPr txBox="1"/>
          <p:nvPr/>
        </p:nvSpPr>
        <p:spPr>
          <a:xfrm>
            <a:off x="1097280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9"/>
          <p:cNvSpPr txBox="1"/>
          <p:nvPr/>
        </p:nvSpPr>
        <p:spPr>
          <a:xfrm>
            <a:off x="923544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ویدیو به ۱۶ قطعه شکسته می‌شود</a:t>
            </a:r>
            <a:endParaRPr lang="en-US" sz="1250" dirty="0"/>
          </a:p>
        </p:txBody>
      </p:sp>
      <p:sp>
        <p:nvSpPr>
          <p:cNvPr id="13" name="Shape 10"/>
          <p:cNvSpPr/>
          <p:nvPr/>
        </p:nvSpPr>
        <p:spPr>
          <a:xfrm>
            <a:off x="621792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4" name="Shape 11"/>
          <p:cNvSpPr/>
          <p:nvPr/>
        </p:nvSpPr>
        <p:spPr>
          <a:xfrm>
            <a:off x="8138160" y="4526280"/>
            <a:ext cx="475488" cy="475488"/>
          </a:xfrm>
          <a:prstGeom prst="ellipse">
            <a:avLst/>
          </a:prstGeom>
          <a:solidFill>
            <a:srgbClr val="16264F"/>
          </a:solidFill>
          <a:ln w="12700">
            <a:solidFill>
              <a:srgbClr val="16264F"/>
            </a:solidFill>
            <a:prstDash val="solid"/>
          </a:ln>
        </p:spPr>
      </p:sp>
      <p:sp>
        <p:nvSpPr>
          <p:cNvPr id="15" name="Text 12"/>
          <p:cNvSpPr txBox="1"/>
          <p:nvPr/>
        </p:nvSpPr>
        <p:spPr>
          <a:xfrm>
            <a:off x="813816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640080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مدل به هر قطعه نمره می‌دهد</a:t>
            </a:r>
            <a:endParaRPr lang="en-US" sz="1250" dirty="0"/>
          </a:p>
        </p:txBody>
      </p:sp>
      <p:sp>
        <p:nvSpPr>
          <p:cNvPr id="17" name="Shape 14"/>
          <p:cNvSpPr/>
          <p:nvPr/>
        </p:nvSpPr>
        <p:spPr>
          <a:xfrm>
            <a:off x="338328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8" name="Shape 15"/>
          <p:cNvSpPr/>
          <p:nvPr/>
        </p:nvSpPr>
        <p:spPr>
          <a:xfrm>
            <a:off x="5303520" y="4526280"/>
            <a:ext cx="475488" cy="475488"/>
          </a:xfrm>
          <a:prstGeom prst="ellipse">
            <a:avLst/>
          </a:prstGeom>
          <a:solidFill>
            <a:srgbClr val="16264F"/>
          </a:solidFill>
          <a:ln w="12700">
            <a:solidFill>
              <a:srgbClr val="16264F"/>
            </a:solidFill>
            <a:prstDash val="solid"/>
          </a:ln>
        </p:spPr>
      </p:sp>
      <p:sp>
        <p:nvSpPr>
          <p:cNvPr id="19" name="Text 16"/>
          <p:cNvSpPr txBox="1"/>
          <p:nvPr/>
        </p:nvSpPr>
        <p:spPr>
          <a:xfrm>
            <a:off x="530352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0" name="Text 17"/>
          <p:cNvSpPr txBox="1"/>
          <p:nvPr/>
        </p:nvSpPr>
        <p:spPr>
          <a:xfrm>
            <a:off x="356616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مشکوک‌ترین قطعه‌ها انتخاب می‌شوند</a:t>
            </a:r>
            <a:endParaRPr lang="en-US" sz="1250" dirty="0"/>
          </a:p>
        </p:txBody>
      </p:sp>
      <p:sp>
        <p:nvSpPr>
          <p:cNvPr id="21" name="Shape 18"/>
          <p:cNvSpPr/>
          <p:nvPr/>
        </p:nvSpPr>
        <p:spPr>
          <a:xfrm>
            <a:off x="548640" y="4343400"/>
            <a:ext cx="2606040" cy="1508760"/>
          </a:xfrm>
          <a:prstGeom prst="roundRect">
            <a:avLst>
              <a:gd name="adj" fmla="val 606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2" name="Shape 19"/>
          <p:cNvSpPr/>
          <p:nvPr/>
        </p:nvSpPr>
        <p:spPr>
          <a:xfrm>
            <a:off x="2468880" y="4526280"/>
            <a:ext cx="475488" cy="475488"/>
          </a:xfrm>
          <a:prstGeom prst="ellipse">
            <a:avLst/>
          </a:prstGeom>
          <a:solidFill>
            <a:srgbClr val="E8A33D"/>
          </a:solidFill>
          <a:ln w="12700">
            <a:solidFill>
              <a:srgbClr val="E8A33D"/>
            </a:solidFill>
            <a:prstDash val="solid"/>
          </a:ln>
        </p:spPr>
      </p:sp>
      <p:sp>
        <p:nvSpPr>
          <p:cNvPr id="23" name="Text 20"/>
          <p:cNvSpPr txBox="1"/>
          <p:nvPr/>
        </p:nvSpPr>
        <p:spPr>
          <a:xfrm>
            <a:off x="2468880" y="452628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4" name="Text 21"/>
          <p:cNvSpPr txBox="1"/>
          <p:nvPr/>
        </p:nvSpPr>
        <p:spPr>
          <a:xfrm>
            <a:off x="731520" y="5074920"/>
            <a:ext cx="2240280" cy="731520"/>
          </a:xfrm>
          <a:prstGeom prst="rect">
            <a:avLst/>
          </a:prstGeom>
          <a:noFill/>
          <a:ln/>
        </p:spPr>
        <p:txBody>
          <a:bodyPr wrap="square" lIns="0" tIns="0" rIns="0" bIns="0" rtlCol="0" anchor="t"/>
          <a:lstStyle/>
          <a:p>
            <a:pPr rtl="1" algn="r" indent="0" marL="0">
              <a:lnSpc>
                <a:spcPts val="1800"/>
              </a:lnSpc>
              <a:buNone/>
            </a:pPr>
            <a:r>
              <a:rPr lang="en-US" sz="1250" dirty="0">
                <a:solidFill>
                  <a:srgbClr val="1B2236"/>
                </a:solidFill>
                <a:latin typeface="Arial" pitchFamily="34" charset="0"/>
                <a:ea typeface="Arial" pitchFamily="34" charset="-122"/>
                <a:cs typeface="Arial" pitchFamily="34" charset="-120"/>
              </a:rPr>
              <a:t>فرض: همان‌ها برچسب کیف را حمل می‌کنند</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1645920" y="-1371600"/>
            <a:ext cx="5120640" cy="5120640"/>
          </a:xfrm>
          <a:prstGeom prst="ellipse">
            <a:avLst/>
          </a:prstGeom>
          <a:solidFill>
            <a:srgbClr val="1E3566"/>
          </a:solidFill>
          <a:ln w="12700">
            <a:solidFill>
              <a:srgbClr val="333333"/>
            </a:solidFill>
            <a:prstDash val="solid"/>
          </a:ln>
        </p:spPr>
      </p:sp>
      <p:sp>
        <p:nvSpPr>
          <p:cNvPr id="3" name="Text 1"/>
          <p:cNvSpPr txBox="1"/>
          <p:nvPr/>
        </p:nvSpPr>
        <p:spPr>
          <a:xfrm>
            <a:off x="4572000" y="2194560"/>
            <a:ext cx="6858000" cy="548640"/>
          </a:xfrm>
          <a:prstGeom prst="rect">
            <a:avLst/>
          </a:prstGeom>
          <a:noFill/>
          <a:ln/>
        </p:spPr>
        <p:txBody>
          <a:bodyPr wrap="square" lIns="0" tIns="0" rIns="0" bIns="0" rtlCol="0" anchor="t"/>
          <a:lstStyle/>
          <a:p>
            <a:pPr rtl="1" algn="r" indent="0" marL="0">
              <a:buNone/>
            </a:pPr>
            <a:r>
              <a:rPr lang="en-US" sz="1800" b="1" dirty="0">
                <a:solidFill>
                  <a:srgbClr val="E8A33D"/>
                </a:solidFill>
                <a:latin typeface="Arial" pitchFamily="34" charset="0"/>
                <a:ea typeface="Arial" pitchFamily="34" charset="-122"/>
                <a:cs typeface="Arial" pitchFamily="34" charset="-120"/>
              </a:rPr>
              <a:t>مسیر اول</a:t>
            </a:r>
            <a:endParaRPr lang="en-US" sz="1800" dirty="0"/>
          </a:p>
        </p:txBody>
      </p:sp>
      <p:sp>
        <p:nvSpPr>
          <p:cNvPr id="4" name="Text 2"/>
          <p:cNvSpPr txBox="1"/>
          <p:nvPr/>
        </p:nvSpPr>
        <p:spPr>
          <a:xfrm>
            <a:off x="4572000" y="2743200"/>
            <a:ext cx="6858000" cy="1097280"/>
          </a:xfrm>
          <a:prstGeom prst="rect">
            <a:avLst/>
          </a:prstGeom>
          <a:noFill/>
          <a:ln/>
        </p:spPr>
        <p:txBody>
          <a:bodyPr wrap="square" lIns="0" tIns="0" rIns="0" bIns="0" rtlCol="0" anchor="t"/>
          <a:lstStyle/>
          <a:p>
            <a:pPr algn="r" indent="0" marL="0">
              <a:buNone/>
            </a:pPr>
            <a:r>
              <a:rPr lang="en-US" sz="6000" b="1" dirty="0">
                <a:solidFill>
                  <a:srgbClr val="FFFFFF"/>
                </a:solidFill>
                <a:latin typeface="Arial" pitchFamily="34" charset="0"/>
                <a:ea typeface="Arial" pitchFamily="34" charset="-122"/>
                <a:cs typeface="Arial" pitchFamily="34" charset="-120"/>
              </a:rPr>
              <a:t>X-CLIP</a:t>
            </a:r>
            <a:endParaRPr lang="en-US" sz="6000" dirty="0"/>
          </a:p>
        </p:txBody>
      </p:sp>
      <p:sp>
        <p:nvSpPr>
          <p:cNvPr id="5" name="Text 3"/>
          <p:cNvSpPr txBox="1"/>
          <p:nvPr/>
        </p:nvSpPr>
        <p:spPr>
          <a:xfrm>
            <a:off x="4572000" y="3931920"/>
            <a:ext cx="6858000" cy="457200"/>
          </a:xfrm>
          <a:prstGeom prst="rect">
            <a:avLst/>
          </a:prstGeom>
          <a:noFill/>
          <a:ln/>
        </p:spPr>
        <p:txBody>
          <a:bodyPr wrap="square" lIns="0" tIns="0" rIns="0" bIns="0" rtlCol="0" anchor="t"/>
          <a:lstStyle/>
          <a:p>
            <a:pPr rtl="1" algn="r" indent="0" marL="0">
              <a:buNone/>
            </a:pPr>
            <a:r>
              <a:rPr lang="en-US" sz="1700" dirty="0">
                <a:solidFill>
                  <a:srgbClr val="BFD4F2"/>
                </a:solidFill>
                <a:latin typeface="Arial" pitchFamily="34" charset="0"/>
                <a:ea typeface="Arial" pitchFamily="34" charset="-122"/>
                <a:cs typeface="Arial" pitchFamily="34" charset="-120"/>
              </a:rPr>
              <a:t>تبدیل کد UMIL از دودویی به چهارده‌کلاسه</a:t>
            </a:r>
            <a:endParaRPr lang="en-US" sz="1700" dirty="0"/>
          </a:p>
        </p:txBody>
      </p:sp>
      <p:sp>
        <p:nvSpPr>
          <p:cNvPr id="6" name="Text 4"/>
          <p:cNvSpPr txBox="1"/>
          <p:nvPr/>
        </p:nvSpPr>
        <p:spPr>
          <a:xfrm>
            <a:off x="4572000" y="4663440"/>
            <a:ext cx="6858000" cy="640080"/>
          </a:xfrm>
          <a:prstGeom prst="rect">
            <a:avLst/>
          </a:prstGeom>
          <a:noFill/>
          <a:ln/>
        </p:spPr>
        <p:txBody>
          <a:bodyPr wrap="square" lIns="0" tIns="0" rIns="0" bIns="0" rtlCol="0" anchor="t"/>
          <a:lstStyle/>
          <a:p>
            <a:pPr algn="r" indent="0" marL="0">
              <a:buNone/>
            </a:pPr>
            <a:r>
              <a:rPr lang="en-US" sz="2600" b="1" dirty="0">
                <a:solidFill>
                  <a:srgbClr val="E8A33D"/>
                </a:solidFill>
                <a:latin typeface="Arial" pitchFamily="34" charset="0"/>
                <a:ea typeface="Arial" pitchFamily="34" charset="-122"/>
                <a:cs typeface="Arial" pitchFamily="34" charset="-120"/>
              </a:rPr>
              <a:t>0.3327  ←  0.3881</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X-CLIP چطور کار می‌کند</a:t>
            </a:r>
            <a:endParaRPr lang="en-US" sz="3000" dirty="0"/>
          </a:p>
        </p:txBody>
      </p:sp>
      <p:sp>
        <p:nvSpPr>
          <p:cNvPr id="4" name="Shape 2"/>
          <p:cNvSpPr/>
          <p:nvPr/>
        </p:nvSpPr>
        <p:spPr>
          <a:xfrm>
            <a:off x="548640" y="1600200"/>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10881360" y="1847088"/>
            <a:ext cx="475488" cy="475488"/>
          </a:xfrm>
          <a:prstGeom prst="ellipse">
            <a:avLst/>
          </a:prstGeom>
          <a:solidFill>
            <a:srgbClr val="16264F"/>
          </a:solidFill>
          <a:ln w="12700">
            <a:solidFill>
              <a:srgbClr val="16264F"/>
            </a:solidFill>
            <a:prstDash val="solid"/>
          </a:ln>
        </p:spPr>
      </p:sp>
      <p:sp>
        <p:nvSpPr>
          <p:cNvPr id="6" name="Text 4"/>
          <p:cNvSpPr txBox="1"/>
          <p:nvPr/>
        </p:nvSpPr>
        <p:spPr>
          <a:xfrm>
            <a:off x="10881360" y="184708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914400" y="1728216"/>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CLIP روی جفت عکس و متن آموزش دیده</a:t>
            </a:r>
            <a:endParaRPr lang="en-US" sz="1550" dirty="0"/>
          </a:p>
        </p:txBody>
      </p:sp>
      <p:sp>
        <p:nvSpPr>
          <p:cNvPr id="8" name="Text 6"/>
          <p:cNvSpPr txBox="1"/>
          <p:nvPr/>
        </p:nvSpPr>
        <p:spPr>
          <a:xfrm>
            <a:off x="914400" y="2075688"/>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عکس و توضیحش در یک فضای مشترک نزدیک هم می‌افتند</a:t>
            </a:r>
            <a:endParaRPr lang="en-US" sz="1250" dirty="0"/>
          </a:p>
        </p:txBody>
      </p:sp>
      <p:sp>
        <p:nvSpPr>
          <p:cNvPr id="9" name="Shape 7"/>
          <p:cNvSpPr/>
          <p:nvPr/>
        </p:nvSpPr>
        <p:spPr>
          <a:xfrm>
            <a:off x="548640" y="2715768"/>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8"/>
          <p:cNvSpPr/>
          <p:nvPr/>
        </p:nvSpPr>
        <p:spPr>
          <a:xfrm>
            <a:off x="10881360" y="2962656"/>
            <a:ext cx="475488" cy="475488"/>
          </a:xfrm>
          <a:prstGeom prst="ellipse">
            <a:avLst/>
          </a:prstGeom>
          <a:solidFill>
            <a:srgbClr val="16264F"/>
          </a:solidFill>
          <a:ln w="12700">
            <a:solidFill>
              <a:srgbClr val="16264F"/>
            </a:solidFill>
            <a:prstDash val="solid"/>
          </a:ln>
        </p:spPr>
      </p:sp>
      <p:sp>
        <p:nvSpPr>
          <p:cNvPr id="11" name="Text 9"/>
          <p:cNvSpPr txBox="1"/>
          <p:nvPr/>
        </p:nvSpPr>
        <p:spPr>
          <a:xfrm>
            <a:off x="10881360" y="296265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914400" y="2843784"/>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طبقه‌بندی بدون آموزش</a:t>
            </a:r>
            <a:endParaRPr lang="en-US" sz="1550" dirty="0"/>
          </a:p>
        </p:txBody>
      </p:sp>
      <p:sp>
        <p:nvSpPr>
          <p:cNvPr id="13" name="Text 11"/>
          <p:cNvSpPr txBox="1"/>
          <p:nvPr/>
        </p:nvSpPr>
        <p:spPr>
          <a:xfrm>
            <a:off x="914400" y="3191256"/>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اسم هر کلاس به بردار تبدیل می‌شود و نزدیک‌ترین برنده است</a:t>
            </a:r>
            <a:endParaRPr lang="en-US" sz="1250" dirty="0"/>
          </a:p>
        </p:txBody>
      </p:sp>
      <p:sp>
        <p:nvSpPr>
          <p:cNvPr id="14" name="Shape 12"/>
          <p:cNvSpPr/>
          <p:nvPr/>
        </p:nvSpPr>
        <p:spPr>
          <a:xfrm>
            <a:off x="548640" y="3831336"/>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Shape 13"/>
          <p:cNvSpPr/>
          <p:nvPr/>
        </p:nvSpPr>
        <p:spPr>
          <a:xfrm>
            <a:off x="10881360" y="4078224"/>
            <a:ext cx="475488" cy="475488"/>
          </a:xfrm>
          <a:prstGeom prst="ellipse">
            <a:avLst/>
          </a:prstGeom>
          <a:solidFill>
            <a:srgbClr val="16264F"/>
          </a:solidFill>
          <a:ln w="12700">
            <a:solidFill>
              <a:srgbClr val="16264F"/>
            </a:solidFill>
            <a:prstDash val="solid"/>
          </a:ln>
        </p:spPr>
      </p:sp>
      <p:sp>
        <p:nvSpPr>
          <p:cNvPr id="16" name="Text 14"/>
          <p:cNvSpPr txBox="1"/>
          <p:nvPr/>
        </p:nvSpPr>
        <p:spPr>
          <a:xfrm>
            <a:off x="10881360" y="40782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14400" y="3959352"/>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X-CLIP بخش زمانی اضافه می‌کند</a:t>
            </a:r>
            <a:endParaRPr lang="en-US" sz="1550" dirty="0"/>
          </a:p>
        </p:txBody>
      </p:sp>
      <p:sp>
        <p:nvSpPr>
          <p:cNvPr id="18" name="Text 16"/>
          <p:cNvSpPr txBox="1"/>
          <p:nvPr/>
        </p:nvSpPr>
        <p:spPr>
          <a:xfrm>
            <a:off x="914400" y="4306824"/>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حالا ورودی ویدیو است، نه یک عکس تنها</a:t>
            </a:r>
            <a:endParaRPr lang="en-US" sz="1250" dirty="0"/>
          </a:p>
        </p:txBody>
      </p:sp>
      <p:sp>
        <p:nvSpPr>
          <p:cNvPr id="19" name="Shape 17"/>
          <p:cNvSpPr/>
          <p:nvPr/>
        </p:nvSpPr>
        <p:spPr>
          <a:xfrm>
            <a:off x="548640" y="4946904"/>
            <a:ext cx="11064240" cy="960120"/>
          </a:xfrm>
          <a:prstGeom prst="roundRect">
            <a:avLst>
              <a:gd name="adj" fmla="val 9524"/>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0" name="Shape 18"/>
          <p:cNvSpPr/>
          <p:nvPr/>
        </p:nvSpPr>
        <p:spPr>
          <a:xfrm>
            <a:off x="10881360" y="5193792"/>
            <a:ext cx="475488" cy="475488"/>
          </a:xfrm>
          <a:prstGeom prst="ellipse">
            <a:avLst/>
          </a:prstGeom>
          <a:solidFill>
            <a:srgbClr val="E8A33D"/>
          </a:solidFill>
          <a:ln w="12700">
            <a:solidFill>
              <a:srgbClr val="E8A33D"/>
            </a:solidFill>
            <a:prstDash val="solid"/>
          </a:ln>
        </p:spPr>
      </p:sp>
      <p:sp>
        <p:nvSpPr>
          <p:cNvPr id="21" name="Text 19"/>
          <p:cNvSpPr txBox="1"/>
          <p:nvPr/>
        </p:nvSpPr>
        <p:spPr>
          <a:xfrm>
            <a:off x="10881360" y="519379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14400" y="5074920"/>
            <a:ext cx="9692640" cy="320040"/>
          </a:xfrm>
          <a:prstGeom prst="rect">
            <a:avLst/>
          </a:prstGeom>
          <a:noFill/>
          <a:ln/>
        </p:spPr>
        <p:txBody>
          <a:bodyPr wrap="square" lIns="0" tIns="0" rIns="0" bIns="0" rtlCol="0" anchor="t"/>
          <a:lstStyle/>
          <a:p>
            <a:pPr rtl="1" algn="r" indent="0" marL="0">
              <a:buNone/>
            </a:pPr>
            <a:r>
              <a:rPr lang="en-US" sz="1550" b="1" dirty="0">
                <a:solidFill>
                  <a:srgbClr val="16264F"/>
                </a:solidFill>
                <a:latin typeface="Arial" pitchFamily="34" charset="0"/>
                <a:ea typeface="Arial" pitchFamily="34" charset="-122"/>
                <a:cs typeface="Arial" pitchFamily="34" charset="-120"/>
              </a:rPr>
              <a:t>در پروژه ما</a:t>
            </a:r>
            <a:endParaRPr lang="en-US" sz="1550" dirty="0"/>
          </a:p>
        </p:txBody>
      </p:sp>
      <p:sp>
        <p:nvSpPr>
          <p:cNvPr id="23" name="Text 21"/>
          <p:cNvSpPr txBox="1"/>
          <p:nvPr/>
        </p:nvSpPr>
        <p:spPr>
          <a:xfrm>
            <a:off x="914400" y="5422392"/>
            <a:ext cx="9692640" cy="320040"/>
          </a:xfrm>
          <a:prstGeom prst="rect">
            <a:avLst/>
          </a:prstGeom>
          <a:noFill/>
          <a:ln/>
        </p:spPr>
        <p:txBody>
          <a:bodyPr wrap="square" lIns="0" tIns="0" rIns="0" bIns="0" rtlCol="0" anchor="t"/>
          <a:lstStyle/>
          <a:p>
            <a:pPr rtl="1" algn="r" indent="0" marL="0">
              <a:buNone/>
            </a:pPr>
            <a:r>
              <a:rPr lang="en-US" sz="1250" dirty="0">
                <a:solidFill>
                  <a:srgbClr val="6A748C"/>
                </a:solidFill>
                <a:latin typeface="Arial" pitchFamily="34" charset="0"/>
                <a:ea typeface="Arial" pitchFamily="34" charset="-122"/>
                <a:cs typeface="Arial" pitchFamily="34" charset="-120"/>
              </a:rPr>
              <a:t>بردار ویدیو با ۱۴ بردار متنی مقایسه می‌شود</a:t>
            </a:r>
            <a:endParaRPr lang="en-US" sz="1250" dirty="0"/>
          </a:p>
        </p:txBody>
      </p:sp>
      <p:sp>
        <p:nvSpPr>
          <p:cNvPr id="24" name="Text 22"/>
          <p:cNvSpPr txBox="1"/>
          <p:nvPr/>
        </p:nvSpPr>
        <p:spPr>
          <a:xfrm>
            <a:off x="548640" y="6080760"/>
            <a:ext cx="11064240" cy="365760"/>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آن ۱۴ بردار متنی نقش وزن‌های طبقه‌بند را بازی می‌کنند و هرگز آموزش نمی‌بینند.</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سه اشکال بنیادی که پیدا و اصلاح شد</a:t>
            </a:r>
            <a:endParaRPr lang="en-US" sz="3000" dirty="0"/>
          </a:p>
        </p:txBody>
      </p:sp>
      <p:sp>
        <p:nvSpPr>
          <p:cNvPr id="4" name="Shape 2"/>
          <p:cNvSpPr/>
          <p:nvPr/>
        </p:nvSpPr>
        <p:spPr>
          <a:xfrm>
            <a:off x="8092440"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10881360" y="1874520"/>
            <a:ext cx="475488" cy="475488"/>
          </a:xfrm>
          <a:prstGeom prst="ellipse">
            <a:avLst/>
          </a:prstGeom>
          <a:solidFill>
            <a:srgbClr val="C9483B"/>
          </a:solidFill>
          <a:ln w="12700">
            <a:solidFill>
              <a:srgbClr val="C9483B"/>
            </a:solidFill>
            <a:prstDash val="solid"/>
          </a:ln>
        </p:spPr>
      </p:sp>
      <p:sp>
        <p:nvSpPr>
          <p:cNvPr id="6" name="Text 4"/>
          <p:cNvSpPr txBox="1"/>
          <p:nvPr/>
        </p:nvSpPr>
        <p:spPr>
          <a:xfrm>
            <a:off x="10881360"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321040"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میانگین‌گیری در ارزیابی</a:t>
            </a:r>
            <a:endParaRPr lang="en-US" sz="1500" dirty="0"/>
          </a:p>
        </p:txBody>
      </p:sp>
      <p:sp>
        <p:nvSpPr>
          <p:cNvPr id="8" name="Text 6"/>
          <p:cNvSpPr txBox="1"/>
          <p:nvPr/>
        </p:nvSpPr>
        <p:spPr>
          <a:xfrm>
            <a:off x="8321040"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احتمال هر ۱۶ قطعه میانگین گرفته می‌شد. در ویدیوی ناهنجار، قطعه‌های عادی شواهد را خفه می‌کردند و تقریباً همه چیز عادی پیش‌بینی می‌شد.</a:t>
            </a:r>
            <a:endParaRPr lang="en-US" sz="1200" dirty="0"/>
          </a:p>
        </p:txBody>
      </p:sp>
      <p:sp>
        <p:nvSpPr>
          <p:cNvPr id="9" name="Text 7"/>
          <p:cNvSpPr txBox="1"/>
          <p:nvPr/>
        </p:nvSpPr>
        <p:spPr>
          <a:xfrm>
            <a:off x="8321040"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تصمیم دومرحله‌ای با بیشینه</a:t>
            </a:r>
            <a:endParaRPr lang="en-US" sz="1200" dirty="0"/>
          </a:p>
        </p:txBody>
      </p:sp>
      <p:sp>
        <p:nvSpPr>
          <p:cNvPr id="10" name="Shape 8"/>
          <p:cNvSpPr/>
          <p:nvPr/>
        </p:nvSpPr>
        <p:spPr>
          <a:xfrm>
            <a:off x="4315968"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Shape 9"/>
          <p:cNvSpPr/>
          <p:nvPr/>
        </p:nvSpPr>
        <p:spPr>
          <a:xfrm>
            <a:off x="7104888" y="1874520"/>
            <a:ext cx="475488" cy="475488"/>
          </a:xfrm>
          <a:prstGeom prst="ellipse">
            <a:avLst/>
          </a:prstGeom>
          <a:solidFill>
            <a:srgbClr val="C9483B"/>
          </a:solidFill>
          <a:ln w="12700">
            <a:solidFill>
              <a:srgbClr val="C9483B"/>
            </a:solidFill>
            <a:prstDash val="solid"/>
          </a:ln>
        </p:spPr>
      </p:sp>
      <p:sp>
        <p:nvSpPr>
          <p:cNvPr id="12" name="Text 10"/>
          <p:cNvSpPr txBox="1"/>
          <p:nvPr/>
        </p:nvSpPr>
        <p:spPr>
          <a:xfrm>
            <a:off x="7104888"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1"/>
          <p:cNvSpPr txBox="1"/>
          <p:nvPr/>
        </p:nvSpPr>
        <p:spPr>
          <a:xfrm>
            <a:off x="4544568"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فایل نمرات کهنه</a:t>
            </a:r>
            <a:endParaRPr lang="en-US" sz="1500" dirty="0"/>
          </a:p>
        </p:txBody>
      </p:sp>
      <p:sp>
        <p:nvSpPr>
          <p:cNvPr id="14" name="Text 12"/>
          <p:cNvSpPr txBox="1"/>
          <p:nvPr/>
        </p:nvSpPr>
        <p:spPr>
          <a:xfrm>
            <a:off x="4544568"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کد هر فایل نمرات موجود را بازاستفاده می‌کرد. در یک گزارش، ۲۸۸ ویدیو از ۲۹۸ کنار گذاشته شده و عدد روی ده ویدیو حساب شده بود.</a:t>
            </a:r>
            <a:endParaRPr lang="en-US" sz="1200" dirty="0"/>
          </a:p>
        </p:txBody>
      </p:sp>
      <p:sp>
        <p:nvSpPr>
          <p:cNvPr id="15" name="Text 13"/>
          <p:cNvSpPr txBox="1"/>
          <p:nvPr/>
        </p:nvSpPr>
        <p:spPr>
          <a:xfrm>
            <a:off x="4544568"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بازمحاسبه پیش‌فرض</a:t>
            </a:r>
            <a:endParaRPr lang="en-US" sz="1200" dirty="0"/>
          </a:p>
        </p:txBody>
      </p:sp>
      <p:sp>
        <p:nvSpPr>
          <p:cNvPr id="16" name="Shape 14"/>
          <p:cNvSpPr/>
          <p:nvPr/>
        </p:nvSpPr>
        <p:spPr>
          <a:xfrm>
            <a:off x="539496" y="1645920"/>
            <a:ext cx="3520440" cy="4069080"/>
          </a:xfrm>
          <a:prstGeom prst="roundRect">
            <a:avLst>
              <a:gd name="adj" fmla="val 25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7" name="Shape 15"/>
          <p:cNvSpPr/>
          <p:nvPr/>
        </p:nvSpPr>
        <p:spPr>
          <a:xfrm>
            <a:off x="3328416" y="1874520"/>
            <a:ext cx="475488" cy="475488"/>
          </a:xfrm>
          <a:prstGeom prst="ellipse">
            <a:avLst/>
          </a:prstGeom>
          <a:solidFill>
            <a:srgbClr val="C9483B"/>
          </a:solidFill>
          <a:ln w="12700">
            <a:solidFill>
              <a:srgbClr val="C9483B"/>
            </a:solidFill>
            <a:prstDash val="solid"/>
          </a:ln>
        </p:spPr>
      </p:sp>
      <p:sp>
        <p:nvSpPr>
          <p:cNvPr id="18" name="Text 16"/>
          <p:cNvSpPr txBox="1"/>
          <p:nvPr/>
        </p:nvSpPr>
        <p:spPr>
          <a:xfrm>
            <a:off x="3328416" y="187452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7"/>
          <p:cNvSpPr txBox="1"/>
          <p:nvPr/>
        </p:nvSpPr>
        <p:spPr>
          <a:xfrm>
            <a:off x="768096" y="2514600"/>
            <a:ext cx="3063240" cy="685800"/>
          </a:xfrm>
          <a:prstGeom prst="rect">
            <a:avLst/>
          </a:prstGeom>
          <a:noFill/>
          <a:ln/>
        </p:spPr>
        <p:txBody>
          <a:bodyPr wrap="square" lIns="0" tIns="0" rIns="0" bIns="0" rtlCol="0" anchor="t"/>
          <a:lstStyle/>
          <a:p>
            <a:pPr rtl="1" algn="r" indent="0" marL="0">
              <a:lnSpc>
                <a:spcPts val="2100"/>
              </a:lnSpc>
              <a:buNone/>
            </a:pPr>
            <a:r>
              <a:rPr lang="en-US" sz="1500" b="1" dirty="0">
                <a:solidFill>
                  <a:srgbClr val="16264F"/>
                </a:solidFill>
                <a:latin typeface="Arial" pitchFamily="34" charset="0"/>
                <a:ea typeface="Arial" pitchFamily="34" charset="-122"/>
                <a:cs typeface="Arial" pitchFamily="34" charset="-120"/>
              </a:rPr>
              <a:t>انتخاب قطعه برتر به تفکیک کلاس</a:t>
            </a:r>
            <a:endParaRPr lang="en-US" sz="1500" dirty="0"/>
          </a:p>
        </p:txBody>
      </p:sp>
      <p:sp>
        <p:nvSpPr>
          <p:cNvPr id="20" name="Text 18"/>
          <p:cNvSpPr txBox="1"/>
          <p:nvPr/>
        </p:nvSpPr>
        <p:spPr>
          <a:xfrm>
            <a:off x="768096" y="3200400"/>
            <a:ext cx="3063240" cy="164592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کانال عادی از عادی‌ترین قطعه‌های یک ویدیوی سرقت ساخته می‌شد. نویز برچسب سیستماتیک وارد آموزش می‌شد.</a:t>
            </a:r>
            <a:endParaRPr lang="en-US" sz="1200" dirty="0"/>
          </a:p>
        </p:txBody>
      </p:sp>
      <p:sp>
        <p:nvSpPr>
          <p:cNvPr id="21" name="Text 19"/>
          <p:cNvSpPr txBox="1"/>
          <p:nvPr/>
        </p:nvSpPr>
        <p:spPr>
          <a:xfrm>
            <a:off x="768096" y="4937760"/>
            <a:ext cx="3063240" cy="640080"/>
          </a:xfrm>
          <a:prstGeom prst="rect">
            <a:avLst/>
          </a:prstGeom>
          <a:noFill/>
          <a:ln/>
        </p:spPr>
        <p:txBody>
          <a:bodyPr wrap="square" lIns="0" tIns="0" rIns="0" bIns="0" rtlCol="0" anchor="t"/>
          <a:lstStyle/>
          <a:p>
            <a:pPr rtl="1" algn="r" indent="0" marL="0">
              <a:lnSpc>
                <a:spcPts val="1800"/>
              </a:lnSpc>
              <a:buNone/>
            </a:pPr>
            <a:r>
              <a:rPr lang="en-US" sz="1200" b="1" dirty="0">
                <a:solidFill>
                  <a:srgbClr val="3FA7A0"/>
                </a:solidFill>
                <a:latin typeface="Arial" pitchFamily="34" charset="0"/>
                <a:ea typeface="Arial" pitchFamily="34" charset="-122"/>
                <a:cs typeface="Arial" pitchFamily="34" charset="-120"/>
              </a:rPr>
              <a:t>اصلاح: یک رتبه‌بندی برای همه کلاس‌ها</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تصمیم دومرحله‌ای</a:t>
            </a:r>
            <a:endParaRPr lang="en-US" sz="3000" dirty="0"/>
          </a:p>
        </p:txBody>
      </p:sp>
      <p:sp>
        <p:nvSpPr>
          <p:cNvPr id="4" name="Shape 2"/>
          <p:cNvSpPr/>
          <p:nvPr/>
        </p:nvSpPr>
        <p:spPr>
          <a:xfrm>
            <a:off x="548640" y="1600200"/>
            <a:ext cx="5394960" cy="2286000"/>
          </a:xfrm>
          <a:prstGeom prst="roundRect">
            <a:avLst>
              <a:gd name="adj" fmla="val 4000"/>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783080"/>
            <a:ext cx="4754880" cy="365760"/>
          </a:xfrm>
          <a:prstGeom prst="rect">
            <a:avLst/>
          </a:prstGeom>
          <a:noFill/>
          <a:ln/>
        </p:spPr>
        <p:txBody>
          <a:bodyPr wrap="square" lIns="0" tIns="0" rIns="0" bIns="0" rtlCol="0" anchor="t"/>
          <a:lstStyle/>
          <a:p>
            <a:pPr rtl="1" algn="r" indent="0" marL="0">
              <a:buNone/>
            </a:pPr>
            <a:r>
              <a:rPr lang="en-US" sz="1700" b="1" dirty="0">
                <a:solidFill>
                  <a:srgbClr val="E8A33D"/>
                </a:solidFill>
                <a:latin typeface="Arial" pitchFamily="34" charset="0"/>
                <a:ea typeface="Arial" pitchFamily="34" charset="-122"/>
                <a:cs typeface="Arial" pitchFamily="34" charset="-120"/>
              </a:rPr>
              <a:t>مرحله اول: آیا ناهنجار است؟</a:t>
            </a:r>
            <a:endParaRPr lang="en-US" sz="1700" dirty="0"/>
          </a:p>
        </p:txBody>
      </p:sp>
      <p:sp>
        <p:nvSpPr>
          <p:cNvPr id="6" name="Text 4"/>
          <p:cNvSpPr txBox="1"/>
          <p:nvPr/>
        </p:nvSpPr>
        <p:spPr>
          <a:xfrm>
            <a:off x="868680" y="2194560"/>
            <a:ext cx="4754880" cy="73152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بیشینه روی ۱۶ قطعه از مقدار «۱ منهای احتمال عادی»، در مقایسه با آستانه ۰٫۵</a:t>
            </a:r>
            <a:endParaRPr lang="en-US" sz="1300" dirty="0"/>
          </a:p>
        </p:txBody>
      </p:sp>
      <p:sp>
        <p:nvSpPr>
          <p:cNvPr id="7" name="Text 5"/>
          <p:cNvSpPr txBox="1"/>
          <p:nvPr/>
        </p:nvSpPr>
        <p:spPr>
          <a:xfrm>
            <a:off x="868680" y="2926080"/>
            <a:ext cx="4754880" cy="777240"/>
          </a:xfrm>
          <a:prstGeom prst="rect">
            <a:avLst/>
          </a:prstGeom>
          <a:noFill/>
          <a:ln/>
        </p:spPr>
        <p:txBody>
          <a:bodyPr wrap="square" lIns="0" tIns="0" rIns="0" bIns="0" rtlCol="0" anchor="t"/>
          <a:lstStyle/>
          <a:p>
            <a:pPr rtl="1" algn="r" indent="0" marL="0">
              <a:lnSpc>
                <a:spcPts val="1900"/>
              </a:lnSpc>
              <a:buNone/>
            </a:pPr>
            <a:r>
              <a:rPr lang="en-US" sz="1200" dirty="0">
                <a:solidFill>
                  <a:srgbClr val="6A748C"/>
                </a:solidFill>
                <a:latin typeface="Arial" pitchFamily="34" charset="0"/>
                <a:ea typeface="Arial" pitchFamily="34" charset="-122"/>
                <a:cs typeface="Arial" pitchFamily="34" charset="-120"/>
              </a:rPr>
              <a:t>چرا بیشینه و نه میانگین: یک قطعه مشکوک کافی است، چون رویداد فقط چند ثانیه است</a:t>
            </a:r>
            <a:endParaRPr lang="en-US" sz="1200" dirty="0"/>
          </a:p>
        </p:txBody>
      </p:sp>
      <p:sp>
        <p:nvSpPr>
          <p:cNvPr id="8" name="Shape 6"/>
          <p:cNvSpPr/>
          <p:nvPr/>
        </p:nvSpPr>
        <p:spPr>
          <a:xfrm>
            <a:off x="6217920" y="1600200"/>
            <a:ext cx="5394960" cy="2286000"/>
          </a:xfrm>
          <a:prstGeom prst="roundRect">
            <a:avLst>
              <a:gd name="adj" fmla="val 4000"/>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9" name="Text 7"/>
          <p:cNvSpPr txBox="1"/>
          <p:nvPr/>
        </p:nvSpPr>
        <p:spPr>
          <a:xfrm>
            <a:off x="6537960" y="1783080"/>
            <a:ext cx="475488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مرحله دوم: کدام نوع؟</a:t>
            </a:r>
            <a:endParaRPr lang="en-US" sz="1700" dirty="0"/>
          </a:p>
        </p:txBody>
      </p:sp>
      <p:sp>
        <p:nvSpPr>
          <p:cNvPr id="10" name="Text 8"/>
          <p:cNvSpPr txBox="1"/>
          <p:nvPr/>
        </p:nvSpPr>
        <p:spPr>
          <a:xfrm>
            <a:off x="6537960" y="2194560"/>
            <a:ext cx="4754880" cy="73152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رأی‌گیری میانگین چهار قطعه برتر، تنها میان ۱۳ کلاس ناهنجار</a:t>
            </a:r>
            <a:endParaRPr lang="en-US" sz="1300" dirty="0"/>
          </a:p>
        </p:txBody>
      </p:sp>
      <p:sp>
        <p:nvSpPr>
          <p:cNvPr id="11" name="Text 9"/>
          <p:cNvSpPr txBox="1"/>
          <p:nvPr/>
        </p:nvSpPr>
        <p:spPr>
          <a:xfrm>
            <a:off x="6537960" y="2926080"/>
            <a:ext cx="4754880" cy="777240"/>
          </a:xfrm>
          <a:prstGeom prst="rect">
            <a:avLst/>
          </a:prstGeom>
          <a:noFill/>
          <a:ln/>
        </p:spPr>
        <p:txBody>
          <a:bodyPr wrap="square" lIns="0" tIns="0" rIns="0" bIns="0" rtlCol="0" anchor="t"/>
          <a:lstStyle/>
          <a:p>
            <a:pPr rtl="1" algn="r" indent="0" marL="0">
              <a:lnSpc>
                <a:spcPts val="1900"/>
              </a:lnSpc>
              <a:buNone/>
            </a:pPr>
            <a:r>
              <a:rPr lang="en-US" sz="1200" dirty="0">
                <a:solidFill>
                  <a:srgbClr val="6A748C"/>
                </a:solidFill>
                <a:latin typeface="Arial" pitchFamily="34" charset="0"/>
                <a:ea typeface="Arial" pitchFamily="34" charset="-122"/>
                <a:cs typeface="Arial" pitchFamily="34" charset="-120"/>
              </a:rPr>
              <a:t>کلاس عادی در این مرحله اصلاً وارد رقابت نمی‌شود</a:t>
            </a:r>
            <a:endParaRPr lang="en-US" sz="1200" dirty="0"/>
          </a:p>
        </p:txBody>
      </p:sp>
      <p:sp>
        <p:nvSpPr>
          <p:cNvPr id="12" name="Text 10"/>
          <p:cNvSpPr txBox="1"/>
          <p:nvPr/>
        </p:nvSpPr>
        <p:spPr>
          <a:xfrm>
            <a:off x="548640" y="4114800"/>
            <a:ext cx="1106424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مثال عددی: ویدیوی سرقت، رویداد در قطعه‌های ۴ و ۵</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572000"/>
          <a:ext cx="11064240" cy="914400"/>
        </p:xfrm>
        <a:graphic>
          <a:graphicData uri="http://schemas.openxmlformats.org/drawingml/2006/table">
            <a:tbl>
              <a:tblPr/>
              <a:tblGrid>
                <a:gridCol w="3474720"/>
                <a:gridCol w="2103120"/>
                <a:gridCol w="2743200"/>
                <a:gridCol w="274320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نمره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در برابر آستانه ۰٫۵</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تصمیم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میانگین‌گیری روی ۸ قطعه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0.26</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زیر آستانه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عادی — غلط</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b="1" dirty="0">
                          <a:solidFill>
                            <a:srgbClr val="16264F"/>
                          </a:solidFill>
                          <a:latin typeface="Arial" pitchFamily="34" charset="0"/>
                          <a:ea typeface="Arial" pitchFamily="34" charset="-122"/>
                          <a:cs typeface="Arial" pitchFamily="34" charset="-120"/>
                        </a:rPr>
                        <a:t>بیشینه روی همان ۸ قطعه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0.85</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بالای آستانه</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ناهنجار — درست</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کلاسی که مدل یاد گرفت هرگز نگوید</a:t>
            </a:r>
            <a:endParaRPr lang="en-US" sz="3000" dirty="0"/>
          </a:p>
        </p:txBody>
      </p:sp>
      <p:sp>
        <p:nvSpPr>
          <p:cNvPr id="4" name="Text 2"/>
          <p:cNvSpPr txBox="1"/>
          <p:nvPr/>
        </p:nvSpPr>
        <p:spPr>
          <a:xfrm>
            <a:off x="548640" y="1645920"/>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به‌جای شمردن پیش‌بینی‌های درست، شمردیم مدل هر کلاس را چند بار پیش‌بینی می‌کند.</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6675120" cy="914400"/>
        </p:xfrm>
        <a:graphic>
          <a:graphicData uri="http://schemas.openxmlformats.org/drawingml/2006/table">
            <a:tbl>
              <a:tblPr/>
              <a:tblGrid>
                <a:gridCol w="2560320"/>
                <a:gridCol w="1371600"/>
                <a:gridCol w="1737360"/>
                <a:gridCol w="100584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ویدیوی واقعی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چند بار پیش‌بینی شد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نسبت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Fighting — درگیری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0.25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Assault — تعرض</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Vandalism — تخریب</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0.62</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Stealing — دزدی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1.33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RoadAccidents — تصادف</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23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39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1.70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6" name="Shape 3"/>
          <p:cNvSpPr/>
          <p:nvPr/>
        </p:nvSpPr>
        <p:spPr>
          <a:xfrm>
            <a:off x="7498080" y="2148840"/>
            <a:ext cx="4114800" cy="1874520"/>
          </a:xfrm>
          <a:prstGeom prst="roundRect">
            <a:avLst>
              <a:gd name="adj" fmla="val 487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772400" y="2313432"/>
            <a:ext cx="356616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تشخیص</a:t>
            </a:r>
            <a:endParaRPr lang="en-US" sz="1600" dirty="0"/>
          </a:p>
        </p:txBody>
      </p:sp>
      <p:sp>
        <p:nvSpPr>
          <p:cNvPr id="8" name="Text 5"/>
          <p:cNvSpPr txBox="1"/>
          <p:nvPr/>
        </p:nvSpPr>
        <p:spPr>
          <a:xfrm>
            <a:off x="7772400" y="2697480"/>
            <a:ext cx="3566160" cy="118872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مدل روی درگیری «شکست نخورده» بود. یاد گرفته بود هرگز نگوید درگیری، چون گفتنش شرط‌بندی بدی بود.</a:t>
            </a:r>
            <a:endParaRPr lang="en-US" sz="1250" dirty="0"/>
          </a:p>
        </p:txBody>
      </p:sp>
      <p:sp>
        <p:nvSpPr>
          <p:cNvPr id="9" name="Text 6"/>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علت ریشه‌ای</a:t>
            </a:r>
            <a:endParaRPr lang="en-US" sz="1700" dirty="0"/>
          </a:p>
        </p:txBody>
      </p:sp>
      <p:sp>
        <p:nvSpPr>
          <p:cNvPr id="10" name="Text 7"/>
          <p:cNvSpPr txBox="1"/>
          <p:nvPr/>
        </p:nvSpPr>
        <p:spPr>
          <a:xfrm>
            <a:off x="548640" y="4663440"/>
            <a:ext cx="11064240" cy="1463040"/>
          </a:xfrm>
          <a:prstGeom prst="rect">
            <a:avLst/>
          </a:prstGeom>
          <a:noFill/>
          <a:ln/>
        </p:spPr>
        <p:txBody>
          <a:bodyPr wrap="square" lIns="0" tIns="0" rIns="0" bIns="0" rtlCol="0" anchor="t"/>
          <a:lstStyle/>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تابع وزن‌دهی کلاس در کد وجود داشت ولی هیچ‌جا صدا زده نمی‌شد.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وزن‌ها همه‌جا ۱٫۰ بودند، جز دو عدد دستی ۲٫۰. کلاس عادی حدود ۱۹ برابر کلاس درگیری گرادیان تولید می‌کرد.</a:t>
            </a:r>
            <a:endParaRPr lang="en-US" sz="1300" dirty="0"/>
          </a:p>
          <a:p>
            <a:pPr algn="r" indent="0" marL="0">
              <a:lnSpc>
                <a:spcPts val="2200"/>
              </a:lnSpc>
              <a:spcAft>
                <a:spcPts val="700"/>
              </a:spcAft>
              <a:buNone/>
            </a:pPr>
            <a:r>
              <a:rPr lang="en-US" sz="1300" dirty="0">
                <a:solidFill>
                  <a:srgbClr val="1B2236"/>
                </a:solidFill>
                <a:latin typeface="Arial" pitchFamily="34" charset="0"/>
                <a:ea typeface="Arial" pitchFamily="34" charset="-122"/>
                <a:cs typeface="Arial" pitchFamily="34" charset="-120"/>
              </a:rPr>
              <a:t>●  با وزن‌دهی معکوس فراوانی آن نسبت به ۳٫۶ رسید و درگیری ۹ بار پیش‌بینی شد به‌جای ۲ بار.</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محدودیت بنیادی: هندسه فضای متنی</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اسم خام کلاس‌ها در فضای زبانی CLIP تقریباً هم‌راستا هستند و سقفی مستقل از کیفیت تصویری تحمیل می‌کنند.</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5029200" cy="914400"/>
        </p:xfrm>
        <a:graphic>
          <a:graphicData uri="http://schemas.openxmlformats.org/drawingml/2006/table">
            <a:tbl>
              <a:tblPr/>
              <a:tblGrid>
                <a:gridCol w="3200400"/>
                <a:gridCol w="182880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جفت 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شباهت کسینوسی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Abuse  /  Stealing</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0.91</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Assault  /  Arrest</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0.91</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84048">
                <a:tc>
                  <a:txBody>
                    <a:bodyPr/>
                    <a:lstStyle/>
                    <a:p>
                      <a:pPr algn="r" indent="0" marL="0">
                        <a:buNone/>
                      </a:pPr>
                      <a:r>
                        <a:rPr lang="en-US" sz="1300" dirty="0">
                          <a:solidFill>
                            <a:srgbClr val="1B2236"/>
                          </a:solidFill>
                          <a:latin typeface="Arial" pitchFamily="34" charset="0"/>
                          <a:ea typeface="Arial" pitchFamily="34" charset="-122"/>
                          <a:cs typeface="Arial" pitchFamily="34" charset="-120"/>
                        </a:rPr>
                        <a:t>Fighting  /  Shooting</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300" dirty="0">
                          <a:solidFill>
                            <a:srgbClr val="1B2236"/>
                          </a:solidFill>
                          <a:latin typeface="Arial" pitchFamily="34" charset="0"/>
                          <a:ea typeface="Arial" pitchFamily="34" charset="-122"/>
                          <a:cs typeface="Arial" pitchFamily="34" charset="-120"/>
                        </a:rPr>
                        <a:t>0.90</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300" b="1" dirty="0">
                          <a:solidFill>
                            <a:srgbClr val="16264F"/>
                          </a:solidFill>
                          <a:latin typeface="Arial" pitchFamily="34" charset="0"/>
                          <a:ea typeface="Arial" pitchFamily="34" charset="-122"/>
                          <a:cs typeface="Arial" pitchFamily="34" charset="-120"/>
                        </a:rPr>
                        <a:t>میانگین همه جفت‌ها</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300" b="1" dirty="0">
                          <a:solidFill>
                            <a:srgbClr val="16264F"/>
                          </a:solidFill>
                          <a:latin typeface="Arial" pitchFamily="34" charset="0"/>
                          <a:ea typeface="Arial" pitchFamily="34" charset="-122"/>
                          <a:cs typeface="Arial" pitchFamily="34" charset="-120"/>
                        </a:rPr>
                        <a:t>0.83</a:t>
                      </a:r>
                      <a:endParaRPr lang="en-US" sz="13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6" name="Shape 3"/>
          <p:cNvSpPr/>
          <p:nvPr/>
        </p:nvSpPr>
        <p:spPr>
          <a:xfrm>
            <a:off x="5852160" y="2148840"/>
            <a:ext cx="5760720" cy="1874520"/>
          </a:xfrm>
          <a:prstGeom prst="roundRect">
            <a:avLst>
              <a:gd name="adj" fmla="val 487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6126480" y="2313432"/>
            <a:ext cx="52120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آزمایش تعیین‌کننده</a:t>
            </a:r>
            <a:endParaRPr lang="en-US" sz="1600" dirty="0"/>
          </a:p>
        </p:txBody>
      </p:sp>
      <p:sp>
        <p:nvSpPr>
          <p:cNvPr id="8" name="Text 5"/>
          <p:cNvSpPr txBox="1"/>
          <p:nvPr/>
        </p:nvSpPr>
        <p:spPr>
          <a:xfrm>
            <a:off x="6126480" y="2697480"/>
            <a:ext cx="5212080" cy="118872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فرض کنید بخش تصویری کاملاً بی‌نقص باشد، یعنی بردار ویدیو دقیقاً برابر بردار کلاس خودش. در این حالت آرمانی، احتمال کلاس درست تنها ۰٫۴۴ درمی‌آید.</a:t>
            </a:r>
            <a:endParaRPr lang="en-US" sz="1250" dirty="0"/>
          </a:p>
        </p:txBody>
      </p:sp>
      <p:sp>
        <p:nvSpPr>
          <p:cNvPr id="9" name="Text 6"/>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راه حل: توصیف بصری به‌جای اسم حقوقی</a:t>
            </a:r>
            <a:endParaRPr lang="en-US" sz="1700" dirty="0"/>
          </a:p>
        </p:txBody>
      </p:sp>
      <p:sp>
        <p:nvSpPr>
          <p:cNvPr id="10" name="Shape 7"/>
          <p:cNvSpPr/>
          <p:nvPr/>
        </p:nvSpPr>
        <p:spPr>
          <a:xfrm>
            <a:off x="548640" y="4663440"/>
            <a:ext cx="5486400" cy="1280160"/>
          </a:xfrm>
          <a:prstGeom prst="roundRect">
            <a:avLst>
              <a:gd name="adj" fmla="val 7143"/>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Text 8"/>
          <p:cNvSpPr txBox="1"/>
          <p:nvPr/>
        </p:nvSpPr>
        <p:spPr>
          <a:xfrm>
            <a:off x="822960" y="4800600"/>
            <a:ext cx="493776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پیش از تغییر</a:t>
            </a:r>
            <a:endParaRPr lang="en-US" sz="1200" dirty="0"/>
          </a:p>
        </p:txBody>
      </p:sp>
      <p:sp>
        <p:nvSpPr>
          <p:cNvPr id="12" name="Text 9"/>
          <p:cNvSpPr txBox="1"/>
          <p:nvPr/>
        </p:nvSpPr>
        <p:spPr>
          <a:xfrm>
            <a:off x="822960" y="5120640"/>
            <a:ext cx="4937760" cy="365760"/>
          </a:xfrm>
          <a:prstGeom prst="rect">
            <a:avLst/>
          </a:prstGeom>
          <a:noFill/>
          <a:ln/>
        </p:spPr>
        <p:txBody>
          <a:bodyPr wrap="square" lIns="0" tIns="0" rIns="0" bIns="0" rtlCol="0" anchor="t"/>
          <a:lstStyle/>
          <a:p>
            <a:pPr algn="r" indent="0" marL="0">
              <a:buNone/>
            </a:pPr>
            <a:r>
              <a:rPr lang="en-US" sz="1600" b="1" dirty="0">
                <a:solidFill>
                  <a:srgbClr val="C9483B"/>
                </a:solidFill>
                <a:latin typeface="Arial" pitchFamily="34" charset="0"/>
                <a:ea typeface="Arial" pitchFamily="34" charset="-122"/>
                <a:cs typeface="Arial" pitchFamily="34" charset="-120"/>
              </a:rPr>
              <a:t>"Burglary"</a:t>
            </a:r>
            <a:endParaRPr lang="en-US" sz="1600" dirty="0"/>
          </a:p>
        </p:txBody>
      </p:sp>
      <p:sp>
        <p:nvSpPr>
          <p:cNvPr id="13" name="Text 10"/>
          <p:cNvSpPr txBox="1"/>
          <p:nvPr/>
        </p:nvSpPr>
        <p:spPr>
          <a:xfrm>
            <a:off x="822960" y="5486400"/>
            <a:ext cx="4937760" cy="320040"/>
          </a:xfrm>
          <a:prstGeom prst="rect">
            <a:avLst/>
          </a:prstGeom>
          <a:noFill/>
          <a:ln/>
        </p:spPr>
        <p:txBody>
          <a:bodyPr wrap="square" lIns="0" tIns="0" rIns="0" bIns="0" rtlCol="0" anchor="t"/>
          <a:lstStyle/>
          <a:p>
            <a:pPr rtl="1" algn="r" indent="0" marL="0">
              <a:buNone/>
            </a:pPr>
            <a:r>
              <a:rPr lang="en-US" sz="1250" dirty="0">
                <a:solidFill>
                  <a:srgbClr val="1B2236"/>
                </a:solidFill>
                <a:latin typeface="Arial" pitchFamily="34" charset="0"/>
                <a:ea typeface="Arial" pitchFamily="34" charset="-122"/>
                <a:cs typeface="Arial" pitchFamily="34" charset="-120"/>
              </a:rPr>
              <a:t>سقف اندازه‌گیری‌شده: 0.44</a:t>
            </a:r>
            <a:endParaRPr lang="en-US" sz="1250" dirty="0"/>
          </a:p>
        </p:txBody>
      </p:sp>
      <p:sp>
        <p:nvSpPr>
          <p:cNvPr id="14" name="Shape 11"/>
          <p:cNvSpPr/>
          <p:nvPr/>
        </p:nvSpPr>
        <p:spPr>
          <a:xfrm>
            <a:off x="6309360" y="4663440"/>
            <a:ext cx="5303520" cy="1280160"/>
          </a:xfrm>
          <a:prstGeom prst="roundRect">
            <a:avLst>
              <a:gd name="adj" fmla="val 7143"/>
            </a:avLst>
          </a:prstGeom>
          <a:solidFill>
            <a:srgbClr val="EAF6F5"/>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Text 12"/>
          <p:cNvSpPr txBox="1"/>
          <p:nvPr/>
        </p:nvSpPr>
        <p:spPr>
          <a:xfrm>
            <a:off x="6583680" y="4800600"/>
            <a:ext cx="475488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پس از تغییر</a:t>
            </a:r>
            <a:endParaRPr lang="en-US" sz="1200" dirty="0"/>
          </a:p>
        </p:txBody>
      </p:sp>
      <p:sp>
        <p:nvSpPr>
          <p:cNvPr id="16" name="Text 13"/>
          <p:cNvSpPr txBox="1"/>
          <p:nvPr/>
        </p:nvSpPr>
        <p:spPr>
          <a:xfrm>
            <a:off x="6583680" y="5120640"/>
            <a:ext cx="4754880" cy="365760"/>
          </a:xfrm>
          <a:prstGeom prst="rect">
            <a:avLst/>
          </a:prstGeom>
          <a:noFill/>
          <a:ln/>
        </p:spPr>
        <p:txBody>
          <a:bodyPr wrap="square" lIns="0" tIns="0" rIns="0" bIns="0" rtlCol="0" anchor="t"/>
          <a:lstStyle/>
          <a:p>
            <a:pPr algn="r" indent="0" marL="0">
              <a:buNone/>
            </a:pPr>
            <a:r>
              <a:rPr lang="en-US" sz="1150" b="1" dirty="0">
                <a:solidFill>
                  <a:srgbClr val="3FA7A0"/>
                </a:solidFill>
                <a:latin typeface="Arial" pitchFamily="34" charset="0"/>
                <a:ea typeface="Arial" pitchFamily="34" charset="-122"/>
                <a:cs typeface="Arial" pitchFamily="34" charset="-120"/>
              </a:rPr>
              <a:t>"a burglar climbing through a broken window"</a:t>
            </a:r>
            <a:endParaRPr lang="en-US" sz="1150" dirty="0"/>
          </a:p>
        </p:txBody>
      </p:sp>
      <p:sp>
        <p:nvSpPr>
          <p:cNvPr id="17" name="Text 14"/>
          <p:cNvSpPr txBox="1"/>
          <p:nvPr/>
        </p:nvSpPr>
        <p:spPr>
          <a:xfrm>
            <a:off x="6583680" y="5486400"/>
            <a:ext cx="4754880" cy="320040"/>
          </a:xfrm>
          <a:prstGeom prst="rect">
            <a:avLst/>
          </a:prstGeom>
          <a:noFill/>
          <a:ln/>
        </p:spPr>
        <p:txBody>
          <a:bodyPr wrap="square" lIns="0" tIns="0" rIns="0" bIns="0" rtlCol="0" anchor="t"/>
          <a:lstStyle/>
          <a:p>
            <a:pPr rtl="1" algn="r" indent="0" marL="0">
              <a:buNone/>
            </a:pPr>
            <a:r>
              <a:rPr lang="en-US" sz="1250" dirty="0">
                <a:solidFill>
                  <a:srgbClr val="1B2236"/>
                </a:solidFill>
                <a:latin typeface="Arial" pitchFamily="34" charset="0"/>
                <a:ea typeface="Arial" pitchFamily="34" charset="-122"/>
                <a:cs typeface="Arial" pitchFamily="34" charset="-120"/>
              </a:rPr>
              <a:t>سقف اندازه‌گیری‌شده: 0.86</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اول</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نتایج مسیر اول</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480560"/>
                <a:gridCol w="1645920"/>
                <a:gridCol w="1645920"/>
                <a:gridCol w="1645920"/>
                <a:gridCol w="1645920"/>
              </a:tblGrid>
              <a:tr h="40233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پیکربندی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AUC دودویی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نوع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کلی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402336">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اجرای پایه — اسم خام، وزن دستی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0.9473</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0.3327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0.3716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0.6385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402336">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توصیف بصری + وزن معکوس فراوانی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0.9637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0.3713</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0.4054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0.6351</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402336">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افزودن چهار نمای زمانی در آزمون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0.9629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0.3881</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0.4257</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0.6419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3611880"/>
            <a:ext cx="5486400" cy="36576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کلاس‌هایی که از مرگ برگشتند</a:t>
            </a:r>
            <a:endParaRPr lang="en-US" sz="16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48640" y="4069080"/>
          <a:ext cx="5486400" cy="914400"/>
        </p:xfrm>
        <a:graphic>
          <a:graphicData uri="http://schemas.openxmlformats.org/drawingml/2006/table">
            <a:tbl>
              <a:tblPr/>
              <a:tblGrid>
                <a:gridCol w="2194560"/>
                <a:gridCol w="1645920"/>
                <a:gridCol w="164592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کلاس</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F1 پیش از تغییر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F1 پس از تغییر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Arrest — بازداشت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0.556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Abuse — سوءاستفاده</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0.462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0.714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Stealing — دزدی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0.200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0.350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Vandalism — تخریب</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0.167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
        <p:nvSpPr>
          <p:cNvPr id="7" name="Shape 3"/>
          <p:cNvSpPr/>
          <p:nvPr/>
        </p:nvSpPr>
        <p:spPr>
          <a:xfrm>
            <a:off x="6400800" y="3611880"/>
            <a:ext cx="5212080" cy="2331720"/>
          </a:xfrm>
          <a:prstGeom prst="roundRect">
            <a:avLst>
              <a:gd name="adj" fmla="val 3922"/>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4"/>
          <p:cNvSpPr txBox="1"/>
          <p:nvPr/>
        </p:nvSpPr>
        <p:spPr>
          <a:xfrm>
            <a:off x="6675120" y="3794760"/>
            <a:ext cx="466344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چرا از این مسیر فاصله گرفتیم</a:t>
            </a:r>
            <a:endParaRPr lang="en-US" sz="1600" dirty="0"/>
          </a:p>
        </p:txBody>
      </p:sp>
      <p:sp>
        <p:nvSpPr>
          <p:cNvPr id="9" name="Text 5"/>
          <p:cNvSpPr txBox="1"/>
          <p:nvPr/>
        </p:nvSpPr>
        <p:spPr>
          <a:xfrm>
            <a:off x="6675120" y="4206240"/>
            <a:ext cx="4663440" cy="1463040"/>
          </a:xfrm>
          <a:prstGeom prst="rect">
            <a:avLst/>
          </a:prstGeom>
          <a:noFill/>
          <a:ln/>
        </p:spPr>
        <p:txBody>
          <a:bodyPr wrap="square" lIns="0" tIns="0" rIns="0" bIns="0" rtlCol="0" anchor="t"/>
          <a:lstStyle/>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هر پیکربندی حدود ۱۶ ساعت طول می‌کشید</a:t>
            </a:r>
            <a:endParaRPr lang="en-US" sz="1200" dirty="0"/>
          </a:p>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با این هزینه، آزمون سیستماتیک فرضیه‌ها ناممکن بود</a:t>
            </a:r>
            <a:endParaRPr lang="en-US" sz="1200" dirty="0"/>
          </a:p>
          <a:p>
            <a:pPr algn="r" indent="0" marL="0">
              <a:lnSpc>
                <a:spcPts val="2200"/>
              </a:lnSpc>
              <a:spcAft>
                <a:spcPts val="700"/>
              </a:spcAft>
              <a:buNone/>
            </a:pPr>
            <a:r>
              <a:rPr lang="en-US" sz="1200" dirty="0">
                <a:solidFill>
                  <a:srgbClr val="1B2236"/>
                </a:solidFill>
                <a:latin typeface="Arial" pitchFamily="34" charset="0"/>
                <a:ea typeface="Arial" pitchFamily="34" charset="-122"/>
                <a:cs typeface="Arial" pitchFamily="34" charset="-120"/>
              </a:rPr>
              <a:t>●  خطای باقی‌مانده در خوشه دزدی بود و ماهیتش مکانی بود، نه زمانی</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1645920" y="-1371600"/>
            <a:ext cx="5120640" cy="5120640"/>
          </a:xfrm>
          <a:prstGeom prst="ellipse">
            <a:avLst/>
          </a:prstGeom>
          <a:solidFill>
            <a:srgbClr val="1E3566"/>
          </a:solidFill>
          <a:ln w="12700">
            <a:solidFill>
              <a:srgbClr val="333333"/>
            </a:solidFill>
            <a:prstDash val="solid"/>
          </a:ln>
        </p:spPr>
      </p:sp>
      <p:sp>
        <p:nvSpPr>
          <p:cNvPr id="3" name="Text 1"/>
          <p:cNvSpPr txBox="1"/>
          <p:nvPr/>
        </p:nvSpPr>
        <p:spPr>
          <a:xfrm>
            <a:off x="4572000" y="2194560"/>
            <a:ext cx="6858000" cy="548640"/>
          </a:xfrm>
          <a:prstGeom prst="rect">
            <a:avLst/>
          </a:prstGeom>
          <a:noFill/>
          <a:ln/>
        </p:spPr>
        <p:txBody>
          <a:bodyPr wrap="square" lIns="0" tIns="0" rIns="0" bIns="0" rtlCol="0" anchor="t"/>
          <a:lstStyle/>
          <a:p>
            <a:pPr rtl="1" algn="r" indent="0" marL="0">
              <a:buNone/>
            </a:pPr>
            <a:r>
              <a:rPr lang="en-US" sz="1800" b="1" dirty="0">
                <a:solidFill>
                  <a:srgbClr val="E8A33D"/>
                </a:solidFill>
                <a:latin typeface="Arial" pitchFamily="34" charset="0"/>
                <a:ea typeface="Arial" pitchFamily="34" charset="-122"/>
                <a:cs typeface="Arial" pitchFamily="34" charset="-120"/>
              </a:rPr>
              <a:t>مسیر دوم</a:t>
            </a:r>
            <a:endParaRPr lang="en-US" sz="1800" dirty="0"/>
          </a:p>
        </p:txBody>
      </p:sp>
      <p:sp>
        <p:nvSpPr>
          <p:cNvPr id="4" name="Text 2"/>
          <p:cNvSpPr txBox="1"/>
          <p:nvPr/>
        </p:nvSpPr>
        <p:spPr>
          <a:xfrm>
            <a:off x="4572000" y="2743200"/>
            <a:ext cx="6858000" cy="1097280"/>
          </a:xfrm>
          <a:prstGeom prst="rect">
            <a:avLst/>
          </a:prstGeom>
          <a:noFill/>
          <a:ln/>
        </p:spPr>
        <p:txBody>
          <a:bodyPr wrap="square" lIns="0" tIns="0" rIns="0" bIns="0" rtlCol="0" anchor="t"/>
          <a:lstStyle/>
          <a:p>
            <a:pPr algn="r" indent="0" marL="0">
              <a:buNone/>
            </a:pPr>
            <a:r>
              <a:rPr lang="en-US" sz="6000" b="1" dirty="0">
                <a:solidFill>
                  <a:srgbClr val="FFFFFF"/>
                </a:solidFill>
                <a:latin typeface="Arial" pitchFamily="34" charset="0"/>
                <a:ea typeface="Arial" pitchFamily="34" charset="-122"/>
                <a:cs typeface="Arial" pitchFamily="34" charset="-120"/>
              </a:rPr>
              <a:t>VideoMAE</a:t>
            </a:r>
            <a:endParaRPr lang="en-US" sz="6000" dirty="0"/>
          </a:p>
        </p:txBody>
      </p:sp>
      <p:sp>
        <p:nvSpPr>
          <p:cNvPr id="5" name="Text 3"/>
          <p:cNvSpPr txBox="1"/>
          <p:nvPr/>
        </p:nvSpPr>
        <p:spPr>
          <a:xfrm>
            <a:off x="4572000" y="3931920"/>
            <a:ext cx="6858000" cy="457200"/>
          </a:xfrm>
          <a:prstGeom prst="rect">
            <a:avLst/>
          </a:prstGeom>
          <a:noFill/>
          <a:ln/>
        </p:spPr>
        <p:txBody>
          <a:bodyPr wrap="square" lIns="0" tIns="0" rIns="0" bIns="0" rtlCol="0" anchor="t"/>
          <a:lstStyle/>
          <a:p>
            <a:pPr rtl="1" algn="r" indent="0" marL="0">
              <a:buNone/>
            </a:pPr>
            <a:r>
              <a:rPr lang="en-US" sz="1700" dirty="0">
                <a:solidFill>
                  <a:srgbClr val="BFD4F2"/>
                </a:solidFill>
                <a:latin typeface="Arial" pitchFamily="34" charset="0"/>
                <a:ea typeface="Arial" pitchFamily="34" charset="-122"/>
                <a:cs typeface="Arial" pitchFamily="34" charset="-120"/>
              </a:rPr>
              <a:t>رمزگذار منجمد و ویژگی‌های ذخیره‌شده</a:t>
            </a:r>
            <a:endParaRPr lang="en-US" sz="1700" dirty="0"/>
          </a:p>
        </p:txBody>
      </p:sp>
      <p:sp>
        <p:nvSpPr>
          <p:cNvPr id="6" name="Text 4"/>
          <p:cNvSpPr txBox="1"/>
          <p:nvPr/>
        </p:nvSpPr>
        <p:spPr>
          <a:xfrm>
            <a:off x="4572000" y="4663440"/>
            <a:ext cx="6858000" cy="640080"/>
          </a:xfrm>
          <a:prstGeom prst="rect">
            <a:avLst/>
          </a:prstGeom>
          <a:noFill/>
          <a:ln/>
        </p:spPr>
        <p:txBody>
          <a:bodyPr wrap="square" lIns="0" tIns="0" rIns="0" bIns="0" rtlCol="0" anchor="t"/>
          <a:lstStyle/>
          <a:p>
            <a:pPr algn="r" indent="0" marL="0">
              <a:buNone/>
            </a:pPr>
            <a:r>
              <a:rPr lang="en-US" sz="2600" b="1" dirty="0">
                <a:solidFill>
                  <a:srgbClr val="E8A33D"/>
                </a:solidFill>
                <a:latin typeface="Arial" pitchFamily="34" charset="0"/>
                <a:ea typeface="Arial" pitchFamily="34" charset="-122"/>
                <a:cs typeface="Arial" pitchFamily="34" charset="-120"/>
              </a:rPr>
              <a:t>0.2975  ←  0.4298</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VideoMAE چطور یاد گرفت</a:t>
            </a:r>
            <a:endParaRPr lang="en-US" sz="3000" dirty="0"/>
          </a:p>
        </p:txBody>
      </p:sp>
      <p:sp>
        <p:nvSpPr>
          <p:cNvPr id="4" name="Shape 2"/>
          <p:cNvSpPr/>
          <p:nvPr/>
        </p:nvSpPr>
        <p:spPr>
          <a:xfrm>
            <a:off x="548640" y="1645920"/>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Shape 3"/>
          <p:cNvSpPr/>
          <p:nvPr/>
        </p:nvSpPr>
        <p:spPr>
          <a:xfrm>
            <a:off x="7406640" y="1847088"/>
            <a:ext cx="475488" cy="475488"/>
          </a:xfrm>
          <a:prstGeom prst="ellipse">
            <a:avLst/>
          </a:prstGeom>
          <a:solidFill>
            <a:srgbClr val="16264F"/>
          </a:solidFill>
          <a:ln w="12700">
            <a:solidFill>
              <a:srgbClr val="16264F"/>
            </a:solidFill>
            <a:prstDash val="solid"/>
          </a:ln>
        </p:spPr>
      </p:sp>
      <p:sp>
        <p:nvSpPr>
          <p:cNvPr id="6" name="Text 4"/>
          <p:cNvSpPr txBox="1"/>
          <p:nvPr/>
        </p:nvSpPr>
        <p:spPr>
          <a:xfrm>
            <a:off x="7406640" y="184708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914400" y="1737360"/>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پوشاندن</a:t>
            </a:r>
            <a:endParaRPr lang="en-US" sz="1500" dirty="0"/>
          </a:p>
        </p:txBody>
      </p:sp>
      <p:sp>
        <p:nvSpPr>
          <p:cNvPr id="8" name="Text 6"/>
          <p:cNvSpPr txBox="1"/>
          <p:nvPr/>
        </p:nvSpPr>
        <p:spPr>
          <a:xfrm>
            <a:off x="914400" y="2057400"/>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حدود ۹۰ درصد مکعب‌های فضازمانی پوشانده می‌شوند</a:t>
            </a:r>
            <a:endParaRPr lang="en-US" sz="1200" dirty="0"/>
          </a:p>
        </p:txBody>
      </p:sp>
      <p:sp>
        <p:nvSpPr>
          <p:cNvPr id="9" name="Shape 7"/>
          <p:cNvSpPr/>
          <p:nvPr/>
        </p:nvSpPr>
        <p:spPr>
          <a:xfrm>
            <a:off x="548640" y="2670048"/>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Shape 8"/>
          <p:cNvSpPr/>
          <p:nvPr/>
        </p:nvSpPr>
        <p:spPr>
          <a:xfrm>
            <a:off x="7406640" y="2871216"/>
            <a:ext cx="475488" cy="475488"/>
          </a:xfrm>
          <a:prstGeom prst="ellipse">
            <a:avLst/>
          </a:prstGeom>
          <a:solidFill>
            <a:srgbClr val="16264F"/>
          </a:solidFill>
          <a:ln w="12700">
            <a:solidFill>
              <a:srgbClr val="16264F"/>
            </a:solidFill>
            <a:prstDash val="solid"/>
          </a:ln>
        </p:spPr>
      </p:sp>
      <p:sp>
        <p:nvSpPr>
          <p:cNvPr id="11" name="Text 9"/>
          <p:cNvSpPr txBox="1"/>
          <p:nvPr/>
        </p:nvSpPr>
        <p:spPr>
          <a:xfrm>
            <a:off x="7406640" y="287121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914400" y="2761488"/>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بازسازی</a:t>
            </a:r>
            <a:endParaRPr lang="en-US" sz="1500" dirty="0"/>
          </a:p>
        </p:txBody>
      </p:sp>
      <p:sp>
        <p:nvSpPr>
          <p:cNvPr id="13" name="Text 11"/>
          <p:cNvSpPr txBox="1"/>
          <p:nvPr/>
        </p:nvSpPr>
        <p:spPr>
          <a:xfrm>
            <a:off x="914400" y="3081528"/>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رمزگذار فقط ۱۰ درصد باقی‌مانده را می‌بیند و رمزگشا جای خالی‌ها را حدس می‌زند</a:t>
            </a:r>
            <a:endParaRPr lang="en-US" sz="1200" dirty="0"/>
          </a:p>
        </p:txBody>
      </p:sp>
      <p:sp>
        <p:nvSpPr>
          <p:cNvPr id="14" name="Shape 12"/>
          <p:cNvSpPr/>
          <p:nvPr/>
        </p:nvSpPr>
        <p:spPr>
          <a:xfrm>
            <a:off x="548640" y="3694176"/>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5" name="Shape 13"/>
          <p:cNvSpPr/>
          <p:nvPr/>
        </p:nvSpPr>
        <p:spPr>
          <a:xfrm>
            <a:off x="7406640" y="3895344"/>
            <a:ext cx="475488" cy="475488"/>
          </a:xfrm>
          <a:prstGeom prst="ellipse">
            <a:avLst/>
          </a:prstGeom>
          <a:solidFill>
            <a:srgbClr val="16264F"/>
          </a:solidFill>
          <a:ln w="12700">
            <a:solidFill>
              <a:srgbClr val="16264F"/>
            </a:solidFill>
            <a:prstDash val="solid"/>
          </a:ln>
        </p:spPr>
      </p:sp>
      <p:sp>
        <p:nvSpPr>
          <p:cNvPr id="16" name="Text 14"/>
          <p:cNvSpPr txBox="1"/>
          <p:nvPr/>
        </p:nvSpPr>
        <p:spPr>
          <a:xfrm>
            <a:off x="7406640" y="389534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914400" y="3785616"/>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بدون برچسب</a:t>
            </a:r>
            <a:endParaRPr lang="en-US" sz="1500" dirty="0"/>
          </a:p>
        </p:txBody>
      </p:sp>
      <p:sp>
        <p:nvSpPr>
          <p:cNvPr id="18" name="Text 16"/>
          <p:cNvSpPr txBox="1"/>
          <p:nvPr/>
        </p:nvSpPr>
        <p:spPr>
          <a:xfrm>
            <a:off x="914400" y="4105656"/>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خود ویدیو هم سؤال است و هم جواب، پس روی حجم عظیمی از داده ممکن است</a:t>
            </a:r>
            <a:endParaRPr lang="en-US" sz="1200" dirty="0"/>
          </a:p>
        </p:txBody>
      </p:sp>
      <p:sp>
        <p:nvSpPr>
          <p:cNvPr id="19" name="Shape 17"/>
          <p:cNvSpPr/>
          <p:nvPr/>
        </p:nvSpPr>
        <p:spPr>
          <a:xfrm>
            <a:off x="548640" y="4718304"/>
            <a:ext cx="7589520" cy="868680"/>
          </a:xfrm>
          <a:prstGeom prst="roundRect">
            <a:avLst>
              <a:gd name="adj" fmla="val 10526"/>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0" name="Shape 18"/>
          <p:cNvSpPr/>
          <p:nvPr/>
        </p:nvSpPr>
        <p:spPr>
          <a:xfrm>
            <a:off x="7406640" y="4919472"/>
            <a:ext cx="475488" cy="475488"/>
          </a:xfrm>
          <a:prstGeom prst="ellipse">
            <a:avLst/>
          </a:prstGeom>
          <a:solidFill>
            <a:srgbClr val="E8A33D"/>
          </a:solidFill>
          <a:ln w="12700">
            <a:solidFill>
              <a:srgbClr val="E8A33D"/>
            </a:solidFill>
            <a:prstDash val="solid"/>
          </a:ln>
        </p:spPr>
      </p:sp>
      <p:sp>
        <p:nvSpPr>
          <p:cNvPr id="21" name="Text 19"/>
          <p:cNvSpPr txBox="1"/>
          <p:nvPr/>
        </p:nvSpPr>
        <p:spPr>
          <a:xfrm>
            <a:off x="7406640" y="491947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14400" y="4809744"/>
            <a:ext cx="6309360" cy="292608"/>
          </a:xfrm>
          <a:prstGeom prst="rect">
            <a:avLst/>
          </a:prstGeom>
          <a:noFill/>
          <a:ln/>
        </p:spPr>
        <p:txBody>
          <a:bodyPr wrap="square" lIns="0" tIns="0" rIns="0" bIns="0" rtlCol="0" anchor="t"/>
          <a:lstStyle/>
          <a:p>
            <a:pPr rtl="1" algn="r" indent="0" marL="0">
              <a:buNone/>
            </a:pPr>
            <a:r>
              <a:rPr lang="en-US" sz="1500" b="1" dirty="0">
                <a:solidFill>
                  <a:srgbClr val="16264F"/>
                </a:solidFill>
                <a:latin typeface="Arial" pitchFamily="34" charset="0"/>
                <a:ea typeface="Arial" pitchFamily="34" charset="-122"/>
                <a:cs typeface="Arial" pitchFamily="34" charset="-120"/>
              </a:rPr>
              <a:t>دور انداختن رمزگشا</a:t>
            </a:r>
            <a:endParaRPr lang="en-US" sz="1500" dirty="0"/>
          </a:p>
        </p:txBody>
      </p:sp>
      <p:sp>
        <p:nvSpPr>
          <p:cNvPr id="23" name="Text 21"/>
          <p:cNvSpPr txBox="1"/>
          <p:nvPr/>
        </p:nvSpPr>
        <p:spPr>
          <a:xfrm>
            <a:off x="914400" y="5129784"/>
            <a:ext cx="6309360" cy="384048"/>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پس از پیش‌آموزش تنها رمزگذار می‌ماند و روی Kinetics تنظیم می‌شود</a:t>
            </a:r>
            <a:endParaRPr lang="en-US" sz="1200" dirty="0"/>
          </a:p>
        </p:txBody>
      </p:sp>
      <p:sp>
        <p:nvSpPr>
          <p:cNvPr id="24" name="Shape 22"/>
          <p:cNvSpPr/>
          <p:nvPr/>
        </p:nvSpPr>
        <p:spPr>
          <a:xfrm>
            <a:off x="8412480" y="1645920"/>
            <a:ext cx="3200400" cy="4023360"/>
          </a:xfrm>
          <a:prstGeom prst="roundRect">
            <a:avLst>
              <a:gd name="adj" fmla="val 285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5" name="Text 23"/>
          <p:cNvSpPr txBox="1"/>
          <p:nvPr/>
        </p:nvSpPr>
        <p:spPr>
          <a:xfrm>
            <a:off x="8686800" y="1828800"/>
            <a:ext cx="265176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تفاوت با X-CLIP</a:t>
            </a:r>
            <a:endParaRPr lang="en-US" sz="1500" dirty="0"/>
          </a:p>
        </p:txBody>
      </p:sp>
      <p:sp>
        <p:nvSpPr>
          <p:cNvPr id="26" name="Text 24"/>
          <p:cNvSpPr txBox="1"/>
          <p:nvPr/>
        </p:nvSpPr>
        <p:spPr>
          <a:xfrm>
            <a:off x="8686800" y="2240280"/>
            <a:ext cx="2651760" cy="3200400"/>
          </a:xfrm>
          <a:prstGeom prst="rect">
            <a:avLst/>
          </a:prstGeom>
          <a:noFill/>
          <a:ln/>
        </p:spPr>
        <p:txBody>
          <a:bodyPr wrap="square" lIns="0" tIns="0" rIns="0" bIns="0" rtlCol="0" anchor="t"/>
          <a:lstStyle/>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X-CLIP از متن یاد گرفت.</a:t>
            </a:r>
            <a:endParaRPr lang="en-US" sz="1250" dirty="0"/>
          </a:p>
          <a:p>
            <a:pPr rtl="1" algn="r" indent="0" marL="0">
              <a:lnSpc>
                <a:spcPts val="2000"/>
              </a:lnSpc>
              <a:buNone/>
            </a:pPr>
            <a:endParaRPr lang="en-US" sz="1250" dirty="0"/>
          </a:p>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VideoMAE از خود ویدیو.</a:t>
            </a:r>
            <a:endParaRPr lang="en-US" sz="1250" dirty="0"/>
          </a:p>
          <a:p>
            <a:pPr rtl="1" algn="r" indent="0" marL="0">
              <a:lnSpc>
                <a:spcPts val="2000"/>
              </a:lnSpc>
              <a:buNone/>
            </a:pPr>
            <a:endParaRPr lang="en-US" sz="1250" dirty="0"/>
          </a:p>
          <a:p>
            <a:pPr rtl="1" algn="r" indent="0" marL="0">
              <a:lnSpc>
                <a:spcPts val="2000"/>
              </a:lnSpc>
              <a:buNone/>
            </a:pPr>
            <a:r>
              <a:rPr lang="en-US" sz="1250" dirty="0">
                <a:solidFill>
                  <a:srgbClr val="1B2236"/>
                </a:solidFill>
                <a:latin typeface="Arial" pitchFamily="34" charset="0"/>
                <a:ea typeface="Arial" pitchFamily="34" charset="-122"/>
                <a:cs typeface="Arial" pitchFamily="34" charset="-120"/>
              </a:rPr>
              <a:t>پس VideoMAE اصلاً کلمه نمی‌شناسد و آن سقف ۰٫۴۴ که از هم‌راستایی اسم کلاس‌ها می‌آمد، اینجا اصلاً وجود ندارد.</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مهم‌ترین تصمیم پروژه: یخ زدن رمزگذار</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چون رمزگذار آموزش نمی‌بیند، خروجی‌اش ثابت است. پس محاسبه مجددش در هر دوره کار تکراری محض است.</a:t>
            </a:r>
            <a:endParaRPr lang="en-US" sz="1400" dirty="0"/>
          </a:p>
        </p:txBody>
      </p:sp>
      <p:sp>
        <p:nvSpPr>
          <p:cNvPr id="5" name="Text 3"/>
          <p:cNvSpPr txBox="1"/>
          <p:nvPr/>
        </p:nvSpPr>
        <p:spPr>
          <a:xfrm>
            <a:off x="8046720" y="2148840"/>
            <a:ext cx="3566160" cy="777240"/>
          </a:xfrm>
          <a:prstGeom prst="rect">
            <a:avLst/>
          </a:prstGeom>
          <a:noFill/>
          <a:ln/>
        </p:spPr>
        <p:txBody>
          <a:bodyPr wrap="square" lIns="0" tIns="0" rIns="0" bIns="0" rtlCol="0" anchor="ctr"/>
          <a:lstStyle/>
          <a:p>
            <a:pPr algn="ctr" indent="0" marL="0">
              <a:buNone/>
            </a:pPr>
            <a:r>
              <a:rPr lang="en-US" sz="4000" b="1" dirty="0">
                <a:solidFill>
                  <a:srgbClr val="C9483B"/>
                </a:solidFill>
                <a:latin typeface="Arial" pitchFamily="34" charset="0"/>
                <a:ea typeface="Arial" pitchFamily="34" charset="-122"/>
                <a:cs typeface="Arial" pitchFamily="34" charset="-120"/>
              </a:rPr>
              <a:t>16</a:t>
            </a:r>
            <a:endParaRPr lang="en-US" sz="4000" dirty="0"/>
          </a:p>
        </p:txBody>
      </p:sp>
      <p:sp>
        <p:nvSpPr>
          <p:cNvPr id="6" name="Text 4"/>
          <p:cNvSpPr txBox="1"/>
          <p:nvPr/>
        </p:nvSpPr>
        <p:spPr>
          <a:xfrm>
            <a:off x="8046720" y="28986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ساعت برای هر آزمایش — روش قدیم</a:t>
            </a:r>
            <a:endParaRPr lang="en-US" sz="1200" dirty="0"/>
          </a:p>
        </p:txBody>
      </p:sp>
      <p:sp>
        <p:nvSpPr>
          <p:cNvPr id="7" name="Shape 5"/>
          <p:cNvSpPr/>
          <p:nvPr/>
        </p:nvSpPr>
        <p:spPr>
          <a:xfrm>
            <a:off x="6675120" y="2377440"/>
            <a:ext cx="1188720" cy="502920"/>
          </a:xfrm>
          <a:prstGeom prst="leftArrow">
            <a:avLst/>
          </a:prstGeom>
          <a:solidFill>
            <a:srgbClr val="BFD4F2"/>
          </a:solidFill>
          <a:ln w="12700">
            <a:solidFill>
              <a:srgbClr val="333333"/>
            </a:solidFill>
            <a:prstDash val="solid"/>
          </a:ln>
        </p:spPr>
      </p:sp>
      <p:sp>
        <p:nvSpPr>
          <p:cNvPr id="8" name="Text 6"/>
          <p:cNvSpPr txBox="1"/>
          <p:nvPr/>
        </p:nvSpPr>
        <p:spPr>
          <a:xfrm>
            <a:off x="2926080" y="21488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80</a:t>
            </a:r>
            <a:endParaRPr lang="en-US" sz="4000" dirty="0"/>
          </a:p>
        </p:txBody>
      </p:sp>
      <p:sp>
        <p:nvSpPr>
          <p:cNvPr id="9" name="Text 7"/>
          <p:cNvSpPr txBox="1"/>
          <p:nvPr/>
        </p:nvSpPr>
        <p:spPr>
          <a:xfrm>
            <a:off x="2926080" y="28986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ثانیه برای هر آزمایش — روش جدید</a:t>
            </a:r>
            <a:endParaRPr lang="en-US" sz="1200" dirty="0"/>
          </a:p>
        </p:txBody>
      </p:sp>
      <p:sp>
        <p:nvSpPr>
          <p:cNvPr id="10" name="Text 8"/>
          <p:cNvSpPr txBox="1"/>
          <p:nvPr/>
        </p:nvSpPr>
        <p:spPr>
          <a:xfrm>
            <a:off x="548640" y="2148840"/>
            <a:ext cx="210312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200</a:t>
            </a:r>
            <a:endParaRPr lang="en-US" sz="4000" dirty="0"/>
          </a:p>
        </p:txBody>
      </p:sp>
      <p:sp>
        <p:nvSpPr>
          <p:cNvPr id="11" name="Text 9"/>
          <p:cNvSpPr txBox="1"/>
          <p:nvPr/>
        </p:nvSpPr>
        <p:spPr>
          <a:xfrm>
            <a:off x="548640" y="2898648"/>
            <a:ext cx="210312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ارزیابی انجام‌شده</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703320"/>
          <a:ext cx="11064240" cy="914400"/>
        </p:xfrm>
        <a:graphic>
          <a:graphicData uri="http://schemas.openxmlformats.org/drawingml/2006/table">
            <a:tbl>
              <a:tblPr/>
              <a:tblGrid>
                <a:gridCol w="3383280"/>
                <a:gridCol w="3840480"/>
                <a:gridCol w="3840480"/>
              </a:tblGrid>
              <a:tr h="32004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مورد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 قدیم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روش جدید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رمزگشایی ویدیو</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هر دوره تکرار می‌شد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یک بار، هرگز دوباره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اجرای رمزگذار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هر دوره تکرار می‌شد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یک بار، هرگز دوباره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حجم داده ورودی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۷۰ گیگابایت ویدیو</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۹۳ مگابایت عدد</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004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پارامترهای آموزش‌پذیر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حدود ۳۰۰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۴٫۸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004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زمان ۲۰۰ آزمایش</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حدود ۱۳۳ روز</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حدود ۴ ساعت</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3" name="Text 10"/>
          <p:cNvSpPr txBox="1"/>
          <p:nvPr/>
        </p:nvSpPr>
        <p:spPr>
          <a:xfrm>
            <a:off x="548640" y="5897880"/>
            <a:ext cx="11064240" cy="365760"/>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هزینه‌ای که پرداختیم: رمزگذار هرگز به دامنه ویدیوی نظارتی تطبیق نمی‌یابد. این را صریح گزارش کرده‌ایم.</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خط لوله نهایی</a:t>
            </a:r>
            <a:endParaRPr lang="en-US" sz="3000" dirty="0"/>
          </a:p>
        </p:txBody>
      </p:sp>
      <p:sp>
        <p:nvSpPr>
          <p:cNvPr id="4" name="Shape 2"/>
          <p:cNvSpPr/>
          <p:nvPr/>
        </p:nvSpPr>
        <p:spPr>
          <a:xfrm>
            <a:off x="909828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9235440" y="192024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ویدیوی خام</a:t>
            </a:r>
            <a:endParaRPr lang="en-US" sz="1400" dirty="0"/>
          </a:p>
        </p:txBody>
      </p:sp>
      <p:sp>
        <p:nvSpPr>
          <p:cNvPr id="6" name="Text 4"/>
          <p:cNvSpPr txBox="1"/>
          <p:nvPr/>
        </p:nvSpPr>
        <p:spPr>
          <a:xfrm>
            <a:off x="923544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۹۰۰۰ فریم</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۴۰ مگابایت</a:t>
            </a:r>
            <a:endParaRPr lang="en-US" sz="1150" dirty="0"/>
          </a:p>
        </p:txBody>
      </p:sp>
      <p:sp>
        <p:nvSpPr>
          <p:cNvPr id="7" name="Shape 5"/>
          <p:cNvSpPr/>
          <p:nvPr/>
        </p:nvSpPr>
        <p:spPr>
          <a:xfrm>
            <a:off x="8842248" y="2286000"/>
            <a:ext cx="228600" cy="274320"/>
          </a:xfrm>
          <a:prstGeom prst="leftArrow">
            <a:avLst/>
          </a:prstGeom>
          <a:solidFill>
            <a:srgbClr val="BFD4F2"/>
          </a:solidFill>
          <a:ln w="12700">
            <a:solidFill>
              <a:srgbClr val="333333"/>
            </a:solidFill>
            <a:prstDash val="solid"/>
          </a:ln>
        </p:spPr>
      </p:sp>
      <p:sp>
        <p:nvSpPr>
          <p:cNvPr id="8" name="Shape 6"/>
          <p:cNvSpPr/>
          <p:nvPr/>
        </p:nvSpPr>
        <p:spPr>
          <a:xfrm>
            <a:off x="621792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9" name="Text 7"/>
          <p:cNvSpPr txBox="1"/>
          <p:nvPr/>
        </p:nvSpPr>
        <p:spPr>
          <a:xfrm>
            <a:off x="6355080" y="192024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۱۶ قطعه</a:t>
            </a:r>
            <a:endParaRPr lang="en-US" sz="1400" dirty="0"/>
          </a:p>
        </p:txBody>
      </p:sp>
      <p:sp>
        <p:nvSpPr>
          <p:cNvPr id="10" name="Text 8"/>
          <p:cNvSpPr txBox="1"/>
          <p:nvPr/>
        </p:nvSpPr>
        <p:spPr>
          <a:xfrm>
            <a:off x="635508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هر قطعه ۱۶ فریم</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۲۲۴ در ۲۲۴</a:t>
            </a:r>
            <a:endParaRPr lang="en-US" sz="1150" dirty="0"/>
          </a:p>
        </p:txBody>
      </p:sp>
      <p:sp>
        <p:nvSpPr>
          <p:cNvPr id="11" name="Shape 9"/>
          <p:cNvSpPr/>
          <p:nvPr/>
        </p:nvSpPr>
        <p:spPr>
          <a:xfrm>
            <a:off x="5961888" y="2286000"/>
            <a:ext cx="228600" cy="274320"/>
          </a:xfrm>
          <a:prstGeom prst="leftArrow">
            <a:avLst/>
          </a:prstGeom>
          <a:solidFill>
            <a:srgbClr val="BFD4F2"/>
          </a:solidFill>
          <a:ln w="12700">
            <a:solidFill>
              <a:srgbClr val="333333"/>
            </a:solidFill>
            <a:prstDash val="solid"/>
          </a:ln>
        </p:spPr>
      </p:sp>
      <p:sp>
        <p:nvSpPr>
          <p:cNvPr id="12" name="Shape 10"/>
          <p:cNvSpPr/>
          <p:nvPr/>
        </p:nvSpPr>
        <p:spPr>
          <a:xfrm>
            <a:off x="3337560" y="1737360"/>
            <a:ext cx="256032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1"/>
          <p:cNvSpPr txBox="1"/>
          <p:nvPr/>
        </p:nvSpPr>
        <p:spPr>
          <a:xfrm>
            <a:off x="3474720" y="1920240"/>
            <a:ext cx="2286000" cy="320040"/>
          </a:xfrm>
          <a:prstGeom prst="rect">
            <a:avLst/>
          </a:prstGeom>
          <a:noFill/>
          <a:ln/>
        </p:spPr>
        <p:txBody>
          <a:bodyPr wrap="square" lIns="0" tIns="0" rIns="0" bIns="0" rtlCol="0" anchor="t"/>
          <a:lstStyle/>
          <a:p>
            <a:pPr rtl="1" algn="ctr" indent="0" marL="0">
              <a:buNone/>
            </a:pPr>
            <a:r>
              <a:rPr lang="en-US" sz="1400" b="1" dirty="0">
                <a:solidFill>
                  <a:srgbClr val="E8A33D"/>
                </a:solidFill>
                <a:latin typeface="Arial" pitchFamily="34" charset="0"/>
                <a:ea typeface="Arial" pitchFamily="34" charset="-122"/>
                <a:cs typeface="Arial" pitchFamily="34" charset="-120"/>
              </a:rPr>
              <a:t>رمزگذار ViT-L</a:t>
            </a:r>
            <a:endParaRPr lang="en-US" sz="1400" dirty="0"/>
          </a:p>
        </p:txBody>
      </p:sp>
      <p:sp>
        <p:nvSpPr>
          <p:cNvPr id="14" name="Text 12"/>
          <p:cNvSpPr txBox="1"/>
          <p:nvPr/>
        </p:nvSpPr>
        <p:spPr>
          <a:xfrm>
            <a:off x="347472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منجمد</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یک بار اجرا</a:t>
            </a:r>
            <a:endParaRPr lang="en-US" sz="1150" dirty="0"/>
          </a:p>
        </p:txBody>
      </p:sp>
      <p:sp>
        <p:nvSpPr>
          <p:cNvPr id="15" name="Shape 13"/>
          <p:cNvSpPr/>
          <p:nvPr/>
        </p:nvSpPr>
        <p:spPr>
          <a:xfrm>
            <a:off x="3081528" y="2286000"/>
            <a:ext cx="228600" cy="274320"/>
          </a:xfrm>
          <a:prstGeom prst="leftArrow">
            <a:avLst/>
          </a:prstGeom>
          <a:solidFill>
            <a:srgbClr val="BFD4F2"/>
          </a:solidFill>
          <a:ln w="12700">
            <a:solidFill>
              <a:srgbClr val="333333"/>
            </a:solidFill>
            <a:prstDash val="solid"/>
          </a:ln>
        </p:spPr>
      </p:sp>
      <p:sp>
        <p:nvSpPr>
          <p:cNvPr id="16" name="Shape 14"/>
          <p:cNvSpPr/>
          <p:nvPr/>
        </p:nvSpPr>
        <p:spPr>
          <a:xfrm>
            <a:off x="457200" y="173736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7" name="Text 15"/>
          <p:cNvSpPr txBox="1"/>
          <p:nvPr/>
        </p:nvSpPr>
        <p:spPr>
          <a:xfrm>
            <a:off x="594360" y="1920240"/>
            <a:ext cx="2286000" cy="320040"/>
          </a:xfrm>
          <a:prstGeom prst="rect">
            <a:avLst/>
          </a:prstGeom>
          <a:noFill/>
          <a:ln/>
        </p:spPr>
        <p:txBody>
          <a:bodyPr wrap="square" lIns="0" tIns="0" rIns="0" bIns="0" rtlCol="0" anchor="t"/>
          <a:lstStyle/>
          <a:p>
            <a:pPr rtl="1" algn="ctr" indent="0" marL="0">
              <a:buNone/>
            </a:pPr>
            <a:r>
              <a:rPr lang="en-US" sz="1400" b="1" dirty="0">
                <a:solidFill>
                  <a:srgbClr val="3FA7A0"/>
                </a:solidFill>
                <a:latin typeface="Arial" pitchFamily="34" charset="0"/>
                <a:ea typeface="Arial" pitchFamily="34" charset="-122"/>
                <a:cs typeface="Arial" pitchFamily="34" charset="-120"/>
              </a:rPr>
              <a:t>ویژگی ذخیره‌شده</a:t>
            </a:r>
            <a:endParaRPr lang="en-US" sz="1400" dirty="0"/>
          </a:p>
        </p:txBody>
      </p:sp>
      <p:sp>
        <p:nvSpPr>
          <p:cNvPr id="18" name="Text 16"/>
          <p:cNvSpPr txBox="1"/>
          <p:nvPr/>
        </p:nvSpPr>
        <p:spPr>
          <a:xfrm>
            <a:off x="594360" y="228600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۱۶ در ۱۰۲۴</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۶۴ کیلوبایت</a:t>
            </a:r>
            <a:endParaRPr lang="en-US" sz="1150" dirty="0"/>
          </a:p>
        </p:txBody>
      </p:sp>
      <p:sp>
        <p:nvSpPr>
          <p:cNvPr id="19" name="Text 17"/>
          <p:cNvSpPr txBox="1"/>
          <p:nvPr/>
        </p:nvSpPr>
        <p:spPr>
          <a:xfrm>
            <a:off x="548640" y="3200400"/>
            <a:ext cx="11064240" cy="320040"/>
          </a:xfrm>
          <a:prstGeom prst="rect">
            <a:avLst/>
          </a:prstGeom>
          <a:noFill/>
          <a:ln/>
        </p:spPr>
        <p:txBody>
          <a:bodyPr wrap="square" lIns="0" tIns="0" rIns="0" bIns="0" rtlCol="0" anchor="t"/>
          <a:lstStyle/>
          <a:p>
            <a:pPr rtl="1" algn="ctr" indent="0" marL="0">
              <a:buNone/>
            </a:pPr>
            <a:r>
              <a:rPr lang="en-US" sz="1250" dirty="0">
                <a:solidFill>
                  <a:srgbClr val="6A748C"/>
                </a:solidFill>
                <a:latin typeface="Arial" pitchFamily="34" charset="0"/>
                <a:ea typeface="Arial" pitchFamily="34" charset="-122"/>
                <a:cs typeface="Arial" pitchFamily="34" charset="-120"/>
              </a:rPr>
              <a:t>مرحله اول — یک بار برای ۱۸۹۵ ویدیو، ۱۵۰ دقیقه</a:t>
            </a:r>
            <a:endParaRPr lang="en-US" sz="1250" dirty="0"/>
          </a:p>
        </p:txBody>
      </p:sp>
      <p:sp>
        <p:nvSpPr>
          <p:cNvPr id="20" name="Shape 18"/>
          <p:cNvSpPr/>
          <p:nvPr/>
        </p:nvSpPr>
        <p:spPr>
          <a:xfrm>
            <a:off x="909828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1" name="Text 19"/>
          <p:cNvSpPr txBox="1"/>
          <p:nvPr/>
        </p:nvSpPr>
        <p:spPr>
          <a:xfrm>
            <a:off x="9235440" y="402336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سر ترنسفورمر</a:t>
            </a:r>
            <a:endParaRPr lang="en-US" sz="1400" dirty="0"/>
          </a:p>
        </p:txBody>
      </p:sp>
      <p:sp>
        <p:nvSpPr>
          <p:cNvPr id="22" name="Text 20"/>
          <p:cNvSpPr txBox="1"/>
          <p:nvPr/>
        </p:nvSpPr>
        <p:spPr>
          <a:xfrm>
            <a:off x="923544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دو لایه توجه</a:t>
            </a:r>
            <a:endParaRPr lang="en-US" sz="1150" dirty="0"/>
          </a:p>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روی محور زمان</a:t>
            </a:r>
            <a:endParaRPr lang="en-US" sz="1150" dirty="0"/>
          </a:p>
        </p:txBody>
      </p:sp>
      <p:sp>
        <p:nvSpPr>
          <p:cNvPr id="23" name="Shape 21"/>
          <p:cNvSpPr/>
          <p:nvPr/>
        </p:nvSpPr>
        <p:spPr>
          <a:xfrm>
            <a:off x="8842248" y="4389120"/>
            <a:ext cx="228600" cy="274320"/>
          </a:xfrm>
          <a:prstGeom prst="leftArrow">
            <a:avLst/>
          </a:prstGeom>
          <a:solidFill>
            <a:srgbClr val="BFD4F2"/>
          </a:solidFill>
          <a:ln w="12700">
            <a:solidFill>
              <a:srgbClr val="333333"/>
            </a:solidFill>
            <a:prstDash val="solid"/>
          </a:ln>
        </p:spPr>
      </p:sp>
      <p:sp>
        <p:nvSpPr>
          <p:cNvPr id="24" name="Shape 22"/>
          <p:cNvSpPr/>
          <p:nvPr/>
        </p:nvSpPr>
        <p:spPr>
          <a:xfrm>
            <a:off x="621792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5" name="Text 23"/>
          <p:cNvSpPr txBox="1"/>
          <p:nvPr/>
        </p:nvSpPr>
        <p:spPr>
          <a:xfrm>
            <a:off x="6355080" y="4023360"/>
            <a:ext cx="2286000" cy="320040"/>
          </a:xfrm>
          <a:prstGeom prst="rect">
            <a:avLst/>
          </a:prstGeom>
          <a:noFill/>
          <a:ln/>
        </p:spPr>
        <p:txBody>
          <a:bodyPr wrap="square" lIns="0" tIns="0" rIns="0" bIns="0" rtlCol="0" anchor="t"/>
          <a:lstStyle/>
          <a:p>
            <a:pPr rtl="1" algn="ctr" indent="0" marL="0">
              <a:buNone/>
            </a:pPr>
            <a:r>
              <a:rPr lang="en-US" sz="1400" b="1" dirty="0">
                <a:solidFill>
                  <a:srgbClr val="16264F"/>
                </a:solidFill>
                <a:latin typeface="Arial" pitchFamily="34" charset="0"/>
                <a:ea typeface="Arial" pitchFamily="34" charset="-122"/>
                <a:cs typeface="Arial" pitchFamily="34" charset="-120"/>
              </a:rPr>
              <a:t>نمره هر قطعه</a:t>
            </a:r>
            <a:endParaRPr lang="en-US" sz="1400" dirty="0"/>
          </a:p>
        </p:txBody>
      </p:sp>
      <p:sp>
        <p:nvSpPr>
          <p:cNvPr id="26" name="Text 24"/>
          <p:cNvSpPr txBox="1"/>
          <p:nvPr/>
        </p:nvSpPr>
        <p:spPr>
          <a:xfrm>
            <a:off x="635508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۱۶ در ۱۴</a:t>
            </a:r>
            <a:endParaRPr lang="en-US" sz="1150" dirty="0"/>
          </a:p>
        </p:txBody>
      </p:sp>
      <p:sp>
        <p:nvSpPr>
          <p:cNvPr id="27" name="Shape 25"/>
          <p:cNvSpPr/>
          <p:nvPr/>
        </p:nvSpPr>
        <p:spPr>
          <a:xfrm>
            <a:off x="5961888" y="4389120"/>
            <a:ext cx="228600" cy="274320"/>
          </a:xfrm>
          <a:prstGeom prst="leftArrow">
            <a:avLst/>
          </a:prstGeom>
          <a:solidFill>
            <a:srgbClr val="BFD4F2"/>
          </a:solidFill>
          <a:ln w="12700">
            <a:solidFill>
              <a:srgbClr val="333333"/>
            </a:solidFill>
            <a:prstDash val="solid"/>
          </a:ln>
        </p:spPr>
      </p:sp>
      <p:sp>
        <p:nvSpPr>
          <p:cNvPr id="28" name="Shape 26"/>
          <p:cNvSpPr/>
          <p:nvPr/>
        </p:nvSpPr>
        <p:spPr>
          <a:xfrm>
            <a:off x="3337560" y="3840480"/>
            <a:ext cx="256032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29" name="Text 27"/>
          <p:cNvSpPr txBox="1"/>
          <p:nvPr/>
        </p:nvSpPr>
        <p:spPr>
          <a:xfrm>
            <a:off x="3474720" y="4023360"/>
            <a:ext cx="2286000" cy="320040"/>
          </a:xfrm>
          <a:prstGeom prst="rect">
            <a:avLst/>
          </a:prstGeom>
          <a:noFill/>
          <a:ln/>
        </p:spPr>
        <p:txBody>
          <a:bodyPr wrap="square" lIns="0" tIns="0" rIns="0" bIns="0" rtlCol="0" anchor="t"/>
          <a:lstStyle/>
          <a:p>
            <a:pPr rtl="1" algn="ctr" indent="0" marL="0">
              <a:buNone/>
            </a:pPr>
            <a:r>
              <a:rPr lang="en-US" sz="1400" b="1" dirty="0">
                <a:solidFill>
                  <a:srgbClr val="E8A33D"/>
                </a:solidFill>
                <a:latin typeface="Arial" pitchFamily="34" charset="0"/>
                <a:ea typeface="Arial" pitchFamily="34" charset="-122"/>
                <a:cs typeface="Arial" pitchFamily="34" charset="-120"/>
              </a:rPr>
              <a:t>تصمیم دومرحله‌ای</a:t>
            </a:r>
            <a:endParaRPr lang="en-US" sz="1400" dirty="0"/>
          </a:p>
        </p:txBody>
      </p:sp>
      <p:sp>
        <p:nvSpPr>
          <p:cNvPr id="30" name="Text 28"/>
          <p:cNvSpPr txBox="1"/>
          <p:nvPr/>
        </p:nvSpPr>
        <p:spPr>
          <a:xfrm>
            <a:off x="347472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وجود، سپس نوع</a:t>
            </a:r>
            <a:endParaRPr lang="en-US" sz="1150" dirty="0"/>
          </a:p>
        </p:txBody>
      </p:sp>
      <p:sp>
        <p:nvSpPr>
          <p:cNvPr id="31" name="Shape 29"/>
          <p:cNvSpPr/>
          <p:nvPr/>
        </p:nvSpPr>
        <p:spPr>
          <a:xfrm>
            <a:off x="3081528" y="4389120"/>
            <a:ext cx="228600" cy="274320"/>
          </a:xfrm>
          <a:prstGeom prst="leftArrow">
            <a:avLst/>
          </a:prstGeom>
          <a:solidFill>
            <a:srgbClr val="BFD4F2"/>
          </a:solidFill>
          <a:ln w="12700">
            <a:solidFill>
              <a:srgbClr val="333333"/>
            </a:solidFill>
            <a:prstDash val="solid"/>
          </a:ln>
        </p:spPr>
      </p:sp>
      <p:sp>
        <p:nvSpPr>
          <p:cNvPr id="32" name="Shape 30"/>
          <p:cNvSpPr/>
          <p:nvPr/>
        </p:nvSpPr>
        <p:spPr>
          <a:xfrm>
            <a:off x="457200" y="3840480"/>
            <a:ext cx="256032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33" name="Text 31"/>
          <p:cNvSpPr txBox="1"/>
          <p:nvPr/>
        </p:nvSpPr>
        <p:spPr>
          <a:xfrm>
            <a:off x="594360" y="4023360"/>
            <a:ext cx="2286000" cy="320040"/>
          </a:xfrm>
          <a:prstGeom prst="rect">
            <a:avLst/>
          </a:prstGeom>
          <a:noFill/>
          <a:ln/>
        </p:spPr>
        <p:txBody>
          <a:bodyPr wrap="square" lIns="0" tIns="0" rIns="0" bIns="0" rtlCol="0" anchor="t"/>
          <a:lstStyle/>
          <a:p>
            <a:pPr rtl="1" algn="ctr" indent="0" marL="0">
              <a:buNone/>
            </a:pPr>
            <a:r>
              <a:rPr lang="en-US" sz="1400" b="1" dirty="0">
                <a:solidFill>
                  <a:srgbClr val="3FA7A0"/>
                </a:solidFill>
                <a:latin typeface="Arial" pitchFamily="34" charset="0"/>
                <a:ea typeface="Arial" pitchFamily="34" charset="-122"/>
                <a:cs typeface="Arial" pitchFamily="34" charset="-120"/>
              </a:rPr>
              <a:t>برچسب نهایی</a:t>
            </a:r>
            <a:endParaRPr lang="en-US" sz="1400" dirty="0"/>
          </a:p>
        </p:txBody>
      </p:sp>
      <p:sp>
        <p:nvSpPr>
          <p:cNvPr id="34" name="Text 32"/>
          <p:cNvSpPr txBox="1"/>
          <p:nvPr/>
        </p:nvSpPr>
        <p:spPr>
          <a:xfrm>
            <a:off x="594360" y="4389120"/>
            <a:ext cx="2286000" cy="640080"/>
          </a:xfrm>
          <a:prstGeom prst="rect">
            <a:avLst/>
          </a:prstGeom>
          <a:noFill/>
          <a:ln/>
        </p:spPr>
        <p:txBody>
          <a:bodyPr wrap="square" lIns="0" tIns="0" rIns="0" bIns="0" rtlCol="0" anchor="t"/>
          <a:lstStyle/>
          <a:p>
            <a:pPr rtl="1" algn="ctr" indent="0" marL="0">
              <a:lnSpc>
                <a:spcPts val="1700"/>
              </a:lnSpc>
              <a:buNone/>
            </a:pPr>
            <a:r>
              <a:rPr lang="en-US" sz="1150" dirty="0">
                <a:solidFill>
                  <a:srgbClr val="6A748C"/>
                </a:solidFill>
                <a:latin typeface="Arial" pitchFamily="34" charset="0"/>
                <a:ea typeface="Arial" pitchFamily="34" charset="-122"/>
                <a:cs typeface="Arial" pitchFamily="34" charset="-120"/>
              </a:rPr>
              <a:t>یکی از ۱۴ کلاس</a:t>
            </a:r>
            <a:endParaRPr lang="en-US" sz="1150" dirty="0"/>
          </a:p>
        </p:txBody>
      </p:sp>
      <p:sp>
        <p:nvSpPr>
          <p:cNvPr id="35" name="Text 33"/>
          <p:cNvSpPr txBox="1"/>
          <p:nvPr/>
        </p:nvSpPr>
        <p:spPr>
          <a:xfrm>
            <a:off x="548640" y="5303520"/>
            <a:ext cx="11064240" cy="320040"/>
          </a:xfrm>
          <a:prstGeom prst="rect">
            <a:avLst/>
          </a:prstGeom>
          <a:noFill/>
          <a:ln/>
        </p:spPr>
        <p:txBody>
          <a:bodyPr wrap="square" lIns="0" tIns="0" rIns="0" bIns="0" rtlCol="0" anchor="t"/>
          <a:lstStyle/>
          <a:p>
            <a:pPr rtl="1" algn="ctr" indent="0" marL="0">
              <a:buNone/>
            </a:pPr>
            <a:r>
              <a:rPr lang="en-US" sz="1250" dirty="0">
                <a:solidFill>
                  <a:srgbClr val="6A748C"/>
                </a:solidFill>
                <a:latin typeface="Arial" pitchFamily="34" charset="0"/>
                <a:ea typeface="Arial" pitchFamily="34" charset="-122"/>
                <a:cs typeface="Arial" pitchFamily="34" charset="-120"/>
              </a:rPr>
              <a:t>مرحله دوم — هر پیکربندی، ۸۰ ثانیه</a:t>
            </a:r>
            <a:endParaRPr lang="en-US" sz="1250" dirty="0"/>
          </a:p>
        </p:txBody>
      </p:sp>
      <p:sp>
        <p:nvSpPr>
          <p:cNvPr id="36" name="Text 34"/>
          <p:cNvSpPr txBox="1"/>
          <p:nvPr/>
        </p:nvSpPr>
        <p:spPr>
          <a:xfrm>
            <a:off x="548640" y="5806440"/>
            <a:ext cx="11064240" cy="365760"/>
          </a:xfrm>
          <a:prstGeom prst="rect">
            <a:avLst/>
          </a:prstGeom>
          <a:noFill/>
          <a:ln/>
        </p:spPr>
        <p:txBody>
          <a:bodyPr wrap="square" lIns="0" tIns="0" rIns="0" bIns="0" rtlCol="0" anchor="t"/>
          <a:lstStyle/>
          <a:p>
            <a:pPr rtl="1" algn="ctr" indent="0" marL="0">
              <a:buNone/>
            </a:pPr>
            <a:r>
              <a:rPr lang="en-US" sz="1300" b="1" dirty="0">
                <a:solidFill>
                  <a:srgbClr val="E8A33D"/>
                </a:solidFill>
                <a:latin typeface="Arial" pitchFamily="34" charset="0"/>
                <a:ea typeface="Arial" pitchFamily="34" charset="-122"/>
                <a:cs typeface="Arial" pitchFamily="34" charset="-120"/>
              </a:rPr>
              <a:t>تنها بخشی که ما آموزش دادیم، سر طبقه‌بند است: کمتر از دو درصد پارامترهای کل سیستم.</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سر ترنسفورمر روی محور زمان</a:t>
            </a:r>
            <a:endParaRPr lang="en-US" sz="3000" dirty="0"/>
          </a:p>
        </p:txBody>
      </p:sp>
      <p:sp>
        <p:nvSpPr>
          <p:cNvPr id="4" name="Shape 2"/>
          <p:cNvSpPr/>
          <p:nvPr/>
        </p:nvSpPr>
        <p:spPr>
          <a:xfrm>
            <a:off x="548640" y="1645920"/>
            <a:ext cx="5394960" cy="2103120"/>
          </a:xfrm>
          <a:prstGeom prst="roundRect">
            <a:avLst>
              <a:gd name="adj" fmla="val 4348"/>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828800"/>
            <a:ext cx="4754880" cy="320040"/>
          </a:xfrm>
          <a:prstGeom prst="rect">
            <a:avLst/>
          </a:prstGeom>
          <a:noFill/>
          <a:ln/>
        </p:spPr>
        <p:txBody>
          <a:bodyPr wrap="square" lIns="0" tIns="0" rIns="0" bIns="0" rtlCol="0" anchor="t"/>
          <a:lstStyle/>
          <a:p>
            <a:pPr rtl="1" algn="r" indent="0" marL="0">
              <a:buNone/>
            </a:pPr>
            <a:r>
              <a:rPr lang="en-US" sz="1600" b="1" dirty="0">
                <a:solidFill>
                  <a:srgbClr val="6A748C"/>
                </a:solidFill>
                <a:latin typeface="Arial" pitchFamily="34" charset="0"/>
                <a:ea typeface="Arial" pitchFamily="34" charset="-122"/>
                <a:cs typeface="Arial" pitchFamily="34" charset="-120"/>
              </a:rPr>
              <a:t>مشکل: قطعه تنها مبهم است</a:t>
            </a:r>
            <a:endParaRPr lang="en-US" sz="1600" dirty="0"/>
          </a:p>
        </p:txBody>
      </p:sp>
      <p:sp>
        <p:nvSpPr>
          <p:cNvPr id="6" name="Text 4"/>
          <p:cNvSpPr txBox="1"/>
          <p:nvPr/>
        </p:nvSpPr>
        <p:spPr>
          <a:xfrm>
            <a:off x="868680" y="2240280"/>
            <a:ext cx="4754880" cy="128016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یک قطعه سه‌ثانیه‌ای داخل مغازه، در دزدی از مغازه و سرقت مسلحانه ظاهر یکسانی دارد. سر نقطه‌ای اطلاعات لازم را اصولاً در اختیار ندارد.</a:t>
            </a:r>
            <a:endParaRPr lang="en-US" sz="1300" dirty="0"/>
          </a:p>
        </p:txBody>
      </p:sp>
      <p:sp>
        <p:nvSpPr>
          <p:cNvPr id="7" name="Shape 5"/>
          <p:cNvSpPr/>
          <p:nvPr/>
        </p:nvSpPr>
        <p:spPr>
          <a:xfrm>
            <a:off x="6217920" y="1645920"/>
            <a:ext cx="5394960" cy="2103120"/>
          </a:xfrm>
          <a:prstGeom prst="roundRect">
            <a:avLst>
              <a:gd name="adj" fmla="val 434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828800"/>
            <a:ext cx="47548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راه حل: خودتوجهی میان قطعه‌ها</a:t>
            </a:r>
            <a:endParaRPr lang="en-US" sz="1600" dirty="0"/>
          </a:p>
        </p:txBody>
      </p:sp>
      <p:sp>
        <p:nvSpPr>
          <p:cNvPr id="9" name="Text 7"/>
          <p:cNvSpPr txBox="1"/>
          <p:nvPr/>
        </p:nvSpPr>
        <p:spPr>
          <a:xfrm>
            <a:off x="6537960" y="2240280"/>
            <a:ext cx="4754880" cy="1280160"/>
          </a:xfrm>
          <a:prstGeom prst="rect">
            <a:avLst/>
          </a:prstGeom>
          <a:noFill/>
          <a:ln/>
        </p:spPr>
        <p:txBody>
          <a:bodyPr wrap="square" lIns="0" tIns="0" rIns="0" bIns="0" rtlCol="0" anchor="t"/>
          <a:lstStyle/>
          <a:p>
            <a:pPr rtl="1" algn="r" indent="0" marL="0">
              <a:lnSpc>
                <a:spcPts val="2000"/>
              </a:lnSpc>
              <a:buNone/>
            </a:pPr>
            <a:r>
              <a:rPr lang="en-US" sz="1300" dirty="0">
                <a:solidFill>
                  <a:srgbClr val="1B2236"/>
                </a:solidFill>
                <a:latin typeface="Arial" pitchFamily="34" charset="0"/>
                <a:ea typeface="Arial" pitchFamily="34" charset="-122"/>
                <a:cs typeface="Arial" pitchFamily="34" charset="-120"/>
              </a:rPr>
              <a:t>یک جدول ۱۶ در ۱۶ می‌گوید هر قطعه چقدر به هر قطعه دیگر توجه کند. بردار جدید هر قطعه، جمع وزن‌دار همه قطعه‌هاست.</a:t>
            </a:r>
            <a:endParaRPr lang="en-US" sz="1300" dirty="0"/>
          </a:p>
        </p:txBody>
      </p:sp>
      <p:sp>
        <p:nvSpPr>
          <p:cNvPr id="10" name="Text 8"/>
          <p:cNvSpPr txBox="1"/>
          <p:nvPr/>
        </p:nvSpPr>
        <p:spPr>
          <a:xfrm>
            <a:off x="548640" y="3977640"/>
            <a:ext cx="539496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پیکربندی</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4389120"/>
          <a:ext cx="5394960" cy="914400"/>
        </p:xfrm>
        <a:graphic>
          <a:graphicData uri="http://schemas.openxmlformats.org/drawingml/2006/table">
            <a:tbl>
              <a:tblPr/>
              <a:tblGrid>
                <a:gridCol w="3108960"/>
                <a:gridCol w="2286000"/>
              </a:tblGrid>
              <a:tr h="27432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پارامتر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مقدار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بعد پنهان</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512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سرهای توجه</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لایه‌ها</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حذف تصادفی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پارامترها</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4,772,366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12" name="Text 9"/>
          <p:cNvSpPr txBox="1"/>
          <p:nvPr/>
        </p:nvSpPr>
        <p:spPr>
          <a:xfrm>
            <a:off x="6217920" y="3977640"/>
            <a:ext cx="539496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نتیجه</a:t>
            </a:r>
            <a:endParaRPr lang="en-US" sz="16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217920" y="4389120"/>
          <a:ext cx="5394960" cy="914400"/>
        </p:xfrm>
        <a:graphic>
          <a:graphicData uri="http://schemas.openxmlformats.org/drawingml/2006/table">
            <a:tbl>
              <a:tblPr/>
              <a:tblGrid>
                <a:gridCol w="2926080"/>
                <a:gridCol w="246888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سر طبقه‌بند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ماکرو F1، میانگین ۵ بذر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سر نقطه‌ای — خط پایه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0.3049</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سر ترنسفورمر زمانی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0.3480</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4" name="Text 10"/>
          <p:cNvSpPr txBox="1"/>
          <p:nvPr/>
        </p:nvSpPr>
        <p:spPr>
          <a:xfrm>
            <a:off x="6217920" y="5715000"/>
            <a:ext cx="5394960" cy="640080"/>
          </a:xfrm>
          <a:prstGeom prst="rect">
            <a:avLst/>
          </a:prstGeom>
          <a:noFill/>
          <a:ln/>
        </p:spPr>
        <p:txBody>
          <a:bodyPr wrap="square" lIns="0" tIns="0" rIns="0" bIns="0" rtlCol="0" anchor="t"/>
          <a:lstStyle/>
          <a:p>
            <a:pPr rtl="1" algn="r" indent="0" marL="0">
              <a:lnSpc>
                <a:spcPts val="1900"/>
              </a:lnSpc>
              <a:buNone/>
            </a:pPr>
            <a:r>
              <a:rPr lang="en-US" sz="1200" dirty="0">
                <a:solidFill>
                  <a:srgbClr val="1B2236"/>
                </a:solidFill>
                <a:latin typeface="Arial" pitchFamily="34" charset="0"/>
                <a:ea typeface="Arial" pitchFamily="34" charset="-122"/>
                <a:cs typeface="Arial" pitchFamily="34" charset="-120"/>
              </a:rPr>
              <a:t>هر پنج بذر سر زمانی از بهترین بذر سر نقطه‌ای بالاتر بود. دو توزیع هیچ همپوشانی ندارند.</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ارتقای ظرفیت رمزگذار</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583680" cy="914400"/>
        </p:xfrm>
        <a:graphic>
          <a:graphicData uri="http://schemas.openxmlformats.org/drawingml/2006/table">
            <a:tbl>
              <a:tblPr/>
              <a:tblGrid>
                <a:gridCol w="2926080"/>
                <a:gridCol w="1828800"/>
                <a:gridCol w="1828800"/>
              </a:tblGrid>
              <a:tr h="36576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مورد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ViT-B</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ViT-L</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تعداد لایه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12</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24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پهنای بردار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768</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1024</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پارامترها</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 87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 300 میلیون</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65760">
                <a:tc>
                  <a:txBody>
                    <a:bodyPr/>
                    <a:lstStyle/>
                    <a:p>
                      <a:pPr algn="r" indent="0" marL="0">
                        <a:buNone/>
                      </a:pPr>
                      <a:r>
                        <a:rPr lang="en-US" sz="1250" dirty="0">
                          <a:solidFill>
                            <a:srgbClr val="1B2236"/>
                          </a:solidFill>
                          <a:latin typeface="Arial" pitchFamily="34" charset="0"/>
                          <a:ea typeface="Arial" pitchFamily="34" charset="-122"/>
                          <a:cs typeface="Arial" pitchFamily="34" charset="-120"/>
                        </a:rPr>
                        <a:t>اندازه وصله</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16 × 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B2236"/>
                          </a:solidFill>
                          <a:latin typeface="Arial" pitchFamily="34" charset="0"/>
                          <a:ea typeface="Arial" pitchFamily="34" charset="-122"/>
                          <a:cs typeface="Arial" pitchFamily="34" charset="-120"/>
                        </a:rPr>
                        <a:t>16 × 16</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6576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ماکرو F1، میانگین ۵ بذر</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0.3405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0.3955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65760">
                <a:tc>
                  <a:txBody>
                    <a:bodyPr/>
                    <a:lstStyle/>
                    <a:p>
                      <a:pPr algn="r" indent="0" marL="0">
                        <a:buNone/>
                      </a:pPr>
                      <a:r>
                        <a:rPr lang="en-US" sz="1250" b="1" dirty="0">
                          <a:solidFill>
                            <a:srgbClr val="16264F"/>
                          </a:solidFill>
                          <a:latin typeface="Arial" pitchFamily="34" charset="0"/>
                          <a:ea typeface="Arial" pitchFamily="34" charset="-122"/>
                          <a:cs typeface="Arial" pitchFamily="34" charset="-120"/>
                        </a:rPr>
                        <a:t>ماکرو F1، نتیجه گروهی</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0.3645</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50" b="1" dirty="0">
                          <a:solidFill>
                            <a:srgbClr val="16264F"/>
                          </a:solidFill>
                          <a:latin typeface="Arial" pitchFamily="34" charset="0"/>
                          <a:ea typeface="Arial" pitchFamily="34" charset="-122"/>
                          <a:cs typeface="Arial" pitchFamily="34" charset="-120"/>
                        </a:rPr>
                        <a:t>0.4122</a:t>
                      </a:r>
                      <a:endParaRPr lang="en-US" sz="12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Shape 2"/>
          <p:cNvSpPr/>
          <p:nvPr/>
        </p:nvSpPr>
        <p:spPr>
          <a:xfrm>
            <a:off x="7406640" y="1691640"/>
            <a:ext cx="4206240" cy="2148840"/>
          </a:xfrm>
          <a:prstGeom prst="roundRect">
            <a:avLst>
              <a:gd name="adj" fmla="val 4255"/>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7680960" y="1874520"/>
            <a:ext cx="365760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نکته‌ای که نباید اشتباه گفت</a:t>
            </a:r>
            <a:endParaRPr lang="en-US" sz="1500" dirty="0"/>
          </a:p>
        </p:txBody>
      </p:sp>
      <p:sp>
        <p:nvSpPr>
          <p:cNvPr id="7" name="Text 4"/>
          <p:cNvSpPr txBox="1"/>
          <p:nvPr/>
        </p:nvSpPr>
        <p:spPr>
          <a:xfrm>
            <a:off x="7680960" y="2286000"/>
            <a:ext cx="3657600" cy="137160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اندازه وصله در هر دو یکسان است، پس تعداد وصله‌ها فرق نمی‌کند. بهبود از ظرفیت مدل می‌آید، نه از وضوح مکانی بیشتر.</a:t>
            </a:r>
            <a:endParaRPr lang="en-US" sz="1250" dirty="0"/>
          </a:p>
        </p:txBody>
      </p:sp>
      <p:sp>
        <p:nvSpPr>
          <p:cNvPr id="8" name="Text 5"/>
          <p:cNvSpPr txBox="1"/>
          <p:nvPr/>
        </p:nvSpPr>
        <p:spPr>
          <a:xfrm>
            <a:off x="548640" y="420624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چرا این تنها بهبود قطعی پروژه است</a:t>
            </a:r>
            <a:endParaRPr lang="en-US" sz="1700" dirty="0"/>
          </a:p>
        </p:txBody>
      </p:sp>
      <p:sp>
        <p:nvSpPr>
          <p:cNvPr id="9" name="Shape 6"/>
          <p:cNvSpPr/>
          <p:nvPr/>
        </p:nvSpPr>
        <p:spPr>
          <a:xfrm>
            <a:off x="548640" y="4663440"/>
            <a:ext cx="3566160" cy="1371600"/>
          </a:xfrm>
          <a:prstGeom prst="roundRect">
            <a:avLst>
              <a:gd name="adj" fmla="val 666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0" name="Text 7"/>
          <p:cNvSpPr txBox="1"/>
          <p:nvPr/>
        </p:nvSpPr>
        <p:spPr>
          <a:xfrm>
            <a:off x="82296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بازه پنج بذر ViT-B</a:t>
            </a:r>
            <a:endParaRPr lang="en-US" sz="1200" dirty="0"/>
          </a:p>
        </p:txBody>
      </p:sp>
      <p:sp>
        <p:nvSpPr>
          <p:cNvPr id="11" name="Text 8"/>
          <p:cNvSpPr txBox="1"/>
          <p:nvPr/>
        </p:nvSpPr>
        <p:spPr>
          <a:xfrm>
            <a:off x="822960" y="5166360"/>
            <a:ext cx="3017520" cy="457200"/>
          </a:xfrm>
          <a:prstGeom prst="rect">
            <a:avLst/>
          </a:prstGeom>
          <a:noFill/>
          <a:ln/>
        </p:spPr>
        <p:txBody>
          <a:bodyPr wrap="square" lIns="0" tIns="0" rIns="0" bIns="0" rtlCol="0" anchor="t"/>
          <a:lstStyle/>
          <a:p>
            <a:pPr algn="r" indent="0" marL="0">
              <a:buNone/>
            </a:pPr>
            <a:r>
              <a:rPr lang="en-US" sz="2000" b="1" dirty="0">
                <a:solidFill>
                  <a:srgbClr val="C9483B"/>
                </a:solidFill>
                <a:latin typeface="Arial" pitchFamily="34" charset="0"/>
                <a:ea typeface="Arial" pitchFamily="34" charset="-122"/>
                <a:cs typeface="Arial" pitchFamily="34" charset="-120"/>
              </a:rPr>
              <a:t>0.310 — 0.354</a:t>
            </a:r>
            <a:endParaRPr lang="en-US" sz="2000" dirty="0"/>
          </a:p>
        </p:txBody>
      </p:sp>
      <p:sp>
        <p:nvSpPr>
          <p:cNvPr id="12" name="Shape 9"/>
          <p:cNvSpPr/>
          <p:nvPr/>
        </p:nvSpPr>
        <p:spPr>
          <a:xfrm>
            <a:off x="4297680" y="4663440"/>
            <a:ext cx="3566160" cy="1371600"/>
          </a:xfrm>
          <a:prstGeom prst="roundRect">
            <a:avLst>
              <a:gd name="adj" fmla="val 6667"/>
            </a:avLst>
          </a:prstGeom>
          <a:solidFill>
            <a:srgbClr val="EAF6F5"/>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10"/>
          <p:cNvSpPr txBox="1"/>
          <p:nvPr/>
        </p:nvSpPr>
        <p:spPr>
          <a:xfrm>
            <a:off x="457200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بازه پنج بذر ViT-L</a:t>
            </a:r>
            <a:endParaRPr lang="en-US" sz="1200" dirty="0"/>
          </a:p>
        </p:txBody>
      </p:sp>
      <p:sp>
        <p:nvSpPr>
          <p:cNvPr id="14" name="Text 11"/>
          <p:cNvSpPr txBox="1"/>
          <p:nvPr/>
        </p:nvSpPr>
        <p:spPr>
          <a:xfrm>
            <a:off x="4572000" y="5166360"/>
            <a:ext cx="3017520" cy="457200"/>
          </a:xfrm>
          <a:prstGeom prst="rect">
            <a:avLst/>
          </a:prstGeom>
          <a:noFill/>
          <a:ln/>
        </p:spPr>
        <p:txBody>
          <a:bodyPr wrap="square" lIns="0" tIns="0" rIns="0" bIns="0" rtlCol="0" anchor="t"/>
          <a:lstStyle/>
          <a:p>
            <a:pPr algn="r" indent="0" marL="0">
              <a:buNone/>
            </a:pPr>
            <a:r>
              <a:rPr lang="en-US" sz="2000" b="1" dirty="0">
                <a:solidFill>
                  <a:srgbClr val="3FA7A0"/>
                </a:solidFill>
                <a:latin typeface="Arial" pitchFamily="34" charset="0"/>
                <a:ea typeface="Arial" pitchFamily="34" charset="-122"/>
                <a:cs typeface="Arial" pitchFamily="34" charset="-120"/>
              </a:rPr>
              <a:t>0.370 — 0.423</a:t>
            </a:r>
            <a:endParaRPr lang="en-US" sz="2000" dirty="0"/>
          </a:p>
        </p:txBody>
      </p:sp>
      <p:sp>
        <p:nvSpPr>
          <p:cNvPr id="15" name="Shape 12"/>
          <p:cNvSpPr/>
          <p:nvPr/>
        </p:nvSpPr>
        <p:spPr>
          <a:xfrm>
            <a:off x="8046720" y="4663440"/>
            <a:ext cx="3566160" cy="1371600"/>
          </a:xfrm>
          <a:prstGeom prst="roundRect">
            <a:avLst>
              <a:gd name="adj" fmla="val 6667"/>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6" name="Text 13"/>
          <p:cNvSpPr txBox="1"/>
          <p:nvPr/>
        </p:nvSpPr>
        <p:spPr>
          <a:xfrm>
            <a:off x="8321040" y="4846320"/>
            <a:ext cx="3017520" cy="274320"/>
          </a:xfrm>
          <a:prstGeom prst="rect">
            <a:avLst/>
          </a:prstGeom>
          <a:noFill/>
          <a:ln/>
        </p:spPr>
        <p:txBody>
          <a:bodyPr wrap="square" lIns="0" tIns="0" rIns="0" bIns="0" rtlCol="0" anchor="t"/>
          <a:lstStyle/>
          <a:p>
            <a:pPr rtl="1" algn="r" indent="0" marL="0">
              <a:buNone/>
            </a:pPr>
            <a:r>
              <a:rPr lang="en-US" sz="1200" dirty="0">
                <a:solidFill>
                  <a:srgbClr val="6A748C"/>
                </a:solidFill>
                <a:latin typeface="Arial" pitchFamily="34" charset="0"/>
                <a:ea typeface="Arial" pitchFamily="34" charset="-122"/>
                <a:cs typeface="Arial" pitchFamily="34" charset="-120"/>
              </a:rPr>
              <a:t>آزمون من-ویتنی</a:t>
            </a:r>
            <a:endParaRPr lang="en-US" sz="1200" dirty="0"/>
          </a:p>
        </p:txBody>
      </p:sp>
      <p:sp>
        <p:nvSpPr>
          <p:cNvPr id="17" name="Text 14"/>
          <p:cNvSpPr txBox="1"/>
          <p:nvPr/>
        </p:nvSpPr>
        <p:spPr>
          <a:xfrm>
            <a:off x="8321040" y="5166360"/>
            <a:ext cx="3017520" cy="457200"/>
          </a:xfrm>
          <a:prstGeom prst="rect">
            <a:avLst/>
          </a:prstGeom>
          <a:noFill/>
          <a:ln/>
        </p:spPr>
        <p:txBody>
          <a:bodyPr wrap="square" lIns="0" tIns="0" rIns="0" bIns="0" rtlCol="0" anchor="t"/>
          <a:lstStyle/>
          <a:p>
            <a:pPr algn="r" indent="0" marL="0">
              <a:buNone/>
            </a:pPr>
            <a:r>
              <a:rPr lang="en-US" sz="2000" b="1" dirty="0">
                <a:solidFill>
                  <a:srgbClr val="E8A33D"/>
                </a:solidFill>
                <a:latin typeface="Arial" pitchFamily="34" charset="0"/>
                <a:ea typeface="Arial" pitchFamily="34" charset="-122"/>
                <a:cs typeface="Arial" pitchFamily="34" charset="-120"/>
              </a:rPr>
              <a:t>p = 1 / 252</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آمیزش و تنظیم لاجیت</a:t>
            </a:r>
            <a:endParaRPr lang="en-US" sz="3000" dirty="0"/>
          </a:p>
        </p:txBody>
      </p:sp>
      <p:sp>
        <p:nvSpPr>
          <p:cNvPr id="4" name="Shape 2"/>
          <p:cNvSpPr/>
          <p:nvPr/>
        </p:nvSpPr>
        <p:spPr>
          <a:xfrm>
            <a:off x="548640" y="1645920"/>
            <a:ext cx="5394960" cy="1965960"/>
          </a:xfrm>
          <a:prstGeom prst="roundRect">
            <a:avLst>
              <a:gd name="adj" fmla="val 4651"/>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5" name="Text 3"/>
          <p:cNvSpPr txBox="1"/>
          <p:nvPr/>
        </p:nvSpPr>
        <p:spPr>
          <a:xfrm>
            <a:off x="868680" y="1810512"/>
            <a:ext cx="4754880" cy="320040"/>
          </a:xfrm>
          <a:prstGeom prst="rect">
            <a:avLst/>
          </a:prstGeom>
          <a:noFill/>
          <a:ln/>
        </p:spPr>
        <p:txBody>
          <a:bodyPr wrap="square" lIns="0" tIns="0" rIns="0" bIns="0" rtlCol="0" anchor="t"/>
          <a:lstStyle/>
          <a:p>
            <a:pPr rtl="1" algn="r" indent="0" marL="0">
              <a:buNone/>
            </a:pPr>
            <a:r>
              <a:rPr lang="en-US" sz="1600" b="1" dirty="0">
                <a:solidFill>
                  <a:srgbClr val="16264F"/>
                </a:solidFill>
                <a:latin typeface="Arial" pitchFamily="34" charset="0"/>
                <a:ea typeface="Arial" pitchFamily="34" charset="-122"/>
                <a:cs typeface="Arial" pitchFamily="34" charset="-120"/>
              </a:rPr>
              <a:t>آمیزش در فضای ویژگی</a:t>
            </a:r>
            <a:endParaRPr lang="en-US" sz="1600" dirty="0"/>
          </a:p>
        </p:txBody>
      </p:sp>
      <p:sp>
        <p:nvSpPr>
          <p:cNvPr id="6" name="Text 4"/>
          <p:cNvSpPr txBox="1"/>
          <p:nvPr/>
        </p:nvSpPr>
        <p:spPr>
          <a:xfrm>
            <a:off x="868680" y="2212848"/>
            <a:ext cx="4754880" cy="128016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مدل تا دوره دهم زیان آموزش را تقریباً صفر می‌کرد، یعنی حفظ می‌کرد. ترکیب محدب دو ویدیو، نمونه‌هایی می‌سازد که در داده نیستند و حفظ کردن را ناممکن می‌کنند.</a:t>
            </a:r>
            <a:endParaRPr lang="en-US" sz="1250" dirty="0"/>
          </a:p>
        </p:txBody>
      </p:sp>
      <p:sp>
        <p:nvSpPr>
          <p:cNvPr id="7" name="Shape 5"/>
          <p:cNvSpPr/>
          <p:nvPr/>
        </p:nvSpPr>
        <p:spPr>
          <a:xfrm>
            <a:off x="6217920" y="1645920"/>
            <a:ext cx="5394960" cy="1965960"/>
          </a:xfrm>
          <a:prstGeom prst="roundRect">
            <a:avLst>
              <a:gd name="adj" fmla="val 4651"/>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8" name="Text 6"/>
          <p:cNvSpPr txBox="1"/>
          <p:nvPr/>
        </p:nvSpPr>
        <p:spPr>
          <a:xfrm>
            <a:off x="6537960" y="1810512"/>
            <a:ext cx="475488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تنظیم لاجیت برای دم بلند</a:t>
            </a:r>
            <a:endParaRPr lang="en-US" sz="1600" dirty="0"/>
          </a:p>
        </p:txBody>
      </p:sp>
      <p:sp>
        <p:nvSpPr>
          <p:cNvPr id="9" name="Text 7"/>
          <p:cNvSpPr txBox="1"/>
          <p:nvPr/>
        </p:nvSpPr>
        <p:spPr>
          <a:xfrm>
            <a:off x="6537960" y="2212848"/>
            <a:ext cx="4754880" cy="1280160"/>
          </a:xfrm>
          <a:prstGeom prst="rect">
            <a:avLst/>
          </a:prstGeom>
          <a:noFill/>
          <a:ln/>
        </p:spPr>
        <p:txBody>
          <a:bodyPr wrap="square" lIns="0" tIns="0" rIns="0" bIns="0" rtlCol="0" anchor="t"/>
          <a:lstStyle/>
          <a:p>
            <a:pPr rtl="1" algn="r" indent="0" marL="0">
              <a:lnSpc>
                <a:spcPts val="1900"/>
              </a:lnSpc>
              <a:buNone/>
            </a:pPr>
            <a:r>
              <a:rPr lang="en-US" sz="1250" dirty="0">
                <a:solidFill>
                  <a:srgbClr val="1B2236"/>
                </a:solidFill>
                <a:latin typeface="Arial" pitchFamily="34" charset="0"/>
                <a:ea typeface="Arial" pitchFamily="34" charset="-122"/>
                <a:cs typeface="Arial" pitchFamily="34" charset="-120"/>
              </a:rPr>
              <a:t>مقداری متناسب با لگاریتم احتمال پیشین از لاجیت هر کلاس کسر می‌شود تا مرز تصمیم به سود کلاس‌های کمیاب جابه‌جا شود.</a:t>
            </a:r>
            <a:endParaRPr lang="en-US" sz="1250" dirty="0"/>
          </a:p>
        </p:txBody>
      </p:sp>
      <p:sp>
        <p:nvSpPr>
          <p:cNvPr id="10" name="Shape 8"/>
          <p:cNvSpPr/>
          <p:nvPr/>
        </p:nvSpPr>
        <p:spPr>
          <a:xfrm>
            <a:off x="548640" y="3794760"/>
            <a:ext cx="11064240" cy="1051560"/>
          </a:xfrm>
          <a:prstGeom prst="roundRect">
            <a:avLst>
              <a:gd name="adj" fmla="val 8696"/>
            </a:avLst>
          </a:prstGeom>
          <a:solidFill>
            <a:srgbClr val="FDEEEC"/>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1" name="Text 9"/>
          <p:cNvSpPr txBox="1"/>
          <p:nvPr/>
        </p:nvSpPr>
        <p:spPr>
          <a:xfrm>
            <a:off x="868680" y="3931920"/>
            <a:ext cx="10424160" cy="320040"/>
          </a:xfrm>
          <a:prstGeom prst="rect">
            <a:avLst/>
          </a:prstGeom>
          <a:noFill/>
          <a:ln/>
        </p:spPr>
        <p:txBody>
          <a:bodyPr wrap="square" lIns="0" tIns="0" rIns="0" bIns="0" rtlCol="0" anchor="t"/>
          <a:lstStyle/>
          <a:p>
            <a:pPr rtl="1" algn="r" indent="0" marL="0">
              <a:buNone/>
            </a:pPr>
            <a:r>
              <a:rPr lang="en-US" sz="1500" b="1" dirty="0">
                <a:solidFill>
                  <a:srgbClr val="C9483B"/>
                </a:solidFill>
                <a:latin typeface="Arial" pitchFamily="34" charset="0"/>
                <a:ea typeface="Arial" pitchFamily="34" charset="-122"/>
                <a:cs typeface="Arial" pitchFamily="34" charset="-120"/>
              </a:rPr>
              <a:t>آزمایشی که شکست خورد و از آن یاد گرفتیم</a:t>
            </a:r>
            <a:endParaRPr lang="en-US" sz="1500" dirty="0"/>
          </a:p>
        </p:txBody>
      </p:sp>
      <p:sp>
        <p:nvSpPr>
          <p:cNvPr id="12" name="Text 10"/>
          <p:cNvSpPr txBox="1"/>
          <p:nvPr/>
        </p:nvSpPr>
        <p:spPr>
          <a:xfrm>
            <a:off x="868680" y="4279392"/>
            <a:ext cx="10424160" cy="50292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اعمال خام فرمول روی هر ۱۴ کلاس، صحت را از ۰٫۶۸۹۷ به ۰٫۴۷۲ انداخت: همه کلاس‌های ناهنجار نسبت به عادی بالا می‌رفتند و مرحله اول تصمیم خراب می‌شد. اصلاح: محدود کردن به ۱۳ کلاس ناهنجار و مرکزی کردن، تا جرم کل ناهنجاری حفظ شود.</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64240" cy="914400"/>
        </p:xfrm>
        <a:graphic>
          <a:graphicData uri="http://schemas.openxmlformats.org/drawingml/2006/table">
            <a:tbl>
              <a:tblPr/>
              <a:tblGrid>
                <a:gridCol w="3931920"/>
                <a:gridCol w="1828800"/>
                <a:gridCol w="1828800"/>
                <a:gridCol w="1737360"/>
                <a:gridCol w="1737360"/>
              </a:tblGrid>
              <a:tr h="274320">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پیکربندی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میانگین بذرها</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نتیجه گروهی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صحت نوع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پایه ViT-L</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0.3955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0.4122</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0.6897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0.4786</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آمیزش ۰٫۲</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0.4203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0.4161</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0.6793</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0.4714</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274320">
                <a:tc>
                  <a:txBody>
                    <a:bodyPr/>
                    <a:lstStyle/>
                    <a:p>
                      <a:pPr algn="r" indent="0" marL="0">
                        <a:buNone/>
                      </a:pPr>
                      <a:r>
                        <a:rPr lang="en-US" sz="1150" b="1" dirty="0">
                          <a:solidFill>
                            <a:srgbClr val="16264F"/>
                          </a:solidFill>
                          <a:latin typeface="Arial" pitchFamily="34" charset="0"/>
                          <a:ea typeface="Arial" pitchFamily="34" charset="-122"/>
                          <a:cs typeface="Arial" pitchFamily="34" charset="-120"/>
                        </a:rPr>
                        <a:t>آمیزش ۰٫۲ + تنظیم لاجیت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0.4147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0.4298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0.6897</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50" b="1" dirty="0">
                          <a:solidFill>
                            <a:srgbClr val="16264F"/>
                          </a:solidFill>
                          <a:latin typeface="Arial" pitchFamily="34" charset="0"/>
                          <a:ea typeface="Arial" pitchFamily="34" charset="-122"/>
                          <a:cs typeface="Arial" pitchFamily="34" charset="-120"/>
                        </a:rPr>
                        <a:t>0.5000</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274320">
                <a:tc>
                  <a:txBody>
                    <a:bodyPr/>
                    <a:lstStyle/>
                    <a:p>
                      <a:pPr algn="r" indent="0" marL="0">
                        <a:buNone/>
                      </a:pPr>
                      <a:r>
                        <a:rPr lang="en-US" sz="1150" dirty="0">
                          <a:solidFill>
                            <a:srgbClr val="1B2236"/>
                          </a:solidFill>
                          <a:latin typeface="Arial" pitchFamily="34" charset="0"/>
                          <a:ea typeface="Arial" pitchFamily="34" charset="-122"/>
                          <a:cs typeface="Arial" pitchFamily="34" charset="-120"/>
                        </a:rPr>
                        <a:t>آمیزش ۰٫۴ + تنظیم لاجیت</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0.4135</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0.4248</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0.6759</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236"/>
                          </a:solidFill>
                          <a:latin typeface="Arial" pitchFamily="34" charset="0"/>
                          <a:ea typeface="Arial" pitchFamily="34" charset="-122"/>
                          <a:cs typeface="Arial" pitchFamily="34" charset="-120"/>
                        </a:rPr>
                        <a:t>0.4929</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مسیر دوم</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مسیر بهبود، گام به گام</a:t>
            </a:r>
            <a:endParaRPr lang="en-US" sz="3000" dirty="0"/>
          </a:p>
        </p:txBody>
      </p:sp>
      <p:graphicFrame>
        <p:nvGraphicFramePr>
          <p:cNvPr id="4" name="Chart 0" descr=""/>
          <p:cNvGraphicFramePr/>
          <p:nvPr/>
        </p:nvGraphicFramePr>
        <p:xfrm>
          <a:off x="548640" y="1645920"/>
          <a:ext cx="11064240" cy="32918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1206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+0.1323</a:t>
            </a:r>
            <a:endParaRPr lang="en-US" sz="4000" dirty="0"/>
          </a:p>
        </p:txBody>
      </p:sp>
      <p:sp>
        <p:nvSpPr>
          <p:cNvPr id="6" name="Text 3"/>
          <p:cNvSpPr txBox="1"/>
          <p:nvPr/>
        </p:nvSpPr>
        <p:spPr>
          <a:xfrm>
            <a:off x="54864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بهبود مطلق ماکرو F1</a:t>
            </a:r>
            <a:endParaRPr lang="en-US" sz="1200" dirty="0"/>
          </a:p>
        </p:txBody>
      </p:sp>
      <p:sp>
        <p:nvSpPr>
          <p:cNvPr id="7" name="Text 4"/>
          <p:cNvSpPr txBox="1"/>
          <p:nvPr/>
        </p:nvSpPr>
        <p:spPr>
          <a:xfrm>
            <a:off x="4297680" y="5120640"/>
            <a:ext cx="3566160" cy="777240"/>
          </a:xfrm>
          <a:prstGeom prst="rect">
            <a:avLst/>
          </a:prstGeom>
          <a:noFill/>
          <a:ln/>
        </p:spPr>
        <p:txBody>
          <a:bodyPr wrap="square" lIns="0" tIns="0" rIns="0" bIns="0" rtlCol="0" anchor="ctr"/>
          <a:lstStyle/>
          <a:p>
            <a:pPr algn="ctr" indent="0" marL="0">
              <a:buNone/>
            </a:pPr>
            <a:r>
              <a:rPr lang="en-US" sz="4000" b="1" dirty="0">
                <a:solidFill>
                  <a:srgbClr val="3FA7A0"/>
                </a:solidFill>
                <a:latin typeface="Arial" pitchFamily="34" charset="0"/>
                <a:ea typeface="Arial" pitchFamily="34" charset="-122"/>
                <a:cs typeface="Arial" pitchFamily="34" charset="-120"/>
              </a:rPr>
              <a:t>+44%</a:t>
            </a:r>
            <a:endParaRPr lang="en-US" sz="4000" dirty="0"/>
          </a:p>
        </p:txBody>
      </p:sp>
      <p:sp>
        <p:nvSpPr>
          <p:cNvPr id="8" name="Text 5"/>
          <p:cNvSpPr txBox="1"/>
          <p:nvPr/>
        </p:nvSpPr>
        <p:spPr>
          <a:xfrm>
            <a:off x="429768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بهبود نسبی</a:t>
            </a:r>
            <a:endParaRPr lang="en-US" sz="1200" dirty="0"/>
          </a:p>
        </p:txBody>
      </p:sp>
      <p:sp>
        <p:nvSpPr>
          <p:cNvPr id="9" name="Text 6"/>
          <p:cNvSpPr txBox="1"/>
          <p:nvPr/>
        </p:nvSpPr>
        <p:spPr>
          <a:xfrm>
            <a:off x="8046720" y="5120640"/>
            <a:ext cx="3566160" cy="777240"/>
          </a:xfrm>
          <a:prstGeom prst="rect">
            <a:avLst/>
          </a:prstGeom>
          <a:noFill/>
          <a:ln/>
        </p:spPr>
        <p:txBody>
          <a:bodyPr wrap="square" lIns="0" tIns="0" rIns="0" bIns="0" rtlCol="0" anchor="ctr"/>
          <a:lstStyle/>
          <a:p>
            <a:pPr algn="ctr" indent="0" marL="0">
              <a:buNone/>
            </a:pPr>
            <a:r>
              <a:rPr lang="en-US" sz="4000" b="1" dirty="0">
                <a:solidFill>
                  <a:srgbClr val="E8A33D"/>
                </a:solidFill>
                <a:latin typeface="Arial" pitchFamily="34" charset="0"/>
                <a:ea typeface="Arial" pitchFamily="34" charset="-122"/>
                <a:cs typeface="Arial" pitchFamily="34" charset="-120"/>
              </a:rPr>
              <a:t>0.075</a:t>
            </a:r>
            <a:endParaRPr lang="en-US" sz="4000" dirty="0"/>
          </a:p>
        </p:txBody>
      </p:sp>
      <p:sp>
        <p:nvSpPr>
          <p:cNvPr id="10" name="Text 7"/>
          <p:cNvSpPr txBox="1"/>
          <p:nvPr/>
        </p:nvSpPr>
        <p:spPr>
          <a:xfrm>
            <a:off x="8046720" y="587044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کف نوفه این مجموعه آزمون</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صداقت روش‌شناختی</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آزمایش‌هایی که نتیجه ندادند</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5577840"/>
                <a:gridCol w="1828800"/>
                <a:gridCol w="1828800"/>
                <a:gridCol w="18288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آزمایش</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نتیجه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مرجع</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داوری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نمونه‌برداری سبک Kinetics با گام ۴ فریم</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0.3089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0.3405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دو برابر کردن تعداد قطعه‌ها به ۳۲</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0.3875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الحاق ویژگی دو رمزگذار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0.3974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درون نوفه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آموزش با یک قطعه برتر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بدون بهبود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تنظیم لاجیت به‌تنهایی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0.4114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0.3955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درون نوفه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میانگین‌گیری بذرها برای 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بدون بهبود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بازنویسی توصیف‌های متنی کلاس‌ها</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0.74</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0.86</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بدتر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bl>
          </a:graphicData>
        </a:graphic>
      </p:graphicFrame>
      <p:sp>
        <p:nvSpPr>
          <p:cNvPr id="5" name="Shape 2"/>
          <p:cNvSpPr/>
          <p:nvPr/>
        </p:nvSpPr>
        <p:spPr>
          <a:xfrm>
            <a:off x="548640" y="4343400"/>
            <a:ext cx="11064240" cy="1783080"/>
          </a:xfrm>
          <a:prstGeom prst="roundRect">
            <a:avLst>
              <a:gd name="adj" fmla="val 5128"/>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6" name="Text 3"/>
          <p:cNvSpPr txBox="1"/>
          <p:nvPr/>
        </p:nvSpPr>
        <p:spPr>
          <a:xfrm>
            <a:off x="868680" y="4526280"/>
            <a:ext cx="10424160" cy="32004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چرا نمونه‌برداری استاندارد بدتر شد — مهم‌ترین یافته منفی</a:t>
            </a:r>
            <a:endParaRPr lang="en-US" sz="1500" dirty="0"/>
          </a:p>
        </p:txBody>
      </p:sp>
      <p:sp>
        <p:nvSpPr>
          <p:cNvPr id="7" name="Text 4"/>
          <p:cNvSpPr txBox="1"/>
          <p:nvPr/>
        </p:nvSpPr>
        <p:spPr>
          <a:xfrm>
            <a:off x="868680" y="4892040"/>
            <a:ext cx="10424160" cy="114300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قطعه‌های ما کشیده بودند و با نرخ نمونه‌برداری وزن‌های از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 و رویدادی که بیرون همه پنجره‌ها بیفتد اصلاً قابل امتیازدهی نیست.</a:t>
            </a:r>
            <a:endParaRPr lang="en-US" sz="1200" dirty="0"/>
          </a:p>
          <a:p>
            <a:pPr rtl="1" algn="r" indent="0" marL="0">
              <a:lnSpc>
                <a:spcPts val="1800"/>
              </a:lnSpc>
              <a:buNone/>
            </a:pPr>
            <a:endParaRPr lang="en-US" sz="1200" dirty="0"/>
          </a:p>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نتیجه: پوشش بر اعتبار قطعه غلبه دارد.</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اعتبارسنجی آماری</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چقدر از این اعداد نوفه است؟</a:t>
            </a:r>
            <a:endParaRPr lang="en-US" sz="3000" dirty="0"/>
          </a:p>
        </p:txBody>
      </p:sp>
      <p:sp>
        <p:nvSpPr>
          <p:cNvPr id="4" name="Text 2"/>
          <p:cNvSpPr txBox="1"/>
          <p:nvPr/>
        </p:nvSpPr>
        <p:spPr>
          <a:xfrm>
            <a:off x="548640" y="1627632"/>
            <a:ext cx="11064240" cy="365760"/>
          </a:xfrm>
          <a:prstGeom prst="rect">
            <a:avLst/>
          </a:prstGeom>
          <a:noFill/>
          <a:ln/>
        </p:spPr>
        <p:txBody>
          <a:bodyPr wrap="square" lIns="0" tIns="0" rIns="0" bIns="0" rtlCol="0" anchor="t"/>
          <a:lstStyle/>
          <a:p>
            <a:pPr rtl="1" algn="r" indent="0" marL="0">
              <a:buNone/>
            </a:pPr>
            <a:r>
              <a:rPr lang="en-US" sz="1400" dirty="0">
                <a:solidFill>
                  <a:srgbClr val="1B2236"/>
                </a:solidFill>
                <a:latin typeface="Arial" pitchFamily="34" charset="0"/>
                <a:ea typeface="Arial" pitchFamily="34" charset="-122"/>
                <a:cs typeface="Arial" pitchFamily="34" charset="-120"/>
              </a:rPr>
              <a:t>مجموعه آزمون با ۴۰۰۰ بار بازنمونه‌گیری خودگردان تحلیل شد تا پراکندگی مورد انتظار روی مجموعه‌های آزمون هم‌اندازه تخمین زده شود.</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6675120" cy="914400"/>
        </p:xfrm>
        <a:graphic>
          <a:graphicData uri="http://schemas.openxmlformats.org/drawingml/2006/table">
            <a:tbl>
              <a:tblPr/>
              <a:tblGrid>
                <a:gridCol w="2011680"/>
                <a:gridCol w="1554480"/>
                <a:gridCol w="1554480"/>
                <a:gridCol w="1554480"/>
              </a:tblGrid>
              <a:tr h="38404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معیار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مقدار نقطه‌ای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انحراف معیار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بازه اطمینان ۹۵ درصد</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84048">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ماکرو F1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0.4298</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0.037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[0.339 , 0.503]</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صحت چندکلاسه</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0.6897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0.027</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[0.635 , 0.745]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صحت نوع ناهنجاری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0.5000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0.041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[0.420 , 0.585]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84048">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AUC دودویی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0.9610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0.011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[0.938 , 0.980]</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bl>
          </a:graphicData>
        </a:graphic>
      </p:graphicFrame>
      <p:sp>
        <p:nvSpPr>
          <p:cNvPr id="6" name="Shape 3"/>
          <p:cNvSpPr/>
          <p:nvPr/>
        </p:nvSpPr>
        <p:spPr>
          <a:xfrm>
            <a:off x="7498080" y="2148840"/>
            <a:ext cx="4114800" cy="1965960"/>
          </a:xfrm>
          <a:prstGeom prst="roundRect">
            <a:avLst>
              <a:gd name="adj" fmla="val 4651"/>
            </a:avLst>
          </a:prstGeom>
          <a:solidFill>
            <a:srgbClr val="FFF7EA"/>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7" name="Text 4"/>
          <p:cNvSpPr txBox="1"/>
          <p:nvPr/>
        </p:nvSpPr>
        <p:spPr>
          <a:xfrm>
            <a:off x="7772400" y="2313432"/>
            <a:ext cx="3566160" cy="320040"/>
          </a:xfrm>
          <a:prstGeom prst="rect">
            <a:avLst/>
          </a:prstGeom>
          <a:noFill/>
          <a:ln/>
        </p:spPr>
        <p:txBody>
          <a:bodyPr wrap="square" lIns="0" tIns="0" rIns="0" bIns="0" rtlCol="0" anchor="t"/>
          <a:lstStyle/>
          <a:p>
            <a:pPr rtl="1" algn="r" indent="0" marL="0">
              <a:buNone/>
            </a:pPr>
            <a:r>
              <a:rPr lang="en-US" sz="1600" b="1" dirty="0">
                <a:solidFill>
                  <a:srgbClr val="E8A33D"/>
                </a:solidFill>
                <a:latin typeface="Arial" pitchFamily="34" charset="0"/>
                <a:ea typeface="Arial" pitchFamily="34" charset="-122"/>
                <a:cs typeface="Arial" pitchFamily="34" charset="-120"/>
              </a:rPr>
              <a:t>کف نوفه</a:t>
            </a:r>
            <a:endParaRPr lang="en-US" sz="1600" dirty="0"/>
          </a:p>
        </p:txBody>
      </p:sp>
      <p:sp>
        <p:nvSpPr>
          <p:cNvPr id="8" name="Text 5"/>
          <p:cNvSpPr txBox="1"/>
          <p:nvPr/>
        </p:nvSpPr>
        <p:spPr>
          <a:xfrm>
            <a:off x="7772400" y="2651760"/>
            <a:ext cx="3566160" cy="548640"/>
          </a:xfrm>
          <a:prstGeom prst="rect">
            <a:avLst/>
          </a:prstGeom>
          <a:noFill/>
          <a:ln/>
        </p:spPr>
        <p:txBody>
          <a:bodyPr wrap="square" lIns="0" tIns="0" rIns="0" bIns="0" rtlCol="0" anchor="t"/>
          <a:lstStyle/>
          <a:p>
            <a:pPr algn="r" indent="0" marL="0">
              <a:buNone/>
            </a:pPr>
            <a:r>
              <a:rPr lang="en-US" sz="3400" b="1" dirty="0">
                <a:solidFill>
                  <a:srgbClr val="E8A33D"/>
                </a:solidFill>
                <a:latin typeface="Arial" pitchFamily="34" charset="0"/>
                <a:ea typeface="Arial" pitchFamily="34" charset="-122"/>
                <a:cs typeface="Arial" pitchFamily="34" charset="-120"/>
              </a:rPr>
              <a:t>0.075</a:t>
            </a:r>
            <a:endParaRPr lang="en-US" sz="3400" dirty="0"/>
          </a:p>
        </p:txBody>
      </p:sp>
      <p:sp>
        <p:nvSpPr>
          <p:cNvPr id="9" name="Text 6"/>
          <p:cNvSpPr txBox="1"/>
          <p:nvPr/>
        </p:nvSpPr>
        <p:spPr>
          <a:xfrm>
            <a:off x="7772400" y="3246120"/>
            <a:ext cx="3566160" cy="73152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اختلاف کمتر از این مقدار در ماکرو F1 روی این تقسیم از نوفه قابل تفکیک نیست.</a:t>
            </a:r>
            <a:endParaRPr lang="en-US" sz="1200" dirty="0"/>
          </a:p>
        </p:txBody>
      </p:sp>
      <p:sp>
        <p:nvSpPr>
          <p:cNvPr id="10" name="Text 7"/>
          <p:cNvSpPr txBox="1"/>
          <p:nvPr/>
        </p:nvSpPr>
        <p:spPr>
          <a:xfrm>
            <a:off x="548640" y="4297680"/>
            <a:ext cx="11064240" cy="365760"/>
          </a:xfrm>
          <a:prstGeom prst="rect">
            <a:avLst/>
          </a:prstGeom>
          <a:noFill/>
          <a:ln/>
        </p:spPr>
        <p:txBody>
          <a:bodyPr wrap="square" lIns="0" tIns="0" rIns="0" bIns="0" rtlCol="0" anchor="t"/>
          <a:lstStyle/>
          <a:p>
            <a:pPr rtl="1" algn="r" indent="0" marL="0">
              <a:buNone/>
            </a:pPr>
            <a:r>
              <a:rPr lang="en-US" sz="1700" b="1" dirty="0">
                <a:solidFill>
                  <a:srgbClr val="16264F"/>
                </a:solidFill>
                <a:latin typeface="Arial" pitchFamily="34" charset="0"/>
                <a:ea typeface="Arial" pitchFamily="34" charset="-122"/>
                <a:cs typeface="Arial" pitchFamily="34" charset="-120"/>
              </a:rPr>
              <a:t>سقف تنظیم روی یک مجموعه آزمون کوچک</a:t>
            </a:r>
            <a:endParaRPr lang="en-US" sz="1700" dirty="0"/>
          </a:p>
        </p:txBody>
      </p:sp>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548640" y="4754880"/>
          <a:ext cx="4206240" cy="914400"/>
        </p:xfrm>
        <a:graphic>
          <a:graphicData uri="http://schemas.openxmlformats.org/drawingml/2006/table">
            <a:tbl>
              <a:tblPr/>
              <a:tblGrid>
                <a:gridCol w="2103120"/>
                <a:gridCol w="2103120"/>
              </a:tblGrid>
              <a:tr h="30175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تعداد ارزیابی</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تورم مورد انتظار</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01752">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۸</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+0.069</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01752">
                <a:tc>
                  <a:txBody>
                    <a:bodyPr/>
                    <a:lstStyle/>
                    <a:p>
                      <a:pPr algn="r" indent="0" marL="0">
                        <a:buNone/>
                      </a:pPr>
                      <a:r>
                        <a:rPr lang="en-US" sz="1200" dirty="0">
                          <a:solidFill>
                            <a:srgbClr val="1B2236"/>
                          </a:solidFill>
                          <a:latin typeface="Arial" pitchFamily="34" charset="0"/>
                          <a:ea typeface="Arial" pitchFamily="34" charset="-122"/>
                          <a:cs typeface="Arial" pitchFamily="34" charset="-120"/>
                        </a:rPr>
                        <a:t>۵۰</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6"/>
                          </a:solidFill>
                          <a:latin typeface="Arial" pitchFamily="34" charset="0"/>
                          <a:ea typeface="Arial" pitchFamily="34" charset="-122"/>
                          <a:cs typeface="Arial" pitchFamily="34" charset="-120"/>
                        </a:rPr>
                        <a:t>+0.095</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01752">
                <a:tc>
                  <a:txBody>
                    <a:bodyPr/>
                    <a:lstStyle/>
                    <a:p>
                      <a:pPr algn="r" indent="0" marL="0">
                        <a:buNone/>
                      </a:pPr>
                      <a:r>
                        <a:rPr lang="en-US" sz="1200" b="1" dirty="0">
                          <a:solidFill>
                            <a:srgbClr val="16264F"/>
                          </a:solidFill>
                          <a:latin typeface="Arial" pitchFamily="34" charset="0"/>
                          <a:ea typeface="Arial" pitchFamily="34" charset="-122"/>
                          <a:cs typeface="Arial" pitchFamily="34" charset="-120"/>
                        </a:rPr>
                        <a:t>۲۰۰</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200" b="1" dirty="0">
                          <a:solidFill>
                            <a:srgbClr val="16264F"/>
                          </a:solidFill>
                          <a:latin typeface="Arial" pitchFamily="34" charset="0"/>
                          <a:ea typeface="Arial" pitchFamily="34" charset="-122"/>
                          <a:cs typeface="Arial" pitchFamily="34" charset="-120"/>
                        </a:rPr>
                        <a:t>+0.111</a:t>
                      </a:r>
                      <a:endParaRPr lang="en-US" sz="12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12" name="Shape 8"/>
          <p:cNvSpPr/>
          <p:nvPr/>
        </p:nvSpPr>
        <p:spPr>
          <a:xfrm>
            <a:off x="5120640" y="4754880"/>
            <a:ext cx="6492240" cy="1325880"/>
          </a:xfrm>
          <a:prstGeom prst="roundRect">
            <a:avLst>
              <a:gd name="adj" fmla="val 6897"/>
            </a:avLst>
          </a:prstGeom>
          <a:solidFill>
            <a:srgbClr val="FFFFFF"/>
          </a:solidFill>
          <a:ln w="12700">
            <a:solidFill>
              <a:srgbClr val="E2E7F0"/>
            </a:solidFill>
            <a:prstDash val="solid"/>
          </a:ln>
          <a:effectLst>
            <a:outerShdw sx="100000" sy="100000" kx="0" ky="0" algn="bl" rotWithShape="0" blurRad="101600" dist="25400" dir="5400000">
              <a:srgbClr val="8A94AC">
                <a:alpha val="16000"/>
              </a:srgbClr>
            </a:outerShdw>
          </a:effectLst>
        </p:spPr>
      </p:sp>
      <p:sp>
        <p:nvSpPr>
          <p:cNvPr id="13" name="Text 9"/>
          <p:cNvSpPr txBox="1"/>
          <p:nvPr/>
        </p:nvSpPr>
        <p:spPr>
          <a:xfrm>
            <a:off x="5394960" y="4937760"/>
            <a:ext cx="5943600" cy="1005840"/>
          </a:xfrm>
          <a:prstGeom prst="rect">
            <a:avLst/>
          </a:prstGeom>
          <a:noFill/>
          <a:ln/>
        </p:spPr>
        <p:txBody>
          <a:bodyPr wrap="square" lIns="0" tIns="0" rIns="0" bIns="0" rtlCol="0" anchor="t"/>
          <a:lstStyle/>
          <a:p>
            <a:pPr rtl="1" algn="r" indent="0" marL="0">
              <a:lnSpc>
                <a:spcPts val="1800"/>
              </a:lnSpc>
              <a:buNone/>
            </a:pPr>
            <a:r>
              <a:rPr lang="en-US" sz="1200" dirty="0">
                <a:solidFill>
                  <a:srgbClr val="1B2236"/>
                </a:solidFill>
                <a:latin typeface="Arial" pitchFamily="34" charset="0"/>
                <a:ea typeface="Arial" pitchFamily="34" charset="-122"/>
                <a:cs typeface="Arial" pitchFamily="34" charset="-120"/>
              </a:rPr>
              <a:t>با حدود ۲۰۰ ارزیابی روی همین تقسیم، گزارش بهترین عدد مشاهده‌شده نتیجه را بیش از اندازه خود اثر ادعاشده بزرگ نشان می‌دهد. به همین دلیل همه اعداد این ارائه از پیکربندی‌هایی می‌آیند که پیش از اجرا تثبیت شده بودند و آستانه تصمیم روی مجموعه آزمون تنظیم نشده است.</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8FC"/>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292608"/>
          </a:xfrm>
          <a:prstGeom prst="rect">
            <a:avLst/>
          </a:prstGeom>
          <a:noFill/>
          <a:ln/>
        </p:spPr>
        <p:txBody>
          <a:bodyPr wrap="square" lIns="0" tIns="0" rIns="0" bIns="0" rtlCol="0" anchor="t"/>
          <a:lstStyle/>
          <a:p>
            <a:pPr rtl="1" algn="r" indent="0" marL="0">
              <a:buNone/>
            </a:pPr>
            <a:r>
              <a:rPr lang="en-US" sz="1300" b="1" dirty="0">
                <a:solidFill>
                  <a:srgbClr val="E8A33D"/>
                </a:solidFill>
                <a:latin typeface="Arial" pitchFamily="34" charset="0"/>
                <a:ea typeface="Arial" pitchFamily="34" charset="-122"/>
                <a:cs typeface="Arial" pitchFamily="34" charset="-120"/>
              </a:rPr>
              <a:t>جمع‌بندی نتایج</a:t>
            </a:r>
            <a:endParaRPr lang="en-US" sz="1300" dirty="0"/>
          </a:p>
        </p:txBody>
      </p:sp>
      <p:sp>
        <p:nvSpPr>
          <p:cNvPr id="3" name="Text 1"/>
          <p:cNvSpPr txBox="1"/>
          <p:nvPr/>
        </p:nvSpPr>
        <p:spPr>
          <a:xfrm>
            <a:off x="548640" y="658368"/>
            <a:ext cx="11064240" cy="731520"/>
          </a:xfrm>
          <a:prstGeom prst="rect">
            <a:avLst/>
          </a:prstGeom>
          <a:noFill/>
          <a:ln/>
        </p:spPr>
        <p:txBody>
          <a:bodyPr wrap="square" lIns="0" tIns="0" rIns="0" bIns="0" rtlCol="0" anchor="t"/>
          <a:lstStyle/>
          <a:p>
            <a:pPr rtl="1" algn="r" indent="0" marL="0">
              <a:buNone/>
            </a:pPr>
            <a:r>
              <a:rPr lang="en-US" sz="3000" b="1" dirty="0">
                <a:solidFill>
                  <a:srgbClr val="16264F"/>
                </a:solidFill>
                <a:latin typeface="Arial" pitchFamily="34" charset="0"/>
                <a:ea typeface="Arial" pitchFamily="34" charset="-122"/>
                <a:cs typeface="Arial" pitchFamily="34" charset="-120"/>
              </a:rPr>
              <a:t>جدول کامل نتایج</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114800"/>
                <a:gridCol w="2011680"/>
                <a:gridCol w="1280160"/>
                <a:gridCol w="1280160"/>
                <a:gridCol w="1280160"/>
                <a:gridCol w="1097280"/>
              </a:tblGrid>
              <a:tr h="329184">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پیکربندی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رمزگذار</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ماکرو F1</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صحت نوع</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صحت کلی</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AUC</a:t>
                      </a:r>
                      <a:endParaRPr lang="en-US" sz="115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16264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اسم خام کلاس، وزن دستی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0.3327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0.3716</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0.6385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0.9473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توصیف بصری + وزن معکوس</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0.3713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0.4054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0.6351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0.9637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اول — چهار نمای زمانی در آزمون</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X-CLIP ViT-B/32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0.3881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0.4257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0.6419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0.9629</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سر نقطه‌ای، خط پایه</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0.2975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0.3860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0.5660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سر ترنسفورمر زمانی</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0.3444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0.3930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0.6350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نرخ یادگیری ۰٫۰۰۰۳</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ViT-B</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0.3645</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0.4210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0.6550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ارتقا به رمزگذار بزرگ</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0.4122</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0.4786</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0.6897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EDF1F8"/>
                    </a:solidFill>
                  </a:tcPr>
                </a:tc>
              </a:tr>
              <a:tr h="329184">
                <a:tc>
                  <a:txBody>
                    <a:bodyPr/>
                    <a:lstStyle/>
                    <a:p>
                      <a:pPr algn="r" indent="0" marL="0">
                        <a:buNone/>
                      </a:pPr>
                      <a:r>
                        <a:rPr lang="en-US" sz="1100" dirty="0">
                          <a:solidFill>
                            <a:srgbClr val="1B2236"/>
                          </a:solidFill>
                          <a:latin typeface="Arial" pitchFamily="34" charset="0"/>
                          <a:ea typeface="Arial" pitchFamily="34" charset="-122"/>
                          <a:cs typeface="Arial" pitchFamily="34" charset="-120"/>
                        </a:rPr>
                        <a:t>مسیر دوم — افزودن آمیزش</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0.4161</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0.4714</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0.6793</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FFF"/>
                    </a:solidFill>
                  </a:tcPr>
                </a:tc>
              </a:tr>
              <a:tr h="329184">
                <a:tc>
                  <a:txBody>
                    <a:bodyPr/>
                    <a:lstStyle/>
                    <a:p>
                      <a:pPr algn="r" indent="0" marL="0">
                        <a:buNone/>
                      </a:pPr>
                      <a:r>
                        <a:rPr lang="en-US" sz="1100" b="1" dirty="0">
                          <a:solidFill>
                            <a:srgbClr val="16264F"/>
                          </a:solidFill>
                          <a:latin typeface="Arial" pitchFamily="34" charset="0"/>
                          <a:ea typeface="Arial" pitchFamily="34" charset="-122"/>
                          <a:cs typeface="Arial" pitchFamily="34" charset="-120"/>
                        </a:rPr>
                        <a:t>مسیر دوم — آمیزش + تنظیم لاجیت</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VideoMAE ViT-L</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0.4298</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0.5000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0.6897</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c>
                  <a:txBody>
                    <a:bodyPr/>
                    <a:lstStyle/>
                    <a:p>
                      <a:pPr algn="ctr" indent="0" marL="0">
                        <a:buNone/>
                      </a:pPr>
                      <a:r>
                        <a:rPr lang="en-US" sz="1100" b="1" dirty="0">
                          <a:solidFill>
                            <a:srgbClr val="16264F"/>
                          </a:solidFill>
                          <a:latin typeface="Arial" pitchFamily="34" charset="0"/>
                          <a:ea typeface="Arial" pitchFamily="34" charset="-122"/>
                          <a:cs typeface="Arial" pitchFamily="34" charset="-120"/>
                        </a:rPr>
                        <a:t>0.9610</a:t>
                      </a:r>
                      <a:endParaRPr lang="en-US" sz="1100" dirty="0">
                        <a:latin typeface="Arial" charset="0"/>
                        <a:ea typeface="Arial" charset="0"/>
                        <a:cs typeface="Arial" charset="0"/>
                      </a:endParaRPr>
                    </a:p>
                  </a:txBody>
                  <a:tcPr marL="38100" marR="38100" marT="38100" marB="38100" anchor="ctr">
                    <a:lnL w="6350" cap="flat" cmpd="sng" algn="ctr">
                      <a:solidFill>
                        <a:srgbClr val="D9E0EC"/>
                      </a:solidFill>
                      <a:prstDash val="solid"/>
                      <a:round/>
                      <a:headEnd type="none" w="med" len="med"/>
                      <a:tailEnd type="none" w="med" len="med"/>
                    </a:lnL>
                    <a:lnR w="6350" cap="flat" cmpd="sng" algn="ctr">
                      <a:solidFill>
                        <a:srgbClr val="D9E0EC"/>
                      </a:solidFill>
                      <a:prstDash val="solid"/>
                      <a:round/>
                      <a:headEnd type="none" w="med" len="med"/>
                      <a:tailEnd type="none" w="med" len="med"/>
                    </a:lnR>
                    <a:lnT w="6350" cap="flat" cmpd="sng" algn="ctr">
                      <a:solidFill>
                        <a:srgbClr val="D9E0EC"/>
                      </a:solidFill>
                      <a:prstDash val="solid"/>
                      <a:round/>
                      <a:headEnd type="none" w="med" len="med"/>
                      <a:tailEnd type="none" w="med" len="med"/>
                    </a:lnT>
                    <a:lnB w="6350" cap="flat" cmpd="sng" algn="ctr">
                      <a:solidFill>
                        <a:srgbClr val="D9E0EC"/>
                      </a:solidFill>
                      <a:prstDash val="solid"/>
                      <a:round/>
                      <a:headEnd type="none" w="med" len="med"/>
                      <a:tailEnd type="none" w="med" len="med"/>
                    </a:lnB>
                    <a:solidFill>
                      <a:srgbClr val="FFF2DC"/>
                    </a:solidFill>
                  </a:tcPr>
                </a:tc>
              </a:tr>
            </a:tbl>
          </a:graphicData>
        </a:graphic>
      </p:graphicFrame>
      <p:sp>
        <p:nvSpPr>
          <p:cNvPr id="5" name="Text 2"/>
          <p:cNvSpPr txBox="1"/>
          <p:nvPr/>
        </p:nvSpPr>
        <p:spPr>
          <a:xfrm>
            <a:off x="548640" y="5285232"/>
            <a:ext cx="11064240" cy="457200"/>
          </a:xfrm>
          <a:prstGeom prst="rect">
            <a:avLst/>
          </a:prstGeom>
          <a:noFill/>
          <a:ln/>
        </p:spPr>
        <p:txBody>
          <a:bodyPr wrap="square" lIns="0" tIns="0" rIns="0" bIns="0" rtlCol="0" anchor="t"/>
          <a:lstStyle/>
          <a:p>
            <a:pPr rtl="1" algn="r" indent="0" marL="0">
              <a:lnSpc>
                <a:spcPts val="1700"/>
              </a:lnSpc>
              <a:buNone/>
            </a:pPr>
            <a:r>
              <a:rPr lang="en-US" sz="1150" dirty="0">
                <a:solidFill>
                  <a:srgbClr val="6A748C"/>
                </a:solidFill>
                <a:latin typeface="Arial" pitchFamily="34" charset="0"/>
                <a:ea typeface="Arial" pitchFamily="34" charset="-122"/>
                <a:cs typeface="Arial" pitchFamily="34" charset="-120"/>
              </a:rPr>
              <a:t>مسیر اول روی تقسیمی با ۲۹۶ ویدیوی آزمون و مسیر دوم روی تقسیم استاندارد با ۲۹۰ ویدیو اجرا شده‌اند؛ مقایسه مستقیم اعداد دو مسیر با این قید خوانده شود.</a:t>
            </a:r>
            <a:endParaRPr lang="en-US" sz="1150" dirty="0"/>
          </a:p>
        </p:txBody>
      </p:sp>
      <p:sp>
        <p:nvSpPr>
          <p:cNvPr id="6" name="Text 3"/>
          <p:cNvSpPr txBox="1"/>
          <p:nvPr/>
        </p:nvSpPr>
        <p:spPr>
          <a:xfrm>
            <a:off x="548640" y="5760720"/>
            <a:ext cx="3566160" cy="777240"/>
          </a:xfrm>
          <a:prstGeom prst="rect">
            <a:avLst/>
          </a:prstGeom>
          <a:noFill/>
          <a:ln/>
        </p:spPr>
        <p:txBody>
          <a:bodyPr wrap="square" lIns="0" tIns="0" rIns="0" bIns="0" rtlCol="0" anchor="ctr"/>
          <a:lstStyle/>
          <a:p>
            <a:pPr algn="ctr" indent="0" marL="0">
              <a:buNone/>
            </a:pPr>
            <a:r>
              <a:rPr lang="en-US" sz="4000" b="1" dirty="0">
                <a:solidFill>
                  <a:srgbClr val="E8A33D"/>
                </a:solidFill>
                <a:latin typeface="Arial" pitchFamily="34" charset="0"/>
                <a:ea typeface="Arial" pitchFamily="34" charset="-122"/>
                <a:cs typeface="Arial" pitchFamily="34" charset="-120"/>
              </a:rPr>
              <a:t>0.4298</a:t>
            </a:r>
            <a:endParaRPr lang="en-US" sz="4000" dirty="0"/>
          </a:p>
        </p:txBody>
      </p:sp>
      <p:sp>
        <p:nvSpPr>
          <p:cNvPr id="7" name="Text 4"/>
          <p:cNvSpPr txBox="1"/>
          <p:nvPr/>
        </p:nvSpPr>
        <p:spPr>
          <a:xfrm>
            <a:off x="54864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ماکرو F1 نهایی</a:t>
            </a:r>
            <a:endParaRPr lang="en-US" sz="1200" dirty="0"/>
          </a:p>
        </p:txBody>
      </p:sp>
      <p:sp>
        <p:nvSpPr>
          <p:cNvPr id="8" name="Text 5"/>
          <p:cNvSpPr txBox="1"/>
          <p:nvPr/>
        </p:nvSpPr>
        <p:spPr>
          <a:xfrm>
            <a:off x="4297680" y="5760720"/>
            <a:ext cx="35661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0.5000</a:t>
            </a:r>
            <a:endParaRPr lang="en-US" sz="4000" dirty="0"/>
          </a:p>
        </p:txBody>
      </p:sp>
      <p:sp>
        <p:nvSpPr>
          <p:cNvPr id="9" name="Text 6"/>
          <p:cNvSpPr txBox="1"/>
          <p:nvPr/>
        </p:nvSpPr>
        <p:spPr>
          <a:xfrm>
            <a:off x="429768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صحت نوع ناهنجاری</a:t>
            </a:r>
            <a:endParaRPr lang="en-US" sz="1200" dirty="0"/>
          </a:p>
        </p:txBody>
      </p:sp>
      <p:sp>
        <p:nvSpPr>
          <p:cNvPr id="10" name="Text 7"/>
          <p:cNvSpPr txBox="1"/>
          <p:nvPr/>
        </p:nvSpPr>
        <p:spPr>
          <a:xfrm>
            <a:off x="8046720" y="5760720"/>
            <a:ext cx="3566160" cy="777240"/>
          </a:xfrm>
          <a:prstGeom prst="rect">
            <a:avLst/>
          </a:prstGeom>
          <a:noFill/>
          <a:ln/>
        </p:spPr>
        <p:txBody>
          <a:bodyPr wrap="square" lIns="0" tIns="0" rIns="0" bIns="0" rtlCol="0" anchor="ctr"/>
          <a:lstStyle/>
          <a:p>
            <a:pPr algn="ctr" indent="0" marL="0">
              <a:buNone/>
            </a:pPr>
            <a:r>
              <a:rPr lang="en-US" sz="4000" b="1" dirty="0">
                <a:solidFill>
                  <a:srgbClr val="16264F"/>
                </a:solidFill>
                <a:latin typeface="Arial" pitchFamily="34" charset="0"/>
                <a:ea typeface="Arial" pitchFamily="34" charset="-122"/>
                <a:cs typeface="Arial" pitchFamily="34" charset="-120"/>
              </a:rPr>
              <a:t>0.6897</a:t>
            </a:r>
            <a:endParaRPr lang="en-US" sz="4000" dirty="0"/>
          </a:p>
        </p:txBody>
      </p:sp>
      <p:sp>
        <p:nvSpPr>
          <p:cNvPr id="11" name="Text 8"/>
          <p:cNvSpPr txBox="1"/>
          <p:nvPr/>
        </p:nvSpPr>
        <p:spPr>
          <a:xfrm>
            <a:off x="8046720" y="6510528"/>
            <a:ext cx="3566160" cy="457200"/>
          </a:xfrm>
          <a:prstGeom prst="rect">
            <a:avLst/>
          </a:prstGeom>
          <a:noFill/>
          <a:ln/>
        </p:spPr>
        <p:txBody>
          <a:bodyPr wrap="square" lIns="0" tIns="0" rIns="0" bIns="0" rtlCol="0" anchor="t"/>
          <a:lstStyle/>
          <a:p>
            <a:pPr rtl="1" algn="ctr" indent="0" marL="0">
              <a:buNone/>
            </a:pPr>
            <a:r>
              <a:rPr lang="en-US" sz="1200" dirty="0">
                <a:solidFill>
                  <a:srgbClr val="6A748C"/>
                </a:solidFill>
                <a:latin typeface="Arial" pitchFamily="34" charset="0"/>
                <a:ea typeface="Arial" pitchFamily="34" charset="-122"/>
                <a:cs typeface="Arial" pitchFamily="34" charset="-120"/>
              </a:rPr>
              <a:t>صحت چندکلاسه</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264F"/>
        </a:solidFill>
      </p:bgPr>
    </p:bg>
    <p:spTree>
      <p:nvGrpSpPr>
        <p:cNvPr id="1" name=""/>
        <p:cNvGrpSpPr/>
        <p:nvPr/>
      </p:nvGrpSpPr>
      <p:grpSpPr>
        <a:xfrm>
          <a:off x="0" y="0"/>
          <a:ext cx="0" cy="0"/>
          <a:chOff x="0" y="0"/>
          <a:chExt cx="0" cy="0"/>
        </a:xfrm>
      </p:grpSpPr>
      <p:sp>
        <p:nvSpPr>
          <p:cNvPr id="2" name="Shape 0"/>
          <p:cNvSpPr/>
          <p:nvPr/>
        </p:nvSpPr>
        <p:spPr>
          <a:xfrm>
            <a:off x="9326880" y="-1280160"/>
            <a:ext cx="4572000" cy="4572000"/>
          </a:xfrm>
          <a:prstGeom prst="ellipse">
            <a:avLst/>
          </a:prstGeom>
          <a:solidFill>
            <a:srgbClr val="1E3566"/>
          </a:solidFill>
          <a:ln w="12700">
            <a:solidFill>
              <a:srgbClr val="333333"/>
            </a:solidFill>
            <a:prstDash val="solid"/>
          </a:ln>
        </p:spPr>
      </p:sp>
      <p:sp>
        <p:nvSpPr>
          <p:cNvPr id="3" name="Text 1"/>
          <p:cNvSpPr txBox="1"/>
          <p:nvPr/>
        </p:nvSpPr>
        <p:spPr>
          <a:xfrm>
            <a:off x="640080" y="502920"/>
            <a:ext cx="10881360" cy="640080"/>
          </a:xfrm>
          <a:prstGeom prst="rect">
            <a:avLst/>
          </a:prstGeom>
          <a:noFill/>
          <a:ln/>
        </p:spPr>
        <p:txBody>
          <a:bodyPr wrap="square" lIns="0" tIns="0" rIns="0" bIns="0" rtlCol="0" anchor="t"/>
          <a:lstStyle/>
          <a:p>
            <a:pPr rtl="1" algn="r" indent="0" marL="0">
              <a:buNone/>
            </a:pPr>
            <a:r>
              <a:rPr lang="en-US" sz="3000" b="1" dirty="0">
                <a:solidFill>
                  <a:srgbClr val="FFFFFF"/>
                </a:solidFill>
                <a:latin typeface="Arial" pitchFamily="34" charset="0"/>
                <a:ea typeface="Arial" pitchFamily="34" charset="-122"/>
                <a:cs typeface="Arial" pitchFamily="34" charset="-120"/>
              </a:rPr>
              <a:t>جمع‌بندی و کارهای آینده</a:t>
            </a:r>
            <a:endParaRPr lang="en-US" sz="3000" dirty="0"/>
          </a:p>
        </p:txBody>
      </p:sp>
      <p:sp>
        <p:nvSpPr>
          <p:cNvPr id="4" name="Shape 2"/>
          <p:cNvSpPr/>
          <p:nvPr/>
        </p:nvSpPr>
        <p:spPr>
          <a:xfrm>
            <a:off x="640080" y="1600200"/>
            <a:ext cx="10881360" cy="868680"/>
          </a:xfrm>
          <a:prstGeom prst="roundRect">
            <a:avLst>
              <a:gd name="adj" fmla="val 8421"/>
            </a:avLst>
          </a:prstGeom>
          <a:solidFill>
            <a:srgbClr val="1E3566"/>
          </a:solidFill>
          <a:ln w="12700">
            <a:solidFill>
              <a:srgbClr val="333333"/>
            </a:solidFill>
            <a:prstDash val="solid"/>
          </a:ln>
        </p:spPr>
      </p:sp>
      <p:sp>
        <p:nvSpPr>
          <p:cNvPr id="5" name="Text 3"/>
          <p:cNvSpPr txBox="1"/>
          <p:nvPr/>
        </p:nvSpPr>
        <p:spPr>
          <a:xfrm>
            <a:off x="9692640" y="1746504"/>
            <a:ext cx="1645920" cy="365760"/>
          </a:xfrm>
          <a:prstGeom prst="rect">
            <a:avLst/>
          </a:prstGeom>
          <a:noFill/>
          <a:ln/>
        </p:spPr>
        <p:txBody>
          <a:bodyPr wrap="square" lIns="0" tIns="0" rIns="0" bIns="0" rtlCol="0" anchor="t"/>
          <a:lstStyle/>
          <a:p>
            <a:pPr rtl="1" algn="r" indent="0" marL="0">
              <a:buNone/>
            </a:pPr>
            <a:r>
              <a:rPr lang="en-US" sz="1500" b="1" dirty="0">
                <a:solidFill>
                  <a:srgbClr val="3FA7A0"/>
                </a:solidFill>
                <a:latin typeface="Arial" pitchFamily="34" charset="0"/>
                <a:ea typeface="Arial" pitchFamily="34" charset="-122"/>
                <a:cs typeface="Arial" pitchFamily="34" charset="-120"/>
              </a:rPr>
              <a:t>دستاورد</a:t>
            </a:r>
            <a:endParaRPr lang="en-US" sz="1500" dirty="0"/>
          </a:p>
        </p:txBody>
      </p:sp>
      <p:sp>
        <p:nvSpPr>
          <p:cNvPr id="6" name="Text 4"/>
          <p:cNvSpPr txBox="1"/>
          <p:nvPr/>
        </p:nvSpPr>
        <p:spPr>
          <a:xfrm>
            <a:off x="914400" y="1783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اصلاح سه اشکال بنیادی، بازطراحی معماری با رمزگذار منجمد، سر ترنسفورمر زمانی، و پروتکل ارزیابی با کف نوفه</a:t>
            </a:r>
            <a:endParaRPr lang="en-US" sz="1300" dirty="0"/>
          </a:p>
        </p:txBody>
      </p:sp>
      <p:sp>
        <p:nvSpPr>
          <p:cNvPr id="7" name="Shape 5"/>
          <p:cNvSpPr/>
          <p:nvPr/>
        </p:nvSpPr>
        <p:spPr>
          <a:xfrm>
            <a:off x="640080" y="2743200"/>
            <a:ext cx="10881360" cy="868680"/>
          </a:xfrm>
          <a:prstGeom prst="roundRect">
            <a:avLst>
              <a:gd name="adj" fmla="val 8421"/>
            </a:avLst>
          </a:prstGeom>
          <a:solidFill>
            <a:srgbClr val="1E3566"/>
          </a:solidFill>
          <a:ln w="12700">
            <a:solidFill>
              <a:srgbClr val="333333"/>
            </a:solidFill>
            <a:prstDash val="solid"/>
          </a:ln>
        </p:spPr>
      </p:sp>
      <p:sp>
        <p:nvSpPr>
          <p:cNvPr id="8" name="Text 6"/>
          <p:cNvSpPr txBox="1"/>
          <p:nvPr/>
        </p:nvSpPr>
        <p:spPr>
          <a:xfrm>
            <a:off x="9692640" y="2889504"/>
            <a:ext cx="1645920" cy="365760"/>
          </a:xfrm>
          <a:prstGeom prst="rect">
            <a:avLst/>
          </a:prstGeom>
          <a:noFill/>
          <a:ln/>
        </p:spPr>
        <p:txBody>
          <a:bodyPr wrap="square" lIns="0" tIns="0" rIns="0" bIns="0" rtlCol="0" anchor="t"/>
          <a:lstStyle/>
          <a:p>
            <a:pPr rtl="1" algn="r" indent="0" marL="0">
              <a:buNone/>
            </a:pPr>
            <a:r>
              <a:rPr lang="en-US" sz="1500" b="1" dirty="0">
                <a:solidFill>
                  <a:srgbClr val="E8A33D"/>
                </a:solidFill>
                <a:latin typeface="Arial" pitchFamily="34" charset="0"/>
                <a:ea typeface="Arial" pitchFamily="34" charset="-122"/>
                <a:cs typeface="Arial" pitchFamily="34" charset="-120"/>
              </a:rPr>
              <a:t>محدودیت</a:t>
            </a:r>
            <a:endParaRPr lang="en-US" sz="1500" dirty="0"/>
          </a:p>
        </p:txBody>
      </p:sp>
      <p:sp>
        <p:nvSpPr>
          <p:cNvPr id="9" name="Text 7"/>
          <p:cNvSpPr txBox="1"/>
          <p:nvPr/>
        </p:nvSpPr>
        <p:spPr>
          <a:xfrm>
            <a:off x="914400" y="2926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رمزگذار به دامنه نظارتی تطبیق نمی‌یابد؛ مجموعه آزمون کوچک است و بازه‌های اطمینان پهن</a:t>
            </a:r>
            <a:endParaRPr lang="en-US" sz="1300" dirty="0"/>
          </a:p>
        </p:txBody>
      </p:sp>
      <p:sp>
        <p:nvSpPr>
          <p:cNvPr id="10" name="Shape 8"/>
          <p:cNvSpPr/>
          <p:nvPr/>
        </p:nvSpPr>
        <p:spPr>
          <a:xfrm>
            <a:off x="640080" y="3886200"/>
            <a:ext cx="10881360" cy="868680"/>
          </a:xfrm>
          <a:prstGeom prst="roundRect">
            <a:avLst>
              <a:gd name="adj" fmla="val 8421"/>
            </a:avLst>
          </a:prstGeom>
          <a:solidFill>
            <a:srgbClr val="1E3566"/>
          </a:solidFill>
          <a:ln w="12700">
            <a:solidFill>
              <a:srgbClr val="333333"/>
            </a:solidFill>
            <a:prstDash val="solid"/>
          </a:ln>
        </p:spPr>
      </p:sp>
      <p:sp>
        <p:nvSpPr>
          <p:cNvPr id="11" name="Text 9"/>
          <p:cNvSpPr txBox="1"/>
          <p:nvPr/>
        </p:nvSpPr>
        <p:spPr>
          <a:xfrm>
            <a:off x="9692640" y="4032504"/>
            <a:ext cx="1645920" cy="365760"/>
          </a:xfrm>
          <a:prstGeom prst="rect">
            <a:avLst/>
          </a:prstGeom>
          <a:noFill/>
          <a:ln/>
        </p:spPr>
        <p:txBody>
          <a:bodyPr wrap="square" lIns="0" tIns="0" rIns="0" bIns="0" rtlCol="0" anchor="t"/>
          <a:lstStyle/>
          <a:p>
            <a:pPr rtl="1" algn="r" indent="0" marL="0">
              <a:buNone/>
            </a:pPr>
            <a:r>
              <a:rPr lang="en-US" sz="1500" b="1" dirty="0">
                <a:solidFill>
                  <a:srgbClr val="BFD4F2"/>
                </a:solidFill>
                <a:latin typeface="Arial" pitchFamily="34" charset="0"/>
                <a:ea typeface="Arial" pitchFamily="34" charset="-122"/>
                <a:cs typeface="Arial" pitchFamily="34" charset="-120"/>
              </a:rPr>
              <a:t>کار آینده</a:t>
            </a:r>
            <a:endParaRPr lang="en-US" sz="1500" dirty="0"/>
          </a:p>
        </p:txBody>
      </p:sp>
      <p:sp>
        <p:nvSpPr>
          <p:cNvPr id="12" name="Text 10"/>
          <p:cNvSpPr txBox="1"/>
          <p:nvPr/>
        </p:nvSpPr>
        <p:spPr>
          <a:xfrm>
            <a:off x="914400" y="4069080"/>
            <a:ext cx="8595360" cy="685800"/>
          </a:xfrm>
          <a:prstGeom prst="rect">
            <a:avLst/>
          </a:prstGeom>
          <a:noFill/>
          <a:ln/>
        </p:spPr>
        <p:txBody>
          <a:bodyPr wrap="square" lIns="0" tIns="0" rIns="0" bIns="0" rtlCol="0" anchor="t"/>
          <a:lstStyle/>
          <a:p>
            <a:pPr rtl="1" algn="r" indent="0" marL="0">
              <a:lnSpc>
                <a:spcPts val="2000"/>
              </a:lnSpc>
              <a:buNone/>
            </a:pPr>
            <a:r>
              <a:rPr lang="en-US" sz="1300" dirty="0">
                <a:solidFill>
                  <a:srgbClr val="FFFFFF"/>
                </a:solidFill>
                <a:latin typeface="Arial" pitchFamily="34" charset="0"/>
                <a:ea typeface="Arial" pitchFamily="34" charset="-122"/>
                <a:cs typeface="Arial" pitchFamily="34" charset="-120"/>
              </a:rPr>
              <a:t>افزایش وضوح مکانی برای خوشه دزدی، تنظیم دقیق رمزگذار روی داده نظارتی، و تقسیم داده با سهم بزرگ‌تر برای آزمون</a:t>
            </a:r>
            <a:endParaRPr lang="en-US" sz="1300" dirty="0"/>
          </a:p>
        </p:txBody>
      </p:sp>
      <p:sp>
        <p:nvSpPr>
          <p:cNvPr id="13" name="Shape 11"/>
          <p:cNvSpPr/>
          <p:nvPr/>
        </p:nvSpPr>
        <p:spPr>
          <a:xfrm>
            <a:off x="640080" y="5212080"/>
            <a:ext cx="10881360" cy="1005840"/>
          </a:xfrm>
          <a:prstGeom prst="roundRect">
            <a:avLst>
              <a:gd name="adj" fmla="val 7273"/>
            </a:avLst>
          </a:prstGeom>
          <a:solidFill>
            <a:srgbClr val="E8A33D"/>
          </a:solidFill>
          <a:ln w="12700">
            <a:solidFill>
              <a:srgbClr val="333333"/>
            </a:solidFill>
            <a:prstDash val="solid"/>
          </a:ln>
        </p:spPr>
      </p:sp>
      <p:sp>
        <p:nvSpPr>
          <p:cNvPr id="14" name="Text 12"/>
          <p:cNvSpPr txBox="1"/>
          <p:nvPr/>
        </p:nvSpPr>
        <p:spPr>
          <a:xfrm>
            <a:off x="914400" y="5413248"/>
            <a:ext cx="10332720" cy="640080"/>
          </a:xfrm>
          <a:prstGeom prst="rect">
            <a:avLst/>
          </a:prstGeom>
          <a:noFill/>
          <a:ln/>
        </p:spPr>
        <p:txBody>
          <a:bodyPr wrap="square" lIns="0" tIns="0" rIns="0" bIns="0" rtlCol="0" anchor="t"/>
          <a:lstStyle/>
          <a:p>
            <a:pPr rtl="1" algn="r" indent="0" marL="0">
              <a:lnSpc>
                <a:spcPts val="2100"/>
              </a:lnSpc>
              <a:buNone/>
            </a:pPr>
            <a:r>
              <a:rPr lang="en-US" sz="1400" b="1" dirty="0">
                <a:solidFill>
                  <a:srgbClr val="1B1300"/>
                </a:solidFill>
                <a:latin typeface="Arial" pitchFamily="34" charset="0"/>
                <a:ea typeface="Arial" pitchFamily="34" charset="-122"/>
                <a:cs typeface="Arial" pitchFamily="34" charset="-120"/>
              </a:rPr>
              <a:t>بیشترین اثر را نه یک ایده الگوریتمی، بلکه کاهش هزینه هر آزمایش داشت؛ و کمّی کردن نوفه پیش از تفسیر، از ادعاهایی جلوگیری کرد که داده پشتیبان آن‌ها نبود.</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تشخیص نوع ناهنجاری در ویدیوهای نظارتی</dc:title>
  <dc:subject>PptxGenJS Presentation</dc:subject>
  <dc:creator/>
  <cp:lastModifiedBy/>
  <cp:revision>1</cp:revision>
  <dcterms:created xsi:type="dcterms:W3CDTF">2026-09-13T08:46:09Z</dcterms:created>
  <dcterms:modified xsi:type="dcterms:W3CDTF">2026-09-13T08:46:09Z</dcterms:modified>
</cp:coreProperties>
</file>