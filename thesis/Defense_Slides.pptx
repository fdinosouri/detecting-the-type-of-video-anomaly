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پروژه تبدیل یک سامانه تشخیص ناهنجاری دودویی به سامانه چهارده‌کلاسه است. عدد نهایی ماکرو F1 برابر 0.4298 در برابر خط پایه 0.2975.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بیشتر پژوهش‌ها مسئله را دودویی تعریف می‌کنند. ما یک گام جلوتر رفتیم.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نامتوازنی هم آموزش را دشوار می‌کند و هم ارزیابی را نوفه‌آلود.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توزیع استاندارد UCF-Crime است و جمعش دقیقا 1610 می‌شود.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ستون سوم از گزارش آزمایش‌ها بازسازی شده و ستون دوم توزیع استاندارد است. هر دو با جمع کل می‌خوانند.</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نظارت ضعیف یک معامله است: داده بیشتر با کیفیت برچسب کمتر.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روی کد UMIL بنا شد. ماکرو F1 از 0.3327 به 0.3881 رسید.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X-CLIP وزن‌های طبقه‌بند از متن ساخته می‌شوند. همان جایی که بعدا سقف پیدا شد.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سه اصلاح مقدم بر هر ایده جدیدی بود. بدون آن‌ها هیچ اندازه‌گیری قابل اعتماد نبود.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مدل درست کار می‌کرد و مرحله تجمیع نتیجه را نابود می‌کرد.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با وجود ۹ پیش‌بینی هنوز هیچ‌کدام درست نبود. مشکل دوم بصری بود، نه وزنی.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اصطلاحات حقوقی انتزاعی در فضای زبانی خوشه می‌شوند؛ توصیف آنچه دوربین می‌بیند نه.</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به 0.3881 رسید. دو دیوار ماند: هزینه آزمایش و ماهیت مکانی خطای خوشه دزدی.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دوم از صفر نوشته شد. ماکرو F1 از 0.2975 به 0.4298 رسید.</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پوشاندن لوله‌ای است: اگر جایی پوشانده شود، در همه فریم‌ها پوشانده می‌شود، تا مدل از فریم بغلی کپی نکند.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تصمیم خودش نتیجه را بهتر نکرد. اجازه داد بقیه چیزها را پیدا کنیم.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ویدیوی ۴۰ مگابایتی به آرایه ۶۴ کیلوبایتی تبدیل می‌شود.</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تغییر از تحلیل خطا آمد، نه از جستجوی ابرپارامتر.</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بازه هیچ همپوشانی ندارند. بدترین بذر ViT-L از بهترین بذر ViT-B بالاتر است.</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ترکیب روی هر سه معیار بهترین یا هم‌ارز بهترین است. سه ترکیب مقایسه شد، پس تورم انتخاب حدود ۰٫۰۵ است.</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گام از شش گام بیشترین سهم را داشتند: توجه زمانی و ارتقای رمزگذار. هر دو از تحلیل خطا آمدند.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گزارش نتایج منفی بخشی از نتیجه است، نه حاشیه آن.</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تحلیل تفسیر کل پروژه را عوض کرد. ارتقای رمزگذار از کف نوفه عبور می‌کند؛ بقیه بهبودها با احتیاط گزارش می‌شوند.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عدد قابل دفاع نهایی 0.4298 با بودجه ثابت و بدون انتخاب روی مجموعه آزمون است.</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سوال‌های محتمل: چرا رمزگذار را تنظیم دقیق نکردید، چرا عدد از مقالات پیشرفته پایین‌تر است، و از کجا معلوم آستانه روی تست تنظیم نشده.</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8503920" y="-1463040"/>
            <a:ext cx="5669280" cy="566928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91840"/>
            <a:ext cx="3291840" cy="3291840"/>
          </a:xfrm>
          <a:prstGeom prst="ellipse">
            <a:avLst/>
          </a:prstGeom>
          <a:solidFill>
            <a:srgbClr val="244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371600"/>
            <a:ext cx="7680960" cy="365760"/>
          </a:xfrm>
          <a:prstGeom prst="rect">
            <a:avLst/>
          </a:prstGeom>
          <a:noFill/>
        </p:spPr>
        <p:txBody>
          <a:bodyPr wrap="square" anchor="t" lIns="0" rIns="0" tIns="0" bIns="0">
            <a:spAutoFit/>
          </a:bodyPr>
          <a:lstStyle/>
          <a:p>
            <a:pPr rtl="1" algn="r">
              <a:spcBef>
                <a:spcPts val="0"/>
              </a:spcBef>
              <a:spcAft>
                <a:spcPts val="0"/>
              </a:spcAft>
            </a:pPr>
            <a:r>
              <a:rPr sz="1400" b="1" i="0">
                <a:solidFill>
                  <a:srgbClr val="E8A33D"/>
                </a:solidFill>
                <a:latin typeface="Arial"/>
                <a:cs typeface="Arial"/>
              </a:rPr>
              <a:t>پایان‌نامه کارشناسی مهندسی کامپیوتر</a:t>
            </a:r>
          </a:p>
        </p:txBody>
      </p:sp>
      <p:sp>
        <p:nvSpPr>
          <p:cNvPr id="5" name="TextBox 4"/>
          <p:cNvSpPr txBox="1"/>
          <p:nvPr/>
        </p:nvSpPr>
        <p:spPr>
          <a:xfrm>
            <a:off x="731520" y="1874519"/>
            <a:ext cx="7680960" cy="1737360"/>
          </a:xfrm>
          <a:prstGeom prst="rect">
            <a:avLst/>
          </a:prstGeom>
          <a:noFill/>
        </p:spPr>
        <p:txBody>
          <a:bodyPr wrap="square" anchor="t" lIns="0" rIns="0" tIns="0" bIns="0">
            <a:spAutoFit/>
          </a:bodyPr>
          <a:lstStyle/>
          <a:p>
            <a:pPr rtl="1" algn="r">
              <a:lnSpc>
                <a:spcPts val="4600"/>
              </a:lnSpc>
              <a:spcBef>
                <a:spcPts val="0"/>
              </a:spcBef>
              <a:spcAft>
                <a:spcPts val="0"/>
              </a:spcAft>
            </a:pPr>
            <a:r>
              <a:rPr sz="3800" b="1" i="0">
                <a:solidFill>
                  <a:srgbClr val="FFFFFF"/>
                </a:solidFill>
                <a:latin typeface="Arial"/>
                <a:cs typeface="Arial"/>
              </a:rPr>
              <a:t>تشخیص نوع ناهنجاری</a:t>
            </a:r>
          </a:p>
          <a:p>
            <a:pPr rtl="1" algn="r">
              <a:lnSpc>
                <a:spcPts val="4600"/>
              </a:lnSpc>
              <a:spcBef>
                <a:spcPts val="0"/>
              </a:spcBef>
              <a:spcAft>
                <a:spcPts val="0"/>
              </a:spcAft>
            </a:pPr>
            <a:r>
              <a:rPr sz="3800" b="1" i="0">
                <a:solidFill>
                  <a:srgbClr val="FFFFFF"/>
                </a:solidFill>
                <a:latin typeface="Arial"/>
                <a:cs typeface="Arial"/>
              </a:rPr>
              <a:t>در ویدیوهای نظارتی</a:t>
            </a:r>
          </a:p>
        </p:txBody>
      </p:sp>
      <p:sp>
        <p:nvSpPr>
          <p:cNvPr id="6" name="TextBox 5"/>
          <p:cNvSpPr txBox="1"/>
          <p:nvPr/>
        </p:nvSpPr>
        <p:spPr>
          <a:xfrm>
            <a:off x="731520" y="3794760"/>
            <a:ext cx="7680960" cy="457200"/>
          </a:xfrm>
          <a:prstGeom prst="rect">
            <a:avLst/>
          </a:prstGeom>
          <a:noFill/>
        </p:spPr>
        <p:txBody>
          <a:bodyPr wrap="square" anchor="t" lIns="0" rIns="0" tIns="0" bIns="0">
            <a:spAutoFit/>
          </a:bodyPr>
          <a:lstStyle/>
          <a:p>
            <a:pPr rtl="1" algn="r">
              <a:spcBef>
                <a:spcPts val="0"/>
              </a:spcBef>
              <a:spcAft>
                <a:spcPts val="0"/>
              </a:spcAft>
            </a:pPr>
            <a:r>
              <a:rPr sz="1600" b="0" i="0">
                <a:solidFill>
                  <a:srgbClr val="BFD4F2"/>
                </a:solidFill>
                <a:latin typeface="Arial"/>
                <a:cs typeface="Arial"/>
              </a:rPr>
              <a:t>یادگیری چندنمونه‌ای ضعیف‌نظارت با ستون فقرات ترنسفورمر ویدیویی</a:t>
            </a:r>
          </a:p>
        </p:txBody>
      </p:sp>
      <p:sp>
        <p:nvSpPr>
          <p:cNvPr id="7" name="TextBox 6"/>
          <p:cNvSpPr txBox="1"/>
          <p:nvPr/>
        </p:nvSpPr>
        <p:spPr>
          <a:xfrm>
            <a:off x="731520" y="4709160"/>
            <a:ext cx="274320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BFD4F2"/>
                </a:solidFill>
                <a:latin typeface="Arial"/>
                <a:cs typeface="Arial"/>
              </a:rPr>
              <a:t>ماکرو F1 نهایی</a:t>
            </a:r>
          </a:p>
        </p:txBody>
      </p:sp>
      <p:sp>
        <p:nvSpPr>
          <p:cNvPr id="8" name="TextBox 7"/>
          <p:cNvSpPr txBox="1"/>
          <p:nvPr/>
        </p:nvSpPr>
        <p:spPr>
          <a:xfrm>
            <a:off x="731520" y="4983480"/>
            <a:ext cx="2743200" cy="731520"/>
          </a:xfrm>
          <a:prstGeom prst="rect">
            <a:avLst/>
          </a:prstGeom>
          <a:noFill/>
        </p:spPr>
        <p:txBody>
          <a:bodyPr wrap="square" anchor="t" lIns="0" rIns="0" tIns="0" bIns="0">
            <a:spAutoFit/>
          </a:bodyPr>
          <a:lstStyle/>
          <a:p>
            <a:pPr rtl="0" algn="l">
              <a:spcBef>
                <a:spcPts val="0"/>
              </a:spcBef>
              <a:spcAft>
                <a:spcPts val="0"/>
              </a:spcAft>
            </a:pPr>
            <a:r>
              <a:rPr sz="4000" b="1" i="0">
                <a:solidFill>
                  <a:srgbClr val="E8A33D"/>
                </a:solidFill>
                <a:latin typeface="Arial"/>
                <a:cs typeface="Arial"/>
              </a:rPr>
              <a:t>0.4298</a:t>
            </a:r>
          </a:p>
        </p:txBody>
      </p:sp>
      <p:sp>
        <p:nvSpPr>
          <p:cNvPr id="9" name="TextBox 8"/>
          <p:cNvSpPr txBox="1"/>
          <p:nvPr/>
        </p:nvSpPr>
        <p:spPr>
          <a:xfrm>
            <a:off x="3657600" y="5230368"/>
            <a:ext cx="2926080" cy="365760"/>
          </a:xfrm>
          <a:prstGeom prst="rect">
            <a:avLst/>
          </a:prstGeom>
          <a:noFill/>
        </p:spPr>
        <p:txBody>
          <a:bodyPr wrap="square" anchor="t" lIns="0" rIns="0" tIns="0" bIns="0">
            <a:spAutoFit/>
          </a:bodyPr>
          <a:lstStyle/>
          <a:p>
            <a:pPr rtl="1" algn="r">
              <a:spcBef>
                <a:spcPts val="0"/>
              </a:spcBef>
              <a:spcAft>
                <a:spcPts val="0"/>
              </a:spcAft>
            </a:pPr>
            <a:r>
              <a:rPr sz="1300" b="0" i="0">
                <a:solidFill>
                  <a:srgbClr val="BFD4F2"/>
                </a:solidFill>
                <a:latin typeface="Arial"/>
                <a:cs typeface="Arial"/>
              </a:rPr>
              <a:t>از خط پایه 0.2975</a:t>
            </a:r>
          </a:p>
        </p:txBody>
      </p:sp>
      <p:sp>
        <p:nvSpPr>
          <p:cNvPr id="10" name="TextBox 9"/>
          <p:cNvSpPr txBox="1"/>
          <p:nvPr/>
        </p:nvSpPr>
        <p:spPr>
          <a:xfrm>
            <a:off x="731520" y="6035040"/>
            <a:ext cx="7680960" cy="320040"/>
          </a:xfrm>
          <a:prstGeom prst="rect">
            <a:avLst/>
          </a:prstGeom>
          <a:noFill/>
        </p:spPr>
        <p:txBody>
          <a:bodyPr wrap="square" anchor="t" lIns="0" rIns="0" tIns="0" bIns="0">
            <a:spAutoFit/>
          </a:bodyPr>
          <a:lstStyle/>
          <a:p>
            <a:pPr rtl="1" algn="r">
              <a:spcBef>
                <a:spcPts val="0"/>
              </a:spcBef>
              <a:spcAft>
                <a:spcPts val="0"/>
              </a:spcAft>
            </a:pPr>
            <a:r>
              <a:rPr sz="1200" b="0" i="0">
                <a:solidFill>
                  <a:srgbClr val="8FA6D4"/>
                </a:solidFill>
                <a:latin typeface="Arial"/>
                <a:cs typeface="Arial"/>
              </a:rPr>
              <a:t>دانشگاه صنعتی همدان  ·  گروه مهندسی کامپیوتر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صورت مسئله</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فصل اول</a:t>
            </a:r>
          </a:p>
        </p:txBody>
      </p:sp>
      <p:sp>
        <p:nvSpPr>
          <p:cNvPr id="4" name="Rounded Rectangle 3"/>
          <p:cNvSpPr/>
          <p:nvPr/>
        </p:nvSpPr>
        <p:spPr>
          <a:xfrm>
            <a:off x="548640" y="1600200"/>
            <a:ext cx="5394960" cy="192024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6A748C"/>
                </a:solidFill>
                <a:latin typeface="Arial"/>
                <a:cs typeface="Arial"/>
              </a:rPr>
              <a:t>مسئله متداول: تشخیص ناهنجاری</a:t>
            </a:r>
          </a:p>
        </p:txBody>
      </p:sp>
      <p:sp>
        <p:nvSpPr>
          <p:cNvPr id="6" name="TextBox 5"/>
          <p:cNvSpPr txBox="1"/>
          <p:nvPr/>
        </p:nvSpPr>
        <p:spPr>
          <a:xfrm>
            <a:off x="86868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1B2236"/>
                </a:solidFill>
                <a:latin typeface="Arial"/>
                <a:cs typeface="Arial"/>
              </a:rPr>
              <a:t>آیا این ویدیو ناهنجار است؟</a:t>
            </a:r>
          </a:p>
          <a:p>
            <a:pPr rtl="1" algn="r">
              <a:lnSpc>
                <a:spcPts val="2400"/>
              </a:lnSpc>
              <a:spcBef>
                <a:spcPts val="0"/>
              </a:spcBef>
              <a:spcAft>
                <a:spcPts val="0"/>
              </a:spcAft>
            </a:pPr>
            <a:r>
              <a:rPr sz="1500" b="0" i="0">
                <a:solidFill>
                  <a:srgbClr val="1B2236"/>
                </a:solidFill>
                <a:latin typeface="Arial"/>
                <a:cs typeface="Arial"/>
              </a:rPr>
              <a:t>جواب: بله یا خیر</a:t>
            </a:r>
          </a:p>
        </p:txBody>
      </p:sp>
      <p:sp>
        <p:nvSpPr>
          <p:cNvPr id="7" name="Rounded Rectangle 6"/>
          <p:cNvSpPr/>
          <p:nvPr/>
        </p:nvSpPr>
        <p:spPr>
          <a:xfrm>
            <a:off x="6217920" y="1600200"/>
            <a:ext cx="5394960" cy="192024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E8A33D"/>
                </a:solidFill>
                <a:latin typeface="Arial"/>
                <a:cs typeface="Arial"/>
              </a:rPr>
              <a:t>مسئله ما: تشخیص نوع ناهنجاری</a:t>
            </a:r>
          </a:p>
        </p:txBody>
      </p:sp>
      <p:sp>
        <p:nvSpPr>
          <p:cNvPr id="9" name="TextBox 8"/>
          <p:cNvSpPr txBox="1"/>
          <p:nvPr/>
        </p:nvSpPr>
        <p:spPr>
          <a:xfrm>
            <a:off x="653796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1B2236"/>
                </a:solidFill>
                <a:latin typeface="Arial"/>
                <a:cs typeface="Arial"/>
              </a:rPr>
              <a:t>کدام نوع ناهنجاری رخ داده؟</a:t>
            </a:r>
          </a:p>
          <a:p>
            <a:pPr rtl="1" algn="r">
              <a:lnSpc>
                <a:spcPts val="2400"/>
              </a:lnSpc>
              <a:spcBef>
                <a:spcPts val="0"/>
              </a:spcBef>
              <a:spcAft>
                <a:spcPts val="0"/>
              </a:spcAft>
            </a:pPr>
            <a:r>
              <a:rPr sz="1500" b="0" i="0">
                <a:solidFill>
                  <a:srgbClr val="1B2236"/>
                </a:solidFill>
                <a:latin typeface="Arial"/>
                <a:cs typeface="Arial"/>
              </a:rPr>
              <a:t>جواب: یکی از ۱۴ کلاس</a:t>
            </a:r>
          </a:p>
        </p:txBody>
      </p:sp>
      <p:sp>
        <p:nvSpPr>
          <p:cNvPr id="10" name="TextBox 9"/>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16264F"/>
                </a:solidFill>
                <a:latin typeface="Arial"/>
                <a:cs typeface="Arial"/>
              </a:rPr>
              <a:t>چرا این تفاوت مهم است</a:t>
            </a:r>
          </a:p>
        </p:txBody>
      </p:sp>
      <p:sp>
        <p:nvSpPr>
          <p:cNvPr id="11" name="TextBox 10"/>
          <p:cNvSpPr txBox="1"/>
          <p:nvPr/>
        </p:nvSpPr>
        <p:spPr>
          <a:xfrm>
            <a:off x="548640" y="425196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400" b="0" i="0">
                <a:solidFill>
                  <a:srgbClr val="1B2236"/>
                </a:solidFill>
                <a:latin typeface="Arial"/>
                <a:cs typeface="Arial"/>
              </a:rPr>
              <a:t>●  پاسخ عملیاتی به تصادف رانندگی، آمبولانس است؛ به سرقت مسلحانه، نیروی مسلح.</a:t>
            </a:r>
          </a:p>
          <a:p>
            <a:pPr rtl="1" algn="r">
              <a:lnSpc>
                <a:spcPts val="1900"/>
              </a:lnSpc>
              <a:spcBef>
                <a:spcPts val="0"/>
              </a:spcBef>
              <a:spcAft>
                <a:spcPts val="700"/>
              </a:spcAft>
            </a:pPr>
            <a:r>
              <a:rPr sz="1400" b="0" i="0">
                <a:solidFill>
                  <a:srgbClr val="1B2236"/>
                </a:solidFill>
                <a:latin typeface="Arial"/>
                <a:cs typeface="Arial"/>
              </a:rPr>
              <a:t>●  یک هشدار خام «ناهنجاری رخ داد» برای اپراتور قابل اقدام نیست.</a:t>
            </a:r>
          </a:p>
          <a:p>
            <a:pPr rtl="1" algn="r">
              <a:lnSpc>
                <a:spcPts val="1900"/>
              </a:lnSpc>
              <a:spcBef>
                <a:spcPts val="0"/>
              </a:spcBef>
              <a:spcAft>
                <a:spcPts val="700"/>
              </a:spcAft>
            </a:pPr>
            <a:r>
              <a:rPr sz="1400" b="0" i="0">
                <a:solidFill>
                  <a:srgbClr val="1B2236"/>
                </a:solidFill>
                <a:latin typeface="Arial"/>
                <a:cs typeface="Arial"/>
              </a:rPr>
              <a:t>●  از نظر دشواری، مسئله چهارده‌کلاسه با نسخه دودویی قابل مقایسه نیست.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مجموعه داده UCF-Crime</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داده</a:t>
            </a:r>
          </a:p>
        </p:txBody>
      </p:sp>
      <p:sp>
        <p:nvSpPr>
          <p:cNvPr id="4" name="TextBox 3"/>
          <p:cNvSpPr txBox="1"/>
          <p:nvPr/>
        </p:nvSpPr>
        <p:spPr>
          <a:xfrm>
            <a:off x="54864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1900</a:t>
            </a:r>
          </a:p>
        </p:txBody>
      </p:sp>
      <p:sp>
        <p:nvSpPr>
          <p:cNvPr id="5" name="TextBox 4"/>
          <p:cNvSpPr txBox="1"/>
          <p:nvPr/>
        </p:nvSpPr>
        <p:spPr>
          <a:xfrm>
            <a:off x="54864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کل ویدیوها</a:t>
            </a:r>
          </a:p>
        </p:txBody>
      </p:sp>
      <p:sp>
        <p:nvSpPr>
          <p:cNvPr id="6" name="TextBox 5"/>
          <p:cNvSpPr txBox="1"/>
          <p:nvPr/>
        </p:nvSpPr>
        <p:spPr>
          <a:xfrm>
            <a:off x="338328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14</a:t>
            </a:r>
          </a:p>
        </p:txBody>
      </p:sp>
      <p:sp>
        <p:nvSpPr>
          <p:cNvPr id="7" name="TextBox 6"/>
          <p:cNvSpPr txBox="1"/>
          <p:nvPr/>
        </p:nvSpPr>
        <p:spPr>
          <a:xfrm>
            <a:off x="338328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کلاس</a:t>
            </a:r>
          </a:p>
        </p:txBody>
      </p:sp>
      <p:sp>
        <p:nvSpPr>
          <p:cNvPr id="8" name="TextBox 7"/>
          <p:cNvSpPr txBox="1"/>
          <p:nvPr/>
        </p:nvSpPr>
        <p:spPr>
          <a:xfrm>
            <a:off x="621792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Arial"/>
                <a:cs typeface="Arial"/>
              </a:rPr>
              <a:t>1895</a:t>
            </a:r>
          </a:p>
        </p:txBody>
      </p:sp>
      <p:sp>
        <p:nvSpPr>
          <p:cNvPr id="9" name="TextBox 8"/>
          <p:cNvSpPr txBox="1"/>
          <p:nvPr/>
        </p:nvSpPr>
        <p:spPr>
          <a:xfrm>
            <a:off x="621792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رمزگشایی موفق</a:t>
            </a:r>
          </a:p>
        </p:txBody>
      </p:sp>
      <p:sp>
        <p:nvSpPr>
          <p:cNvPr id="10" name="TextBox 9"/>
          <p:cNvSpPr txBox="1"/>
          <p:nvPr/>
        </p:nvSpPr>
        <p:spPr>
          <a:xfrm>
            <a:off x="905256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C9483B"/>
                </a:solidFill>
                <a:latin typeface="Arial"/>
                <a:cs typeface="Arial"/>
              </a:rPr>
              <a:t>5</a:t>
            </a:r>
          </a:p>
        </p:txBody>
      </p:sp>
      <p:sp>
        <p:nvSpPr>
          <p:cNvPr id="11" name="TextBox 10"/>
          <p:cNvSpPr txBox="1"/>
          <p:nvPr/>
        </p:nvSpPr>
        <p:spPr>
          <a:xfrm>
            <a:off x="905256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فایل خراب</a:t>
            </a:r>
          </a:p>
        </p:txBody>
      </p:sp>
      <p:sp>
        <p:nvSpPr>
          <p:cNvPr id="12" name="Rounded Rectangle 11"/>
          <p:cNvSpPr/>
          <p:nvPr/>
        </p:nvSpPr>
        <p:spPr>
          <a:xfrm>
            <a:off x="548640" y="3200400"/>
            <a:ext cx="5394960" cy="283464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ویژگی‌های داده</a:t>
            </a:r>
          </a:p>
        </p:txBody>
      </p:sp>
      <p:sp>
        <p:nvSpPr>
          <p:cNvPr id="14" name="TextBox 13"/>
          <p:cNvSpPr txBox="1"/>
          <p:nvPr/>
        </p:nvSpPr>
        <p:spPr>
          <a:xfrm>
            <a:off x="86868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1B2236"/>
                </a:solidFill>
                <a:latin typeface="Arial"/>
                <a:cs typeface="Arial"/>
              </a:rPr>
              <a:t>●  ویدیوی واقعی دوربین مداربسته، نه صحنه‌پردازی</a:t>
            </a:r>
          </a:p>
          <a:p>
            <a:pPr rtl="1" algn="r">
              <a:lnSpc>
                <a:spcPts val="1900"/>
              </a:lnSpc>
              <a:spcBef>
                <a:spcPts val="0"/>
              </a:spcBef>
              <a:spcAft>
                <a:spcPts val="700"/>
              </a:spcAft>
            </a:pPr>
            <a:r>
              <a:rPr sz="1300" b="0" i="0">
                <a:solidFill>
                  <a:srgbClr val="1B2236"/>
                </a:solidFill>
                <a:latin typeface="Arial"/>
                <a:cs typeface="Arial"/>
              </a:rPr>
              <a:t>●  وضوح پایین، نور ضعیف، زاویه نامناسب</a:t>
            </a:r>
          </a:p>
          <a:p>
            <a:pPr rtl="1" algn="r">
              <a:lnSpc>
                <a:spcPts val="1900"/>
              </a:lnSpc>
              <a:spcBef>
                <a:spcPts val="0"/>
              </a:spcBef>
              <a:spcAft>
                <a:spcPts val="700"/>
              </a:spcAft>
            </a:pPr>
            <a:r>
              <a:rPr sz="1300" b="0" i="0">
                <a:solidFill>
                  <a:srgbClr val="1B2236"/>
                </a:solidFill>
                <a:latin typeface="Arial"/>
                <a:cs typeface="Arial"/>
              </a:rPr>
              <a:t>●  مدت‌زمان از چند ثانیه تا چند دقیقه</a:t>
            </a:r>
          </a:p>
          <a:p>
            <a:pPr rtl="1" algn="r">
              <a:lnSpc>
                <a:spcPts val="1900"/>
              </a:lnSpc>
              <a:spcBef>
                <a:spcPts val="0"/>
              </a:spcBef>
              <a:spcAft>
                <a:spcPts val="700"/>
              </a:spcAft>
            </a:pPr>
            <a:r>
              <a:rPr sz="1300" b="0" i="0">
                <a:solidFill>
                  <a:srgbClr val="1B2236"/>
                </a:solidFill>
                <a:latin typeface="Arial"/>
                <a:cs typeface="Arial"/>
              </a:rPr>
              <a:t>●  برچسب فقط در سطح کل ویدیو</a:t>
            </a:r>
          </a:p>
        </p:txBody>
      </p:sp>
      <p:sp>
        <p:nvSpPr>
          <p:cNvPr id="15" name="Rounded Rectangle 14"/>
          <p:cNvSpPr/>
          <p:nvPr/>
        </p:nvSpPr>
        <p:spPr>
          <a:xfrm>
            <a:off x="6217920" y="3200400"/>
            <a:ext cx="5394960" cy="283464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3796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E8A33D"/>
                </a:solidFill>
                <a:latin typeface="Arial"/>
                <a:cs typeface="Arial"/>
              </a:rPr>
              <a:t>چالش اصلی: نامتوازنی شدید</a:t>
            </a:r>
          </a:p>
        </p:txBody>
      </p:sp>
      <p:sp>
        <p:nvSpPr>
          <p:cNvPr id="17" name="TextBox 16"/>
          <p:cNvSpPr txBox="1"/>
          <p:nvPr/>
        </p:nvSpPr>
        <p:spPr>
          <a:xfrm>
            <a:off x="653796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1B2236"/>
                </a:solidFill>
                <a:latin typeface="Arial"/>
                <a:cs typeface="Arial"/>
              </a:rPr>
              <a:t>●  کلاس عادی حدود نیمی از داده آموزش است</a:t>
            </a:r>
          </a:p>
          <a:p>
            <a:pPr rtl="1" algn="r">
              <a:lnSpc>
                <a:spcPts val="1900"/>
              </a:lnSpc>
              <a:spcBef>
                <a:spcPts val="0"/>
              </a:spcBef>
              <a:spcAft>
                <a:spcPts val="700"/>
              </a:spcAft>
            </a:pPr>
            <a:r>
              <a:rPr sz="1300" b="0" i="0">
                <a:solidFill>
                  <a:srgbClr val="1B2236"/>
                </a:solidFill>
                <a:latin typeface="Arial"/>
                <a:cs typeface="Arial"/>
              </a:rPr>
              <a:t>●  کلاس تیراندازی کمتر از دو درصد</a:t>
            </a:r>
          </a:p>
          <a:p>
            <a:pPr rtl="1" algn="r">
              <a:lnSpc>
                <a:spcPts val="1900"/>
              </a:lnSpc>
              <a:spcBef>
                <a:spcPts val="0"/>
              </a:spcBef>
              <a:spcAft>
                <a:spcPts val="700"/>
              </a:spcAft>
            </a:pPr>
            <a:r>
              <a:rPr sz="1300" b="0" i="0">
                <a:solidFill>
                  <a:srgbClr val="1B2236"/>
                </a:solidFill>
                <a:latin typeface="Arial"/>
                <a:cs typeface="Arial"/>
              </a:rPr>
              <a:t>●  در آزمون، هفت کلاس پنج ویدیو یا کمتر دارند</a:t>
            </a:r>
          </a:p>
          <a:p>
            <a:pPr rtl="1" algn="r">
              <a:lnSpc>
                <a:spcPts val="1900"/>
              </a:lnSpc>
              <a:spcBef>
                <a:spcPts val="0"/>
              </a:spcBef>
              <a:spcAft>
                <a:spcPts val="700"/>
              </a:spcAft>
            </a:pPr>
            <a:r>
              <a:rPr sz="1300" b="0" i="0">
                <a:solidFill>
                  <a:srgbClr val="1B2236"/>
                </a:solidFill>
                <a:latin typeface="Arial"/>
                <a:cs typeface="Arial"/>
              </a:rPr>
              <a:t>●  کلاس Assault تنها سه ویدیوی آزمون دارد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تعداد ویدیو در هر کلاس — مجموعه آموزش</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تقسیم داده</a:t>
            </a:r>
          </a:p>
        </p:txBody>
      </p:sp>
      <p:graphicFrame>
        <p:nvGraphicFramePr>
          <p:cNvPr id="4" name="Table 3"/>
          <p:cNvGraphicFramePr>
            <a:graphicFrameLocks noGrp="1"/>
          </p:cNvGraphicFramePr>
          <p:nvPr/>
        </p:nvGraphicFramePr>
        <p:xfrm>
          <a:off x="548640" y="1600200"/>
          <a:ext cx="5394959" cy="2487168"/>
        </p:xfrm>
        <a:graphic>
          <a:graphicData uri="http://schemas.openxmlformats.org/drawingml/2006/table">
            <a:tbl>
              <a:tblPr firstRow="0" bandRow="0">
                <a:tableStyleId>{5C22544A-7EE6-4342-B048-85BDC9FD1C3A}</a:tableStyleId>
              </a:tblPr>
              <a:tblGrid>
                <a:gridCol w="3749039"/>
                <a:gridCol w="1645920"/>
              </a:tblGrid>
              <a:tr h="310896">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تعداد ویدیو</a:t>
                      </a:r>
                    </a:p>
                  </a:txBody>
                  <a:tcPr marL="36576" marR="36576" marT="18288" marB="18288" anchor="ctr">
                    <a:solidFill>
                      <a:srgbClr val="16264F"/>
                    </a:solidFill>
                  </a:tcPr>
                </a:tc>
              </a:tr>
              <a:tr h="310896">
                <a:tc>
                  <a:txBody>
                    <a:bodyPr wrap="square"/>
                    <a:lstStyle/>
                    <a:p>
                      <a:pPr rtl="1" algn="r">
                        <a:spcBef>
                          <a:spcPts val="0"/>
                        </a:spcBef>
                        <a:spcAft>
                          <a:spcPts val="0"/>
                        </a:spcAft>
                      </a:pPr>
                      <a:r>
                        <a:rPr sz="1200" b="0" i="0">
                          <a:solidFill>
                            <a:srgbClr val="1B2236"/>
                          </a:solidFill>
                          <a:latin typeface="Arial"/>
                          <a:cs typeface="Arial"/>
                        </a:rPr>
                        <a:t>Normal — عادی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800</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Robbery — سرقت</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145</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RoadAccidents — تصادف</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127</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Stealing — دزدی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95</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Burglary — سرقت از منزل</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87</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Abuse — سوءاستفاده</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48</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Assault — تعرض</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47</a:t>
                      </a:r>
                    </a:p>
                  </a:txBody>
                  <a:tcPr marL="36576" marR="36576" marT="18288" marB="18288" anchor="ctr">
                    <a:solidFill>
                      <a:srgbClr val="EDF1F8"/>
                    </a:solidFill>
                  </a:tcPr>
                </a:tc>
              </a:tr>
            </a:tbl>
          </a:graphicData>
        </a:graphic>
      </p:graphicFrame>
      <p:graphicFrame>
        <p:nvGraphicFramePr>
          <p:cNvPr id="5" name="Table 4"/>
          <p:cNvGraphicFramePr>
            <a:graphicFrameLocks noGrp="1"/>
          </p:cNvGraphicFramePr>
          <p:nvPr/>
        </p:nvGraphicFramePr>
        <p:xfrm>
          <a:off x="6217920" y="1600200"/>
          <a:ext cx="5394959" cy="2487168"/>
        </p:xfrm>
        <a:graphic>
          <a:graphicData uri="http://schemas.openxmlformats.org/drawingml/2006/table">
            <a:tbl>
              <a:tblPr firstRow="0" bandRow="0">
                <a:tableStyleId>{5C22544A-7EE6-4342-B048-85BDC9FD1C3A}</a:tableStyleId>
              </a:tblPr>
              <a:tblGrid>
                <a:gridCol w="3749039"/>
                <a:gridCol w="1645920"/>
              </a:tblGrid>
              <a:tr h="310896">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تعداد ویدیو</a:t>
                      </a:r>
                    </a:p>
                  </a:txBody>
                  <a:tcPr marL="36576" marR="36576" marT="18288" marB="18288" anchor="ctr">
                    <a:solidFill>
                      <a:srgbClr val="16264F"/>
                    </a:solidFill>
                  </a:tcPr>
                </a:tc>
              </a:tr>
              <a:tr h="310896">
                <a:tc>
                  <a:txBody>
                    <a:bodyPr wrap="square"/>
                    <a:lstStyle/>
                    <a:p>
                      <a:pPr rtl="1" algn="r">
                        <a:spcBef>
                          <a:spcPts val="0"/>
                        </a:spcBef>
                        <a:spcAft>
                          <a:spcPts val="0"/>
                        </a:spcAft>
                      </a:pPr>
                      <a:r>
                        <a:rPr sz="1200" b="0" i="0">
                          <a:solidFill>
                            <a:srgbClr val="1B2236"/>
                          </a:solidFill>
                          <a:latin typeface="Arial"/>
                          <a:cs typeface="Arial"/>
                        </a:rPr>
                        <a:t>Arrest — بازداشت</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45</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Fighting — درگیری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45</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Vandalism — تخریب</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45</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Arson — آتش‌افروزی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41</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Explosion — انفجار</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29</a:t>
                      </a:r>
                    </a:p>
                  </a:txBody>
                  <a:tcPr marL="36576" marR="36576" marT="18288" marB="18288" anchor="ctr">
                    <a:solidFill>
                      <a:srgbClr val="EDF1F8"/>
                    </a:solidFill>
                  </a:tcPr>
                </a:tc>
              </a:tr>
              <a:tr h="310896">
                <a:tc>
                  <a:txBody>
                    <a:bodyPr wrap="square"/>
                    <a:lstStyle/>
                    <a:p>
                      <a:pPr rtl="1" algn="r">
                        <a:spcBef>
                          <a:spcPts val="0"/>
                        </a:spcBef>
                        <a:spcAft>
                          <a:spcPts val="0"/>
                        </a:spcAft>
                      </a:pPr>
                      <a:r>
                        <a:rPr sz="1200" b="0" i="0">
                          <a:solidFill>
                            <a:srgbClr val="1B2236"/>
                          </a:solidFill>
                          <a:latin typeface="Arial"/>
                          <a:cs typeface="Arial"/>
                        </a:rPr>
                        <a:t>Shoplifting — دزدی از مغازه</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29</a:t>
                      </a:r>
                    </a:p>
                  </a:txBody>
                  <a:tcPr marL="36576" marR="36576" marT="18288" marB="18288" anchor="ctr">
                    <a:solidFill>
                      <a:srgbClr val="FFFFFF"/>
                    </a:solidFill>
                  </a:tcPr>
                </a:tc>
              </a:tr>
              <a:tr h="310896">
                <a:tc>
                  <a:txBody>
                    <a:bodyPr wrap="square"/>
                    <a:lstStyle/>
                    <a:p>
                      <a:pPr rtl="1" algn="r">
                        <a:spcBef>
                          <a:spcPts val="0"/>
                        </a:spcBef>
                        <a:spcAft>
                          <a:spcPts val="0"/>
                        </a:spcAft>
                      </a:pPr>
                      <a:r>
                        <a:rPr sz="1200" b="0" i="0">
                          <a:solidFill>
                            <a:srgbClr val="1B2236"/>
                          </a:solidFill>
                          <a:latin typeface="Arial"/>
                          <a:cs typeface="Arial"/>
                        </a:rPr>
                        <a:t>Shooting — تیراندازی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27</a:t>
                      </a:r>
                    </a:p>
                  </a:txBody>
                  <a:tcPr marL="36576" marR="36576" marT="18288" marB="18288" anchor="ctr">
                    <a:solidFill>
                      <a:srgbClr val="EDF1F8"/>
                    </a:solidFill>
                  </a:tcPr>
                </a:tc>
              </a:tr>
            </a:tbl>
          </a:graphicData>
        </a:graphic>
      </p:graphicFrame>
      <p:sp>
        <p:nvSpPr>
          <p:cNvPr id="6" name="Rounded Rectangle 5"/>
          <p:cNvSpPr/>
          <p:nvPr/>
        </p:nvSpPr>
        <p:spPr>
          <a:xfrm>
            <a:off x="548640" y="4709160"/>
            <a:ext cx="1106424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4892040"/>
            <a:ext cx="1042416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جمع: ۱۶۱۰ ویدیوی آموزش  ·  ۸۰۰ عادی و ۸۱۰ ناهنجار</a:t>
            </a:r>
          </a:p>
        </p:txBody>
      </p:sp>
      <p:sp>
        <p:nvSpPr>
          <p:cNvPr id="8" name="TextBox 7"/>
          <p:cNvSpPr txBox="1"/>
          <p:nvPr/>
        </p:nvSpPr>
        <p:spPr>
          <a:xfrm>
            <a:off x="868680" y="5303520"/>
            <a:ext cx="104241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نسبت کلاس عادی به کمیاب‌ترین کلاس حدود ۳۰ به ۱ است. همین نسبت است که وزن‌دهی معکوس فراوانی را ضروری می‌کند.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تعداد ویدیو در هر کلاس — مجموعه آزمون</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تقسیم داده</a:t>
            </a:r>
          </a:p>
        </p:txBody>
      </p:sp>
      <p:graphicFrame>
        <p:nvGraphicFramePr>
          <p:cNvPr id="4" name="Table 3"/>
          <p:cNvGraphicFramePr>
            <a:graphicFrameLocks noGrp="1"/>
          </p:cNvGraphicFramePr>
          <p:nvPr/>
        </p:nvGraphicFramePr>
        <p:xfrm>
          <a:off x="548640" y="1572768"/>
          <a:ext cx="6766560" cy="3703320"/>
        </p:xfrm>
        <a:graphic>
          <a:graphicData uri="http://schemas.openxmlformats.org/drawingml/2006/table">
            <a:tbl>
              <a:tblPr firstRow="0" bandRow="0">
                <a:tableStyleId>{5C22544A-7EE6-4342-B048-85BDC9FD1C3A}</a:tableStyleId>
              </a:tblPr>
              <a:tblGrid>
                <a:gridCol w="3291840"/>
                <a:gridCol w="1737360"/>
                <a:gridCol w="1737360"/>
              </a:tblGrid>
              <a:tr h="246888">
                <a:tc>
                  <a:txBody>
                    <a:bodyPr wrap="square"/>
                    <a:lstStyle/>
                    <a:p>
                      <a:pPr rtl="1" algn="ctr">
                        <a:spcBef>
                          <a:spcPts val="0"/>
                        </a:spcBef>
                        <a:spcAft>
                          <a:spcPts val="0"/>
                        </a:spcAft>
                      </a:pPr>
                      <a:r>
                        <a:rPr sz="1150" b="1" i="0">
                          <a:solidFill>
                            <a:srgbClr val="FFFFFF"/>
                          </a:solidFill>
                          <a:latin typeface="Arial"/>
                          <a:cs typeface="Arial"/>
                        </a:rPr>
                        <a:t>کلاس</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تقسیم استاندارد</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تقسیم مسیر اول</a:t>
                      </a:r>
                    </a:p>
                  </a:txBody>
                  <a:tcPr marL="36576" marR="36576" marT="18288" marB="18288" anchor="ctr">
                    <a:solidFill>
                      <a:srgbClr val="16264F"/>
                    </a:solidFill>
                  </a:tcPr>
                </a:tc>
              </a:tr>
              <a:tr h="246888">
                <a:tc>
                  <a:txBody>
                    <a:bodyPr wrap="square"/>
                    <a:lstStyle/>
                    <a:p>
                      <a:pPr rtl="1" algn="r">
                        <a:spcBef>
                          <a:spcPts val="0"/>
                        </a:spcBef>
                        <a:spcAft>
                          <a:spcPts val="0"/>
                        </a:spcAft>
                      </a:pPr>
                      <a:r>
                        <a:rPr sz="1100" b="0" i="0">
                          <a:solidFill>
                            <a:srgbClr val="1B2236"/>
                          </a:solidFill>
                          <a:latin typeface="Arial"/>
                          <a:cs typeface="Arial"/>
                        </a:rPr>
                        <a:t>Normal — عادی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150</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148</a:t>
                      </a:r>
                    </a:p>
                  </a:txBody>
                  <a:tcPr marL="36576" marR="36576" marT="18288" marB="18288" anchor="ctr">
                    <a:solidFill>
                      <a:srgbClr val="EDF1F8"/>
                    </a:solidFill>
                  </a:tcPr>
                </a:tc>
              </a:tr>
              <a:tr h="246888">
                <a:tc>
                  <a:txBody>
                    <a:bodyPr wrap="square"/>
                    <a:lstStyle/>
                    <a:p>
                      <a:pPr rtl="1" algn="r">
                        <a:spcBef>
                          <a:spcPts val="0"/>
                        </a:spcBef>
                        <a:spcAft>
                          <a:spcPts val="0"/>
                        </a:spcAft>
                      </a:pPr>
                      <a:r>
                        <a:rPr sz="1100" b="0" i="0">
                          <a:solidFill>
                            <a:srgbClr val="1B2236"/>
                          </a:solidFill>
                          <a:latin typeface="Arial"/>
                          <a:cs typeface="Arial"/>
                        </a:rPr>
                        <a:t>RoadAccidents — تصادف رانندگی</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23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23</a:t>
                      </a:r>
                    </a:p>
                  </a:txBody>
                  <a:tcPr marL="36576" marR="36576" marT="18288" marB="18288" anchor="ctr">
                    <a:solidFill>
                      <a:srgbClr val="FFFFFF"/>
                    </a:solidFill>
                  </a:tcPr>
                </a:tc>
              </a:tr>
              <a:tr h="246888">
                <a:tc>
                  <a:txBody>
                    <a:bodyPr wrap="square"/>
                    <a:lstStyle/>
                    <a:p>
                      <a:pPr rtl="1" algn="r">
                        <a:spcBef>
                          <a:spcPts val="0"/>
                        </a:spcBef>
                        <a:spcAft>
                          <a:spcPts val="0"/>
                        </a:spcAft>
                      </a:pPr>
                      <a:r>
                        <a:rPr sz="1100" b="0" i="0">
                          <a:solidFill>
                            <a:srgbClr val="1B2236"/>
                          </a:solidFill>
                          <a:latin typeface="Arial"/>
                          <a:cs typeface="Arial"/>
                        </a:rPr>
                        <a:t>Shooting — تیراندازی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23</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8</a:t>
                      </a:r>
                    </a:p>
                  </a:txBody>
                  <a:tcPr marL="36576" marR="36576" marT="18288" marB="18288" anchor="ctr">
                    <a:solidFill>
                      <a:srgbClr val="EDF1F8"/>
                    </a:solidFill>
                  </a:tcPr>
                </a:tc>
              </a:tr>
              <a:tr h="246888">
                <a:tc>
                  <a:txBody>
                    <a:bodyPr wrap="square"/>
                    <a:lstStyle/>
                    <a:p>
                      <a:pPr rtl="1" algn="r">
                        <a:spcBef>
                          <a:spcPts val="0"/>
                        </a:spcBef>
                        <a:spcAft>
                          <a:spcPts val="0"/>
                        </a:spcAft>
                      </a:pPr>
                      <a:r>
                        <a:rPr sz="1100" b="0" i="0">
                          <a:solidFill>
                            <a:srgbClr val="1B2236"/>
                          </a:solidFill>
                          <a:latin typeface="Arial"/>
                          <a:cs typeface="Arial"/>
                        </a:rPr>
                        <a:t>Explosion — انفجار</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21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8</a:t>
                      </a:r>
                    </a:p>
                  </a:txBody>
                  <a:tcPr marL="36576" marR="36576" marT="18288" marB="18288" anchor="ctr">
                    <a:solidFill>
                      <a:srgbClr val="FFFFFF"/>
                    </a:solidFill>
                  </a:tcPr>
                </a:tc>
              </a:tr>
              <a:tr h="246888">
                <a:tc>
                  <a:txBody>
                    <a:bodyPr wrap="square"/>
                    <a:lstStyle/>
                    <a:p>
                      <a:pPr rtl="1" algn="r">
                        <a:spcBef>
                          <a:spcPts val="0"/>
                        </a:spcBef>
                        <a:spcAft>
                          <a:spcPts val="0"/>
                        </a:spcAft>
                      </a:pPr>
                      <a:r>
                        <a:rPr sz="1100" b="0" i="0">
                          <a:solidFill>
                            <a:srgbClr val="1B2236"/>
                          </a:solidFill>
                          <a:latin typeface="Arial"/>
                          <a:cs typeface="Arial"/>
                        </a:rPr>
                        <a:t>Shoplifting — دزدی از مغازه</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21</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8</a:t>
                      </a:r>
                    </a:p>
                  </a:txBody>
                  <a:tcPr marL="36576" marR="36576" marT="18288" marB="18288" anchor="ctr">
                    <a:solidFill>
                      <a:srgbClr val="EDF1F8"/>
                    </a:solidFill>
                  </a:tcPr>
                </a:tc>
              </a:tr>
              <a:tr h="246888">
                <a:tc>
                  <a:txBody>
                    <a:bodyPr wrap="square"/>
                    <a:lstStyle/>
                    <a:p>
                      <a:pPr rtl="1" algn="r">
                        <a:spcBef>
                          <a:spcPts val="0"/>
                        </a:spcBef>
                        <a:spcAft>
                          <a:spcPts val="0"/>
                        </a:spcAft>
                      </a:pPr>
                      <a:r>
                        <a:rPr sz="1100" b="0" i="0">
                          <a:solidFill>
                            <a:srgbClr val="1B2236"/>
                          </a:solidFill>
                          <a:latin typeface="Arial"/>
                          <a:cs typeface="Arial"/>
                        </a:rPr>
                        <a:t>Burglary — سرقت از منزل</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13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15</a:t>
                      </a:r>
                    </a:p>
                  </a:txBody>
                  <a:tcPr marL="36576" marR="36576" marT="18288" marB="18288" anchor="ctr">
                    <a:solidFill>
                      <a:srgbClr val="FFFFFF"/>
                    </a:solidFill>
                  </a:tcPr>
                </a:tc>
              </a:tr>
              <a:tr h="246888">
                <a:tc>
                  <a:txBody>
                    <a:bodyPr wrap="square"/>
                    <a:lstStyle/>
                    <a:p>
                      <a:pPr rtl="1" algn="r">
                        <a:spcBef>
                          <a:spcPts val="0"/>
                        </a:spcBef>
                        <a:spcAft>
                          <a:spcPts val="0"/>
                        </a:spcAft>
                      </a:pPr>
                      <a:r>
                        <a:rPr sz="1100" b="0" i="0">
                          <a:solidFill>
                            <a:srgbClr val="1B2236"/>
                          </a:solidFill>
                          <a:latin typeface="Arial"/>
                          <a:cs typeface="Arial"/>
                        </a:rPr>
                        <a:t>Arson — آتش‌افروزی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9</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8</a:t>
                      </a:r>
                    </a:p>
                  </a:txBody>
                  <a:tcPr marL="36576" marR="36576" marT="18288" marB="18288" anchor="ctr">
                    <a:solidFill>
                      <a:srgbClr val="EDF1F8"/>
                    </a:solidFill>
                  </a:tcPr>
                </a:tc>
              </a:tr>
              <a:tr h="246888">
                <a:tc>
                  <a:txBody>
                    <a:bodyPr wrap="square"/>
                    <a:lstStyle/>
                    <a:p>
                      <a:pPr rtl="1" algn="r">
                        <a:spcBef>
                          <a:spcPts val="0"/>
                        </a:spcBef>
                        <a:spcAft>
                          <a:spcPts val="0"/>
                        </a:spcAft>
                      </a:pPr>
                      <a:r>
                        <a:rPr sz="1100" b="1" i="0">
                          <a:solidFill>
                            <a:srgbClr val="16264F"/>
                          </a:solidFill>
                          <a:latin typeface="Arial"/>
                          <a:cs typeface="Arial"/>
                        </a:rPr>
                        <a:t>Arrest — بازداشت</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5</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8</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Fighting — درگیری</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5</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8</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Robbery — سرقت</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5</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23</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Stealing — دزدی</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5</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15</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Vandalism — تخریب اموال</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4</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8</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Abuse — سوءاستفاده</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3</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8</a:t>
                      </a:r>
                    </a:p>
                  </a:txBody>
                  <a:tcPr marL="36576" marR="36576" marT="18288" marB="18288" anchor="ctr">
                    <a:solidFill>
                      <a:srgbClr val="FFF2DC"/>
                    </a:solidFill>
                  </a:tcPr>
                </a:tc>
              </a:tr>
              <a:tr h="246888">
                <a:tc>
                  <a:txBody>
                    <a:bodyPr wrap="square"/>
                    <a:lstStyle/>
                    <a:p>
                      <a:pPr rtl="1" algn="r">
                        <a:spcBef>
                          <a:spcPts val="0"/>
                        </a:spcBef>
                        <a:spcAft>
                          <a:spcPts val="0"/>
                        </a:spcAft>
                      </a:pPr>
                      <a:r>
                        <a:rPr sz="1100" b="1" i="0">
                          <a:solidFill>
                            <a:srgbClr val="16264F"/>
                          </a:solidFill>
                          <a:latin typeface="Arial"/>
                          <a:cs typeface="Arial"/>
                        </a:rPr>
                        <a:t>Assault — تعرض</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3</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8</a:t>
                      </a:r>
                    </a:p>
                  </a:txBody>
                  <a:tcPr marL="36576" marR="36576" marT="18288" marB="18288" anchor="ctr">
                    <a:solidFill>
                      <a:srgbClr val="FFF2DC"/>
                    </a:solidFill>
                  </a:tcPr>
                </a:tc>
              </a:tr>
            </a:tbl>
          </a:graphicData>
        </a:graphic>
      </p:graphicFrame>
      <p:sp>
        <p:nvSpPr>
          <p:cNvPr id="5" name="TextBox 4"/>
          <p:cNvSpPr txBox="1"/>
          <p:nvPr/>
        </p:nvSpPr>
        <p:spPr>
          <a:xfrm>
            <a:off x="548640" y="5358384"/>
            <a:ext cx="6766560" cy="365760"/>
          </a:xfrm>
          <a:prstGeom prst="rect">
            <a:avLst/>
          </a:prstGeom>
          <a:noFill/>
        </p:spPr>
        <p:txBody>
          <a:bodyPr wrap="square" anchor="t" lIns="0" rIns="0" tIns="0" bIns="0">
            <a:spAutoFit/>
          </a:bodyPr>
          <a:lstStyle/>
          <a:p>
            <a:pPr rtl="1" algn="r">
              <a:lnSpc>
                <a:spcPts val="1600"/>
              </a:lnSpc>
              <a:spcBef>
                <a:spcPts val="0"/>
              </a:spcBef>
              <a:spcAft>
                <a:spcPts val="0"/>
              </a:spcAft>
            </a:pPr>
            <a:r>
              <a:rPr sz="1100" b="0" i="0">
                <a:solidFill>
                  <a:srgbClr val="6A748C"/>
                </a:solidFill>
                <a:latin typeface="Arial"/>
                <a:cs typeface="Arial"/>
              </a:rPr>
              <a:t>جمع ستون دوم ۲۹۰ و جمع ستون سوم ۲۹۶ است. ردیف‌های پررنگ، هفت کلاسی هستند که پنج ویدیوی آزمون یا کمتر دارند.</a:t>
            </a:r>
          </a:p>
        </p:txBody>
      </p:sp>
      <p:sp>
        <p:nvSpPr>
          <p:cNvPr id="6" name="Rounded Rectangle 5"/>
          <p:cNvSpPr/>
          <p:nvPr/>
        </p:nvSpPr>
        <p:spPr>
          <a:xfrm>
            <a:off x="7589520" y="1572768"/>
            <a:ext cx="4023360" cy="178308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863840" y="1737360"/>
            <a:ext cx="347472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Arial"/>
                <a:cs typeface="Arial"/>
              </a:rPr>
              <a:t>دو تقسیم متفاوت</a:t>
            </a:r>
          </a:p>
        </p:txBody>
      </p:sp>
      <p:sp>
        <p:nvSpPr>
          <p:cNvPr id="8" name="TextBox 7"/>
          <p:cNvSpPr txBox="1"/>
          <p:nvPr/>
        </p:nvSpPr>
        <p:spPr>
          <a:xfrm>
            <a:off x="7863840" y="2103120"/>
            <a:ext cx="3474720" cy="1143000"/>
          </a:xfrm>
          <a:prstGeom prst="rect">
            <a:avLst/>
          </a:prstGeom>
          <a:noFill/>
        </p:spPr>
        <p:txBody>
          <a:bodyPr wrap="square" anchor="t" lIns="0" rIns="0" tIns="0" bIns="0">
            <a:spAutoFit/>
          </a:bodyPr>
          <a:lstStyle/>
          <a:p>
            <a:pPr rtl="1" algn="r">
              <a:lnSpc>
                <a:spcPts val="1800"/>
              </a:lnSpc>
              <a:spcBef>
                <a:spcPts val="0"/>
              </a:spcBef>
              <a:spcAft>
                <a:spcPts val="0"/>
              </a:spcAft>
            </a:pPr>
            <a:r>
              <a:rPr sz="1150" b="0" i="0">
                <a:solidFill>
                  <a:srgbClr val="1B2236"/>
                </a:solidFill>
                <a:latin typeface="Arial"/>
                <a:cs typeface="Arial"/>
              </a:rPr>
              <a:t>مسیر X-CLIP روی تقسیمی با ۲۹۶ ویدیوی آزمون اجرا شد و مسیر VideoMAE روی تقسیم استاندارد با ۲۹۰ ویدیو.</a:t>
            </a:r>
          </a:p>
        </p:txBody>
      </p:sp>
      <p:sp>
        <p:nvSpPr>
          <p:cNvPr id="9" name="Rounded Rectangle 8"/>
          <p:cNvSpPr/>
          <p:nvPr/>
        </p:nvSpPr>
        <p:spPr>
          <a:xfrm>
            <a:off x="7589520" y="3520440"/>
            <a:ext cx="4023360" cy="169164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863840" y="3685032"/>
            <a:ext cx="347472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Arial"/>
                <a:cs typeface="Arial"/>
              </a:rPr>
              <a:t>چرا ارزیابی نوفه‌آلود است</a:t>
            </a:r>
          </a:p>
        </p:txBody>
      </p:sp>
      <p:sp>
        <p:nvSpPr>
          <p:cNvPr id="11" name="TextBox 10"/>
          <p:cNvSpPr txBox="1"/>
          <p:nvPr/>
        </p:nvSpPr>
        <p:spPr>
          <a:xfrm>
            <a:off x="7863840" y="4050791"/>
            <a:ext cx="3474720" cy="1097280"/>
          </a:xfrm>
          <a:prstGeom prst="rect">
            <a:avLst/>
          </a:prstGeom>
          <a:noFill/>
        </p:spPr>
        <p:txBody>
          <a:bodyPr wrap="square" anchor="t" lIns="0" rIns="0" tIns="0" bIns="0">
            <a:spAutoFit/>
          </a:bodyPr>
          <a:lstStyle/>
          <a:p>
            <a:pPr rtl="1" algn="r">
              <a:lnSpc>
                <a:spcPts val="1800"/>
              </a:lnSpc>
              <a:spcBef>
                <a:spcPts val="0"/>
              </a:spcBef>
              <a:spcAft>
                <a:spcPts val="0"/>
              </a:spcAft>
            </a:pPr>
            <a:r>
              <a:rPr sz="1150" b="0" i="0">
                <a:solidFill>
                  <a:srgbClr val="1B2236"/>
                </a:solidFill>
                <a:latin typeface="Arial"/>
                <a:cs typeface="Arial"/>
              </a:rPr>
              <a:t>کلاس Assault تنها سه ویدیوی آزمون دارد. یک ویدیو یعنی یک‌سوم یادآوری آن کلاس، و ماکرو F1 به هر ۱۴ کلاس وزن یکسان می‌دهد.</a:t>
            </a:r>
          </a:p>
        </p:txBody>
      </p:sp>
      <p:sp>
        <p:nvSpPr>
          <p:cNvPr id="12" name="Rounded Rectangle 11"/>
          <p:cNvSpPr/>
          <p:nvPr/>
        </p:nvSpPr>
        <p:spPr>
          <a:xfrm>
            <a:off x="7589520" y="5394960"/>
            <a:ext cx="4023360" cy="960120"/>
          </a:xfrm>
          <a:prstGeom prst="roundRect">
            <a:avLst/>
          </a:prstGeom>
          <a:solidFill>
            <a:srgbClr val="FDEEEC"/>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63840" y="5559552"/>
            <a:ext cx="3474720" cy="685800"/>
          </a:xfrm>
          <a:prstGeom prst="rect">
            <a:avLst/>
          </a:prstGeom>
          <a:noFill/>
        </p:spPr>
        <p:txBody>
          <a:bodyPr wrap="square" anchor="t" lIns="0" rIns="0" tIns="0" bIns="0">
            <a:spAutoFit/>
          </a:bodyPr>
          <a:lstStyle/>
          <a:p>
            <a:pPr rtl="1" algn="r">
              <a:lnSpc>
                <a:spcPts val="1700"/>
              </a:lnSpc>
              <a:spcBef>
                <a:spcPts val="0"/>
              </a:spcBef>
              <a:spcAft>
                <a:spcPts val="0"/>
              </a:spcAft>
            </a:pPr>
            <a:r>
              <a:rPr sz="1100" b="0" i="0">
                <a:solidFill>
                  <a:srgbClr val="C9483B"/>
                </a:solidFill>
                <a:latin typeface="Arial"/>
                <a:cs typeface="Arial"/>
              </a:rPr>
              <a:t>پیش از ارائه این اعداد را با فایل تقسیم خودتان بسنجید.</a:t>
            </a:r>
          </a:p>
        </p:txBody>
      </p:sp>
      <p:sp>
        <p:nvSpPr>
          <p:cNvPr id="14" name="TextBox 13"/>
          <p:cNvSpPr txBox="1"/>
          <p:nvPr/>
        </p:nvSpPr>
        <p:spPr>
          <a:xfrm>
            <a:off x="548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290</a:t>
            </a:r>
          </a:p>
        </p:txBody>
      </p:sp>
      <p:sp>
        <p:nvSpPr>
          <p:cNvPr id="15" name="TextBox 14"/>
          <p:cNvSpPr txBox="1"/>
          <p:nvPr/>
        </p:nvSpPr>
        <p:spPr>
          <a:xfrm>
            <a:off x="548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کل مجموعه آزمون</a:t>
            </a:r>
          </a:p>
        </p:txBody>
      </p:sp>
      <p:sp>
        <p:nvSpPr>
          <p:cNvPr id="16" name="TextBox 15"/>
          <p:cNvSpPr txBox="1"/>
          <p:nvPr/>
        </p:nvSpPr>
        <p:spPr>
          <a:xfrm>
            <a:off x="2834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1610</a:t>
            </a:r>
          </a:p>
        </p:txBody>
      </p:sp>
      <p:sp>
        <p:nvSpPr>
          <p:cNvPr id="17" name="TextBox 16"/>
          <p:cNvSpPr txBox="1"/>
          <p:nvPr/>
        </p:nvSpPr>
        <p:spPr>
          <a:xfrm>
            <a:off x="2834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کل مجموعه آموزش</a:t>
            </a:r>
          </a:p>
        </p:txBody>
      </p:sp>
      <p:sp>
        <p:nvSpPr>
          <p:cNvPr id="18" name="TextBox 17"/>
          <p:cNvSpPr txBox="1"/>
          <p:nvPr/>
        </p:nvSpPr>
        <p:spPr>
          <a:xfrm>
            <a:off x="5120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Arial"/>
                <a:cs typeface="Arial"/>
              </a:rPr>
              <a:t>0%</a:t>
            </a:r>
          </a:p>
        </p:txBody>
      </p:sp>
      <p:sp>
        <p:nvSpPr>
          <p:cNvPr id="19" name="TextBox 18"/>
          <p:cNvSpPr txBox="1"/>
          <p:nvPr/>
        </p:nvSpPr>
        <p:spPr>
          <a:xfrm>
            <a:off x="5120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همپوشانی دو مجموعه</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نظارت ضعیف و یادگیری چندنمونه‌ای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چارچوب</a:t>
            </a:r>
          </a:p>
        </p:txBody>
      </p:sp>
      <p:graphicFrame>
        <p:nvGraphicFramePr>
          <p:cNvPr id="4" name="Table 3"/>
          <p:cNvGraphicFramePr>
            <a:graphicFrameLocks noGrp="1"/>
          </p:cNvGraphicFramePr>
          <p:nvPr/>
        </p:nvGraphicFramePr>
        <p:xfrm>
          <a:off x="548640" y="1645920"/>
          <a:ext cx="5669280" cy="1463040"/>
        </p:xfrm>
        <a:graphic>
          <a:graphicData uri="http://schemas.openxmlformats.org/drawingml/2006/table">
            <a:tbl>
              <a:tblPr firstRow="0" bandRow="0">
                <a:tableStyleId>{5C22544A-7EE6-4342-B048-85BDC9FD1C3A}</a:tableStyleId>
              </a:tblPr>
              <a:tblGrid>
                <a:gridCol w="1737360"/>
                <a:gridCol w="2651760"/>
                <a:gridCol w="1280160"/>
              </a:tblGrid>
              <a:tr h="365760">
                <a:tc>
                  <a:txBody>
                    <a:bodyPr wrap="square"/>
                    <a:lstStyle/>
                    <a:p>
                      <a:pPr rtl="1" algn="ctr">
                        <a:spcBef>
                          <a:spcPts val="0"/>
                        </a:spcBef>
                        <a:spcAft>
                          <a:spcPts val="0"/>
                        </a:spcAft>
                      </a:pPr>
                      <a:r>
                        <a:rPr sz="1200" b="1" i="0">
                          <a:solidFill>
                            <a:srgbClr val="FFFFFF"/>
                          </a:solidFill>
                          <a:latin typeface="Arial"/>
                          <a:cs typeface="Arial"/>
                        </a:rPr>
                        <a:t>سطح نظارت</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برچسب چیست</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هزینه</a:t>
                      </a:r>
                    </a:p>
                  </a:txBody>
                  <a:tcPr marL="36576" marR="36576" marT="18288" marB="18288" anchor="ctr">
                    <a:solidFill>
                      <a:srgbClr val="16264F"/>
                    </a:solidFill>
                  </a:tcPr>
                </a:tc>
              </a:tr>
              <a:tr h="365760">
                <a:tc>
                  <a:txBody>
                    <a:bodyPr wrap="square"/>
                    <a:lstStyle/>
                    <a:p>
                      <a:pPr rtl="1" algn="r">
                        <a:spcBef>
                          <a:spcPts val="0"/>
                        </a:spcBef>
                        <a:spcAft>
                          <a:spcPts val="0"/>
                        </a:spcAft>
                      </a:pPr>
                      <a:r>
                        <a:rPr sz="1200" b="0" i="0">
                          <a:solidFill>
                            <a:srgbClr val="1B2236"/>
                          </a:solidFill>
                          <a:latin typeface="Arial"/>
                          <a:cs typeface="Arial"/>
                        </a:rPr>
                        <a:t>نظارت کامل</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هر فریم برچسب دارد</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بسیار پرهزینه</a:t>
                      </a:r>
                    </a:p>
                  </a:txBody>
                  <a:tcPr marL="36576" marR="36576" marT="18288" marB="18288" anchor="ctr">
                    <a:solidFill>
                      <a:srgbClr val="EDF1F8"/>
                    </a:solidFill>
                  </a:tcPr>
                </a:tc>
              </a:tr>
              <a:tr h="365760">
                <a:tc>
                  <a:txBody>
                    <a:bodyPr wrap="square"/>
                    <a:lstStyle/>
                    <a:p>
                      <a:pPr rtl="1" algn="r">
                        <a:spcBef>
                          <a:spcPts val="0"/>
                        </a:spcBef>
                        <a:spcAft>
                          <a:spcPts val="0"/>
                        </a:spcAft>
                      </a:pPr>
                      <a:r>
                        <a:rPr sz="1200" b="1" i="0">
                          <a:solidFill>
                            <a:srgbClr val="16264F"/>
                          </a:solidFill>
                          <a:latin typeface="Arial"/>
                          <a:cs typeface="Arial"/>
                        </a:rPr>
                        <a:t>نظارت ضعیف</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فقط کل ویدیو برچسب دارد</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کم‌هزینه</a:t>
                      </a:r>
                    </a:p>
                  </a:txBody>
                  <a:tcPr marL="36576" marR="36576" marT="18288" marB="18288" anchor="ctr">
                    <a:solidFill>
                      <a:srgbClr val="FFF2DC"/>
                    </a:solidFill>
                  </a:tcPr>
                </a:tc>
              </a:tr>
              <a:tr h="365760">
                <a:tc>
                  <a:txBody>
                    <a:bodyPr wrap="square"/>
                    <a:lstStyle/>
                    <a:p>
                      <a:pPr rtl="1" algn="r">
                        <a:spcBef>
                          <a:spcPts val="0"/>
                        </a:spcBef>
                        <a:spcAft>
                          <a:spcPts val="0"/>
                        </a:spcAft>
                      </a:pPr>
                      <a:r>
                        <a:rPr sz="1200" b="0" i="0">
                          <a:solidFill>
                            <a:srgbClr val="1B2236"/>
                          </a:solidFill>
                          <a:latin typeface="Arial"/>
                          <a:cs typeface="Arial"/>
                        </a:rPr>
                        <a:t>بدون نظارت</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هیچ برچسبی نیست</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رایگان</a:t>
                      </a:r>
                    </a:p>
                  </a:txBody>
                  <a:tcPr marL="36576" marR="36576" marT="18288" marB="18288" anchor="ctr">
                    <a:solidFill>
                      <a:srgbClr val="EDF1F8"/>
                    </a:solidFill>
                  </a:tcPr>
                </a:tc>
              </a:tr>
            </a:tbl>
          </a:graphicData>
        </a:graphic>
      </p:graphicFrame>
      <p:sp>
        <p:nvSpPr>
          <p:cNvPr id="5" name="Rounded Rectangle 4"/>
          <p:cNvSpPr/>
          <p:nvPr/>
        </p:nvSpPr>
        <p:spPr>
          <a:xfrm>
            <a:off x="6492240" y="1645920"/>
            <a:ext cx="5120640" cy="18288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766560" y="1810512"/>
            <a:ext cx="457200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مسئله ما</a:t>
            </a:r>
          </a:p>
        </p:txBody>
      </p:sp>
      <p:sp>
        <p:nvSpPr>
          <p:cNvPr id="7" name="TextBox 6"/>
          <p:cNvSpPr txBox="1"/>
          <p:nvPr/>
        </p:nvSpPr>
        <p:spPr>
          <a:xfrm>
            <a:off x="6766560" y="2194560"/>
            <a:ext cx="4572000" cy="109728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Arial"/>
                <a:cs typeface="Arial"/>
              </a:rPr>
              <a:t>در یک ویدیوی سه‌دقیقه‌ای، سرقت شاید ۱۵ ثانیه باشد. بیش از ۹۰ درصد آنچه مدل می‌بیند، با وجود برچسب «سرقت»، عادی است.</a:t>
            </a:r>
          </a:p>
        </p:txBody>
      </p:sp>
      <p:sp>
        <p:nvSpPr>
          <p:cNvPr id="8" name="TextBox 7"/>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16264F"/>
                </a:solidFill>
                <a:latin typeface="Arial"/>
                <a:cs typeface="Arial"/>
              </a:rPr>
              <a:t>راه حل: هر ویدیو یک کیف، هر قطعه یک نمونه</a:t>
            </a:r>
          </a:p>
        </p:txBody>
      </p:sp>
      <p:sp>
        <p:nvSpPr>
          <p:cNvPr id="9" name="Rounded Rectangle 8"/>
          <p:cNvSpPr/>
          <p:nvPr/>
        </p:nvSpPr>
        <p:spPr>
          <a:xfrm>
            <a:off x="9052560" y="4343400"/>
            <a:ext cx="2606040" cy="15087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0972800" y="4526280"/>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11" name="TextBox 10"/>
          <p:cNvSpPr txBox="1"/>
          <p:nvPr/>
        </p:nvSpPr>
        <p:spPr>
          <a:xfrm>
            <a:off x="923544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1B2236"/>
                </a:solidFill>
                <a:latin typeface="Arial"/>
                <a:cs typeface="Arial"/>
              </a:rPr>
              <a:t>ویدیو به ۱۶ قطعه شکسته می‌شود</a:t>
            </a:r>
          </a:p>
        </p:txBody>
      </p:sp>
      <p:sp>
        <p:nvSpPr>
          <p:cNvPr id="12" name="Rounded Rectangle 11"/>
          <p:cNvSpPr/>
          <p:nvPr/>
        </p:nvSpPr>
        <p:spPr>
          <a:xfrm>
            <a:off x="6217920" y="4343400"/>
            <a:ext cx="2606040" cy="15087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138160" y="4526280"/>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4" name="TextBox 13"/>
          <p:cNvSpPr txBox="1"/>
          <p:nvPr/>
        </p:nvSpPr>
        <p:spPr>
          <a:xfrm>
            <a:off x="640080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1B2236"/>
                </a:solidFill>
                <a:latin typeface="Arial"/>
                <a:cs typeface="Arial"/>
              </a:rPr>
              <a:t>مدل به هر قطعه نمره می‌دهد</a:t>
            </a:r>
          </a:p>
        </p:txBody>
      </p:sp>
      <p:sp>
        <p:nvSpPr>
          <p:cNvPr id="15" name="Rounded Rectangle 14"/>
          <p:cNvSpPr/>
          <p:nvPr/>
        </p:nvSpPr>
        <p:spPr>
          <a:xfrm>
            <a:off x="3383280" y="4343400"/>
            <a:ext cx="2606040" cy="15087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5303520" y="4526280"/>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7" name="TextBox 16"/>
          <p:cNvSpPr txBox="1"/>
          <p:nvPr/>
        </p:nvSpPr>
        <p:spPr>
          <a:xfrm>
            <a:off x="356616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1B2236"/>
                </a:solidFill>
                <a:latin typeface="Arial"/>
                <a:cs typeface="Arial"/>
              </a:rPr>
              <a:t>مشکوک‌ترین قطعه‌ها انتخاب می‌شوند</a:t>
            </a:r>
          </a:p>
        </p:txBody>
      </p:sp>
      <p:sp>
        <p:nvSpPr>
          <p:cNvPr id="18" name="Rounded Rectangle 17"/>
          <p:cNvSpPr/>
          <p:nvPr/>
        </p:nvSpPr>
        <p:spPr>
          <a:xfrm>
            <a:off x="548639" y="4343400"/>
            <a:ext cx="2606040" cy="15087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2468879" y="4526280"/>
            <a:ext cx="475488" cy="475488"/>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4</a:t>
            </a:r>
          </a:p>
        </p:txBody>
      </p:sp>
      <p:sp>
        <p:nvSpPr>
          <p:cNvPr id="20" name="TextBox 19"/>
          <p:cNvSpPr txBox="1"/>
          <p:nvPr/>
        </p:nvSpPr>
        <p:spPr>
          <a:xfrm>
            <a:off x="731519"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1B2236"/>
                </a:solidFill>
                <a:latin typeface="Arial"/>
                <a:cs typeface="Arial"/>
              </a:rPr>
              <a:t>فرض: همان‌ها برچسب کیف را حمل می‌کنند</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E8A33D"/>
                </a:solidFill>
                <a:latin typeface="Arial"/>
                <a:cs typeface="Arial"/>
              </a:rPr>
              <a:t>مسیر اول</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Arial"/>
                <a:cs typeface="Arial"/>
              </a:rPr>
              <a:t>X-CLIP</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BFD4F2"/>
                </a:solidFill>
                <a:latin typeface="Arial"/>
                <a:cs typeface="Arial"/>
              </a:rPr>
              <a:t>تبدیل کد UMIL از دودویی به چهارده‌کلاسه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E8A33D"/>
                </a:solidFill>
                <a:latin typeface="Arial"/>
                <a:cs typeface="Arial"/>
              </a:rPr>
              <a:t>0.3327  ←  0.3881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X-CLIP چطور کار می‌کند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مسیر اول</a:t>
            </a:r>
          </a:p>
        </p:txBody>
      </p:sp>
      <p:sp>
        <p:nvSpPr>
          <p:cNvPr id="4" name="Rounded Rectangle 3"/>
          <p:cNvSpPr/>
          <p:nvPr/>
        </p:nvSpPr>
        <p:spPr>
          <a:xfrm>
            <a:off x="548640" y="1600200"/>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881360" y="1847088"/>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6" name="TextBox 5"/>
          <p:cNvSpPr txBox="1"/>
          <p:nvPr/>
        </p:nvSpPr>
        <p:spPr>
          <a:xfrm>
            <a:off x="914400" y="1728216"/>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Arial"/>
                <a:cs typeface="Arial"/>
              </a:rPr>
              <a:t>CLIP روی جفت عکس و متن آموزش دیده</a:t>
            </a:r>
          </a:p>
        </p:txBody>
      </p:sp>
      <p:sp>
        <p:nvSpPr>
          <p:cNvPr id="7" name="TextBox 6"/>
          <p:cNvSpPr txBox="1"/>
          <p:nvPr/>
        </p:nvSpPr>
        <p:spPr>
          <a:xfrm>
            <a:off x="914400" y="2075688"/>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Arial"/>
                <a:cs typeface="Arial"/>
              </a:rPr>
              <a:t>عکس و توضیحش در یک فضای مشترک نزدیک هم می‌افتند</a:t>
            </a:r>
          </a:p>
        </p:txBody>
      </p:sp>
      <p:sp>
        <p:nvSpPr>
          <p:cNvPr id="8" name="Rounded Rectangle 7"/>
          <p:cNvSpPr/>
          <p:nvPr/>
        </p:nvSpPr>
        <p:spPr>
          <a:xfrm>
            <a:off x="548640" y="2715768"/>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881360" y="2962656"/>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0" name="TextBox 9"/>
          <p:cNvSpPr txBox="1"/>
          <p:nvPr/>
        </p:nvSpPr>
        <p:spPr>
          <a:xfrm>
            <a:off x="914400" y="2843784"/>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Arial"/>
                <a:cs typeface="Arial"/>
              </a:rPr>
              <a:t>طبقه‌بندی بدون آموزش</a:t>
            </a:r>
          </a:p>
        </p:txBody>
      </p:sp>
      <p:sp>
        <p:nvSpPr>
          <p:cNvPr id="11" name="TextBox 10"/>
          <p:cNvSpPr txBox="1"/>
          <p:nvPr/>
        </p:nvSpPr>
        <p:spPr>
          <a:xfrm>
            <a:off x="914400" y="3191256"/>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Arial"/>
                <a:cs typeface="Arial"/>
              </a:rPr>
              <a:t>اسم هر کلاس به بردار تبدیل می‌شود و نزدیک‌ترین برنده است</a:t>
            </a:r>
          </a:p>
        </p:txBody>
      </p:sp>
      <p:sp>
        <p:nvSpPr>
          <p:cNvPr id="12" name="Rounded Rectangle 11"/>
          <p:cNvSpPr/>
          <p:nvPr/>
        </p:nvSpPr>
        <p:spPr>
          <a:xfrm>
            <a:off x="548640" y="3831335"/>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881360" y="4078223"/>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4" name="TextBox 13"/>
          <p:cNvSpPr txBox="1"/>
          <p:nvPr/>
        </p:nvSpPr>
        <p:spPr>
          <a:xfrm>
            <a:off x="914400" y="3959351"/>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Arial"/>
                <a:cs typeface="Arial"/>
              </a:rPr>
              <a:t>X-CLIP بخش زمانی اضافه می‌کند</a:t>
            </a:r>
          </a:p>
        </p:txBody>
      </p:sp>
      <p:sp>
        <p:nvSpPr>
          <p:cNvPr id="15" name="TextBox 14"/>
          <p:cNvSpPr txBox="1"/>
          <p:nvPr/>
        </p:nvSpPr>
        <p:spPr>
          <a:xfrm>
            <a:off x="914400" y="4306823"/>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Arial"/>
                <a:cs typeface="Arial"/>
              </a:rPr>
              <a:t>حالا ورودی ویدیو است، نه یک عکس تنها</a:t>
            </a:r>
          </a:p>
        </p:txBody>
      </p:sp>
      <p:sp>
        <p:nvSpPr>
          <p:cNvPr id="16" name="Rounded Rectangle 15"/>
          <p:cNvSpPr/>
          <p:nvPr/>
        </p:nvSpPr>
        <p:spPr>
          <a:xfrm>
            <a:off x="548640" y="4946904"/>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881360" y="5193792"/>
            <a:ext cx="475488" cy="475488"/>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4</a:t>
            </a:r>
          </a:p>
        </p:txBody>
      </p:sp>
      <p:sp>
        <p:nvSpPr>
          <p:cNvPr id="18" name="TextBox 17"/>
          <p:cNvSpPr txBox="1"/>
          <p:nvPr/>
        </p:nvSpPr>
        <p:spPr>
          <a:xfrm>
            <a:off x="914400" y="5074920"/>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Arial"/>
                <a:cs typeface="Arial"/>
              </a:rPr>
              <a:t>در پروژه ما</a:t>
            </a:r>
          </a:p>
        </p:txBody>
      </p:sp>
      <p:sp>
        <p:nvSpPr>
          <p:cNvPr id="19" name="TextBox 18"/>
          <p:cNvSpPr txBox="1"/>
          <p:nvPr/>
        </p:nvSpPr>
        <p:spPr>
          <a:xfrm>
            <a:off x="914400" y="5422392"/>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Arial"/>
                <a:cs typeface="Arial"/>
              </a:rPr>
              <a:t>بردار ویدیو با ۱۴ بردار متنی مقایسه می‌شود</a:t>
            </a:r>
          </a:p>
        </p:txBody>
      </p:sp>
      <p:sp>
        <p:nvSpPr>
          <p:cNvPr id="20" name="TextBox 19"/>
          <p:cNvSpPr txBox="1"/>
          <p:nvPr/>
        </p:nvSpPr>
        <p:spPr>
          <a:xfrm>
            <a:off x="548640" y="608076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آن ۱۴ بردار متنی نقش وزن‌های طبقه‌بند را بازی می‌کنند و هرگز آموزش نمی‌بینند.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سه اشکال بنیادی که پیدا و اصلاح شد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مسیر اول</a:t>
            </a:r>
          </a:p>
        </p:txBody>
      </p:sp>
      <p:sp>
        <p:nvSpPr>
          <p:cNvPr id="4" name="Rounded Rectangle 3"/>
          <p:cNvSpPr/>
          <p:nvPr/>
        </p:nvSpPr>
        <p:spPr>
          <a:xfrm>
            <a:off x="8092440" y="1645920"/>
            <a:ext cx="3520440" cy="40690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881359" y="1874519"/>
            <a:ext cx="475488" cy="475488"/>
          </a:xfrm>
          <a:prstGeom prst="ellipse">
            <a:avLst/>
          </a:prstGeom>
          <a:solidFill>
            <a:srgbClr val="C94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6" name="TextBox 5"/>
          <p:cNvSpPr txBox="1"/>
          <p:nvPr/>
        </p:nvSpPr>
        <p:spPr>
          <a:xfrm>
            <a:off x="8321040"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16264F"/>
                </a:solidFill>
                <a:latin typeface="Arial"/>
                <a:cs typeface="Arial"/>
              </a:rPr>
              <a:t>میانگین‌گیری در ارزیابی</a:t>
            </a:r>
          </a:p>
        </p:txBody>
      </p:sp>
      <p:sp>
        <p:nvSpPr>
          <p:cNvPr id="7" name="TextBox 6"/>
          <p:cNvSpPr txBox="1"/>
          <p:nvPr/>
        </p:nvSpPr>
        <p:spPr>
          <a:xfrm>
            <a:off x="8321040"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Arial"/>
                <a:cs typeface="Arial"/>
              </a:rPr>
              <a:t>احتمال هر ۱۶ قطعه میانگین گرفته می‌شد. در ویدیوی ناهنجار، قطعه‌های عادی شواهد را خفه می‌کردند و تقریباً همه چیز عادی پیش‌بینی می‌شد.</a:t>
            </a:r>
          </a:p>
        </p:txBody>
      </p:sp>
      <p:sp>
        <p:nvSpPr>
          <p:cNvPr id="8" name="TextBox 7"/>
          <p:cNvSpPr txBox="1"/>
          <p:nvPr/>
        </p:nvSpPr>
        <p:spPr>
          <a:xfrm>
            <a:off x="8321040"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3FA7A0"/>
                </a:solidFill>
                <a:latin typeface="Arial"/>
                <a:cs typeface="Arial"/>
              </a:rPr>
              <a:t>اصلاح: تصمیم دومرحله‌ای با بیشینه</a:t>
            </a:r>
          </a:p>
        </p:txBody>
      </p:sp>
      <p:sp>
        <p:nvSpPr>
          <p:cNvPr id="9" name="Rounded Rectangle 8"/>
          <p:cNvSpPr/>
          <p:nvPr/>
        </p:nvSpPr>
        <p:spPr>
          <a:xfrm>
            <a:off x="4315968" y="1645920"/>
            <a:ext cx="3520440" cy="40690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104888" y="1874519"/>
            <a:ext cx="475488" cy="475488"/>
          </a:xfrm>
          <a:prstGeom prst="ellipse">
            <a:avLst/>
          </a:prstGeom>
          <a:solidFill>
            <a:srgbClr val="C94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1" name="TextBox 10"/>
          <p:cNvSpPr txBox="1"/>
          <p:nvPr/>
        </p:nvSpPr>
        <p:spPr>
          <a:xfrm>
            <a:off x="4544568"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16264F"/>
                </a:solidFill>
                <a:latin typeface="Arial"/>
                <a:cs typeface="Arial"/>
              </a:rPr>
              <a:t>فایل نمرات کهنه</a:t>
            </a:r>
          </a:p>
        </p:txBody>
      </p:sp>
      <p:sp>
        <p:nvSpPr>
          <p:cNvPr id="12" name="TextBox 11"/>
          <p:cNvSpPr txBox="1"/>
          <p:nvPr/>
        </p:nvSpPr>
        <p:spPr>
          <a:xfrm>
            <a:off x="4544568"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Arial"/>
                <a:cs typeface="Arial"/>
              </a:rPr>
              <a:t>کد هر فایل نمرات موجود را بازاستفاده می‌کرد. در یک گزارش، ۲۸۸ ویدیو از ۲۹۸ کنار گذاشته شده و عدد روی ده ویدیو حساب شده بود.</a:t>
            </a:r>
          </a:p>
        </p:txBody>
      </p:sp>
      <p:sp>
        <p:nvSpPr>
          <p:cNvPr id="13" name="TextBox 12"/>
          <p:cNvSpPr txBox="1"/>
          <p:nvPr/>
        </p:nvSpPr>
        <p:spPr>
          <a:xfrm>
            <a:off x="4544568"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3FA7A0"/>
                </a:solidFill>
                <a:latin typeface="Arial"/>
                <a:cs typeface="Arial"/>
              </a:rPr>
              <a:t>اصلاح: بازمحاسبه پیش‌فرض</a:t>
            </a:r>
          </a:p>
        </p:txBody>
      </p:sp>
      <p:sp>
        <p:nvSpPr>
          <p:cNvPr id="14" name="Rounded Rectangle 13"/>
          <p:cNvSpPr/>
          <p:nvPr/>
        </p:nvSpPr>
        <p:spPr>
          <a:xfrm>
            <a:off x="539495" y="1645920"/>
            <a:ext cx="3520440" cy="40690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328415" y="1874519"/>
            <a:ext cx="475488" cy="475488"/>
          </a:xfrm>
          <a:prstGeom prst="ellipse">
            <a:avLst/>
          </a:prstGeom>
          <a:solidFill>
            <a:srgbClr val="C94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6" name="TextBox 15"/>
          <p:cNvSpPr txBox="1"/>
          <p:nvPr/>
        </p:nvSpPr>
        <p:spPr>
          <a:xfrm>
            <a:off x="768095"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16264F"/>
                </a:solidFill>
                <a:latin typeface="Arial"/>
                <a:cs typeface="Arial"/>
              </a:rPr>
              <a:t>انتخاب قطعه برتر به تفکیک کلاس</a:t>
            </a:r>
          </a:p>
        </p:txBody>
      </p:sp>
      <p:sp>
        <p:nvSpPr>
          <p:cNvPr id="17" name="TextBox 16"/>
          <p:cNvSpPr txBox="1"/>
          <p:nvPr/>
        </p:nvSpPr>
        <p:spPr>
          <a:xfrm>
            <a:off x="768095"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Arial"/>
                <a:cs typeface="Arial"/>
              </a:rPr>
              <a:t>کانال عادی از عادی‌ترین قطعه‌های یک ویدیوی سرقت ساخته می‌شد. نویز برچسب سیستماتیک وارد آموزش می‌شد.</a:t>
            </a:r>
          </a:p>
        </p:txBody>
      </p:sp>
      <p:sp>
        <p:nvSpPr>
          <p:cNvPr id="18" name="TextBox 17"/>
          <p:cNvSpPr txBox="1"/>
          <p:nvPr/>
        </p:nvSpPr>
        <p:spPr>
          <a:xfrm>
            <a:off x="768095"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3FA7A0"/>
                </a:solidFill>
                <a:latin typeface="Arial"/>
                <a:cs typeface="Arial"/>
              </a:rPr>
              <a:t>اصلاح: یک رتبه‌بندی برای همه کلاس‌ها</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تصمیم دومرحله‌ای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مسیر اول</a:t>
            </a:r>
          </a:p>
        </p:txBody>
      </p:sp>
      <p:sp>
        <p:nvSpPr>
          <p:cNvPr id="4" name="Rounded Rectangle 3"/>
          <p:cNvSpPr/>
          <p:nvPr/>
        </p:nvSpPr>
        <p:spPr>
          <a:xfrm>
            <a:off x="548640" y="1600200"/>
            <a:ext cx="5394960" cy="22860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E8A33D"/>
                </a:solidFill>
                <a:latin typeface="Arial"/>
                <a:cs typeface="Arial"/>
              </a:rPr>
              <a:t>مرحله اول: آیا ناهنجار است؟</a:t>
            </a:r>
          </a:p>
        </p:txBody>
      </p:sp>
      <p:sp>
        <p:nvSpPr>
          <p:cNvPr id="6" name="TextBox 5"/>
          <p:cNvSpPr txBox="1"/>
          <p:nvPr/>
        </p:nvSpPr>
        <p:spPr>
          <a:xfrm>
            <a:off x="86868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Arial"/>
                <a:cs typeface="Arial"/>
              </a:rPr>
              <a:t>بیشینه روی ۱۶ قطعه از مقدار «۱ منهای احتمال عادی»، در مقایسه با آستانه ۰٫۵</a:t>
            </a:r>
          </a:p>
        </p:txBody>
      </p:sp>
      <p:sp>
        <p:nvSpPr>
          <p:cNvPr id="7" name="TextBox 6"/>
          <p:cNvSpPr txBox="1"/>
          <p:nvPr/>
        </p:nvSpPr>
        <p:spPr>
          <a:xfrm>
            <a:off x="86868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6A748C"/>
                </a:solidFill>
                <a:latin typeface="Arial"/>
                <a:cs typeface="Arial"/>
              </a:rPr>
              <a:t>چرا بیشینه و نه میانگین: یک قطعه مشکوک کافی است، چون رویداد فقط چند ثانیه است</a:t>
            </a:r>
          </a:p>
        </p:txBody>
      </p:sp>
      <p:sp>
        <p:nvSpPr>
          <p:cNvPr id="8" name="Rounded Rectangle 7"/>
          <p:cNvSpPr/>
          <p:nvPr/>
        </p:nvSpPr>
        <p:spPr>
          <a:xfrm>
            <a:off x="6217920" y="1600200"/>
            <a:ext cx="5394960" cy="22860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مرحله دوم: کدام نوع؟</a:t>
            </a:r>
          </a:p>
        </p:txBody>
      </p:sp>
      <p:sp>
        <p:nvSpPr>
          <p:cNvPr id="10" name="TextBox 9"/>
          <p:cNvSpPr txBox="1"/>
          <p:nvPr/>
        </p:nvSpPr>
        <p:spPr>
          <a:xfrm>
            <a:off x="653796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Arial"/>
                <a:cs typeface="Arial"/>
              </a:rPr>
              <a:t>رأی‌گیری میانگین چهار قطعه برتر، تنها میان ۱۳ کلاس ناهنجار</a:t>
            </a:r>
          </a:p>
        </p:txBody>
      </p:sp>
      <p:sp>
        <p:nvSpPr>
          <p:cNvPr id="11" name="TextBox 10"/>
          <p:cNvSpPr txBox="1"/>
          <p:nvPr/>
        </p:nvSpPr>
        <p:spPr>
          <a:xfrm>
            <a:off x="653796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6A748C"/>
                </a:solidFill>
                <a:latin typeface="Arial"/>
                <a:cs typeface="Arial"/>
              </a:rPr>
              <a:t>کلاس عادی در این مرحله اصلاً وارد رقابت نمی‌شود</a:t>
            </a:r>
          </a:p>
        </p:txBody>
      </p:sp>
      <p:sp>
        <p:nvSpPr>
          <p:cNvPr id="12" name="TextBox 11"/>
          <p:cNvSpPr txBox="1"/>
          <p:nvPr/>
        </p:nvSpPr>
        <p:spPr>
          <a:xfrm>
            <a:off x="548640" y="4114800"/>
            <a:ext cx="1106424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مثال عددی: ویدیوی سرقت، رویداد در قطعه‌های ۴ و ۵</a:t>
            </a:r>
          </a:p>
        </p:txBody>
      </p:sp>
      <p:graphicFrame>
        <p:nvGraphicFramePr>
          <p:cNvPr id="13" name="Table 12"/>
          <p:cNvGraphicFramePr>
            <a:graphicFrameLocks noGrp="1"/>
          </p:cNvGraphicFramePr>
          <p:nvPr/>
        </p:nvGraphicFramePr>
        <p:xfrm>
          <a:off x="548640" y="4572000"/>
          <a:ext cx="11064240" cy="1152144"/>
        </p:xfrm>
        <a:graphic>
          <a:graphicData uri="http://schemas.openxmlformats.org/drawingml/2006/table">
            <a:tbl>
              <a:tblPr firstRow="0" bandRow="0">
                <a:tableStyleId>{5C22544A-7EE6-4342-B048-85BDC9FD1C3A}</a:tableStyleId>
              </a:tblPr>
              <a:tblGrid>
                <a:gridCol w="3474720"/>
                <a:gridCol w="2103120"/>
                <a:gridCol w="2743200"/>
                <a:gridCol w="2743200"/>
              </a:tblGrid>
              <a:tr h="384048">
                <a:tc>
                  <a:txBody>
                    <a:bodyPr wrap="square"/>
                    <a:lstStyle/>
                    <a:p>
                      <a:pPr rtl="1" algn="ctr">
                        <a:spcBef>
                          <a:spcPts val="0"/>
                        </a:spcBef>
                        <a:spcAft>
                          <a:spcPts val="0"/>
                        </a:spcAft>
                      </a:pPr>
                      <a:r>
                        <a:rPr sz="1200" b="1" i="0">
                          <a:solidFill>
                            <a:srgbClr val="FFFFFF"/>
                          </a:solidFill>
                          <a:latin typeface="Arial"/>
                          <a:cs typeface="Arial"/>
                        </a:rPr>
                        <a:t>روش</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نمره</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در برابر آستانه ۰٫۵</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تصمیم</a:t>
                      </a:r>
                    </a:p>
                  </a:txBody>
                  <a:tcPr marL="36576" marR="36576" marT="18288" marB="18288" anchor="ctr">
                    <a:solidFill>
                      <a:srgbClr val="16264F"/>
                    </a:solidFill>
                  </a:tcPr>
                </a:tc>
              </a:tr>
              <a:tr h="384048">
                <a:tc>
                  <a:txBody>
                    <a:bodyPr wrap="square"/>
                    <a:lstStyle/>
                    <a:p>
                      <a:pPr rtl="1" algn="r">
                        <a:spcBef>
                          <a:spcPts val="0"/>
                        </a:spcBef>
                        <a:spcAft>
                          <a:spcPts val="0"/>
                        </a:spcAft>
                      </a:pPr>
                      <a:r>
                        <a:rPr sz="1300" b="0" i="0">
                          <a:solidFill>
                            <a:srgbClr val="1B2236"/>
                          </a:solidFill>
                          <a:latin typeface="Arial"/>
                          <a:cs typeface="Arial"/>
                        </a:rPr>
                        <a:t>میانگین‌گیری روی ۸ قطعه</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Arial"/>
                          <a:cs typeface="Arial"/>
                        </a:rPr>
                        <a:t>0.26</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Arial"/>
                          <a:cs typeface="Arial"/>
                        </a:rPr>
                        <a:t>زیر آستانه</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Arial"/>
                          <a:cs typeface="Arial"/>
                        </a:rPr>
                        <a:t>عادی — غلط</a:t>
                      </a:r>
                    </a:p>
                  </a:txBody>
                  <a:tcPr marL="36576" marR="36576" marT="18288" marB="18288" anchor="ctr">
                    <a:solidFill>
                      <a:srgbClr val="EDF1F8"/>
                    </a:solidFill>
                  </a:tcPr>
                </a:tc>
              </a:tr>
              <a:tr h="384048">
                <a:tc>
                  <a:txBody>
                    <a:bodyPr wrap="square"/>
                    <a:lstStyle/>
                    <a:p>
                      <a:pPr rtl="1" algn="r">
                        <a:spcBef>
                          <a:spcPts val="0"/>
                        </a:spcBef>
                        <a:spcAft>
                          <a:spcPts val="0"/>
                        </a:spcAft>
                      </a:pPr>
                      <a:r>
                        <a:rPr sz="1300" b="1" i="0">
                          <a:solidFill>
                            <a:srgbClr val="16264F"/>
                          </a:solidFill>
                          <a:latin typeface="Arial"/>
                          <a:cs typeface="Arial"/>
                        </a:rPr>
                        <a:t>بیشینه روی همان ۸ قطعه</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Arial"/>
                          <a:cs typeface="Arial"/>
                        </a:rPr>
                        <a:t>0.85</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Arial"/>
                          <a:cs typeface="Arial"/>
                        </a:rPr>
                        <a:t>بالای آستانه</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Arial"/>
                          <a:cs typeface="Arial"/>
                        </a:rPr>
                        <a:t>ناهنجار — درست</a:t>
                      </a:r>
                    </a:p>
                  </a:txBody>
                  <a:tcPr marL="36576" marR="36576" marT="18288" marB="18288" anchor="ctr">
                    <a:solidFill>
                      <a:srgbClr val="FFF2D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کلاسی که مدل یاد گرفت هرگز نگوید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مسیر اول</a:t>
            </a:r>
          </a:p>
        </p:txBody>
      </p:sp>
      <p:sp>
        <p:nvSpPr>
          <p:cNvPr id="4" name="TextBox 3"/>
          <p:cNvSpPr txBox="1"/>
          <p:nvPr/>
        </p:nvSpPr>
        <p:spPr>
          <a:xfrm>
            <a:off x="548640" y="1645920"/>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Arial"/>
                <a:cs typeface="Arial"/>
              </a:rPr>
              <a:t>به‌جای شمردن پیش‌بینی‌های درست، شمردیم مدل هر کلاس را چند بار پیش‌بینی می‌کند.</a:t>
            </a:r>
          </a:p>
        </p:txBody>
      </p:sp>
      <p:graphicFrame>
        <p:nvGraphicFramePr>
          <p:cNvPr id="5" name="Table 4"/>
          <p:cNvGraphicFramePr>
            <a:graphicFrameLocks noGrp="1"/>
          </p:cNvGraphicFramePr>
          <p:nvPr/>
        </p:nvGraphicFramePr>
        <p:xfrm>
          <a:off x="548640" y="2148840"/>
          <a:ext cx="6675120" cy="2194560"/>
        </p:xfrm>
        <a:graphic>
          <a:graphicData uri="http://schemas.openxmlformats.org/drawingml/2006/table">
            <a:tbl>
              <a:tblPr firstRow="0" bandRow="0">
                <a:tableStyleId>{5C22544A-7EE6-4342-B048-85BDC9FD1C3A}</a:tableStyleId>
              </a:tblPr>
              <a:tblGrid>
                <a:gridCol w="2560320"/>
                <a:gridCol w="1371600"/>
                <a:gridCol w="1737360"/>
                <a:gridCol w="1005840"/>
              </a:tblGrid>
              <a:tr h="365760">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ویدیوی واقعی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چند بار پیش‌بینی شد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نسبت</a:t>
                      </a:r>
                    </a:p>
                  </a:txBody>
                  <a:tcPr marL="36576" marR="36576" marT="18288" marB="18288" anchor="ctr">
                    <a:solidFill>
                      <a:srgbClr val="16264F"/>
                    </a:solidFill>
                  </a:tcPr>
                </a:tc>
              </a:tr>
              <a:tr h="365760">
                <a:tc>
                  <a:txBody>
                    <a:bodyPr wrap="square"/>
                    <a:lstStyle/>
                    <a:p>
                      <a:pPr rtl="1" algn="r">
                        <a:spcBef>
                          <a:spcPts val="0"/>
                        </a:spcBef>
                        <a:spcAft>
                          <a:spcPts val="0"/>
                        </a:spcAft>
                      </a:pPr>
                      <a:r>
                        <a:rPr sz="1200" b="1" i="0">
                          <a:solidFill>
                            <a:srgbClr val="16264F"/>
                          </a:solidFill>
                          <a:latin typeface="Arial"/>
                          <a:cs typeface="Arial"/>
                        </a:rPr>
                        <a:t>Fighting — درگیری</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8</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2</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0.25</a:t>
                      </a:r>
                    </a:p>
                  </a:txBody>
                  <a:tcPr marL="36576" marR="36576" marT="18288" marB="18288" anchor="ctr">
                    <a:solidFill>
                      <a:srgbClr val="FFF2DC"/>
                    </a:solidFill>
                  </a:tcPr>
                </a:tc>
              </a:tr>
              <a:tr h="365760">
                <a:tc>
                  <a:txBody>
                    <a:bodyPr wrap="square"/>
                    <a:lstStyle/>
                    <a:p>
                      <a:pPr rtl="1" algn="r">
                        <a:spcBef>
                          <a:spcPts val="0"/>
                        </a:spcBef>
                        <a:spcAft>
                          <a:spcPts val="0"/>
                        </a:spcAft>
                      </a:pPr>
                      <a:r>
                        <a:rPr sz="1200" b="0" i="0">
                          <a:solidFill>
                            <a:srgbClr val="1B2236"/>
                          </a:solidFill>
                          <a:latin typeface="Arial"/>
                          <a:cs typeface="Arial"/>
                        </a:rPr>
                        <a:t>Assault — تعرض</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8</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3</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0.38</a:t>
                      </a:r>
                    </a:p>
                  </a:txBody>
                  <a:tcPr marL="36576" marR="36576" marT="18288" marB="18288" anchor="ctr">
                    <a:solidFill>
                      <a:srgbClr val="FFFFFF"/>
                    </a:solidFill>
                  </a:tcPr>
                </a:tc>
              </a:tr>
              <a:tr h="365760">
                <a:tc>
                  <a:txBody>
                    <a:bodyPr wrap="square"/>
                    <a:lstStyle/>
                    <a:p>
                      <a:pPr rtl="1" algn="r">
                        <a:spcBef>
                          <a:spcPts val="0"/>
                        </a:spcBef>
                        <a:spcAft>
                          <a:spcPts val="0"/>
                        </a:spcAft>
                      </a:pPr>
                      <a:r>
                        <a:rPr sz="1200" b="0" i="0">
                          <a:solidFill>
                            <a:srgbClr val="1B2236"/>
                          </a:solidFill>
                          <a:latin typeface="Arial"/>
                          <a:cs typeface="Arial"/>
                        </a:rPr>
                        <a:t>Vandalism — تخریب</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8</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0.62</a:t>
                      </a:r>
                    </a:p>
                  </a:txBody>
                  <a:tcPr marL="36576" marR="36576" marT="18288" marB="18288" anchor="ctr">
                    <a:solidFill>
                      <a:srgbClr val="EDF1F8"/>
                    </a:solidFill>
                  </a:tcPr>
                </a:tc>
              </a:tr>
              <a:tr h="365760">
                <a:tc>
                  <a:txBody>
                    <a:bodyPr wrap="square"/>
                    <a:lstStyle/>
                    <a:p>
                      <a:pPr rtl="1" algn="r">
                        <a:spcBef>
                          <a:spcPts val="0"/>
                        </a:spcBef>
                        <a:spcAft>
                          <a:spcPts val="0"/>
                        </a:spcAft>
                      </a:pPr>
                      <a:r>
                        <a:rPr sz="1200" b="0" i="0">
                          <a:solidFill>
                            <a:srgbClr val="1B2236"/>
                          </a:solidFill>
                          <a:latin typeface="Arial"/>
                          <a:cs typeface="Arial"/>
                        </a:rPr>
                        <a:t>Stealing — دزدی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15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20</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1.33</a:t>
                      </a:r>
                    </a:p>
                  </a:txBody>
                  <a:tcPr marL="36576" marR="36576" marT="18288" marB="18288" anchor="ctr">
                    <a:solidFill>
                      <a:srgbClr val="FFFFFF"/>
                    </a:solidFill>
                  </a:tcPr>
                </a:tc>
              </a:tr>
              <a:tr h="365760">
                <a:tc>
                  <a:txBody>
                    <a:bodyPr wrap="square"/>
                    <a:lstStyle/>
                    <a:p>
                      <a:pPr rtl="1" algn="r">
                        <a:spcBef>
                          <a:spcPts val="0"/>
                        </a:spcBef>
                        <a:spcAft>
                          <a:spcPts val="0"/>
                        </a:spcAft>
                      </a:pPr>
                      <a:r>
                        <a:rPr sz="1200" b="0" i="0">
                          <a:solidFill>
                            <a:srgbClr val="1B2236"/>
                          </a:solidFill>
                          <a:latin typeface="Arial"/>
                          <a:cs typeface="Arial"/>
                        </a:rPr>
                        <a:t>RoadAccidents — تصادف</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23</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39</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1.70</a:t>
                      </a:r>
                    </a:p>
                  </a:txBody>
                  <a:tcPr marL="36576" marR="36576" marT="18288" marB="18288" anchor="ctr">
                    <a:solidFill>
                      <a:srgbClr val="EDF1F8"/>
                    </a:solidFill>
                  </a:tcPr>
                </a:tc>
              </a:tr>
            </a:tbl>
          </a:graphicData>
        </a:graphic>
      </p:graphicFrame>
      <p:sp>
        <p:nvSpPr>
          <p:cNvPr id="6" name="Rounded Rectangle 5"/>
          <p:cNvSpPr/>
          <p:nvPr/>
        </p:nvSpPr>
        <p:spPr>
          <a:xfrm>
            <a:off x="7498079" y="2148840"/>
            <a:ext cx="4114800" cy="1874519"/>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تشخیص</a:t>
            </a:r>
          </a:p>
        </p:txBody>
      </p:sp>
      <p:sp>
        <p:nvSpPr>
          <p:cNvPr id="8" name="TextBox 7"/>
          <p:cNvSpPr txBox="1"/>
          <p:nvPr/>
        </p:nvSpPr>
        <p:spPr>
          <a:xfrm>
            <a:off x="7772400" y="2697480"/>
            <a:ext cx="356616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مدل روی درگیری شکست نخورده بود. یاد گرفته بود هرگز نگوید درگیری، چون گفتنش شرط‌بندی بدی بود.</a:t>
            </a:r>
          </a:p>
        </p:txBody>
      </p:sp>
      <p:sp>
        <p:nvSpPr>
          <p:cNvPr id="9" name="TextBox 8"/>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علت ریشه‌ای</a:t>
            </a:r>
          </a:p>
        </p:txBody>
      </p:sp>
      <p:sp>
        <p:nvSpPr>
          <p:cNvPr id="10" name="TextBox 9"/>
          <p:cNvSpPr txBox="1"/>
          <p:nvPr/>
        </p:nvSpPr>
        <p:spPr>
          <a:xfrm>
            <a:off x="548640" y="466344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1B2236"/>
                </a:solidFill>
                <a:latin typeface="Arial"/>
                <a:cs typeface="Arial"/>
              </a:rPr>
              <a:t>●  تابع وزن‌دهی کلاس در کد وجود داشت ولی هیچ‌جا صدا زده نمی‌شد.</a:t>
            </a:r>
          </a:p>
          <a:p>
            <a:pPr rtl="1" algn="r">
              <a:lnSpc>
                <a:spcPts val="1900"/>
              </a:lnSpc>
              <a:spcBef>
                <a:spcPts val="0"/>
              </a:spcBef>
              <a:spcAft>
                <a:spcPts val="700"/>
              </a:spcAft>
            </a:pPr>
            <a:r>
              <a:rPr sz="1300" b="0" i="0">
                <a:solidFill>
                  <a:srgbClr val="1B2236"/>
                </a:solidFill>
                <a:latin typeface="Arial"/>
                <a:cs typeface="Arial"/>
              </a:rPr>
              <a:t>●  وزن‌ها همه‌جا ۱٫۰ بودند؛ کلاس عادی حدود ۱۹ برابر کلاس درگیری گرادیان تولید می‌کرد.</a:t>
            </a:r>
          </a:p>
          <a:p>
            <a:pPr rtl="1" algn="r">
              <a:lnSpc>
                <a:spcPts val="1900"/>
              </a:lnSpc>
              <a:spcBef>
                <a:spcPts val="0"/>
              </a:spcBef>
              <a:spcAft>
                <a:spcPts val="700"/>
              </a:spcAft>
            </a:pPr>
            <a:r>
              <a:rPr sz="1300" b="0" i="0">
                <a:solidFill>
                  <a:srgbClr val="1B2236"/>
                </a:solidFill>
                <a:latin typeface="Arial"/>
                <a:cs typeface="Arial"/>
              </a:rPr>
              <a:t>●  با وزن‌دهی معکوس فراوانی آن نسبت به ۳٫۶ رسید و درگیری ۹ بار پیش‌بینی شد به‌جای ۲ بار.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محدودیت بنیادی: هندسه فضای متنی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مسیر اول</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Arial"/>
                <a:cs typeface="Arial"/>
              </a:rPr>
              <a:t>اسم خام کلاس‌ها در فضای زبانی CLIP تقریباً هم‌راستا هستند و سقفی مستقل از کیفیت تصویری تحمیل می‌کنند.</a:t>
            </a:r>
          </a:p>
        </p:txBody>
      </p:sp>
      <p:graphicFrame>
        <p:nvGraphicFramePr>
          <p:cNvPr id="5" name="Table 4"/>
          <p:cNvGraphicFramePr>
            <a:graphicFrameLocks noGrp="1"/>
          </p:cNvGraphicFramePr>
          <p:nvPr/>
        </p:nvGraphicFramePr>
        <p:xfrm>
          <a:off x="548640" y="2148840"/>
          <a:ext cx="5029200" cy="1920240"/>
        </p:xfrm>
        <a:graphic>
          <a:graphicData uri="http://schemas.openxmlformats.org/drawingml/2006/table">
            <a:tbl>
              <a:tblPr firstRow="0" bandRow="0">
                <a:tableStyleId>{5C22544A-7EE6-4342-B048-85BDC9FD1C3A}</a:tableStyleId>
              </a:tblPr>
              <a:tblGrid>
                <a:gridCol w="3200400"/>
                <a:gridCol w="1828800"/>
              </a:tblGrid>
              <a:tr h="384048">
                <a:tc>
                  <a:txBody>
                    <a:bodyPr wrap="square"/>
                    <a:lstStyle/>
                    <a:p>
                      <a:pPr rtl="1" algn="ctr">
                        <a:spcBef>
                          <a:spcPts val="0"/>
                        </a:spcBef>
                        <a:spcAft>
                          <a:spcPts val="0"/>
                        </a:spcAft>
                      </a:pPr>
                      <a:r>
                        <a:rPr sz="1200" b="1" i="0">
                          <a:solidFill>
                            <a:srgbClr val="FFFFFF"/>
                          </a:solidFill>
                          <a:latin typeface="Arial"/>
                          <a:cs typeface="Arial"/>
                        </a:rPr>
                        <a:t>جفت 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شباهت کسینوسی</a:t>
                      </a:r>
                    </a:p>
                  </a:txBody>
                  <a:tcPr marL="36576" marR="36576" marT="18288" marB="18288" anchor="ctr">
                    <a:solidFill>
                      <a:srgbClr val="16264F"/>
                    </a:solidFill>
                  </a:tcPr>
                </a:tc>
              </a:tr>
              <a:tr h="384048">
                <a:tc>
                  <a:txBody>
                    <a:bodyPr wrap="square"/>
                    <a:lstStyle/>
                    <a:p>
                      <a:pPr rtl="1" algn="r">
                        <a:spcBef>
                          <a:spcPts val="0"/>
                        </a:spcBef>
                        <a:spcAft>
                          <a:spcPts val="0"/>
                        </a:spcAft>
                      </a:pPr>
                      <a:r>
                        <a:rPr sz="1300" b="0" i="0">
                          <a:solidFill>
                            <a:srgbClr val="1B2236"/>
                          </a:solidFill>
                          <a:latin typeface="Arial"/>
                          <a:cs typeface="Arial"/>
                        </a:rPr>
                        <a:t>Abuse  /  Stealing</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Arial"/>
                          <a:cs typeface="Arial"/>
                        </a:rPr>
                        <a:t>0.91</a:t>
                      </a:r>
                    </a:p>
                  </a:txBody>
                  <a:tcPr marL="36576" marR="36576" marT="18288" marB="18288" anchor="ctr">
                    <a:solidFill>
                      <a:srgbClr val="EDF1F8"/>
                    </a:solidFill>
                  </a:tcPr>
                </a:tc>
              </a:tr>
              <a:tr h="384048">
                <a:tc>
                  <a:txBody>
                    <a:bodyPr wrap="square"/>
                    <a:lstStyle/>
                    <a:p>
                      <a:pPr rtl="1" algn="r">
                        <a:spcBef>
                          <a:spcPts val="0"/>
                        </a:spcBef>
                        <a:spcAft>
                          <a:spcPts val="0"/>
                        </a:spcAft>
                      </a:pPr>
                      <a:r>
                        <a:rPr sz="1300" b="0" i="0">
                          <a:solidFill>
                            <a:srgbClr val="1B2236"/>
                          </a:solidFill>
                          <a:latin typeface="Arial"/>
                          <a:cs typeface="Arial"/>
                        </a:rPr>
                        <a:t>Assault  /  Arrest</a:t>
                      </a:r>
                    </a:p>
                  </a:txBody>
                  <a:tcPr marL="36576" marR="36576" marT="18288" marB="18288" anchor="ctr">
                    <a:solidFill>
                      <a:srgbClr val="FFFFFF"/>
                    </a:solidFill>
                  </a:tcPr>
                </a:tc>
                <a:tc>
                  <a:txBody>
                    <a:bodyPr wrap="square"/>
                    <a:lstStyle/>
                    <a:p>
                      <a:pPr rtl="1" algn="ctr">
                        <a:spcBef>
                          <a:spcPts val="0"/>
                        </a:spcBef>
                        <a:spcAft>
                          <a:spcPts val="0"/>
                        </a:spcAft>
                      </a:pPr>
                      <a:r>
                        <a:rPr sz="1300" b="0" i="0">
                          <a:solidFill>
                            <a:srgbClr val="1B2236"/>
                          </a:solidFill>
                          <a:latin typeface="Arial"/>
                          <a:cs typeface="Arial"/>
                        </a:rPr>
                        <a:t>0.91</a:t>
                      </a:r>
                    </a:p>
                  </a:txBody>
                  <a:tcPr marL="36576" marR="36576" marT="18288" marB="18288" anchor="ctr">
                    <a:solidFill>
                      <a:srgbClr val="FFFFFF"/>
                    </a:solidFill>
                  </a:tcPr>
                </a:tc>
              </a:tr>
              <a:tr h="384048">
                <a:tc>
                  <a:txBody>
                    <a:bodyPr wrap="square"/>
                    <a:lstStyle/>
                    <a:p>
                      <a:pPr rtl="1" algn="r">
                        <a:spcBef>
                          <a:spcPts val="0"/>
                        </a:spcBef>
                        <a:spcAft>
                          <a:spcPts val="0"/>
                        </a:spcAft>
                      </a:pPr>
                      <a:r>
                        <a:rPr sz="1300" b="0" i="0">
                          <a:solidFill>
                            <a:srgbClr val="1B2236"/>
                          </a:solidFill>
                          <a:latin typeface="Arial"/>
                          <a:cs typeface="Arial"/>
                        </a:rPr>
                        <a:t>Fighting  /  Shooting</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Arial"/>
                          <a:cs typeface="Arial"/>
                        </a:rPr>
                        <a:t>0.90</a:t>
                      </a:r>
                    </a:p>
                  </a:txBody>
                  <a:tcPr marL="36576" marR="36576" marT="18288" marB="18288" anchor="ctr">
                    <a:solidFill>
                      <a:srgbClr val="EDF1F8"/>
                    </a:solidFill>
                  </a:tcPr>
                </a:tc>
              </a:tr>
              <a:tr h="384048">
                <a:tc>
                  <a:txBody>
                    <a:bodyPr wrap="square"/>
                    <a:lstStyle/>
                    <a:p>
                      <a:pPr rtl="1" algn="r">
                        <a:spcBef>
                          <a:spcPts val="0"/>
                        </a:spcBef>
                        <a:spcAft>
                          <a:spcPts val="0"/>
                        </a:spcAft>
                      </a:pPr>
                      <a:r>
                        <a:rPr sz="1300" b="1" i="0">
                          <a:solidFill>
                            <a:srgbClr val="16264F"/>
                          </a:solidFill>
                          <a:latin typeface="Arial"/>
                          <a:cs typeface="Arial"/>
                        </a:rPr>
                        <a:t>میانگین همه جفت‌ها</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Arial"/>
                          <a:cs typeface="Arial"/>
                        </a:rPr>
                        <a:t>0.83</a:t>
                      </a:r>
                    </a:p>
                  </a:txBody>
                  <a:tcPr marL="36576" marR="36576" marT="18288" marB="18288" anchor="ctr">
                    <a:solidFill>
                      <a:srgbClr val="FFF2DC"/>
                    </a:solidFill>
                  </a:tcPr>
                </a:tc>
              </a:tr>
            </a:tbl>
          </a:graphicData>
        </a:graphic>
      </p:graphicFrame>
      <p:sp>
        <p:nvSpPr>
          <p:cNvPr id="6" name="Rounded Rectangle 5"/>
          <p:cNvSpPr/>
          <p:nvPr/>
        </p:nvSpPr>
        <p:spPr>
          <a:xfrm>
            <a:off x="5852160" y="2148840"/>
            <a:ext cx="5760720" cy="1874519"/>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126480" y="2313432"/>
            <a:ext cx="52120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آزمایش تعیین‌کننده</a:t>
            </a:r>
          </a:p>
        </p:txBody>
      </p:sp>
      <p:sp>
        <p:nvSpPr>
          <p:cNvPr id="8" name="TextBox 7"/>
          <p:cNvSpPr txBox="1"/>
          <p:nvPr/>
        </p:nvSpPr>
        <p:spPr>
          <a:xfrm>
            <a:off x="6126480" y="2697480"/>
            <a:ext cx="521208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فرض کنید بخش تصویری کاملاً بی‌نقص باشد، یعنی بردار ویدیو دقیقاً برابر بردار کلاس خودش. در این حالت آرمانی، احتمال کلاس درست تنها ۰٫۴۴ درمی‌آید.</a:t>
            </a:r>
          </a:p>
        </p:txBody>
      </p:sp>
      <p:sp>
        <p:nvSpPr>
          <p:cNvPr id="9" name="TextBox 8"/>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راه حل: توصیف بصری به‌جای اسم حقوقی</a:t>
            </a:r>
          </a:p>
        </p:txBody>
      </p:sp>
      <p:sp>
        <p:nvSpPr>
          <p:cNvPr id="10" name="Rounded Rectangle 9"/>
          <p:cNvSpPr/>
          <p:nvPr/>
        </p:nvSpPr>
        <p:spPr>
          <a:xfrm>
            <a:off x="548640" y="4663440"/>
            <a:ext cx="5486400" cy="12801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60" y="4800600"/>
            <a:ext cx="493776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پیش از تغییر</a:t>
            </a:r>
          </a:p>
        </p:txBody>
      </p:sp>
      <p:sp>
        <p:nvSpPr>
          <p:cNvPr id="12" name="TextBox 11"/>
          <p:cNvSpPr txBox="1"/>
          <p:nvPr/>
        </p:nvSpPr>
        <p:spPr>
          <a:xfrm>
            <a:off x="822960" y="5120640"/>
            <a:ext cx="4937760" cy="365760"/>
          </a:xfrm>
          <a:prstGeom prst="rect">
            <a:avLst/>
          </a:prstGeom>
          <a:noFill/>
        </p:spPr>
        <p:txBody>
          <a:bodyPr wrap="square" anchor="t" lIns="0" rIns="0" tIns="0" bIns="0">
            <a:spAutoFit/>
          </a:bodyPr>
          <a:lstStyle/>
          <a:p>
            <a:pPr rtl="0" algn="r">
              <a:spcBef>
                <a:spcPts val="0"/>
              </a:spcBef>
              <a:spcAft>
                <a:spcPts val="0"/>
              </a:spcAft>
            </a:pPr>
            <a:r>
              <a:rPr sz="1600" b="1" i="0">
                <a:solidFill>
                  <a:srgbClr val="C9483B"/>
                </a:solidFill>
                <a:latin typeface="Arial"/>
                <a:cs typeface="Arial"/>
              </a:rPr>
              <a:t>"Burglary"</a:t>
            </a:r>
          </a:p>
        </p:txBody>
      </p:sp>
      <p:sp>
        <p:nvSpPr>
          <p:cNvPr id="13" name="TextBox 12"/>
          <p:cNvSpPr txBox="1"/>
          <p:nvPr/>
        </p:nvSpPr>
        <p:spPr>
          <a:xfrm>
            <a:off x="822960" y="5532120"/>
            <a:ext cx="493776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1B2236"/>
                </a:solidFill>
                <a:latin typeface="Arial"/>
                <a:cs typeface="Arial"/>
              </a:rPr>
              <a:t>سقف اندازه‌گیری‌شده: 0.44</a:t>
            </a:r>
          </a:p>
        </p:txBody>
      </p:sp>
      <p:sp>
        <p:nvSpPr>
          <p:cNvPr id="14" name="Rounded Rectangle 13"/>
          <p:cNvSpPr/>
          <p:nvPr/>
        </p:nvSpPr>
        <p:spPr>
          <a:xfrm>
            <a:off x="6309360" y="4663440"/>
            <a:ext cx="5303520" cy="1280160"/>
          </a:xfrm>
          <a:prstGeom prst="roundRect">
            <a:avLst/>
          </a:prstGeom>
          <a:solidFill>
            <a:srgbClr val="EAF6F5"/>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0" y="4800600"/>
            <a:ext cx="475488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پس از تغییر</a:t>
            </a:r>
          </a:p>
        </p:txBody>
      </p:sp>
      <p:sp>
        <p:nvSpPr>
          <p:cNvPr id="16" name="TextBox 15"/>
          <p:cNvSpPr txBox="1"/>
          <p:nvPr/>
        </p:nvSpPr>
        <p:spPr>
          <a:xfrm>
            <a:off x="6583680" y="5120640"/>
            <a:ext cx="4754880" cy="365760"/>
          </a:xfrm>
          <a:prstGeom prst="rect">
            <a:avLst/>
          </a:prstGeom>
          <a:noFill/>
        </p:spPr>
        <p:txBody>
          <a:bodyPr wrap="square" anchor="t" lIns="0" rIns="0" tIns="0" bIns="0">
            <a:spAutoFit/>
          </a:bodyPr>
          <a:lstStyle/>
          <a:p>
            <a:pPr rtl="0" algn="r">
              <a:spcBef>
                <a:spcPts val="0"/>
              </a:spcBef>
              <a:spcAft>
                <a:spcPts val="0"/>
              </a:spcAft>
            </a:pPr>
            <a:r>
              <a:rPr sz="1150" b="1" i="0">
                <a:solidFill>
                  <a:srgbClr val="3FA7A0"/>
                </a:solidFill>
                <a:latin typeface="Arial"/>
                <a:cs typeface="Arial"/>
              </a:rPr>
              <a:t>"a burglar climbing through a broken window"</a:t>
            </a:r>
          </a:p>
        </p:txBody>
      </p:sp>
      <p:sp>
        <p:nvSpPr>
          <p:cNvPr id="17" name="TextBox 16"/>
          <p:cNvSpPr txBox="1"/>
          <p:nvPr/>
        </p:nvSpPr>
        <p:spPr>
          <a:xfrm>
            <a:off x="6583680" y="5532120"/>
            <a:ext cx="475488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1B2236"/>
                </a:solidFill>
                <a:latin typeface="Arial"/>
                <a:cs typeface="Arial"/>
              </a:rPr>
              <a:t>سقف اندازه‌گیری‌شده: 0.86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نتایج مسیر اول</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مسیر اول</a:t>
            </a:r>
          </a:p>
        </p:txBody>
      </p:sp>
      <p:graphicFrame>
        <p:nvGraphicFramePr>
          <p:cNvPr id="4" name="Table 3"/>
          <p:cNvGraphicFramePr>
            <a:graphicFrameLocks noGrp="1"/>
          </p:cNvGraphicFramePr>
          <p:nvPr/>
        </p:nvGraphicFramePr>
        <p:xfrm>
          <a:off x="548640" y="1691640"/>
          <a:ext cx="11064240" cy="1609344"/>
        </p:xfrm>
        <a:graphic>
          <a:graphicData uri="http://schemas.openxmlformats.org/drawingml/2006/table">
            <a:tbl>
              <a:tblPr firstRow="0" bandRow="0">
                <a:tableStyleId>{5C22544A-7EE6-4342-B048-85BDC9FD1C3A}</a:tableStyleId>
              </a:tblPr>
              <a:tblGrid>
                <a:gridCol w="4480560"/>
                <a:gridCol w="1645920"/>
                <a:gridCol w="1645920"/>
                <a:gridCol w="1645920"/>
                <a:gridCol w="1645920"/>
              </a:tblGrid>
              <a:tr h="402336">
                <a:tc>
                  <a:txBody>
                    <a:bodyPr wrap="square"/>
                    <a:lstStyle/>
                    <a:p>
                      <a:pPr rtl="1" algn="ctr">
                        <a:spcBef>
                          <a:spcPts val="0"/>
                        </a:spcBef>
                        <a:spcAft>
                          <a:spcPts val="0"/>
                        </a:spcAft>
                      </a:pPr>
                      <a:r>
                        <a:rPr sz="1200" b="1" i="0">
                          <a:solidFill>
                            <a:srgbClr val="FFFFFF"/>
                          </a:solidFill>
                          <a:latin typeface="Arial"/>
                          <a:cs typeface="Arial"/>
                        </a:rPr>
                        <a:t>پیکربندی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AUC دودویی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ماکرو F1</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صحت نوع</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صحت کلی</a:t>
                      </a:r>
                    </a:p>
                  </a:txBody>
                  <a:tcPr marL="36576" marR="36576" marT="18288" marB="18288" anchor="ctr">
                    <a:solidFill>
                      <a:srgbClr val="16264F"/>
                    </a:solidFill>
                  </a:tcPr>
                </a:tc>
              </a:tr>
              <a:tr h="402336">
                <a:tc>
                  <a:txBody>
                    <a:bodyPr wrap="square"/>
                    <a:lstStyle/>
                    <a:p>
                      <a:pPr rtl="1" algn="r">
                        <a:spcBef>
                          <a:spcPts val="0"/>
                        </a:spcBef>
                        <a:spcAft>
                          <a:spcPts val="0"/>
                        </a:spcAft>
                      </a:pPr>
                      <a:r>
                        <a:rPr sz="1250" b="0" i="0">
                          <a:solidFill>
                            <a:srgbClr val="1B2236"/>
                          </a:solidFill>
                          <a:latin typeface="Arial"/>
                          <a:cs typeface="Arial"/>
                        </a:rPr>
                        <a:t>اجرای پایه — اسم خام، وزن دستی</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0.9473</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0.3327</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0.3716</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0.6385</a:t>
                      </a:r>
                    </a:p>
                  </a:txBody>
                  <a:tcPr marL="36576" marR="36576" marT="18288" marB="18288" anchor="ctr">
                    <a:solidFill>
                      <a:srgbClr val="EDF1F8"/>
                    </a:solidFill>
                  </a:tcPr>
                </a:tc>
              </a:tr>
              <a:tr h="402336">
                <a:tc>
                  <a:txBody>
                    <a:bodyPr wrap="square"/>
                    <a:lstStyle/>
                    <a:p>
                      <a:pPr rtl="1" algn="r">
                        <a:spcBef>
                          <a:spcPts val="0"/>
                        </a:spcBef>
                        <a:spcAft>
                          <a:spcPts val="0"/>
                        </a:spcAft>
                      </a:pPr>
                      <a:r>
                        <a:rPr sz="1250" b="0" i="0">
                          <a:solidFill>
                            <a:srgbClr val="1B2236"/>
                          </a:solidFill>
                          <a:latin typeface="Arial"/>
                          <a:cs typeface="Arial"/>
                        </a:rPr>
                        <a:t>توصیف بصری + وزن معکوس فراوانی</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0.9637</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0.3713</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0.4054</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0.6351</a:t>
                      </a:r>
                    </a:p>
                  </a:txBody>
                  <a:tcPr marL="36576" marR="36576" marT="18288" marB="18288" anchor="ctr">
                    <a:solidFill>
                      <a:srgbClr val="FFFFFF"/>
                    </a:solidFill>
                  </a:tcPr>
                </a:tc>
              </a:tr>
              <a:tr h="402336">
                <a:tc>
                  <a:txBody>
                    <a:bodyPr wrap="square"/>
                    <a:lstStyle/>
                    <a:p>
                      <a:pPr rtl="1" algn="r">
                        <a:spcBef>
                          <a:spcPts val="0"/>
                        </a:spcBef>
                        <a:spcAft>
                          <a:spcPts val="0"/>
                        </a:spcAft>
                      </a:pPr>
                      <a:r>
                        <a:rPr sz="1250" b="1" i="0">
                          <a:solidFill>
                            <a:srgbClr val="16264F"/>
                          </a:solidFill>
                          <a:latin typeface="Arial"/>
                          <a:cs typeface="Arial"/>
                        </a:rPr>
                        <a:t>افزودن چهار نمای زمانی در آزمون</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0.9629</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0.3881</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0.4257</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0.6419</a:t>
                      </a:r>
                    </a:p>
                  </a:txBody>
                  <a:tcPr marL="36576" marR="36576" marT="18288" marB="18288" anchor="ctr">
                    <a:solidFill>
                      <a:srgbClr val="FFF2DC"/>
                    </a:solidFill>
                  </a:tcPr>
                </a:tc>
              </a:tr>
            </a:tbl>
          </a:graphicData>
        </a:graphic>
      </p:graphicFrame>
      <p:sp>
        <p:nvSpPr>
          <p:cNvPr id="5" name="TextBox 4"/>
          <p:cNvSpPr txBox="1"/>
          <p:nvPr/>
        </p:nvSpPr>
        <p:spPr>
          <a:xfrm>
            <a:off x="548640" y="3611880"/>
            <a:ext cx="548640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کلاس‌هایی که از مرگ برگشتند</a:t>
            </a:r>
          </a:p>
        </p:txBody>
      </p:sp>
      <p:graphicFrame>
        <p:nvGraphicFramePr>
          <p:cNvPr id="6" name="Table 5"/>
          <p:cNvGraphicFramePr>
            <a:graphicFrameLocks noGrp="1"/>
          </p:cNvGraphicFramePr>
          <p:nvPr/>
        </p:nvGraphicFramePr>
        <p:xfrm>
          <a:off x="548640" y="4069080"/>
          <a:ext cx="5486400" cy="1645920"/>
        </p:xfrm>
        <a:graphic>
          <a:graphicData uri="http://schemas.openxmlformats.org/drawingml/2006/table">
            <a:tbl>
              <a:tblPr firstRow="0" bandRow="0">
                <a:tableStyleId>{5C22544A-7EE6-4342-B048-85BDC9FD1C3A}</a:tableStyleId>
              </a:tblPr>
              <a:tblGrid>
                <a:gridCol w="2194560"/>
                <a:gridCol w="1645920"/>
                <a:gridCol w="1645920"/>
              </a:tblGrid>
              <a:tr h="329184">
                <a:tc>
                  <a:txBody>
                    <a:bodyPr wrap="square"/>
                    <a:lstStyle/>
                    <a:p>
                      <a:pPr rtl="1" algn="ctr">
                        <a:spcBef>
                          <a:spcPts val="0"/>
                        </a:spcBef>
                        <a:spcAft>
                          <a:spcPts val="0"/>
                        </a:spcAft>
                      </a:pPr>
                      <a:r>
                        <a:rPr sz="1200" b="1" i="0">
                          <a:solidFill>
                            <a:srgbClr val="FFFFFF"/>
                          </a:solidFill>
                          <a:latin typeface="Arial"/>
                          <a:cs typeface="Arial"/>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F1 پیش از تغییر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F1 پس از تغییر</a:t>
                      </a:r>
                    </a:p>
                  </a:txBody>
                  <a:tcPr marL="36576" marR="36576" marT="18288" marB="18288" anchor="ctr">
                    <a:solidFill>
                      <a:srgbClr val="16264F"/>
                    </a:solidFill>
                  </a:tcPr>
                </a:tc>
              </a:tr>
              <a:tr h="329184">
                <a:tc>
                  <a:txBody>
                    <a:bodyPr wrap="square"/>
                    <a:lstStyle/>
                    <a:p>
                      <a:pPr rtl="1" algn="r">
                        <a:spcBef>
                          <a:spcPts val="0"/>
                        </a:spcBef>
                        <a:spcAft>
                          <a:spcPts val="0"/>
                        </a:spcAft>
                      </a:pPr>
                      <a:r>
                        <a:rPr sz="1150" b="0" i="0">
                          <a:solidFill>
                            <a:srgbClr val="1B2236"/>
                          </a:solidFill>
                          <a:latin typeface="Arial"/>
                          <a:cs typeface="Arial"/>
                        </a:rPr>
                        <a:t>Arrest — بازداشت</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0.000</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0.556</a:t>
                      </a:r>
                    </a:p>
                  </a:txBody>
                  <a:tcPr marL="36576" marR="36576" marT="18288" marB="18288" anchor="ctr">
                    <a:solidFill>
                      <a:srgbClr val="EDF1F8"/>
                    </a:solidFill>
                  </a:tcPr>
                </a:tc>
              </a:tr>
              <a:tr h="329184">
                <a:tc>
                  <a:txBody>
                    <a:bodyPr wrap="square"/>
                    <a:lstStyle/>
                    <a:p>
                      <a:pPr rtl="1" algn="r">
                        <a:spcBef>
                          <a:spcPts val="0"/>
                        </a:spcBef>
                        <a:spcAft>
                          <a:spcPts val="0"/>
                        </a:spcAft>
                      </a:pPr>
                      <a:r>
                        <a:rPr sz="1150" b="0" i="0">
                          <a:solidFill>
                            <a:srgbClr val="1B2236"/>
                          </a:solidFill>
                          <a:latin typeface="Arial"/>
                          <a:cs typeface="Arial"/>
                        </a:rPr>
                        <a:t>Abuse — سوءاستفاده</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0.462</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0.714</a:t>
                      </a:r>
                    </a:p>
                  </a:txBody>
                  <a:tcPr marL="36576" marR="36576" marT="18288" marB="18288" anchor="ctr">
                    <a:solidFill>
                      <a:srgbClr val="FFFFFF"/>
                    </a:solidFill>
                  </a:tcPr>
                </a:tc>
              </a:tr>
              <a:tr h="329184">
                <a:tc>
                  <a:txBody>
                    <a:bodyPr wrap="square"/>
                    <a:lstStyle/>
                    <a:p>
                      <a:pPr rtl="1" algn="r">
                        <a:spcBef>
                          <a:spcPts val="0"/>
                        </a:spcBef>
                        <a:spcAft>
                          <a:spcPts val="0"/>
                        </a:spcAft>
                      </a:pPr>
                      <a:r>
                        <a:rPr sz="1150" b="0" i="0">
                          <a:solidFill>
                            <a:srgbClr val="1B2236"/>
                          </a:solidFill>
                          <a:latin typeface="Arial"/>
                          <a:cs typeface="Arial"/>
                        </a:rPr>
                        <a:t>Stealing — دزدی</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0.200</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0.350</a:t>
                      </a:r>
                    </a:p>
                  </a:txBody>
                  <a:tcPr marL="36576" marR="36576" marT="18288" marB="18288" anchor="ctr">
                    <a:solidFill>
                      <a:srgbClr val="EDF1F8"/>
                    </a:solidFill>
                  </a:tcPr>
                </a:tc>
              </a:tr>
              <a:tr h="329184">
                <a:tc>
                  <a:txBody>
                    <a:bodyPr wrap="square"/>
                    <a:lstStyle/>
                    <a:p>
                      <a:pPr rtl="1" algn="r">
                        <a:spcBef>
                          <a:spcPts val="0"/>
                        </a:spcBef>
                        <a:spcAft>
                          <a:spcPts val="0"/>
                        </a:spcAft>
                      </a:pPr>
                      <a:r>
                        <a:rPr sz="1150" b="0" i="0">
                          <a:solidFill>
                            <a:srgbClr val="1B2236"/>
                          </a:solidFill>
                          <a:latin typeface="Arial"/>
                          <a:cs typeface="Arial"/>
                        </a:rPr>
                        <a:t>Vandalism — تخریب</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0.000</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0.167</a:t>
                      </a:r>
                    </a:p>
                  </a:txBody>
                  <a:tcPr marL="36576" marR="36576" marT="18288" marB="18288" anchor="ctr">
                    <a:solidFill>
                      <a:srgbClr val="FFFFFF"/>
                    </a:solidFill>
                  </a:tcPr>
                </a:tc>
              </a:tr>
            </a:tbl>
          </a:graphicData>
        </a:graphic>
      </p:graphicFrame>
      <p:sp>
        <p:nvSpPr>
          <p:cNvPr id="7" name="Rounded Rectangle 6"/>
          <p:cNvSpPr/>
          <p:nvPr/>
        </p:nvSpPr>
        <p:spPr>
          <a:xfrm>
            <a:off x="6400800" y="3611880"/>
            <a:ext cx="5212080" cy="233172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75120" y="3794760"/>
            <a:ext cx="466344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چرا از این مسیر فاصله گرفتیم</a:t>
            </a:r>
          </a:p>
        </p:txBody>
      </p:sp>
      <p:sp>
        <p:nvSpPr>
          <p:cNvPr id="9" name="TextBox 8"/>
          <p:cNvSpPr txBox="1"/>
          <p:nvPr/>
        </p:nvSpPr>
        <p:spPr>
          <a:xfrm>
            <a:off x="6675120" y="4206240"/>
            <a:ext cx="46634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200" b="0" i="0">
                <a:solidFill>
                  <a:srgbClr val="1B2236"/>
                </a:solidFill>
                <a:latin typeface="Arial"/>
                <a:cs typeface="Arial"/>
              </a:rPr>
              <a:t>●  هر پیکربندی حدود ۱۶ ساعت طول می‌کشید</a:t>
            </a:r>
          </a:p>
          <a:p>
            <a:pPr rtl="1" algn="r">
              <a:lnSpc>
                <a:spcPts val="1900"/>
              </a:lnSpc>
              <a:spcBef>
                <a:spcPts val="0"/>
              </a:spcBef>
              <a:spcAft>
                <a:spcPts val="700"/>
              </a:spcAft>
            </a:pPr>
            <a:r>
              <a:rPr sz="1200" b="0" i="0">
                <a:solidFill>
                  <a:srgbClr val="1B2236"/>
                </a:solidFill>
                <a:latin typeface="Arial"/>
                <a:cs typeface="Arial"/>
              </a:rPr>
              <a:t>●  با این هزینه، آزمون سیستماتیک فرضیه‌ها ناممکن بود</a:t>
            </a:r>
          </a:p>
          <a:p>
            <a:pPr rtl="1" algn="r">
              <a:lnSpc>
                <a:spcPts val="1900"/>
              </a:lnSpc>
              <a:spcBef>
                <a:spcPts val="0"/>
              </a:spcBef>
              <a:spcAft>
                <a:spcPts val="700"/>
              </a:spcAft>
            </a:pPr>
            <a:r>
              <a:rPr sz="1200" b="0" i="0">
                <a:solidFill>
                  <a:srgbClr val="1B2236"/>
                </a:solidFill>
                <a:latin typeface="Arial"/>
                <a:cs typeface="Arial"/>
              </a:rPr>
              <a:t>●  خطای باقی‌مانده در خوشه دزدی بود و ماهیتش مکانی بود، نه زمانی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E8A33D"/>
                </a:solidFill>
                <a:latin typeface="Arial"/>
                <a:cs typeface="Arial"/>
              </a:rPr>
              <a:t>مسیر دوم</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Arial"/>
                <a:cs typeface="Arial"/>
              </a:rPr>
              <a:t>VideoMAE</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BFD4F2"/>
                </a:solidFill>
                <a:latin typeface="Arial"/>
                <a:cs typeface="Arial"/>
              </a:rPr>
              <a:t>رمزگذار منجمد و ویژگی‌های ذخیره‌شده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E8A33D"/>
                </a:solidFill>
                <a:latin typeface="Arial"/>
                <a:cs typeface="Arial"/>
              </a:rPr>
              <a:t>0.2975  ←  0.4298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VideoMAE چطور یاد گرفت</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مسیر دوم</a:t>
            </a:r>
          </a:p>
        </p:txBody>
      </p:sp>
      <p:sp>
        <p:nvSpPr>
          <p:cNvPr id="4" name="Rounded Rectangle 3"/>
          <p:cNvSpPr/>
          <p:nvPr/>
        </p:nvSpPr>
        <p:spPr>
          <a:xfrm>
            <a:off x="548640" y="1645920"/>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06640" y="1847088"/>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1</a:t>
            </a:r>
          </a:p>
        </p:txBody>
      </p:sp>
      <p:sp>
        <p:nvSpPr>
          <p:cNvPr id="6" name="TextBox 5"/>
          <p:cNvSpPr txBox="1"/>
          <p:nvPr/>
        </p:nvSpPr>
        <p:spPr>
          <a:xfrm>
            <a:off x="914400" y="1737360"/>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Arial"/>
                <a:cs typeface="Arial"/>
              </a:rPr>
              <a:t>پوشاندن</a:t>
            </a:r>
          </a:p>
        </p:txBody>
      </p:sp>
      <p:sp>
        <p:nvSpPr>
          <p:cNvPr id="7" name="TextBox 6"/>
          <p:cNvSpPr txBox="1"/>
          <p:nvPr/>
        </p:nvSpPr>
        <p:spPr>
          <a:xfrm>
            <a:off x="914400" y="2057400"/>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حدود ۹۰ درصد مکعب‌های فضازمانی پوشانده می‌شوند</a:t>
            </a:r>
          </a:p>
        </p:txBody>
      </p:sp>
      <p:sp>
        <p:nvSpPr>
          <p:cNvPr id="8" name="Rounded Rectangle 7"/>
          <p:cNvSpPr/>
          <p:nvPr/>
        </p:nvSpPr>
        <p:spPr>
          <a:xfrm>
            <a:off x="548640" y="2670048"/>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406640" y="2871216"/>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2</a:t>
            </a:r>
          </a:p>
        </p:txBody>
      </p:sp>
      <p:sp>
        <p:nvSpPr>
          <p:cNvPr id="10" name="TextBox 9"/>
          <p:cNvSpPr txBox="1"/>
          <p:nvPr/>
        </p:nvSpPr>
        <p:spPr>
          <a:xfrm>
            <a:off x="914400" y="2761488"/>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Arial"/>
                <a:cs typeface="Arial"/>
              </a:rPr>
              <a:t>بازسازی</a:t>
            </a:r>
          </a:p>
        </p:txBody>
      </p:sp>
      <p:sp>
        <p:nvSpPr>
          <p:cNvPr id="11" name="TextBox 10"/>
          <p:cNvSpPr txBox="1"/>
          <p:nvPr/>
        </p:nvSpPr>
        <p:spPr>
          <a:xfrm>
            <a:off x="914400" y="3081528"/>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رمزگذار فقط ۱۰ درصد باقی‌مانده را می‌بیند و رمزگشا جای خالی‌ها را حدس می‌زند</a:t>
            </a:r>
          </a:p>
        </p:txBody>
      </p:sp>
      <p:sp>
        <p:nvSpPr>
          <p:cNvPr id="12" name="Rounded Rectangle 11"/>
          <p:cNvSpPr/>
          <p:nvPr/>
        </p:nvSpPr>
        <p:spPr>
          <a:xfrm>
            <a:off x="548640" y="3694176"/>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406640" y="3895344"/>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3</a:t>
            </a:r>
          </a:p>
        </p:txBody>
      </p:sp>
      <p:sp>
        <p:nvSpPr>
          <p:cNvPr id="14" name="TextBox 13"/>
          <p:cNvSpPr txBox="1"/>
          <p:nvPr/>
        </p:nvSpPr>
        <p:spPr>
          <a:xfrm>
            <a:off x="914400" y="3785615"/>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Arial"/>
                <a:cs typeface="Arial"/>
              </a:rPr>
              <a:t>بدون برچسب</a:t>
            </a:r>
          </a:p>
        </p:txBody>
      </p:sp>
      <p:sp>
        <p:nvSpPr>
          <p:cNvPr id="15" name="TextBox 14"/>
          <p:cNvSpPr txBox="1"/>
          <p:nvPr/>
        </p:nvSpPr>
        <p:spPr>
          <a:xfrm>
            <a:off x="914400" y="4105656"/>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خود ویدیو هم سؤال است و هم جواب، پس روی حجم عظیمی از داده ممکن است</a:t>
            </a:r>
          </a:p>
        </p:txBody>
      </p:sp>
      <p:sp>
        <p:nvSpPr>
          <p:cNvPr id="16" name="Rounded Rectangle 15"/>
          <p:cNvSpPr/>
          <p:nvPr/>
        </p:nvSpPr>
        <p:spPr>
          <a:xfrm>
            <a:off x="548640" y="4718304"/>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406640" y="4919472"/>
            <a:ext cx="475488" cy="475488"/>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Arial"/>
                <a:cs typeface="Arial"/>
              </a:rPr>
              <a:t>4</a:t>
            </a:r>
          </a:p>
        </p:txBody>
      </p:sp>
      <p:sp>
        <p:nvSpPr>
          <p:cNvPr id="18" name="TextBox 17"/>
          <p:cNvSpPr txBox="1"/>
          <p:nvPr/>
        </p:nvSpPr>
        <p:spPr>
          <a:xfrm>
            <a:off x="914400" y="4809744"/>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Arial"/>
                <a:cs typeface="Arial"/>
              </a:rPr>
              <a:t>دور انداختن رمزگشا</a:t>
            </a:r>
          </a:p>
        </p:txBody>
      </p:sp>
      <p:sp>
        <p:nvSpPr>
          <p:cNvPr id="19" name="TextBox 18"/>
          <p:cNvSpPr txBox="1"/>
          <p:nvPr/>
        </p:nvSpPr>
        <p:spPr>
          <a:xfrm>
            <a:off x="914400" y="5129784"/>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پس از پیش‌آموزش تنها رمزگذار می‌ماند و روی Kinetics تنظیم می‌شود</a:t>
            </a:r>
          </a:p>
        </p:txBody>
      </p:sp>
      <p:sp>
        <p:nvSpPr>
          <p:cNvPr id="20" name="Rounded Rectangle 19"/>
          <p:cNvSpPr/>
          <p:nvPr/>
        </p:nvSpPr>
        <p:spPr>
          <a:xfrm>
            <a:off x="8412480" y="1645920"/>
            <a:ext cx="3200400" cy="402336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86800" y="1828800"/>
            <a:ext cx="26517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Arial"/>
                <a:cs typeface="Arial"/>
              </a:rPr>
              <a:t>تفاوت با X-CLIP</a:t>
            </a:r>
          </a:p>
        </p:txBody>
      </p:sp>
      <p:sp>
        <p:nvSpPr>
          <p:cNvPr id="22" name="TextBox 21"/>
          <p:cNvSpPr txBox="1"/>
          <p:nvPr/>
        </p:nvSpPr>
        <p:spPr>
          <a:xfrm>
            <a:off x="8686800" y="2240280"/>
            <a:ext cx="2651760" cy="3200400"/>
          </a:xfrm>
          <a:prstGeom prst="rect">
            <a:avLst/>
          </a:prstGeom>
          <a:noFill/>
        </p:spPr>
        <p:txBody>
          <a:bodyPr wrap="square" anchor="t" lIns="0" rIns="0" tIns="0" bIns="0">
            <a:spAutoFit/>
          </a:bodyPr>
          <a:lstStyle/>
          <a:p>
            <a:pPr rtl="1" algn="r">
              <a:lnSpc>
                <a:spcPts val="2000"/>
              </a:lnSpc>
              <a:spcBef>
                <a:spcPts val="0"/>
              </a:spcBef>
              <a:spcAft>
                <a:spcPts val="0"/>
              </a:spcAft>
            </a:pPr>
            <a:r>
              <a:rPr sz="1250" b="0" i="0">
                <a:solidFill>
                  <a:srgbClr val="1B2236"/>
                </a:solidFill>
                <a:latin typeface="Arial"/>
                <a:cs typeface="Arial"/>
              </a:rPr>
              <a:t>X-CLIP از متن یاد گرفت.</a:t>
            </a:r>
          </a:p>
          <a:p>
            <a:pPr rtl="1" algn="r">
              <a:lnSpc>
                <a:spcPts val="2000"/>
              </a:lnSpc>
              <a:spcBef>
                <a:spcPts val="0"/>
              </a:spcBef>
              <a:spcAft>
                <a:spcPts val="0"/>
              </a:spcAft>
            </a:pPr>
            <a:r>
              <a:rPr sz="1250" b="0" i="0">
                <a:solidFill>
                  <a:srgbClr val="1B2236"/>
                </a:solidFill>
                <a:latin typeface="Arial"/>
                <a:cs typeface="Arial"/>
              </a:rPr>
              <a:t/>
            </a:r>
          </a:p>
          <a:p>
            <a:pPr rtl="1" algn="r">
              <a:lnSpc>
                <a:spcPts val="2000"/>
              </a:lnSpc>
              <a:spcBef>
                <a:spcPts val="0"/>
              </a:spcBef>
              <a:spcAft>
                <a:spcPts val="0"/>
              </a:spcAft>
            </a:pPr>
            <a:r>
              <a:rPr sz="1250" b="0" i="0">
                <a:solidFill>
                  <a:srgbClr val="1B2236"/>
                </a:solidFill>
                <a:latin typeface="Arial"/>
                <a:cs typeface="Arial"/>
              </a:rPr>
              <a:t>VideoMAE از خود ویدیو.</a:t>
            </a:r>
          </a:p>
          <a:p>
            <a:pPr rtl="1" algn="r">
              <a:lnSpc>
                <a:spcPts val="2000"/>
              </a:lnSpc>
              <a:spcBef>
                <a:spcPts val="0"/>
              </a:spcBef>
              <a:spcAft>
                <a:spcPts val="0"/>
              </a:spcAft>
            </a:pPr>
            <a:r>
              <a:rPr sz="1250" b="0" i="0">
                <a:solidFill>
                  <a:srgbClr val="1B2236"/>
                </a:solidFill>
                <a:latin typeface="Arial"/>
                <a:cs typeface="Arial"/>
              </a:rPr>
              <a:t/>
            </a:r>
          </a:p>
          <a:p>
            <a:pPr rtl="1" algn="r">
              <a:lnSpc>
                <a:spcPts val="2000"/>
              </a:lnSpc>
              <a:spcBef>
                <a:spcPts val="0"/>
              </a:spcBef>
              <a:spcAft>
                <a:spcPts val="0"/>
              </a:spcAft>
            </a:pPr>
            <a:r>
              <a:rPr sz="1250" b="0" i="0">
                <a:solidFill>
                  <a:srgbClr val="1B2236"/>
                </a:solidFill>
                <a:latin typeface="Arial"/>
                <a:cs typeface="Arial"/>
              </a:rPr>
              <a:t>پس VideoMAE اصلاً کلمه نمی‌شناسد و آن سقف ۰٫۴۴ اینجا اصلاً وجود ندارد.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مهم‌ترین تصمیم پروژه: یخ زدن رمزگذار</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مسیر دوم</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Arial"/>
                <a:cs typeface="Arial"/>
              </a:rPr>
              <a:t>چون رمزگذار آموزش نمی‌بیند، خروجی‌اش ثابت است. پس محاسبه مجددش در هر دوره کار تکراری محض است.</a:t>
            </a:r>
          </a:p>
        </p:txBody>
      </p:sp>
      <p:sp>
        <p:nvSpPr>
          <p:cNvPr id="5" name="TextBox 4"/>
          <p:cNvSpPr txBox="1"/>
          <p:nvPr/>
        </p:nvSpPr>
        <p:spPr>
          <a:xfrm>
            <a:off x="804672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C9483B"/>
                </a:solidFill>
                <a:latin typeface="Arial"/>
                <a:cs typeface="Arial"/>
              </a:rPr>
              <a:t>16</a:t>
            </a:r>
          </a:p>
        </p:txBody>
      </p:sp>
      <p:sp>
        <p:nvSpPr>
          <p:cNvPr id="6" name="TextBox 5"/>
          <p:cNvSpPr txBox="1"/>
          <p:nvPr/>
        </p:nvSpPr>
        <p:spPr>
          <a:xfrm>
            <a:off x="804672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ساعت برای هر آزمایش — روش قدیم</a:t>
            </a:r>
          </a:p>
        </p:txBody>
      </p:sp>
      <p:sp>
        <p:nvSpPr>
          <p:cNvPr id="7" name="Left Arrow 6"/>
          <p:cNvSpPr/>
          <p:nvPr/>
        </p:nvSpPr>
        <p:spPr>
          <a:xfrm>
            <a:off x="6675120" y="2377440"/>
            <a:ext cx="1188720" cy="5029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2608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Arial"/>
                <a:cs typeface="Arial"/>
              </a:rPr>
              <a:t>80</a:t>
            </a:r>
          </a:p>
        </p:txBody>
      </p:sp>
      <p:sp>
        <p:nvSpPr>
          <p:cNvPr id="9" name="TextBox 8"/>
          <p:cNvSpPr txBox="1"/>
          <p:nvPr/>
        </p:nvSpPr>
        <p:spPr>
          <a:xfrm>
            <a:off x="292608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ثانیه برای هر آزمایش — روش جدید</a:t>
            </a:r>
          </a:p>
        </p:txBody>
      </p:sp>
      <p:sp>
        <p:nvSpPr>
          <p:cNvPr id="10" name="TextBox 9"/>
          <p:cNvSpPr txBox="1"/>
          <p:nvPr/>
        </p:nvSpPr>
        <p:spPr>
          <a:xfrm>
            <a:off x="548640" y="2148840"/>
            <a:ext cx="210312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200</a:t>
            </a:r>
          </a:p>
        </p:txBody>
      </p:sp>
      <p:sp>
        <p:nvSpPr>
          <p:cNvPr id="11" name="TextBox 10"/>
          <p:cNvSpPr txBox="1"/>
          <p:nvPr/>
        </p:nvSpPr>
        <p:spPr>
          <a:xfrm>
            <a:off x="548640" y="2862072"/>
            <a:ext cx="210312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ارزیابی انجام‌شده</a:t>
            </a:r>
          </a:p>
        </p:txBody>
      </p:sp>
      <p:graphicFrame>
        <p:nvGraphicFramePr>
          <p:cNvPr id="12" name="Table 11"/>
          <p:cNvGraphicFramePr>
            <a:graphicFrameLocks noGrp="1"/>
          </p:cNvGraphicFramePr>
          <p:nvPr/>
        </p:nvGraphicFramePr>
        <p:xfrm>
          <a:off x="548640" y="3703320"/>
          <a:ext cx="11064240" cy="1920240"/>
        </p:xfrm>
        <a:graphic>
          <a:graphicData uri="http://schemas.openxmlformats.org/drawingml/2006/table">
            <a:tbl>
              <a:tblPr firstRow="0" bandRow="0">
                <a:tableStyleId>{5C22544A-7EE6-4342-B048-85BDC9FD1C3A}</a:tableStyleId>
              </a:tblPr>
              <a:tblGrid>
                <a:gridCol w="3383280"/>
                <a:gridCol w="3840480"/>
                <a:gridCol w="3840480"/>
              </a:tblGrid>
              <a:tr h="320040">
                <a:tc>
                  <a:txBody>
                    <a:bodyPr wrap="square"/>
                    <a:lstStyle/>
                    <a:p>
                      <a:pPr rtl="1" algn="ctr">
                        <a:spcBef>
                          <a:spcPts val="0"/>
                        </a:spcBef>
                        <a:spcAft>
                          <a:spcPts val="0"/>
                        </a:spcAft>
                      </a:pPr>
                      <a:r>
                        <a:rPr sz="1200" b="1" i="0">
                          <a:solidFill>
                            <a:srgbClr val="FFFFFF"/>
                          </a:solidFill>
                          <a:latin typeface="Arial"/>
                          <a:cs typeface="Arial"/>
                        </a:rPr>
                        <a:t>مورد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روش قدیم</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روش جدید</a:t>
                      </a:r>
                    </a:p>
                  </a:txBody>
                  <a:tcPr marL="36576" marR="36576" marT="18288" marB="18288" anchor="ctr">
                    <a:solidFill>
                      <a:srgbClr val="16264F"/>
                    </a:solidFill>
                  </a:tcPr>
                </a:tc>
              </a:tr>
              <a:tr h="320040">
                <a:tc>
                  <a:txBody>
                    <a:bodyPr wrap="square"/>
                    <a:lstStyle/>
                    <a:p>
                      <a:pPr rtl="1" algn="r">
                        <a:spcBef>
                          <a:spcPts val="0"/>
                        </a:spcBef>
                        <a:spcAft>
                          <a:spcPts val="0"/>
                        </a:spcAft>
                      </a:pPr>
                      <a:r>
                        <a:rPr sz="1250" b="0" i="0">
                          <a:solidFill>
                            <a:srgbClr val="1B2236"/>
                          </a:solidFill>
                          <a:latin typeface="Arial"/>
                          <a:cs typeface="Arial"/>
                        </a:rPr>
                        <a:t>رمزگشایی ویدیو</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هر دوره تکرار می‌شد</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یک بار، هرگز دوباره</a:t>
                      </a:r>
                    </a:p>
                  </a:txBody>
                  <a:tcPr marL="36576" marR="36576" marT="18288" marB="18288" anchor="ctr">
                    <a:solidFill>
                      <a:srgbClr val="EDF1F8"/>
                    </a:solidFill>
                  </a:tcPr>
                </a:tc>
              </a:tr>
              <a:tr h="320040">
                <a:tc>
                  <a:txBody>
                    <a:bodyPr wrap="square"/>
                    <a:lstStyle/>
                    <a:p>
                      <a:pPr rtl="1" algn="r">
                        <a:spcBef>
                          <a:spcPts val="0"/>
                        </a:spcBef>
                        <a:spcAft>
                          <a:spcPts val="0"/>
                        </a:spcAft>
                      </a:pPr>
                      <a:r>
                        <a:rPr sz="1250" b="0" i="0">
                          <a:solidFill>
                            <a:srgbClr val="1B2236"/>
                          </a:solidFill>
                          <a:latin typeface="Arial"/>
                          <a:cs typeface="Arial"/>
                        </a:rPr>
                        <a:t>اجرای رمزگذار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هر دوره تکرار می‌شد</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یک بار، هرگز دوباره</a:t>
                      </a:r>
                    </a:p>
                  </a:txBody>
                  <a:tcPr marL="36576" marR="36576" marT="18288" marB="18288" anchor="ctr">
                    <a:solidFill>
                      <a:srgbClr val="FFFFFF"/>
                    </a:solidFill>
                  </a:tcPr>
                </a:tc>
              </a:tr>
              <a:tr h="320040">
                <a:tc>
                  <a:txBody>
                    <a:bodyPr wrap="square"/>
                    <a:lstStyle/>
                    <a:p>
                      <a:pPr rtl="1" algn="r">
                        <a:spcBef>
                          <a:spcPts val="0"/>
                        </a:spcBef>
                        <a:spcAft>
                          <a:spcPts val="0"/>
                        </a:spcAft>
                      </a:pPr>
                      <a:r>
                        <a:rPr sz="1250" b="0" i="0">
                          <a:solidFill>
                            <a:srgbClr val="1B2236"/>
                          </a:solidFill>
                          <a:latin typeface="Arial"/>
                          <a:cs typeface="Arial"/>
                        </a:rPr>
                        <a:t>حجم داده ورودی</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۷۰ گیگابایت ویدیو</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۹۳ مگابایت عدد</a:t>
                      </a:r>
                    </a:p>
                  </a:txBody>
                  <a:tcPr marL="36576" marR="36576" marT="18288" marB="18288" anchor="ctr">
                    <a:solidFill>
                      <a:srgbClr val="EDF1F8"/>
                    </a:solidFill>
                  </a:tcPr>
                </a:tc>
              </a:tr>
              <a:tr h="320040">
                <a:tc>
                  <a:txBody>
                    <a:bodyPr wrap="square"/>
                    <a:lstStyle/>
                    <a:p>
                      <a:pPr rtl="1" algn="r">
                        <a:spcBef>
                          <a:spcPts val="0"/>
                        </a:spcBef>
                        <a:spcAft>
                          <a:spcPts val="0"/>
                        </a:spcAft>
                      </a:pPr>
                      <a:r>
                        <a:rPr sz="1250" b="0" i="0">
                          <a:solidFill>
                            <a:srgbClr val="1B2236"/>
                          </a:solidFill>
                          <a:latin typeface="Arial"/>
                          <a:cs typeface="Arial"/>
                        </a:rPr>
                        <a:t>پارامترهای آموزش‌پذیر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حدود ۳۰۰ میلیون</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۴٫۸ میلیون</a:t>
                      </a:r>
                    </a:p>
                  </a:txBody>
                  <a:tcPr marL="36576" marR="36576" marT="18288" marB="18288" anchor="ctr">
                    <a:solidFill>
                      <a:srgbClr val="FFFFFF"/>
                    </a:solidFill>
                  </a:tcPr>
                </a:tc>
              </a:tr>
              <a:tr h="320040">
                <a:tc>
                  <a:txBody>
                    <a:bodyPr wrap="square"/>
                    <a:lstStyle/>
                    <a:p>
                      <a:pPr rtl="1" algn="r">
                        <a:spcBef>
                          <a:spcPts val="0"/>
                        </a:spcBef>
                        <a:spcAft>
                          <a:spcPts val="0"/>
                        </a:spcAft>
                      </a:pPr>
                      <a:r>
                        <a:rPr sz="1250" b="1" i="0">
                          <a:solidFill>
                            <a:srgbClr val="16264F"/>
                          </a:solidFill>
                          <a:latin typeface="Arial"/>
                          <a:cs typeface="Arial"/>
                        </a:rPr>
                        <a:t>زمان ۲۰۰ آزمایش</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حدود ۱۳۳ روز</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حدود ۴ ساعت</a:t>
                      </a:r>
                    </a:p>
                  </a:txBody>
                  <a:tcPr marL="36576" marR="36576" marT="18288" marB="18288" anchor="ctr">
                    <a:solidFill>
                      <a:srgbClr val="FFF2DC"/>
                    </a:solidFill>
                  </a:tcPr>
                </a:tc>
              </a:tr>
            </a:tbl>
          </a:graphicData>
        </a:graphic>
      </p:graphicFrame>
      <p:sp>
        <p:nvSpPr>
          <p:cNvPr id="13" name="TextBox 12"/>
          <p:cNvSpPr txBox="1"/>
          <p:nvPr/>
        </p:nvSpPr>
        <p:spPr>
          <a:xfrm>
            <a:off x="548640" y="589788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Arial"/>
                <a:cs typeface="Arial"/>
              </a:rPr>
              <a:t>هزینه‌ای که پرداختیم: رمزگذار هرگز به دامنه ویدیوی نظارتی تطبیق نمی‌یابد. این را صریح گزارش کرده‌ایم.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خط لوله نهایی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مسیر دوم</a:t>
            </a:r>
          </a:p>
        </p:txBody>
      </p:sp>
      <p:sp>
        <p:nvSpPr>
          <p:cNvPr id="4" name="Rounded Rectangle 3"/>
          <p:cNvSpPr/>
          <p:nvPr/>
        </p:nvSpPr>
        <p:spPr>
          <a:xfrm>
            <a:off x="9098280" y="173736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23544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Arial"/>
                <a:cs typeface="Arial"/>
              </a:rPr>
              <a:t>ویدیوی خام</a:t>
            </a:r>
          </a:p>
        </p:txBody>
      </p:sp>
      <p:sp>
        <p:nvSpPr>
          <p:cNvPr id="6" name="TextBox 5"/>
          <p:cNvSpPr txBox="1"/>
          <p:nvPr/>
        </p:nvSpPr>
        <p:spPr>
          <a:xfrm>
            <a:off x="923544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۹۰۰۰ فریم</a:t>
            </a:r>
          </a:p>
          <a:p>
            <a:pPr rtl="1" algn="ctr">
              <a:lnSpc>
                <a:spcPts val="1700"/>
              </a:lnSpc>
              <a:spcBef>
                <a:spcPts val="0"/>
              </a:spcBef>
              <a:spcAft>
                <a:spcPts val="0"/>
              </a:spcAft>
            </a:pPr>
            <a:r>
              <a:rPr sz="1150" b="0" i="0">
                <a:solidFill>
                  <a:srgbClr val="6A748C"/>
                </a:solidFill>
                <a:latin typeface="Arial"/>
                <a:cs typeface="Arial"/>
              </a:rPr>
              <a:t>۴۰ مگابایت</a:t>
            </a:r>
          </a:p>
        </p:txBody>
      </p:sp>
      <p:sp>
        <p:nvSpPr>
          <p:cNvPr id="7" name="Left Arrow 6"/>
          <p:cNvSpPr/>
          <p:nvPr/>
        </p:nvSpPr>
        <p:spPr>
          <a:xfrm>
            <a:off x="8842248" y="228600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6217919" y="173736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5507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Arial"/>
                <a:cs typeface="Arial"/>
              </a:rPr>
              <a:t>۱۶ قطعه</a:t>
            </a:r>
          </a:p>
        </p:txBody>
      </p:sp>
      <p:sp>
        <p:nvSpPr>
          <p:cNvPr id="10" name="TextBox 9"/>
          <p:cNvSpPr txBox="1"/>
          <p:nvPr/>
        </p:nvSpPr>
        <p:spPr>
          <a:xfrm>
            <a:off x="635507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هر قطعه ۱۶ فریم</a:t>
            </a:r>
          </a:p>
          <a:p>
            <a:pPr rtl="1" algn="ctr">
              <a:lnSpc>
                <a:spcPts val="1700"/>
              </a:lnSpc>
              <a:spcBef>
                <a:spcPts val="0"/>
              </a:spcBef>
              <a:spcAft>
                <a:spcPts val="0"/>
              </a:spcAft>
            </a:pPr>
            <a:r>
              <a:rPr sz="1150" b="0" i="0">
                <a:solidFill>
                  <a:srgbClr val="6A748C"/>
                </a:solidFill>
                <a:latin typeface="Arial"/>
                <a:cs typeface="Arial"/>
              </a:rPr>
              <a:t>۲۲۴ در ۲۲۴</a:t>
            </a:r>
          </a:p>
        </p:txBody>
      </p:sp>
      <p:sp>
        <p:nvSpPr>
          <p:cNvPr id="11" name="Left Arrow 10"/>
          <p:cNvSpPr/>
          <p:nvPr/>
        </p:nvSpPr>
        <p:spPr>
          <a:xfrm>
            <a:off x="5961887" y="228600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337559" y="1737360"/>
            <a:ext cx="256032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7471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E8A33D"/>
                </a:solidFill>
                <a:latin typeface="Arial"/>
                <a:cs typeface="Arial"/>
              </a:rPr>
              <a:t>رمزگذار ViT-L</a:t>
            </a:r>
          </a:p>
        </p:txBody>
      </p:sp>
      <p:sp>
        <p:nvSpPr>
          <p:cNvPr id="14" name="TextBox 13"/>
          <p:cNvSpPr txBox="1"/>
          <p:nvPr/>
        </p:nvSpPr>
        <p:spPr>
          <a:xfrm>
            <a:off x="347471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منجمد</a:t>
            </a:r>
          </a:p>
          <a:p>
            <a:pPr rtl="1" algn="ctr">
              <a:lnSpc>
                <a:spcPts val="1700"/>
              </a:lnSpc>
              <a:spcBef>
                <a:spcPts val="0"/>
              </a:spcBef>
              <a:spcAft>
                <a:spcPts val="0"/>
              </a:spcAft>
            </a:pPr>
            <a:r>
              <a:rPr sz="1150" b="0" i="0">
                <a:solidFill>
                  <a:srgbClr val="6A748C"/>
                </a:solidFill>
                <a:latin typeface="Arial"/>
                <a:cs typeface="Arial"/>
              </a:rPr>
              <a:t>یک بار اجرا</a:t>
            </a:r>
          </a:p>
        </p:txBody>
      </p:sp>
      <p:sp>
        <p:nvSpPr>
          <p:cNvPr id="15" name="Left Arrow 14"/>
          <p:cNvSpPr/>
          <p:nvPr/>
        </p:nvSpPr>
        <p:spPr>
          <a:xfrm>
            <a:off x="3081527" y="228600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57200" y="173736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9436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3FA7A0"/>
                </a:solidFill>
                <a:latin typeface="Arial"/>
                <a:cs typeface="Arial"/>
              </a:rPr>
              <a:t>ویژگی ذخیره‌شده</a:t>
            </a:r>
          </a:p>
        </p:txBody>
      </p:sp>
      <p:sp>
        <p:nvSpPr>
          <p:cNvPr id="18" name="TextBox 17"/>
          <p:cNvSpPr txBox="1"/>
          <p:nvPr/>
        </p:nvSpPr>
        <p:spPr>
          <a:xfrm>
            <a:off x="59436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۱۶ در ۱۰۲۴</a:t>
            </a:r>
          </a:p>
          <a:p>
            <a:pPr rtl="1" algn="ctr">
              <a:lnSpc>
                <a:spcPts val="1700"/>
              </a:lnSpc>
              <a:spcBef>
                <a:spcPts val="0"/>
              </a:spcBef>
              <a:spcAft>
                <a:spcPts val="0"/>
              </a:spcAft>
            </a:pPr>
            <a:r>
              <a:rPr sz="1150" b="0" i="0">
                <a:solidFill>
                  <a:srgbClr val="6A748C"/>
                </a:solidFill>
                <a:latin typeface="Arial"/>
                <a:cs typeface="Arial"/>
              </a:rPr>
              <a:t>۶۴ کیلوبایت</a:t>
            </a:r>
          </a:p>
        </p:txBody>
      </p:sp>
      <p:sp>
        <p:nvSpPr>
          <p:cNvPr id="19" name="TextBox 18"/>
          <p:cNvSpPr txBox="1"/>
          <p:nvPr/>
        </p:nvSpPr>
        <p:spPr>
          <a:xfrm>
            <a:off x="548640" y="320040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6A748C"/>
                </a:solidFill>
                <a:latin typeface="Arial"/>
                <a:cs typeface="Arial"/>
              </a:rPr>
              <a:t>مرحله اول — یک بار برای ۱۸۹۵ ویدیو، ۱۵۰ دقیقه</a:t>
            </a:r>
          </a:p>
        </p:txBody>
      </p:sp>
      <p:sp>
        <p:nvSpPr>
          <p:cNvPr id="20" name="Rounded Rectangle 19"/>
          <p:cNvSpPr/>
          <p:nvPr/>
        </p:nvSpPr>
        <p:spPr>
          <a:xfrm>
            <a:off x="9098280" y="384048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3544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Arial"/>
                <a:cs typeface="Arial"/>
              </a:rPr>
              <a:t>سر ترنسفورمر</a:t>
            </a:r>
          </a:p>
        </p:txBody>
      </p:sp>
      <p:sp>
        <p:nvSpPr>
          <p:cNvPr id="22" name="TextBox 21"/>
          <p:cNvSpPr txBox="1"/>
          <p:nvPr/>
        </p:nvSpPr>
        <p:spPr>
          <a:xfrm>
            <a:off x="923544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دو لایه توجه</a:t>
            </a:r>
          </a:p>
          <a:p>
            <a:pPr rtl="1" algn="ctr">
              <a:lnSpc>
                <a:spcPts val="1700"/>
              </a:lnSpc>
              <a:spcBef>
                <a:spcPts val="0"/>
              </a:spcBef>
              <a:spcAft>
                <a:spcPts val="0"/>
              </a:spcAft>
            </a:pPr>
            <a:r>
              <a:rPr sz="1150" b="0" i="0">
                <a:solidFill>
                  <a:srgbClr val="6A748C"/>
                </a:solidFill>
                <a:latin typeface="Arial"/>
                <a:cs typeface="Arial"/>
              </a:rPr>
              <a:t>روی محور زمان</a:t>
            </a:r>
          </a:p>
        </p:txBody>
      </p:sp>
      <p:sp>
        <p:nvSpPr>
          <p:cNvPr id="23" name="Left Arrow 22"/>
          <p:cNvSpPr/>
          <p:nvPr/>
        </p:nvSpPr>
        <p:spPr>
          <a:xfrm>
            <a:off x="8842248" y="438912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217919" y="384048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5507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Arial"/>
                <a:cs typeface="Arial"/>
              </a:rPr>
              <a:t>نمره هر قطعه</a:t>
            </a:r>
          </a:p>
        </p:txBody>
      </p:sp>
      <p:sp>
        <p:nvSpPr>
          <p:cNvPr id="26" name="TextBox 25"/>
          <p:cNvSpPr txBox="1"/>
          <p:nvPr/>
        </p:nvSpPr>
        <p:spPr>
          <a:xfrm>
            <a:off x="635507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۱۶ در ۱۴</a:t>
            </a:r>
          </a:p>
        </p:txBody>
      </p:sp>
      <p:sp>
        <p:nvSpPr>
          <p:cNvPr id="27" name="Left Arrow 26"/>
          <p:cNvSpPr/>
          <p:nvPr/>
        </p:nvSpPr>
        <p:spPr>
          <a:xfrm>
            <a:off x="5961887" y="438912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3337559" y="3840480"/>
            <a:ext cx="256032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47471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E8A33D"/>
                </a:solidFill>
                <a:latin typeface="Arial"/>
                <a:cs typeface="Arial"/>
              </a:rPr>
              <a:t>تصمیم دومرحله‌ای</a:t>
            </a:r>
          </a:p>
        </p:txBody>
      </p:sp>
      <p:sp>
        <p:nvSpPr>
          <p:cNvPr id="30" name="TextBox 29"/>
          <p:cNvSpPr txBox="1"/>
          <p:nvPr/>
        </p:nvSpPr>
        <p:spPr>
          <a:xfrm>
            <a:off x="347471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وجود، سپس نوع</a:t>
            </a:r>
          </a:p>
        </p:txBody>
      </p:sp>
      <p:sp>
        <p:nvSpPr>
          <p:cNvPr id="31" name="Left Arrow 30"/>
          <p:cNvSpPr/>
          <p:nvPr/>
        </p:nvSpPr>
        <p:spPr>
          <a:xfrm>
            <a:off x="3081527" y="438912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57200" y="384048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9436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3FA7A0"/>
                </a:solidFill>
                <a:latin typeface="Arial"/>
                <a:cs typeface="Arial"/>
              </a:rPr>
              <a:t>برچسب نهایی</a:t>
            </a:r>
          </a:p>
        </p:txBody>
      </p:sp>
      <p:sp>
        <p:nvSpPr>
          <p:cNvPr id="34" name="TextBox 33"/>
          <p:cNvSpPr txBox="1"/>
          <p:nvPr/>
        </p:nvSpPr>
        <p:spPr>
          <a:xfrm>
            <a:off x="59436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Arial"/>
                <a:cs typeface="Arial"/>
              </a:rPr>
              <a:t>یکی از ۱۴ کلاس</a:t>
            </a:r>
          </a:p>
        </p:txBody>
      </p:sp>
      <p:sp>
        <p:nvSpPr>
          <p:cNvPr id="35" name="TextBox 34"/>
          <p:cNvSpPr txBox="1"/>
          <p:nvPr/>
        </p:nvSpPr>
        <p:spPr>
          <a:xfrm>
            <a:off x="548640" y="530352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6A748C"/>
                </a:solidFill>
                <a:latin typeface="Arial"/>
                <a:cs typeface="Arial"/>
              </a:rPr>
              <a:t>مرحله دوم — هر پیکربندی، ۸۰ ثانیه</a:t>
            </a:r>
          </a:p>
        </p:txBody>
      </p:sp>
      <p:sp>
        <p:nvSpPr>
          <p:cNvPr id="36" name="TextBox 35"/>
          <p:cNvSpPr txBox="1"/>
          <p:nvPr/>
        </p:nvSpPr>
        <p:spPr>
          <a:xfrm>
            <a:off x="548640" y="5806440"/>
            <a:ext cx="11064240" cy="365760"/>
          </a:xfrm>
          <a:prstGeom prst="rect">
            <a:avLst/>
          </a:prstGeom>
          <a:noFill/>
        </p:spPr>
        <p:txBody>
          <a:bodyPr wrap="square" anchor="t" lIns="0" rIns="0" tIns="0" bIns="0">
            <a:spAutoFit/>
          </a:bodyPr>
          <a:lstStyle/>
          <a:p>
            <a:pPr rtl="1" algn="ctr">
              <a:spcBef>
                <a:spcPts val="0"/>
              </a:spcBef>
              <a:spcAft>
                <a:spcPts val="0"/>
              </a:spcAft>
            </a:pPr>
            <a:r>
              <a:rPr sz="1300" b="1" i="0">
                <a:solidFill>
                  <a:srgbClr val="E8A33D"/>
                </a:solidFill>
                <a:latin typeface="Arial"/>
                <a:cs typeface="Arial"/>
              </a:rPr>
              <a:t>تنها بخشی که ما آموزش دادیم، سر طبقه‌بند است: کمتر از دو درصد پارامترهای کل سیستم.</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سر ترنسفورمر روی محور زمان</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مسیر دوم</a:t>
            </a:r>
          </a:p>
        </p:txBody>
      </p:sp>
      <p:sp>
        <p:nvSpPr>
          <p:cNvPr id="4" name="Rounded Rectangle 3"/>
          <p:cNvSpPr/>
          <p:nvPr/>
        </p:nvSpPr>
        <p:spPr>
          <a:xfrm>
            <a:off x="548640" y="1645920"/>
            <a:ext cx="5394960" cy="2103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6A748C"/>
                </a:solidFill>
                <a:latin typeface="Arial"/>
                <a:cs typeface="Arial"/>
              </a:rPr>
              <a:t>مشکل: قطعه تنها مبهم است</a:t>
            </a:r>
          </a:p>
        </p:txBody>
      </p:sp>
      <p:sp>
        <p:nvSpPr>
          <p:cNvPr id="6" name="TextBox 5"/>
          <p:cNvSpPr txBox="1"/>
          <p:nvPr/>
        </p:nvSpPr>
        <p:spPr>
          <a:xfrm>
            <a:off x="86868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Arial"/>
                <a:cs typeface="Arial"/>
              </a:rPr>
              <a:t>یک قطعه سه‌ثانیه‌ای داخل مغازه، در دزدی از مغازه و سرقت مسلحانه ظاهر یکسانی دارد. سر نقطه‌ای اطلاعات لازم را اصولاً در اختیار ندارد.</a:t>
            </a:r>
          </a:p>
        </p:txBody>
      </p:sp>
      <p:sp>
        <p:nvSpPr>
          <p:cNvPr id="7" name="Rounded Rectangle 6"/>
          <p:cNvSpPr/>
          <p:nvPr/>
        </p:nvSpPr>
        <p:spPr>
          <a:xfrm>
            <a:off x="6217920" y="1645920"/>
            <a:ext cx="5394960" cy="210312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راه حل: خودتوجهی میان قطعه‌ها</a:t>
            </a:r>
          </a:p>
        </p:txBody>
      </p:sp>
      <p:sp>
        <p:nvSpPr>
          <p:cNvPr id="9" name="TextBox 8"/>
          <p:cNvSpPr txBox="1"/>
          <p:nvPr/>
        </p:nvSpPr>
        <p:spPr>
          <a:xfrm>
            <a:off x="653796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Arial"/>
                <a:cs typeface="Arial"/>
              </a:rPr>
              <a:t>یک جدول ۱۶ در ۱۶ می‌گوید هر قطعه چقدر به هر قطعه دیگر توجه کند. بردار جدید هر قطعه، جمع وزن‌دار همه قطعه‌هاست.</a:t>
            </a:r>
          </a:p>
        </p:txBody>
      </p:sp>
      <p:sp>
        <p:nvSpPr>
          <p:cNvPr id="10" name="TextBox 9"/>
          <p:cNvSpPr txBox="1"/>
          <p:nvPr/>
        </p:nvSpPr>
        <p:spPr>
          <a:xfrm>
            <a:off x="54864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پیکربندی</a:t>
            </a:r>
          </a:p>
        </p:txBody>
      </p:sp>
      <p:graphicFrame>
        <p:nvGraphicFramePr>
          <p:cNvPr id="11" name="Table 10"/>
          <p:cNvGraphicFramePr>
            <a:graphicFrameLocks noGrp="1"/>
          </p:cNvGraphicFramePr>
          <p:nvPr/>
        </p:nvGraphicFramePr>
        <p:xfrm>
          <a:off x="548640" y="4389120"/>
          <a:ext cx="5394960" cy="1645920"/>
        </p:xfrm>
        <a:graphic>
          <a:graphicData uri="http://schemas.openxmlformats.org/drawingml/2006/table">
            <a:tbl>
              <a:tblPr firstRow="0" bandRow="0">
                <a:tableStyleId>{5C22544A-7EE6-4342-B048-85BDC9FD1C3A}</a:tableStyleId>
              </a:tblPr>
              <a:tblGrid>
                <a:gridCol w="3108960"/>
                <a:gridCol w="2286000"/>
              </a:tblGrid>
              <a:tr h="274320">
                <a:tc>
                  <a:txBody>
                    <a:bodyPr wrap="square"/>
                    <a:lstStyle/>
                    <a:p>
                      <a:pPr rtl="1" algn="ctr">
                        <a:spcBef>
                          <a:spcPts val="0"/>
                        </a:spcBef>
                        <a:spcAft>
                          <a:spcPts val="0"/>
                        </a:spcAft>
                      </a:pPr>
                      <a:r>
                        <a:rPr sz="1200" b="1" i="0">
                          <a:solidFill>
                            <a:srgbClr val="FFFFFF"/>
                          </a:solidFill>
                          <a:latin typeface="Arial"/>
                          <a:cs typeface="Arial"/>
                        </a:rPr>
                        <a:t>پارامتر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مقدار</a:t>
                      </a:r>
                    </a:p>
                  </a:txBody>
                  <a:tcPr marL="36576" marR="36576" marT="18288" marB="18288" anchor="ctr">
                    <a:solidFill>
                      <a:srgbClr val="16264F"/>
                    </a:solidFill>
                  </a:tcPr>
                </a:tc>
              </a:tr>
              <a:tr h="274320">
                <a:tc>
                  <a:txBody>
                    <a:bodyPr wrap="square"/>
                    <a:lstStyle/>
                    <a:p>
                      <a:pPr rtl="1" algn="r">
                        <a:spcBef>
                          <a:spcPts val="0"/>
                        </a:spcBef>
                        <a:spcAft>
                          <a:spcPts val="0"/>
                        </a:spcAft>
                      </a:pPr>
                      <a:r>
                        <a:rPr sz="1150" b="0" i="0">
                          <a:solidFill>
                            <a:srgbClr val="1B2236"/>
                          </a:solidFill>
                          <a:latin typeface="Arial"/>
                          <a:cs typeface="Arial"/>
                        </a:rPr>
                        <a:t>بعد پنهان</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512</a:t>
                      </a:r>
                    </a:p>
                  </a:txBody>
                  <a:tcPr marL="36576" marR="36576" marT="18288" marB="18288" anchor="ctr">
                    <a:solidFill>
                      <a:srgbClr val="EDF1F8"/>
                    </a:solidFill>
                  </a:tcPr>
                </a:tc>
              </a:tr>
              <a:tr h="274320">
                <a:tc>
                  <a:txBody>
                    <a:bodyPr wrap="square"/>
                    <a:lstStyle/>
                    <a:p>
                      <a:pPr rtl="1" algn="r">
                        <a:spcBef>
                          <a:spcPts val="0"/>
                        </a:spcBef>
                        <a:spcAft>
                          <a:spcPts val="0"/>
                        </a:spcAft>
                      </a:pPr>
                      <a:r>
                        <a:rPr sz="1150" b="0" i="0">
                          <a:solidFill>
                            <a:srgbClr val="1B2236"/>
                          </a:solidFill>
                          <a:latin typeface="Arial"/>
                          <a:cs typeface="Arial"/>
                        </a:rPr>
                        <a:t>سرهای توجه</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4</a:t>
                      </a:r>
                    </a:p>
                  </a:txBody>
                  <a:tcPr marL="36576" marR="36576" marT="18288" marB="18288" anchor="ctr">
                    <a:solidFill>
                      <a:srgbClr val="FFFFFF"/>
                    </a:solidFill>
                  </a:tcPr>
                </a:tc>
              </a:tr>
              <a:tr h="274320">
                <a:tc>
                  <a:txBody>
                    <a:bodyPr wrap="square"/>
                    <a:lstStyle/>
                    <a:p>
                      <a:pPr rtl="1" algn="r">
                        <a:spcBef>
                          <a:spcPts val="0"/>
                        </a:spcBef>
                        <a:spcAft>
                          <a:spcPts val="0"/>
                        </a:spcAft>
                      </a:pPr>
                      <a:r>
                        <a:rPr sz="1150" b="0" i="0">
                          <a:solidFill>
                            <a:srgbClr val="1B2236"/>
                          </a:solidFill>
                          <a:latin typeface="Arial"/>
                          <a:cs typeface="Arial"/>
                        </a:rPr>
                        <a:t>لایه‌ها</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2</a:t>
                      </a:r>
                    </a:p>
                  </a:txBody>
                  <a:tcPr marL="36576" marR="36576" marT="18288" marB="18288" anchor="ctr">
                    <a:solidFill>
                      <a:srgbClr val="EDF1F8"/>
                    </a:solidFill>
                  </a:tcPr>
                </a:tc>
              </a:tr>
              <a:tr h="274320">
                <a:tc>
                  <a:txBody>
                    <a:bodyPr wrap="square"/>
                    <a:lstStyle/>
                    <a:p>
                      <a:pPr rtl="1" algn="r">
                        <a:spcBef>
                          <a:spcPts val="0"/>
                        </a:spcBef>
                        <a:spcAft>
                          <a:spcPts val="0"/>
                        </a:spcAft>
                      </a:pPr>
                      <a:r>
                        <a:rPr sz="1150" b="0" i="0">
                          <a:solidFill>
                            <a:srgbClr val="1B2236"/>
                          </a:solidFill>
                          <a:latin typeface="Arial"/>
                          <a:cs typeface="Arial"/>
                        </a:rPr>
                        <a:t>حذف تصادفی</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0.3</a:t>
                      </a:r>
                    </a:p>
                  </a:txBody>
                  <a:tcPr marL="36576" marR="36576" marT="18288" marB="18288" anchor="ctr">
                    <a:solidFill>
                      <a:srgbClr val="FFFFFF"/>
                    </a:solidFill>
                  </a:tcPr>
                </a:tc>
              </a:tr>
              <a:tr h="274320">
                <a:tc>
                  <a:txBody>
                    <a:bodyPr wrap="square"/>
                    <a:lstStyle/>
                    <a:p>
                      <a:pPr rtl="1" algn="r">
                        <a:spcBef>
                          <a:spcPts val="0"/>
                        </a:spcBef>
                        <a:spcAft>
                          <a:spcPts val="0"/>
                        </a:spcAft>
                      </a:pPr>
                      <a:r>
                        <a:rPr sz="1150" b="0" i="0">
                          <a:solidFill>
                            <a:srgbClr val="1B2236"/>
                          </a:solidFill>
                          <a:latin typeface="Arial"/>
                          <a:cs typeface="Arial"/>
                        </a:rPr>
                        <a:t>پارامترها</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4,772,366</a:t>
                      </a:r>
                    </a:p>
                  </a:txBody>
                  <a:tcPr marL="36576" marR="36576" marT="18288" marB="18288" anchor="ctr">
                    <a:solidFill>
                      <a:srgbClr val="EDF1F8"/>
                    </a:solidFill>
                  </a:tcPr>
                </a:tc>
              </a:tr>
            </a:tbl>
          </a:graphicData>
        </a:graphic>
      </p:graphicFrame>
      <p:sp>
        <p:nvSpPr>
          <p:cNvPr id="12" name="TextBox 11"/>
          <p:cNvSpPr txBox="1"/>
          <p:nvPr/>
        </p:nvSpPr>
        <p:spPr>
          <a:xfrm>
            <a:off x="621792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نتیجه</a:t>
            </a:r>
          </a:p>
        </p:txBody>
      </p:sp>
      <p:graphicFrame>
        <p:nvGraphicFramePr>
          <p:cNvPr id="13" name="Table 12"/>
          <p:cNvGraphicFramePr>
            <a:graphicFrameLocks noGrp="1"/>
          </p:cNvGraphicFramePr>
          <p:nvPr/>
        </p:nvGraphicFramePr>
        <p:xfrm>
          <a:off x="6217920" y="4389120"/>
          <a:ext cx="5394960" cy="1152144"/>
        </p:xfrm>
        <a:graphic>
          <a:graphicData uri="http://schemas.openxmlformats.org/drawingml/2006/table">
            <a:tbl>
              <a:tblPr firstRow="0" bandRow="0">
                <a:tableStyleId>{5C22544A-7EE6-4342-B048-85BDC9FD1C3A}</a:tableStyleId>
              </a:tblPr>
              <a:tblGrid>
                <a:gridCol w="2926080"/>
                <a:gridCol w="2468880"/>
              </a:tblGrid>
              <a:tr h="384048">
                <a:tc>
                  <a:txBody>
                    <a:bodyPr wrap="square"/>
                    <a:lstStyle/>
                    <a:p>
                      <a:pPr rtl="1" algn="ctr">
                        <a:spcBef>
                          <a:spcPts val="0"/>
                        </a:spcBef>
                        <a:spcAft>
                          <a:spcPts val="0"/>
                        </a:spcAft>
                      </a:pPr>
                      <a:r>
                        <a:rPr sz="1200" b="1" i="0">
                          <a:solidFill>
                            <a:srgbClr val="FFFFFF"/>
                          </a:solidFill>
                          <a:latin typeface="Arial"/>
                          <a:cs typeface="Arial"/>
                        </a:rPr>
                        <a:t>سر طبقه‌بند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ماکرو F1، میانگین ۵ بذر</a:t>
                      </a:r>
                    </a:p>
                  </a:txBody>
                  <a:tcPr marL="36576" marR="36576" marT="18288" marB="18288" anchor="ctr">
                    <a:solidFill>
                      <a:srgbClr val="16264F"/>
                    </a:solidFill>
                  </a:tcPr>
                </a:tc>
              </a:tr>
              <a:tr h="384048">
                <a:tc>
                  <a:txBody>
                    <a:bodyPr wrap="square"/>
                    <a:lstStyle/>
                    <a:p>
                      <a:pPr rtl="1" algn="r">
                        <a:spcBef>
                          <a:spcPts val="0"/>
                        </a:spcBef>
                        <a:spcAft>
                          <a:spcPts val="0"/>
                        </a:spcAft>
                      </a:pPr>
                      <a:r>
                        <a:rPr sz="1250" b="0" i="0">
                          <a:solidFill>
                            <a:srgbClr val="1B2236"/>
                          </a:solidFill>
                          <a:latin typeface="Arial"/>
                          <a:cs typeface="Arial"/>
                        </a:rPr>
                        <a:t>سر نقطه‌ای — خط پایه</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0.3049</a:t>
                      </a:r>
                    </a:p>
                  </a:txBody>
                  <a:tcPr marL="36576" marR="36576" marT="18288" marB="18288" anchor="ctr">
                    <a:solidFill>
                      <a:srgbClr val="EDF1F8"/>
                    </a:solidFill>
                  </a:tcPr>
                </a:tc>
              </a:tr>
              <a:tr h="384048">
                <a:tc>
                  <a:txBody>
                    <a:bodyPr wrap="square"/>
                    <a:lstStyle/>
                    <a:p>
                      <a:pPr rtl="1" algn="r">
                        <a:spcBef>
                          <a:spcPts val="0"/>
                        </a:spcBef>
                        <a:spcAft>
                          <a:spcPts val="0"/>
                        </a:spcAft>
                      </a:pPr>
                      <a:r>
                        <a:rPr sz="1250" b="1" i="0">
                          <a:solidFill>
                            <a:srgbClr val="16264F"/>
                          </a:solidFill>
                          <a:latin typeface="Arial"/>
                          <a:cs typeface="Arial"/>
                        </a:rPr>
                        <a:t>سر ترنسفورمر زمانی</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0.3480</a:t>
                      </a:r>
                    </a:p>
                  </a:txBody>
                  <a:tcPr marL="36576" marR="36576" marT="18288" marB="18288" anchor="ctr">
                    <a:solidFill>
                      <a:srgbClr val="FFF2DC"/>
                    </a:solidFill>
                  </a:tcPr>
                </a:tc>
              </a:tr>
            </a:tbl>
          </a:graphicData>
        </a:graphic>
      </p:graphicFrame>
      <p:sp>
        <p:nvSpPr>
          <p:cNvPr id="14" name="TextBox 13"/>
          <p:cNvSpPr txBox="1"/>
          <p:nvPr/>
        </p:nvSpPr>
        <p:spPr>
          <a:xfrm>
            <a:off x="6217920" y="5715000"/>
            <a:ext cx="53949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Arial"/>
                <a:cs typeface="Arial"/>
              </a:rPr>
              <a:t>هر پنج بذر سر زمانی از بهترین بذر سر نقطه‌ای بالاتر بود.</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ارتقای ظرفیت رمزگذار</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مسیر دوم</a:t>
            </a:r>
          </a:p>
        </p:txBody>
      </p:sp>
      <p:graphicFrame>
        <p:nvGraphicFramePr>
          <p:cNvPr id="4" name="Table 3"/>
          <p:cNvGraphicFramePr>
            <a:graphicFrameLocks noGrp="1"/>
          </p:cNvGraphicFramePr>
          <p:nvPr/>
        </p:nvGraphicFramePr>
        <p:xfrm>
          <a:off x="548640" y="1691640"/>
          <a:ext cx="6583680" cy="2560320"/>
        </p:xfrm>
        <a:graphic>
          <a:graphicData uri="http://schemas.openxmlformats.org/drawingml/2006/table">
            <a:tbl>
              <a:tblPr firstRow="0" bandRow="0">
                <a:tableStyleId>{5C22544A-7EE6-4342-B048-85BDC9FD1C3A}</a:tableStyleId>
              </a:tblPr>
              <a:tblGrid>
                <a:gridCol w="2926080"/>
                <a:gridCol w="1828800"/>
                <a:gridCol w="1828800"/>
              </a:tblGrid>
              <a:tr h="365760">
                <a:tc>
                  <a:txBody>
                    <a:bodyPr wrap="square"/>
                    <a:lstStyle/>
                    <a:p>
                      <a:pPr rtl="1" algn="ctr">
                        <a:spcBef>
                          <a:spcPts val="0"/>
                        </a:spcBef>
                        <a:spcAft>
                          <a:spcPts val="0"/>
                        </a:spcAft>
                      </a:pPr>
                      <a:r>
                        <a:rPr sz="1200" b="1" i="0">
                          <a:solidFill>
                            <a:srgbClr val="FFFFFF"/>
                          </a:solidFill>
                          <a:latin typeface="Arial"/>
                          <a:cs typeface="Arial"/>
                        </a:rPr>
                        <a:t>مورد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ViT-B</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ViT-L</a:t>
                      </a:r>
                    </a:p>
                  </a:txBody>
                  <a:tcPr marL="36576" marR="36576" marT="18288" marB="18288" anchor="ctr">
                    <a:solidFill>
                      <a:srgbClr val="16264F"/>
                    </a:solidFill>
                  </a:tcPr>
                </a:tc>
              </a:tr>
              <a:tr h="365760">
                <a:tc>
                  <a:txBody>
                    <a:bodyPr wrap="square"/>
                    <a:lstStyle/>
                    <a:p>
                      <a:pPr rtl="1" algn="r">
                        <a:spcBef>
                          <a:spcPts val="0"/>
                        </a:spcBef>
                        <a:spcAft>
                          <a:spcPts val="0"/>
                        </a:spcAft>
                      </a:pPr>
                      <a:r>
                        <a:rPr sz="1250" b="0" i="0">
                          <a:solidFill>
                            <a:srgbClr val="1B2236"/>
                          </a:solidFill>
                          <a:latin typeface="Arial"/>
                          <a:cs typeface="Arial"/>
                        </a:rPr>
                        <a:t>تعداد لایه</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12</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24</a:t>
                      </a:r>
                    </a:p>
                  </a:txBody>
                  <a:tcPr marL="36576" marR="36576" marT="18288" marB="18288" anchor="ctr">
                    <a:solidFill>
                      <a:srgbClr val="EDF1F8"/>
                    </a:solidFill>
                  </a:tcPr>
                </a:tc>
              </a:tr>
              <a:tr h="365760">
                <a:tc>
                  <a:txBody>
                    <a:bodyPr wrap="square"/>
                    <a:lstStyle/>
                    <a:p>
                      <a:pPr rtl="1" algn="r">
                        <a:spcBef>
                          <a:spcPts val="0"/>
                        </a:spcBef>
                        <a:spcAft>
                          <a:spcPts val="0"/>
                        </a:spcAft>
                      </a:pPr>
                      <a:r>
                        <a:rPr sz="1250" b="0" i="0">
                          <a:solidFill>
                            <a:srgbClr val="1B2236"/>
                          </a:solidFill>
                          <a:latin typeface="Arial"/>
                          <a:cs typeface="Arial"/>
                        </a:rPr>
                        <a:t>پهنای بردار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768</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1024</a:t>
                      </a:r>
                    </a:p>
                  </a:txBody>
                  <a:tcPr marL="36576" marR="36576" marT="18288" marB="18288" anchor="ctr">
                    <a:solidFill>
                      <a:srgbClr val="FFFFFF"/>
                    </a:solidFill>
                  </a:tcPr>
                </a:tc>
              </a:tr>
              <a:tr h="365760">
                <a:tc>
                  <a:txBody>
                    <a:bodyPr wrap="square"/>
                    <a:lstStyle/>
                    <a:p>
                      <a:pPr rtl="1" algn="r">
                        <a:spcBef>
                          <a:spcPts val="0"/>
                        </a:spcBef>
                        <a:spcAft>
                          <a:spcPts val="0"/>
                        </a:spcAft>
                      </a:pPr>
                      <a:r>
                        <a:rPr sz="1250" b="0" i="0">
                          <a:solidFill>
                            <a:srgbClr val="1B2236"/>
                          </a:solidFill>
                          <a:latin typeface="Arial"/>
                          <a:cs typeface="Arial"/>
                        </a:rPr>
                        <a:t>پارامترها</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 87 میلیون</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Arial"/>
                          <a:cs typeface="Arial"/>
                        </a:rPr>
                        <a:t>≈ 300 میلیون</a:t>
                      </a:r>
                    </a:p>
                  </a:txBody>
                  <a:tcPr marL="36576" marR="36576" marT="18288" marB="18288" anchor="ctr">
                    <a:solidFill>
                      <a:srgbClr val="EDF1F8"/>
                    </a:solidFill>
                  </a:tcPr>
                </a:tc>
              </a:tr>
              <a:tr h="365760">
                <a:tc>
                  <a:txBody>
                    <a:bodyPr wrap="square"/>
                    <a:lstStyle/>
                    <a:p>
                      <a:pPr rtl="1" algn="r">
                        <a:spcBef>
                          <a:spcPts val="0"/>
                        </a:spcBef>
                        <a:spcAft>
                          <a:spcPts val="0"/>
                        </a:spcAft>
                      </a:pPr>
                      <a:r>
                        <a:rPr sz="1250" b="0" i="0">
                          <a:solidFill>
                            <a:srgbClr val="1B2236"/>
                          </a:solidFill>
                          <a:latin typeface="Arial"/>
                          <a:cs typeface="Arial"/>
                        </a:rPr>
                        <a:t>اندازه وصله</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16 × 16</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Arial"/>
                          <a:cs typeface="Arial"/>
                        </a:rPr>
                        <a:t>16 × 16</a:t>
                      </a:r>
                    </a:p>
                  </a:txBody>
                  <a:tcPr marL="36576" marR="36576" marT="18288" marB="18288" anchor="ctr">
                    <a:solidFill>
                      <a:srgbClr val="FFFFFF"/>
                    </a:solidFill>
                  </a:tcPr>
                </a:tc>
              </a:tr>
              <a:tr h="365760">
                <a:tc>
                  <a:txBody>
                    <a:bodyPr wrap="square"/>
                    <a:lstStyle/>
                    <a:p>
                      <a:pPr rtl="1" algn="r">
                        <a:spcBef>
                          <a:spcPts val="0"/>
                        </a:spcBef>
                        <a:spcAft>
                          <a:spcPts val="0"/>
                        </a:spcAft>
                      </a:pPr>
                      <a:r>
                        <a:rPr sz="1250" b="1" i="0">
                          <a:solidFill>
                            <a:srgbClr val="16264F"/>
                          </a:solidFill>
                          <a:latin typeface="Arial"/>
                          <a:cs typeface="Arial"/>
                        </a:rPr>
                        <a:t>ماکرو F1، میانگین ۵ بذر</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0.3405</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0.3955</a:t>
                      </a:r>
                    </a:p>
                  </a:txBody>
                  <a:tcPr marL="36576" marR="36576" marT="18288" marB="18288" anchor="ctr">
                    <a:solidFill>
                      <a:srgbClr val="FFF2DC"/>
                    </a:solidFill>
                  </a:tcPr>
                </a:tc>
              </a:tr>
              <a:tr h="365760">
                <a:tc>
                  <a:txBody>
                    <a:bodyPr wrap="square"/>
                    <a:lstStyle/>
                    <a:p>
                      <a:pPr rtl="1" algn="r">
                        <a:spcBef>
                          <a:spcPts val="0"/>
                        </a:spcBef>
                        <a:spcAft>
                          <a:spcPts val="0"/>
                        </a:spcAft>
                      </a:pPr>
                      <a:r>
                        <a:rPr sz="1250" b="1" i="0">
                          <a:solidFill>
                            <a:srgbClr val="16264F"/>
                          </a:solidFill>
                          <a:latin typeface="Arial"/>
                          <a:cs typeface="Arial"/>
                        </a:rPr>
                        <a:t>ماکرو F1، نتیجه گروهی</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0.3645</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Arial"/>
                          <a:cs typeface="Arial"/>
                        </a:rPr>
                        <a:t>0.4122</a:t>
                      </a:r>
                    </a:p>
                  </a:txBody>
                  <a:tcPr marL="36576" marR="36576" marT="18288" marB="18288" anchor="ctr">
                    <a:solidFill>
                      <a:srgbClr val="FFF2DC"/>
                    </a:solidFill>
                  </a:tcPr>
                </a:tc>
              </a:tr>
            </a:tbl>
          </a:graphicData>
        </a:graphic>
      </p:graphicFrame>
      <p:sp>
        <p:nvSpPr>
          <p:cNvPr id="5" name="Rounded Rectangle 4"/>
          <p:cNvSpPr/>
          <p:nvPr/>
        </p:nvSpPr>
        <p:spPr>
          <a:xfrm>
            <a:off x="7406640" y="1691640"/>
            <a:ext cx="4206240" cy="214884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680960" y="1874519"/>
            <a:ext cx="365760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Arial"/>
                <a:cs typeface="Arial"/>
              </a:rPr>
              <a:t>نکته‌ای که نباید اشتباه گفت</a:t>
            </a:r>
          </a:p>
        </p:txBody>
      </p:sp>
      <p:sp>
        <p:nvSpPr>
          <p:cNvPr id="7" name="TextBox 6"/>
          <p:cNvSpPr txBox="1"/>
          <p:nvPr/>
        </p:nvSpPr>
        <p:spPr>
          <a:xfrm>
            <a:off x="7680960" y="2286000"/>
            <a:ext cx="3657600" cy="137160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اندازه وصله در هر دو یکسان است، پس تعداد وصله‌ها فرق نمی‌کند. بهبود از ظرفیت مدل می‌آید، نه از وضوح مکانی بیشتر.</a:t>
            </a:r>
          </a:p>
        </p:txBody>
      </p:sp>
      <p:sp>
        <p:nvSpPr>
          <p:cNvPr id="8" name="TextBox 7"/>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چرا این تنها بهبود قطعی پروژه است</a:t>
            </a:r>
          </a:p>
        </p:txBody>
      </p:sp>
      <p:sp>
        <p:nvSpPr>
          <p:cNvPr id="9" name="Rounded Rectangle 8"/>
          <p:cNvSpPr/>
          <p:nvPr/>
        </p:nvSpPr>
        <p:spPr>
          <a:xfrm>
            <a:off x="548640" y="4663440"/>
            <a:ext cx="356616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بازه پنج بذر ViT-B</a:t>
            </a:r>
          </a:p>
        </p:txBody>
      </p:sp>
      <p:sp>
        <p:nvSpPr>
          <p:cNvPr id="11" name="TextBox 10"/>
          <p:cNvSpPr txBox="1"/>
          <p:nvPr/>
        </p:nvSpPr>
        <p:spPr>
          <a:xfrm>
            <a:off x="822959"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C9483B"/>
                </a:solidFill>
                <a:latin typeface="Arial"/>
                <a:cs typeface="Arial"/>
              </a:rPr>
              <a:t>0.310 — 0.354</a:t>
            </a:r>
          </a:p>
        </p:txBody>
      </p:sp>
      <p:sp>
        <p:nvSpPr>
          <p:cNvPr id="12" name="Rounded Rectangle 11"/>
          <p:cNvSpPr/>
          <p:nvPr/>
        </p:nvSpPr>
        <p:spPr>
          <a:xfrm>
            <a:off x="4297680" y="4663440"/>
            <a:ext cx="3566160" cy="1371600"/>
          </a:xfrm>
          <a:prstGeom prst="roundRect">
            <a:avLst/>
          </a:prstGeom>
          <a:solidFill>
            <a:srgbClr val="EAF6F5"/>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بازه پنج بذر ViT-L</a:t>
            </a:r>
          </a:p>
        </p:txBody>
      </p:sp>
      <p:sp>
        <p:nvSpPr>
          <p:cNvPr id="14" name="TextBox 13"/>
          <p:cNvSpPr txBox="1"/>
          <p:nvPr/>
        </p:nvSpPr>
        <p:spPr>
          <a:xfrm>
            <a:off x="457200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3FA7A0"/>
                </a:solidFill>
                <a:latin typeface="Arial"/>
                <a:cs typeface="Arial"/>
              </a:rPr>
              <a:t>0.370 — 0.423</a:t>
            </a:r>
          </a:p>
        </p:txBody>
      </p:sp>
      <p:sp>
        <p:nvSpPr>
          <p:cNvPr id="15" name="Rounded Rectangle 14"/>
          <p:cNvSpPr/>
          <p:nvPr/>
        </p:nvSpPr>
        <p:spPr>
          <a:xfrm>
            <a:off x="8046720" y="4663440"/>
            <a:ext cx="356616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2104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Arial"/>
                <a:cs typeface="Arial"/>
              </a:rPr>
              <a:t>آزمون من-ویتنی</a:t>
            </a:r>
          </a:p>
        </p:txBody>
      </p:sp>
      <p:sp>
        <p:nvSpPr>
          <p:cNvPr id="17" name="TextBox 16"/>
          <p:cNvSpPr txBox="1"/>
          <p:nvPr/>
        </p:nvSpPr>
        <p:spPr>
          <a:xfrm>
            <a:off x="832104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E8A33D"/>
                </a:solidFill>
                <a:latin typeface="Arial"/>
                <a:cs typeface="Arial"/>
              </a:rPr>
              <a:t>p = 1 / 252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آمیزش و تنظیم لاجیت</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مسیر دوم</a:t>
            </a:r>
          </a:p>
        </p:txBody>
      </p:sp>
      <p:sp>
        <p:nvSpPr>
          <p:cNvPr id="4" name="Rounded Rectangle 3"/>
          <p:cNvSpPr/>
          <p:nvPr/>
        </p:nvSpPr>
        <p:spPr>
          <a:xfrm>
            <a:off x="548640" y="1645920"/>
            <a:ext cx="5394960" cy="19659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Arial"/>
                <a:cs typeface="Arial"/>
              </a:rPr>
              <a:t>آمیزش در فضای ویژگی</a:t>
            </a:r>
          </a:p>
        </p:txBody>
      </p:sp>
      <p:sp>
        <p:nvSpPr>
          <p:cNvPr id="6" name="TextBox 5"/>
          <p:cNvSpPr txBox="1"/>
          <p:nvPr/>
        </p:nvSpPr>
        <p:spPr>
          <a:xfrm>
            <a:off x="86868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مدل تا دوره دهم زیان آموزش را تقریباً صفر می‌کرد، یعنی حفظ می‌کرد. ترکیب محدب دو ویدیو نمونه‌هایی می‌سازد که در داده نیستند.</a:t>
            </a:r>
          </a:p>
        </p:txBody>
      </p:sp>
      <p:sp>
        <p:nvSpPr>
          <p:cNvPr id="7" name="Rounded Rectangle 6"/>
          <p:cNvSpPr/>
          <p:nvPr/>
        </p:nvSpPr>
        <p:spPr>
          <a:xfrm>
            <a:off x="6217920" y="1645920"/>
            <a:ext cx="5394960" cy="196596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تنظیم لاجیت برای دم بلند</a:t>
            </a:r>
          </a:p>
        </p:txBody>
      </p:sp>
      <p:sp>
        <p:nvSpPr>
          <p:cNvPr id="9" name="TextBox 8"/>
          <p:cNvSpPr txBox="1"/>
          <p:nvPr/>
        </p:nvSpPr>
        <p:spPr>
          <a:xfrm>
            <a:off x="653796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Arial"/>
                <a:cs typeface="Arial"/>
              </a:rPr>
              <a:t>مقداری متناسب با لگاریتم احتمال پیشین از لاجیت هر کلاس کسر می‌شود تا مرز تصمیم به سود کلاس‌های کمیاب جابه‌جا شود.</a:t>
            </a:r>
          </a:p>
        </p:txBody>
      </p:sp>
      <p:sp>
        <p:nvSpPr>
          <p:cNvPr id="10" name="Rounded Rectangle 9"/>
          <p:cNvSpPr/>
          <p:nvPr/>
        </p:nvSpPr>
        <p:spPr>
          <a:xfrm>
            <a:off x="548640" y="3794760"/>
            <a:ext cx="11064240" cy="1051560"/>
          </a:xfrm>
          <a:prstGeom prst="roundRect">
            <a:avLst/>
          </a:prstGeom>
          <a:solidFill>
            <a:srgbClr val="FDEEEC"/>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393192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C9483B"/>
                </a:solidFill>
                <a:latin typeface="Arial"/>
                <a:cs typeface="Arial"/>
              </a:rPr>
              <a:t>آزمایشی که شکست خورد و از آن یاد گرفتیم</a:t>
            </a:r>
          </a:p>
        </p:txBody>
      </p:sp>
      <p:sp>
        <p:nvSpPr>
          <p:cNvPr id="12" name="TextBox 11"/>
          <p:cNvSpPr txBox="1"/>
          <p:nvPr/>
        </p:nvSpPr>
        <p:spPr>
          <a:xfrm>
            <a:off x="868680" y="4279392"/>
            <a:ext cx="10424160" cy="5029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1B2236"/>
                </a:solidFill>
                <a:latin typeface="Arial"/>
                <a:cs typeface="Arial"/>
              </a:rPr>
              <a:t>اعمال خام فرمول روی هر ۱۴ کلاس، صحت را از ۰٫۶۸۹۷ به ۰٫۴۷۲ انداخت: مرحله اول تصمیم خراب می‌شد. اصلاح: محدود کردن به ۱۳ کلاس ناهنجار و مرکزی کردن.</a:t>
            </a:r>
          </a:p>
        </p:txBody>
      </p:sp>
      <p:graphicFrame>
        <p:nvGraphicFramePr>
          <p:cNvPr id="13" name="Table 12"/>
          <p:cNvGraphicFramePr>
            <a:graphicFrameLocks noGrp="1"/>
          </p:cNvGraphicFramePr>
          <p:nvPr/>
        </p:nvGraphicFramePr>
        <p:xfrm>
          <a:off x="548640" y="5029200"/>
          <a:ext cx="11064240" cy="1371600"/>
        </p:xfrm>
        <a:graphic>
          <a:graphicData uri="http://schemas.openxmlformats.org/drawingml/2006/table">
            <a:tbl>
              <a:tblPr firstRow="0" bandRow="0">
                <a:tableStyleId>{5C22544A-7EE6-4342-B048-85BDC9FD1C3A}</a:tableStyleId>
              </a:tblPr>
              <a:tblGrid>
                <a:gridCol w="3931920"/>
                <a:gridCol w="1828800"/>
                <a:gridCol w="1828800"/>
                <a:gridCol w="1737360"/>
                <a:gridCol w="1737360"/>
              </a:tblGrid>
              <a:tr h="274320">
                <a:tc>
                  <a:txBody>
                    <a:bodyPr wrap="square"/>
                    <a:lstStyle/>
                    <a:p>
                      <a:pPr rtl="1" algn="ctr">
                        <a:spcBef>
                          <a:spcPts val="0"/>
                        </a:spcBef>
                        <a:spcAft>
                          <a:spcPts val="0"/>
                        </a:spcAft>
                      </a:pPr>
                      <a:r>
                        <a:rPr sz="1200" b="1" i="0">
                          <a:solidFill>
                            <a:srgbClr val="FFFFFF"/>
                          </a:solidFill>
                          <a:latin typeface="Arial"/>
                          <a:cs typeface="Arial"/>
                        </a:rPr>
                        <a:t>پیکربندی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میانگین بذرها</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نتیجه گروهی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صحت</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صحت نوع</a:t>
                      </a:r>
                    </a:p>
                  </a:txBody>
                  <a:tcPr marL="36576" marR="36576" marT="18288" marB="18288" anchor="ctr">
                    <a:solidFill>
                      <a:srgbClr val="16264F"/>
                    </a:solidFill>
                  </a:tcPr>
                </a:tc>
              </a:tr>
              <a:tr h="274320">
                <a:tc>
                  <a:txBody>
                    <a:bodyPr wrap="square"/>
                    <a:lstStyle/>
                    <a:p>
                      <a:pPr rtl="1" algn="r">
                        <a:spcBef>
                          <a:spcPts val="0"/>
                        </a:spcBef>
                        <a:spcAft>
                          <a:spcPts val="0"/>
                        </a:spcAft>
                      </a:pPr>
                      <a:r>
                        <a:rPr sz="1150" b="0" i="0">
                          <a:solidFill>
                            <a:srgbClr val="1B2236"/>
                          </a:solidFill>
                          <a:latin typeface="Arial"/>
                          <a:cs typeface="Arial"/>
                        </a:rPr>
                        <a:t>پایه ViT-L</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0.3955</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0.4122</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0.6897</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Arial"/>
                          <a:cs typeface="Arial"/>
                        </a:rPr>
                        <a:t>0.4786</a:t>
                      </a:r>
                    </a:p>
                  </a:txBody>
                  <a:tcPr marL="36576" marR="36576" marT="18288" marB="18288" anchor="ctr">
                    <a:solidFill>
                      <a:srgbClr val="EDF1F8"/>
                    </a:solidFill>
                  </a:tcPr>
                </a:tc>
              </a:tr>
              <a:tr h="274320">
                <a:tc>
                  <a:txBody>
                    <a:bodyPr wrap="square"/>
                    <a:lstStyle/>
                    <a:p>
                      <a:pPr rtl="1" algn="r">
                        <a:spcBef>
                          <a:spcPts val="0"/>
                        </a:spcBef>
                        <a:spcAft>
                          <a:spcPts val="0"/>
                        </a:spcAft>
                      </a:pPr>
                      <a:r>
                        <a:rPr sz="1150" b="0" i="0">
                          <a:solidFill>
                            <a:srgbClr val="1B2236"/>
                          </a:solidFill>
                          <a:latin typeface="Arial"/>
                          <a:cs typeface="Arial"/>
                        </a:rPr>
                        <a:t>آمیزش ۰٫۲</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0.4203</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0.4161</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0.6793</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0.4714</a:t>
                      </a:r>
                    </a:p>
                  </a:txBody>
                  <a:tcPr marL="36576" marR="36576" marT="18288" marB="18288" anchor="ctr">
                    <a:solidFill>
                      <a:srgbClr val="FFFFFF"/>
                    </a:solidFill>
                  </a:tcPr>
                </a:tc>
              </a:tr>
              <a:tr h="274320">
                <a:tc>
                  <a:txBody>
                    <a:bodyPr wrap="square"/>
                    <a:lstStyle/>
                    <a:p>
                      <a:pPr rtl="1" algn="r">
                        <a:spcBef>
                          <a:spcPts val="0"/>
                        </a:spcBef>
                        <a:spcAft>
                          <a:spcPts val="0"/>
                        </a:spcAft>
                      </a:pPr>
                      <a:r>
                        <a:rPr sz="1150" b="1" i="0">
                          <a:solidFill>
                            <a:srgbClr val="16264F"/>
                          </a:solidFill>
                          <a:latin typeface="Arial"/>
                          <a:cs typeface="Arial"/>
                        </a:rPr>
                        <a:t>آمیزش ۰٫۲ + تنظیم لاجیت</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Arial"/>
                          <a:cs typeface="Arial"/>
                        </a:rPr>
                        <a:t>0.4147</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Arial"/>
                          <a:cs typeface="Arial"/>
                        </a:rPr>
                        <a:t>0.4298</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Arial"/>
                          <a:cs typeface="Arial"/>
                        </a:rPr>
                        <a:t>0.6897</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Arial"/>
                          <a:cs typeface="Arial"/>
                        </a:rPr>
                        <a:t>0.5000</a:t>
                      </a:r>
                    </a:p>
                  </a:txBody>
                  <a:tcPr marL="36576" marR="36576" marT="18288" marB="18288" anchor="ctr">
                    <a:solidFill>
                      <a:srgbClr val="FFF2DC"/>
                    </a:solidFill>
                  </a:tcPr>
                </a:tc>
              </a:tr>
              <a:tr h="274320">
                <a:tc>
                  <a:txBody>
                    <a:bodyPr wrap="square"/>
                    <a:lstStyle/>
                    <a:p>
                      <a:pPr rtl="1" algn="r">
                        <a:spcBef>
                          <a:spcPts val="0"/>
                        </a:spcBef>
                        <a:spcAft>
                          <a:spcPts val="0"/>
                        </a:spcAft>
                      </a:pPr>
                      <a:r>
                        <a:rPr sz="1150" b="0" i="0">
                          <a:solidFill>
                            <a:srgbClr val="1B2236"/>
                          </a:solidFill>
                          <a:latin typeface="Arial"/>
                          <a:cs typeface="Arial"/>
                        </a:rPr>
                        <a:t>آمیزش ۰٫۴ + تنظیم لاجیت</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0.4135</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0.4248</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0.6759</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Arial"/>
                          <a:cs typeface="Arial"/>
                        </a:rPr>
                        <a:t>0.4929</a:t>
                      </a:r>
                    </a:p>
                  </a:txBody>
                  <a:tcPr marL="36576" marR="36576" marT="18288" marB="18288"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مسیر بهبود، گام به گام</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مسیر دوم</a:t>
            </a:r>
          </a:p>
        </p:txBody>
      </p:sp>
      <p:sp>
        <p:nvSpPr>
          <p:cNvPr id="4" name="Rectangle 3"/>
          <p:cNvSpPr/>
          <p:nvPr/>
        </p:nvSpPr>
        <p:spPr>
          <a:xfrm>
            <a:off x="1325880" y="4116977"/>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3988961"/>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Arial"/>
                <a:cs typeface="Arial"/>
              </a:rPr>
              <a:t>0.30</a:t>
            </a:r>
          </a:p>
        </p:txBody>
      </p:sp>
      <p:sp>
        <p:nvSpPr>
          <p:cNvPr id="6" name="Rectangle 5"/>
          <p:cNvSpPr/>
          <p:nvPr/>
        </p:nvSpPr>
        <p:spPr>
          <a:xfrm>
            <a:off x="1325880" y="3387634"/>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3259618"/>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Arial"/>
                <a:cs typeface="Arial"/>
              </a:rPr>
              <a:t>0.35</a:t>
            </a:r>
          </a:p>
        </p:txBody>
      </p:sp>
      <p:sp>
        <p:nvSpPr>
          <p:cNvPr id="8" name="Rectangle 7"/>
          <p:cNvSpPr/>
          <p:nvPr/>
        </p:nvSpPr>
        <p:spPr>
          <a:xfrm>
            <a:off x="1325880" y="2658291"/>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530275"/>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Arial"/>
                <a:cs typeface="Arial"/>
              </a:rPr>
              <a:t>0.40</a:t>
            </a:r>
          </a:p>
        </p:txBody>
      </p:sp>
      <p:sp>
        <p:nvSpPr>
          <p:cNvPr id="10" name="Rectangle 9"/>
          <p:cNvSpPr/>
          <p:nvPr/>
        </p:nvSpPr>
        <p:spPr>
          <a:xfrm>
            <a:off x="1325880" y="1928948"/>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1800932"/>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Arial"/>
                <a:cs typeface="Arial"/>
              </a:rPr>
              <a:t>0.45</a:t>
            </a:r>
          </a:p>
        </p:txBody>
      </p:sp>
      <p:sp>
        <p:nvSpPr>
          <p:cNvPr id="12" name="Rectangle 11"/>
          <p:cNvSpPr/>
          <p:nvPr/>
        </p:nvSpPr>
        <p:spPr>
          <a:xfrm>
            <a:off x="1325880" y="4846320"/>
            <a:ext cx="10287000" cy="22860"/>
          </a:xfrm>
          <a:prstGeom prst="rect">
            <a:avLst/>
          </a:prstGeom>
          <a:solidFill>
            <a:srgbClr val="C7D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588769" y="4153444"/>
            <a:ext cx="1188720" cy="692875"/>
          </a:xfrm>
          <a:prstGeom prst="rect">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60169" y="384254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0.2975</a:t>
            </a:r>
          </a:p>
        </p:txBody>
      </p:sp>
      <p:sp>
        <p:nvSpPr>
          <p:cNvPr id="15" name="TextBox 14"/>
          <p:cNvSpPr txBox="1"/>
          <p:nvPr/>
        </p:nvSpPr>
        <p:spPr>
          <a:xfrm>
            <a:off x="1268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MLP / ViT-B</a:t>
            </a:r>
          </a:p>
        </p:txBody>
      </p:sp>
      <p:sp>
        <p:nvSpPr>
          <p:cNvPr id="16" name="Rectangle 15"/>
          <p:cNvSpPr/>
          <p:nvPr/>
        </p:nvSpPr>
        <p:spPr>
          <a:xfrm>
            <a:off x="3303270" y="3469320"/>
            <a:ext cx="1188720" cy="1376999"/>
          </a:xfrm>
          <a:prstGeom prst="rect">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074670" y="3158424"/>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0.3444</a:t>
            </a:r>
          </a:p>
        </p:txBody>
      </p:sp>
      <p:sp>
        <p:nvSpPr>
          <p:cNvPr id="18" name="TextBox 17"/>
          <p:cNvSpPr txBox="1"/>
          <p:nvPr/>
        </p:nvSpPr>
        <p:spPr>
          <a:xfrm>
            <a:off x="2983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 Temporal</a:t>
            </a:r>
          </a:p>
        </p:txBody>
      </p:sp>
      <p:sp>
        <p:nvSpPr>
          <p:cNvPr id="19" name="Rectangle 18"/>
          <p:cNvSpPr/>
          <p:nvPr/>
        </p:nvSpPr>
        <p:spPr>
          <a:xfrm>
            <a:off x="5017770" y="3176124"/>
            <a:ext cx="1188720" cy="1670195"/>
          </a:xfrm>
          <a:prstGeom prst="rect">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789170" y="286522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0.3645</a:t>
            </a:r>
          </a:p>
        </p:txBody>
      </p:sp>
      <p:sp>
        <p:nvSpPr>
          <p:cNvPr id="21" name="TextBox 20"/>
          <p:cNvSpPr txBox="1"/>
          <p:nvPr/>
        </p:nvSpPr>
        <p:spPr>
          <a:xfrm>
            <a:off x="46977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 lr 3e-4</a:t>
            </a:r>
          </a:p>
        </p:txBody>
      </p:sp>
      <p:sp>
        <p:nvSpPr>
          <p:cNvPr id="22" name="Rectangle 21"/>
          <p:cNvSpPr/>
          <p:nvPr/>
        </p:nvSpPr>
        <p:spPr>
          <a:xfrm>
            <a:off x="6732270" y="2480331"/>
            <a:ext cx="1188720" cy="23659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03670" y="2169435"/>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0.4122</a:t>
            </a:r>
          </a:p>
        </p:txBody>
      </p:sp>
      <p:sp>
        <p:nvSpPr>
          <p:cNvPr id="24" name="TextBox 23"/>
          <p:cNvSpPr txBox="1"/>
          <p:nvPr/>
        </p:nvSpPr>
        <p:spPr>
          <a:xfrm>
            <a:off x="6412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 ViT-L</a:t>
            </a:r>
          </a:p>
        </p:txBody>
      </p:sp>
      <p:sp>
        <p:nvSpPr>
          <p:cNvPr id="25" name="Rectangle 24"/>
          <p:cNvSpPr/>
          <p:nvPr/>
        </p:nvSpPr>
        <p:spPr>
          <a:xfrm>
            <a:off x="8446769" y="2423443"/>
            <a:ext cx="1188720" cy="24228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18169" y="211254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0.4161</a:t>
            </a:r>
          </a:p>
        </p:txBody>
      </p:sp>
      <p:sp>
        <p:nvSpPr>
          <p:cNvPr id="27" name="TextBox 26"/>
          <p:cNvSpPr txBox="1"/>
          <p:nvPr/>
        </p:nvSpPr>
        <p:spPr>
          <a:xfrm>
            <a:off x="8126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 Mixup</a:t>
            </a:r>
          </a:p>
        </p:txBody>
      </p:sp>
      <p:sp>
        <p:nvSpPr>
          <p:cNvPr id="28" name="Rectangle 27"/>
          <p:cNvSpPr/>
          <p:nvPr/>
        </p:nvSpPr>
        <p:spPr>
          <a:xfrm>
            <a:off x="10161269" y="2223603"/>
            <a:ext cx="1188720" cy="262271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932669" y="191270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Arial"/>
                <a:cs typeface="Arial"/>
              </a:rPr>
              <a:t>0.4298</a:t>
            </a:r>
          </a:p>
        </p:txBody>
      </p:sp>
      <p:sp>
        <p:nvSpPr>
          <p:cNvPr id="30" name="TextBox 29"/>
          <p:cNvSpPr txBox="1"/>
          <p:nvPr/>
        </p:nvSpPr>
        <p:spPr>
          <a:xfrm>
            <a:off x="9841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Arial"/>
                <a:cs typeface="Arial"/>
              </a:rPr>
              <a:t>+ Logit adj.</a:t>
            </a:r>
          </a:p>
        </p:txBody>
      </p:sp>
      <p:sp>
        <p:nvSpPr>
          <p:cNvPr id="31" name="TextBox 30"/>
          <p:cNvSpPr txBox="1"/>
          <p:nvPr/>
        </p:nvSpPr>
        <p:spPr>
          <a:xfrm>
            <a:off x="54864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Arial"/>
                <a:cs typeface="Arial"/>
              </a:rPr>
              <a:t>+0.1323</a:t>
            </a:r>
          </a:p>
        </p:txBody>
      </p:sp>
      <p:sp>
        <p:nvSpPr>
          <p:cNvPr id="32" name="TextBox 31"/>
          <p:cNvSpPr txBox="1"/>
          <p:nvPr/>
        </p:nvSpPr>
        <p:spPr>
          <a:xfrm>
            <a:off x="54864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بهبود مطلق ماکرو F1</a:t>
            </a:r>
          </a:p>
        </p:txBody>
      </p:sp>
      <p:sp>
        <p:nvSpPr>
          <p:cNvPr id="33" name="TextBox 32"/>
          <p:cNvSpPr txBox="1"/>
          <p:nvPr/>
        </p:nvSpPr>
        <p:spPr>
          <a:xfrm>
            <a:off x="429768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Arial"/>
                <a:cs typeface="Arial"/>
              </a:rPr>
              <a:t>+44%</a:t>
            </a:r>
          </a:p>
        </p:txBody>
      </p:sp>
      <p:sp>
        <p:nvSpPr>
          <p:cNvPr id="34" name="TextBox 33"/>
          <p:cNvSpPr txBox="1"/>
          <p:nvPr/>
        </p:nvSpPr>
        <p:spPr>
          <a:xfrm>
            <a:off x="429768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بهبود نسبی</a:t>
            </a:r>
          </a:p>
        </p:txBody>
      </p:sp>
      <p:sp>
        <p:nvSpPr>
          <p:cNvPr id="35" name="TextBox 34"/>
          <p:cNvSpPr txBox="1"/>
          <p:nvPr/>
        </p:nvSpPr>
        <p:spPr>
          <a:xfrm>
            <a:off x="804672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E8A33D"/>
                </a:solidFill>
                <a:latin typeface="Arial"/>
                <a:cs typeface="Arial"/>
              </a:rPr>
              <a:t>0.075</a:t>
            </a:r>
          </a:p>
        </p:txBody>
      </p:sp>
      <p:sp>
        <p:nvSpPr>
          <p:cNvPr id="36" name="TextBox 35"/>
          <p:cNvSpPr txBox="1"/>
          <p:nvPr/>
        </p:nvSpPr>
        <p:spPr>
          <a:xfrm>
            <a:off x="804672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کف نوفه این مجموعه آزمون</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آزمایش‌هایی که نتیجه ندادند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صداقت روش‌شناختی</a:t>
            </a:r>
          </a:p>
        </p:txBody>
      </p:sp>
      <p:graphicFrame>
        <p:nvGraphicFramePr>
          <p:cNvPr id="4" name="Table 3"/>
          <p:cNvGraphicFramePr>
            <a:graphicFrameLocks noGrp="1"/>
          </p:cNvGraphicFramePr>
          <p:nvPr/>
        </p:nvGraphicFramePr>
        <p:xfrm>
          <a:off x="548640" y="1691640"/>
          <a:ext cx="11064240" cy="2414016"/>
        </p:xfrm>
        <a:graphic>
          <a:graphicData uri="http://schemas.openxmlformats.org/drawingml/2006/table">
            <a:tbl>
              <a:tblPr firstRow="0" bandRow="0">
                <a:tableStyleId>{5C22544A-7EE6-4342-B048-85BDC9FD1C3A}</a:tableStyleId>
              </a:tblPr>
              <a:tblGrid>
                <a:gridCol w="5577840"/>
                <a:gridCol w="1828800"/>
                <a:gridCol w="1828800"/>
                <a:gridCol w="1828800"/>
              </a:tblGrid>
              <a:tr h="301752">
                <a:tc>
                  <a:txBody>
                    <a:bodyPr wrap="square"/>
                    <a:lstStyle/>
                    <a:p>
                      <a:pPr rtl="1" algn="ctr">
                        <a:spcBef>
                          <a:spcPts val="0"/>
                        </a:spcBef>
                        <a:spcAft>
                          <a:spcPts val="0"/>
                        </a:spcAft>
                      </a:pPr>
                      <a:r>
                        <a:rPr sz="1200" b="1" i="0">
                          <a:solidFill>
                            <a:srgbClr val="FFFFFF"/>
                          </a:solidFill>
                          <a:latin typeface="Arial"/>
                          <a:cs typeface="Arial"/>
                        </a:rPr>
                        <a:t>آزمایش</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نتیجه</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مرجع</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داوری</a:t>
                      </a:r>
                    </a:p>
                  </a:txBody>
                  <a:tcPr marL="36576" marR="36576" marT="18288" marB="18288" anchor="ctr">
                    <a:solidFill>
                      <a:srgbClr val="16264F"/>
                    </a:solidFill>
                  </a:tcPr>
                </a:tc>
              </a:tr>
              <a:tr h="301752">
                <a:tc>
                  <a:txBody>
                    <a:bodyPr wrap="square"/>
                    <a:lstStyle/>
                    <a:p>
                      <a:pPr rtl="1" algn="r">
                        <a:spcBef>
                          <a:spcPts val="0"/>
                        </a:spcBef>
                        <a:spcAft>
                          <a:spcPts val="0"/>
                        </a:spcAft>
                      </a:pPr>
                      <a:r>
                        <a:rPr sz="1200" b="0" i="0">
                          <a:solidFill>
                            <a:srgbClr val="1B2236"/>
                          </a:solidFill>
                          <a:latin typeface="Arial"/>
                          <a:cs typeface="Arial"/>
                        </a:rPr>
                        <a:t>نمونه‌برداری سبک Kinetics با گام ۴ فریم</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0.3089</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0.3405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بدتر</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Arial"/>
                          <a:cs typeface="Arial"/>
                        </a:rPr>
                        <a:t>دو برابر کردن تعداد قطعه‌ها به ۳۲</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0.3875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0.3955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بدتر</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1B2236"/>
                          </a:solidFill>
                          <a:latin typeface="Arial"/>
                          <a:cs typeface="Arial"/>
                        </a:rPr>
                        <a:t>الحاق ویژگی دو رمزگذار</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0.3974</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0.3955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درون نوفه</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Arial"/>
                          <a:cs typeface="Arial"/>
                        </a:rPr>
                        <a:t>آموزش با یک قطعه برتر</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بدون بهبود</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1B2236"/>
                          </a:solidFill>
                          <a:latin typeface="Arial"/>
                          <a:cs typeface="Arial"/>
                        </a:rPr>
                        <a:t>تنظیم لاجیت به‌تنهایی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0.4114</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0.3955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درون نوفه</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Arial"/>
                          <a:cs typeface="Arial"/>
                        </a:rPr>
                        <a:t>میانگین‌گیری بذرها برای ماکرو F1</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بدون بهبود</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1B2236"/>
                          </a:solidFill>
                          <a:latin typeface="Arial"/>
                          <a:cs typeface="Arial"/>
                        </a:rPr>
                        <a:t>بازنویسی توصیف‌های متنی کلاس‌ها</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0.74</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0.86</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بدتر</a:t>
                      </a:r>
                    </a:p>
                  </a:txBody>
                  <a:tcPr marL="36576" marR="36576" marT="18288" marB="18288" anchor="ctr">
                    <a:solidFill>
                      <a:srgbClr val="EDF1F8"/>
                    </a:solidFill>
                  </a:tcPr>
                </a:tc>
              </a:tr>
            </a:tbl>
          </a:graphicData>
        </a:graphic>
      </p:graphicFrame>
      <p:sp>
        <p:nvSpPr>
          <p:cNvPr id="5" name="Rounded Rectangle 4"/>
          <p:cNvSpPr/>
          <p:nvPr/>
        </p:nvSpPr>
        <p:spPr>
          <a:xfrm>
            <a:off x="548640" y="4343400"/>
            <a:ext cx="11064240" cy="178308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452628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Arial"/>
                <a:cs typeface="Arial"/>
              </a:rPr>
              <a:t>چرا نمونه‌برداری استاندارد بدتر شد — مهم‌ترین یافته منفی</a:t>
            </a:r>
          </a:p>
        </p:txBody>
      </p:sp>
      <p:sp>
        <p:nvSpPr>
          <p:cNvPr id="7" name="TextBox 6"/>
          <p:cNvSpPr txBox="1"/>
          <p:nvPr/>
        </p:nvSpPr>
        <p:spPr>
          <a:xfrm>
            <a:off x="868680" y="4892040"/>
            <a:ext cx="10424160" cy="1143000"/>
          </a:xfrm>
          <a:prstGeom prst="rect">
            <a:avLst/>
          </a:prstGeom>
          <a:noFill/>
        </p:spPr>
        <p:txBody>
          <a:bodyPr wrap="square" anchor="t" lIns="0" rIns="0" tIns="0" bIns="0">
            <a:spAutoFit/>
          </a:bodyPr>
          <a:lstStyle/>
          <a:p>
            <a:pPr rtl="1" algn="r">
              <a:lnSpc>
                <a:spcPts val="1800"/>
              </a:lnSpc>
              <a:spcBef>
                <a:spcPts val="0"/>
              </a:spcBef>
              <a:spcAft>
                <a:spcPts val="600"/>
              </a:spcAft>
            </a:pPr>
            <a:r>
              <a:rPr sz="1200" b="0" i="0">
                <a:solidFill>
                  <a:srgbClr val="1B2236"/>
                </a:solidFill>
                <a:latin typeface="Arial"/>
                <a:cs typeface="Arial"/>
              </a:rPr>
              <a:t>قطعه‌های ما کشیده بودند و با نرخ نمونه‌برداری وزن‌های پیش‌آموزش‌دیده نمی‌خواندند. اصلاح آن نتیجه را بدتر کرد: قطعه‌های کشیده کل ویدیو را می‌پوشانند، در حالی که سی‌ودو پنجره دو ثانیه‌ای تنها حدود ۲۱ درصد یک ویدیوی طولانی را لمس می‌کنند.</a:t>
            </a:r>
          </a:p>
          <a:p>
            <a:pPr rtl="1" algn="r">
              <a:lnSpc>
                <a:spcPts val="1800"/>
              </a:lnSpc>
              <a:spcBef>
                <a:spcPts val="0"/>
              </a:spcBef>
              <a:spcAft>
                <a:spcPts val="600"/>
              </a:spcAft>
            </a:pPr>
            <a:r>
              <a:rPr sz="1200" b="0" i="0">
                <a:solidFill>
                  <a:srgbClr val="1B2236"/>
                </a:solidFill>
                <a:latin typeface="Arial"/>
                <a:cs typeface="Arial"/>
              </a:rPr>
              <a:t>نتیجه: پوشش بر اعتبار قطعه غلبه دارد.</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چقدر از این اعداد نوفه است؟</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اعتبارسنجی آماری</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Arial"/>
                <a:cs typeface="Arial"/>
              </a:rPr>
              <a:t>مجموعه آزمون با ۴۰۰۰ بار بازنمونه‌گیری خودگردان تحلیل شد تا پراکندگی مورد انتظار تخمین زده شود.</a:t>
            </a:r>
          </a:p>
        </p:txBody>
      </p:sp>
      <p:graphicFrame>
        <p:nvGraphicFramePr>
          <p:cNvPr id="5" name="Table 4"/>
          <p:cNvGraphicFramePr>
            <a:graphicFrameLocks noGrp="1"/>
          </p:cNvGraphicFramePr>
          <p:nvPr/>
        </p:nvGraphicFramePr>
        <p:xfrm>
          <a:off x="548640" y="2148840"/>
          <a:ext cx="6675120" cy="1920240"/>
        </p:xfrm>
        <a:graphic>
          <a:graphicData uri="http://schemas.openxmlformats.org/drawingml/2006/table">
            <a:tbl>
              <a:tblPr firstRow="0" bandRow="0">
                <a:tableStyleId>{5C22544A-7EE6-4342-B048-85BDC9FD1C3A}</a:tableStyleId>
              </a:tblPr>
              <a:tblGrid>
                <a:gridCol w="2011680"/>
                <a:gridCol w="1554480"/>
                <a:gridCol w="1554480"/>
                <a:gridCol w="1554480"/>
              </a:tblGrid>
              <a:tr h="384048">
                <a:tc>
                  <a:txBody>
                    <a:bodyPr wrap="square"/>
                    <a:lstStyle/>
                    <a:p>
                      <a:pPr rtl="1" algn="ctr">
                        <a:spcBef>
                          <a:spcPts val="0"/>
                        </a:spcBef>
                        <a:spcAft>
                          <a:spcPts val="0"/>
                        </a:spcAft>
                      </a:pPr>
                      <a:r>
                        <a:rPr sz="1200" b="1" i="0">
                          <a:solidFill>
                            <a:srgbClr val="FFFFFF"/>
                          </a:solidFill>
                          <a:latin typeface="Arial"/>
                          <a:cs typeface="Arial"/>
                        </a:rPr>
                        <a:t>معیار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مقدار نقطه‌ای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انحراف معیار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بازه اطمینان ۹۵ درصد</a:t>
                      </a:r>
                    </a:p>
                  </a:txBody>
                  <a:tcPr marL="36576" marR="36576" marT="18288" marB="18288" anchor="ctr">
                    <a:solidFill>
                      <a:srgbClr val="16264F"/>
                    </a:solidFill>
                  </a:tcPr>
                </a:tc>
              </a:tr>
              <a:tr h="384048">
                <a:tc>
                  <a:txBody>
                    <a:bodyPr wrap="square"/>
                    <a:lstStyle/>
                    <a:p>
                      <a:pPr rtl="1" algn="r">
                        <a:spcBef>
                          <a:spcPts val="0"/>
                        </a:spcBef>
                        <a:spcAft>
                          <a:spcPts val="0"/>
                        </a:spcAft>
                      </a:pPr>
                      <a:r>
                        <a:rPr sz="1200" b="1" i="0">
                          <a:solidFill>
                            <a:srgbClr val="16264F"/>
                          </a:solidFill>
                          <a:latin typeface="Arial"/>
                          <a:cs typeface="Arial"/>
                        </a:rPr>
                        <a:t>ماکرو F1</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0.4298</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0.037</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[0.339 , 0.503]</a:t>
                      </a:r>
                    </a:p>
                  </a:txBody>
                  <a:tcPr marL="36576" marR="36576" marT="18288" marB="18288" anchor="ctr">
                    <a:solidFill>
                      <a:srgbClr val="FFF2DC"/>
                    </a:solidFill>
                  </a:tcPr>
                </a:tc>
              </a:tr>
              <a:tr h="384048">
                <a:tc>
                  <a:txBody>
                    <a:bodyPr wrap="square"/>
                    <a:lstStyle/>
                    <a:p>
                      <a:pPr rtl="1" algn="r">
                        <a:spcBef>
                          <a:spcPts val="0"/>
                        </a:spcBef>
                        <a:spcAft>
                          <a:spcPts val="0"/>
                        </a:spcAft>
                      </a:pPr>
                      <a:r>
                        <a:rPr sz="1200" b="0" i="0">
                          <a:solidFill>
                            <a:srgbClr val="1B2236"/>
                          </a:solidFill>
                          <a:latin typeface="Arial"/>
                          <a:cs typeface="Arial"/>
                        </a:rPr>
                        <a:t>صحت چندکلاسه</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0.6897</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0.027</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[0.635 , 0.745]</a:t>
                      </a:r>
                    </a:p>
                  </a:txBody>
                  <a:tcPr marL="36576" marR="36576" marT="18288" marB="18288" anchor="ctr">
                    <a:solidFill>
                      <a:srgbClr val="FFFFFF"/>
                    </a:solidFill>
                  </a:tcPr>
                </a:tc>
              </a:tr>
              <a:tr h="384048">
                <a:tc>
                  <a:txBody>
                    <a:bodyPr wrap="square"/>
                    <a:lstStyle/>
                    <a:p>
                      <a:pPr rtl="1" algn="r">
                        <a:spcBef>
                          <a:spcPts val="0"/>
                        </a:spcBef>
                        <a:spcAft>
                          <a:spcPts val="0"/>
                        </a:spcAft>
                      </a:pPr>
                      <a:r>
                        <a:rPr sz="1200" b="0" i="0">
                          <a:solidFill>
                            <a:srgbClr val="1B2236"/>
                          </a:solidFill>
                          <a:latin typeface="Arial"/>
                          <a:cs typeface="Arial"/>
                        </a:rPr>
                        <a:t>صحت نوع ناهنجاری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0.5000</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0.041</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[0.420 , 0.585]</a:t>
                      </a:r>
                    </a:p>
                  </a:txBody>
                  <a:tcPr marL="36576" marR="36576" marT="18288" marB="18288" anchor="ctr">
                    <a:solidFill>
                      <a:srgbClr val="EDF1F8"/>
                    </a:solidFill>
                  </a:tcPr>
                </a:tc>
              </a:tr>
              <a:tr h="384048">
                <a:tc>
                  <a:txBody>
                    <a:bodyPr wrap="square"/>
                    <a:lstStyle/>
                    <a:p>
                      <a:pPr rtl="1" algn="r">
                        <a:spcBef>
                          <a:spcPts val="0"/>
                        </a:spcBef>
                        <a:spcAft>
                          <a:spcPts val="0"/>
                        </a:spcAft>
                      </a:pPr>
                      <a:r>
                        <a:rPr sz="1200" b="0" i="0">
                          <a:solidFill>
                            <a:srgbClr val="1B2236"/>
                          </a:solidFill>
                          <a:latin typeface="Arial"/>
                          <a:cs typeface="Arial"/>
                        </a:rPr>
                        <a:t>AUC دودویی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0.9610</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0.011</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[0.938 , 0.980]</a:t>
                      </a:r>
                    </a:p>
                  </a:txBody>
                  <a:tcPr marL="36576" marR="36576" marT="18288" marB="18288" anchor="ctr">
                    <a:solidFill>
                      <a:srgbClr val="FFFFFF"/>
                    </a:solidFill>
                  </a:tcPr>
                </a:tc>
              </a:tr>
            </a:tbl>
          </a:graphicData>
        </a:graphic>
      </p:graphicFrame>
      <p:sp>
        <p:nvSpPr>
          <p:cNvPr id="6" name="Rounded Rectangle 5"/>
          <p:cNvSpPr/>
          <p:nvPr/>
        </p:nvSpPr>
        <p:spPr>
          <a:xfrm>
            <a:off x="7498079" y="2148840"/>
            <a:ext cx="4114800" cy="196596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Arial"/>
                <a:cs typeface="Arial"/>
              </a:rPr>
              <a:t>کف نوفه</a:t>
            </a:r>
          </a:p>
        </p:txBody>
      </p:sp>
      <p:sp>
        <p:nvSpPr>
          <p:cNvPr id="8" name="TextBox 7"/>
          <p:cNvSpPr txBox="1"/>
          <p:nvPr/>
        </p:nvSpPr>
        <p:spPr>
          <a:xfrm>
            <a:off x="7772400" y="2651760"/>
            <a:ext cx="3566160" cy="548640"/>
          </a:xfrm>
          <a:prstGeom prst="rect">
            <a:avLst/>
          </a:prstGeom>
          <a:noFill/>
        </p:spPr>
        <p:txBody>
          <a:bodyPr wrap="square" anchor="t" lIns="0" rIns="0" tIns="0" bIns="0">
            <a:spAutoFit/>
          </a:bodyPr>
          <a:lstStyle/>
          <a:p>
            <a:pPr rtl="0" algn="r">
              <a:spcBef>
                <a:spcPts val="0"/>
              </a:spcBef>
              <a:spcAft>
                <a:spcPts val="0"/>
              </a:spcAft>
            </a:pPr>
            <a:r>
              <a:rPr sz="3200" b="1" i="0">
                <a:solidFill>
                  <a:srgbClr val="E8A33D"/>
                </a:solidFill>
                <a:latin typeface="Arial"/>
                <a:cs typeface="Arial"/>
              </a:rPr>
              <a:t>0.075</a:t>
            </a:r>
          </a:p>
        </p:txBody>
      </p:sp>
      <p:sp>
        <p:nvSpPr>
          <p:cNvPr id="9" name="TextBox 8"/>
          <p:cNvSpPr txBox="1"/>
          <p:nvPr/>
        </p:nvSpPr>
        <p:spPr>
          <a:xfrm>
            <a:off x="7772400" y="3291840"/>
            <a:ext cx="3566160" cy="7315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1B2236"/>
                </a:solidFill>
                <a:latin typeface="Arial"/>
                <a:cs typeface="Arial"/>
              </a:rPr>
              <a:t>اختلاف کمتر از این مقدار در ماکرو F1 روی این تقسیم از نوفه قابل تفکیک نیست.</a:t>
            </a:r>
          </a:p>
        </p:txBody>
      </p:sp>
      <p:sp>
        <p:nvSpPr>
          <p:cNvPr id="10" name="TextBox 9"/>
          <p:cNvSpPr txBox="1"/>
          <p:nvPr/>
        </p:nvSpPr>
        <p:spPr>
          <a:xfrm>
            <a:off x="548640" y="429768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Arial"/>
                <a:cs typeface="Arial"/>
              </a:rPr>
              <a:t>سقف تنظیم روی یک مجموعه آزمون کوچک</a:t>
            </a:r>
          </a:p>
        </p:txBody>
      </p:sp>
      <p:graphicFrame>
        <p:nvGraphicFramePr>
          <p:cNvPr id="11" name="Table 10"/>
          <p:cNvGraphicFramePr>
            <a:graphicFrameLocks noGrp="1"/>
          </p:cNvGraphicFramePr>
          <p:nvPr/>
        </p:nvGraphicFramePr>
        <p:xfrm>
          <a:off x="548640" y="4754880"/>
          <a:ext cx="4206240" cy="1207008"/>
        </p:xfrm>
        <a:graphic>
          <a:graphicData uri="http://schemas.openxmlformats.org/drawingml/2006/table">
            <a:tbl>
              <a:tblPr firstRow="0" bandRow="0">
                <a:tableStyleId>{5C22544A-7EE6-4342-B048-85BDC9FD1C3A}</a:tableStyleId>
              </a:tblPr>
              <a:tblGrid>
                <a:gridCol w="2103120"/>
                <a:gridCol w="2103120"/>
              </a:tblGrid>
              <a:tr h="301752">
                <a:tc>
                  <a:txBody>
                    <a:bodyPr wrap="square"/>
                    <a:lstStyle/>
                    <a:p>
                      <a:pPr rtl="1" algn="ctr">
                        <a:spcBef>
                          <a:spcPts val="0"/>
                        </a:spcBef>
                        <a:spcAft>
                          <a:spcPts val="0"/>
                        </a:spcAft>
                      </a:pPr>
                      <a:r>
                        <a:rPr sz="1200" b="1" i="0">
                          <a:solidFill>
                            <a:srgbClr val="FFFFFF"/>
                          </a:solidFill>
                          <a:latin typeface="Arial"/>
                          <a:cs typeface="Arial"/>
                        </a:rPr>
                        <a:t>تعداد ارزیابی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Arial"/>
                          <a:cs typeface="Arial"/>
                        </a:rPr>
                        <a:t>تورم مورد انتظار</a:t>
                      </a:r>
                    </a:p>
                  </a:txBody>
                  <a:tcPr marL="36576" marR="36576" marT="18288" marB="18288" anchor="ctr">
                    <a:solidFill>
                      <a:srgbClr val="16264F"/>
                    </a:solidFill>
                  </a:tcPr>
                </a:tc>
              </a:tr>
              <a:tr h="301752">
                <a:tc>
                  <a:txBody>
                    <a:bodyPr wrap="square"/>
                    <a:lstStyle/>
                    <a:p>
                      <a:pPr rtl="1" algn="r">
                        <a:spcBef>
                          <a:spcPts val="0"/>
                        </a:spcBef>
                        <a:spcAft>
                          <a:spcPts val="0"/>
                        </a:spcAft>
                      </a:pPr>
                      <a:r>
                        <a:rPr sz="1200" b="0" i="0">
                          <a:solidFill>
                            <a:srgbClr val="1B2236"/>
                          </a:solidFill>
                          <a:latin typeface="Arial"/>
                          <a:cs typeface="Arial"/>
                        </a:rPr>
                        <a:t>۸</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Arial"/>
                          <a:cs typeface="Arial"/>
                        </a:rPr>
                        <a:t>+0.069</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Arial"/>
                          <a:cs typeface="Arial"/>
                        </a:rPr>
                        <a:t>۵۰</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Arial"/>
                          <a:cs typeface="Arial"/>
                        </a:rPr>
                        <a:t>+0.095</a:t>
                      </a:r>
                    </a:p>
                  </a:txBody>
                  <a:tcPr marL="36576" marR="36576" marT="18288" marB="18288" anchor="ctr">
                    <a:solidFill>
                      <a:srgbClr val="FFFFFF"/>
                    </a:solidFill>
                  </a:tcPr>
                </a:tc>
              </a:tr>
              <a:tr h="301752">
                <a:tc>
                  <a:txBody>
                    <a:bodyPr wrap="square"/>
                    <a:lstStyle/>
                    <a:p>
                      <a:pPr rtl="1" algn="r">
                        <a:spcBef>
                          <a:spcPts val="0"/>
                        </a:spcBef>
                        <a:spcAft>
                          <a:spcPts val="0"/>
                        </a:spcAft>
                      </a:pPr>
                      <a:r>
                        <a:rPr sz="1200" b="1" i="0">
                          <a:solidFill>
                            <a:srgbClr val="16264F"/>
                          </a:solidFill>
                          <a:latin typeface="Arial"/>
                          <a:cs typeface="Arial"/>
                        </a:rPr>
                        <a:t>۲۰۰</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Arial"/>
                          <a:cs typeface="Arial"/>
                        </a:rPr>
                        <a:t>+0.111</a:t>
                      </a:r>
                    </a:p>
                  </a:txBody>
                  <a:tcPr marL="36576" marR="36576" marT="18288" marB="18288" anchor="ctr">
                    <a:solidFill>
                      <a:srgbClr val="FFF2DC"/>
                    </a:solidFill>
                  </a:tcPr>
                </a:tc>
              </a:tr>
            </a:tbl>
          </a:graphicData>
        </a:graphic>
      </p:graphicFrame>
      <p:sp>
        <p:nvSpPr>
          <p:cNvPr id="12" name="Rounded Rectangle 11"/>
          <p:cNvSpPr/>
          <p:nvPr/>
        </p:nvSpPr>
        <p:spPr>
          <a:xfrm>
            <a:off x="5120640" y="4754880"/>
            <a:ext cx="6492240" cy="13258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94960" y="4937760"/>
            <a:ext cx="5943600" cy="100584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1B2236"/>
                </a:solidFill>
                <a:latin typeface="Arial"/>
                <a:cs typeface="Arial"/>
              </a:rPr>
              <a:t>با حدود ۲۰۰ ارزیابی روی همین تقسیم، گزارش بهترین عدد مشاهده‌شده نتیجه را بیش از اندازه خود اثر بزرگ نشان می‌دهد. همه اعداد این ارائه از پیکربندی‌هایی می‌آیند که پیش از اجرا تثبیت شده بودند.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Arial"/>
                <a:cs typeface="Arial"/>
              </a:rPr>
              <a:t>جدول کامل نتایج</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Arial"/>
                <a:cs typeface="Arial"/>
              </a:rPr>
              <a:t>جمع‌بندی نتایج</a:t>
            </a:r>
          </a:p>
        </p:txBody>
      </p:sp>
      <p:graphicFrame>
        <p:nvGraphicFramePr>
          <p:cNvPr id="4" name="Table 3"/>
          <p:cNvGraphicFramePr>
            <a:graphicFrameLocks noGrp="1"/>
          </p:cNvGraphicFramePr>
          <p:nvPr/>
        </p:nvGraphicFramePr>
        <p:xfrm>
          <a:off x="548640" y="1645920"/>
          <a:ext cx="11064240" cy="3291840"/>
        </p:xfrm>
        <a:graphic>
          <a:graphicData uri="http://schemas.openxmlformats.org/drawingml/2006/table">
            <a:tbl>
              <a:tblPr firstRow="0" bandRow="0">
                <a:tableStyleId>{5C22544A-7EE6-4342-B048-85BDC9FD1C3A}</a:tableStyleId>
              </a:tblPr>
              <a:tblGrid>
                <a:gridCol w="4114800"/>
                <a:gridCol w="2011680"/>
                <a:gridCol w="1280160"/>
                <a:gridCol w="1280160"/>
                <a:gridCol w="1280160"/>
                <a:gridCol w="1097280"/>
              </a:tblGrid>
              <a:tr h="329184">
                <a:tc>
                  <a:txBody>
                    <a:bodyPr wrap="square"/>
                    <a:lstStyle/>
                    <a:p>
                      <a:pPr rtl="1" algn="ctr">
                        <a:spcBef>
                          <a:spcPts val="0"/>
                        </a:spcBef>
                        <a:spcAft>
                          <a:spcPts val="0"/>
                        </a:spcAft>
                      </a:pPr>
                      <a:r>
                        <a:rPr sz="1150" b="1" i="0">
                          <a:solidFill>
                            <a:srgbClr val="FFFFFF"/>
                          </a:solidFill>
                          <a:latin typeface="Arial"/>
                          <a:cs typeface="Arial"/>
                        </a:rPr>
                        <a:t>پیکربندی</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رمزگذار</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ماکرو F1</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صحت نوع</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صحت کلی</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Arial"/>
                          <a:cs typeface="Arial"/>
                        </a:rPr>
                        <a:t>AUC</a:t>
                      </a:r>
                    </a:p>
                  </a:txBody>
                  <a:tcPr marL="36576" marR="36576" marT="18288" marB="18288" anchor="ctr">
                    <a:solidFill>
                      <a:srgbClr val="16264F"/>
                    </a:solidFill>
                  </a:tcPr>
                </a:tc>
              </a:tr>
              <a:tr h="329184">
                <a:tc>
                  <a:txBody>
                    <a:bodyPr wrap="square"/>
                    <a:lstStyle/>
                    <a:p>
                      <a:pPr rtl="1" algn="r">
                        <a:spcBef>
                          <a:spcPts val="0"/>
                        </a:spcBef>
                        <a:spcAft>
                          <a:spcPts val="0"/>
                        </a:spcAft>
                      </a:pPr>
                      <a:r>
                        <a:rPr sz="1100" b="0" i="0">
                          <a:solidFill>
                            <a:srgbClr val="1B2236"/>
                          </a:solidFill>
                          <a:latin typeface="Arial"/>
                          <a:cs typeface="Arial"/>
                        </a:rPr>
                        <a:t>مسیر اول — اسم خام کلاس، وزن دستی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X-CLIP ViT-B/32</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0.3327</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0.3716</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0.6385</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0.9473</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Arial"/>
                          <a:cs typeface="Arial"/>
                        </a:rPr>
                        <a:t>مسیر اول — توصیف بصری + وزن معکوس</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X-CLIP ViT-B/32</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0.3713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0.4054</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0.6351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0.9637</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1B2236"/>
                          </a:solidFill>
                          <a:latin typeface="Arial"/>
                          <a:cs typeface="Arial"/>
                        </a:rPr>
                        <a:t>مسیر اول — چهار نمای زمانی در آزمون</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X-CLIP ViT-B/32</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0.3881</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0.4257</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0.6419</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0.9629</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Arial"/>
                          <a:cs typeface="Arial"/>
                        </a:rPr>
                        <a:t>مسیر دوم — سر نقطه‌ای، خط پایه</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VideoMAE ViT-B</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0.2975</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0.3860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0.5660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1B2236"/>
                          </a:solidFill>
                          <a:latin typeface="Arial"/>
                          <a:cs typeface="Arial"/>
                        </a:rPr>
                        <a:t>مسیر دوم — سر ترنسفورمر زمانی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VideoMAE ViT-B</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0.3444</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0.3930</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0.6350</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Arial"/>
                          <a:cs typeface="Arial"/>
                        </a:rPr>
                        <a:t>مسیر دوم — نرخ یادگیری ۰٫۰۰۰۳</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VideoMAE ViT-B</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0.3645</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0.4210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0.6550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1B2236"/>
                          </a:solidFill>
                          <a:latin typeface="Arial"/>
                          <a:cs typeface="Arial"/>
                        </a:rPr>
                        <a:t>مسیر دوم — ارتقا به رمزگذار بزرگ</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VideoMAE ViT-L</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0.4122</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0.4786</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0.6897</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Arial"/>
                          <a:cs typeface="Arial"/>
                        </a:rPr>
                        <a:t>—</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Arial"/>
                          <a:cs typeface="Arial"/>
                        </a:rPr>
                        <a:t>مسیر دوم — افزودن آمیزش</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VideoMAE ViT-L</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0.4161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0.4714</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0.6793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Arial"/>
                          <a:cs typeface="Arial"/>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1" i="0">
                          <a:solidFill>
                            <a:srgbClr val="16264F"/>
                          </a:solidFill>
                          <a:latin typeface="Arial"/>
                          <a:cs typeface="Arial"/>
                        </a:rPr>
                        <a:t>مسیر دوم — آمیزش + تنظیم لاجیت</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VideoMAE ViT-L</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0.4298</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0.5000</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0.6897</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Arial"/>
                          <a:cs typeface="Arial"/>
                        </a:rPr>
                        <a:t>0.9610</a:t>
                      </a:r>
                    </a:p>
                  </a:txBody>
                  <a:tcPr marL="36576" marR="36576" marT="18288" marB="18288" anchor="ctr">
                    <a:solidFill>
                      <a:srgbClr val="FFF2DC"/>
                    </a:solidFill>
                  </a:tcPr>
                </a:tc>
              </a:tr>
            </a:tbl>
          </a:graphicData>
        </a:graphic>
      </p:graphicFrame>
      <p:sp>
        <p:nvSpPr>
          <p:cNvPr id="5" name="TextBox 4"/>
          <p:cNvSpPr txBox="1"/>
          <p:nvPr/>
        </p:nvSpPr>
        <p:spPr>
          <a:xfrm>
            <a:off x="548640" y="5285232"/>
            <a:ext cx="11064240" cy="457200"/>
          </a:xfrm>
          <a:prstGeom prst="rect">
            <a:avLst/>
          </a:prstGeom>
          <a:noFill/>
        </p:spPr>
        <p:txBody>
          <a:bodyPr wrap="square" anchor="t" lIns="0" rIns="0" tIns="0" bIns="0">
            <a:spAutoFit/>
          </a:bodyPr>
          <a:lstStyle/>
          <a:p>
            <a:pPr rtl="1" algn="r">
              <a:lnSpc>
                <a:spcPts val="1700"/>
              </a:lnSpc>
              <a:spcBef>
                <a:spcPts val="0"/>
              </a:spcBef>
              <a:spcAft>
                <a:spcPts val="0"/>
              </a:spcAft>
            </a:pPr>
            <a:r>
              <a:rPr sz="1150" b="0" i="0">
                <a:solidFill>
                  <a:srgbClr val="6A748C"/>
                </a:solidFill>
                <a:latin typeface="Arial"/>
                <a:cs typeface="Arial"/>
              </a:rPr>
              <a:t>مسیر اول روی تقسیمی با ۲۹۶ ویدیوی آزمون و مسیر دوم روی تقسیم استاندارد با ۲۹۰ ویدیو اجرا شده‌اند.</a:t>
            </a:r>
          </a:p>
        </p:txBody>
      </p:sp>
      <p:sp>
        <p:nvSpPr>
          <p:cNvPr id="6" name="TextBox 5"/>
          <p:cNvSpPr txBox="1"/>
          <p:nvPr/>
        </p:nvSpPr>
        <p:spPr>
          <a:xfrm>
            <a:off x="54864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E8A33D"/>
                </a:solidFill>
                <a:latin typeface="Arial"/>
                <a:cs typeface="Arial"/>
              </a:rPr>
              <a:t>0.4298</a:t>
            </a:r>
          </a:p>
        </p:txBody>
      </p:sp>
      <p:sp>
        <p:nvSpPr>
          <p:cNvPr id="7" name="TextBox 6"/>
          <p:cNvSpPr txBox="1"/>
          <p:nvPr/>
        </p:nvSpPr>
        <p:spPr>
          <a:xfrm>
            <a:off x="54864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ماکرو F1 نهایی</a:t>
            </a:r>
          </a:p>
        </p:txBody>
      </p:sp>
      <p:sp>
        <p:nvSpPr>
          <p:cNvPr id="8" name="TextBox 7"/>
          <p:cNvSpPr txBox="1"/>
          <p:nvPr/>
        </p:nvSpPr>
        <p:spPr>
          <a:xfrm>
            <a:off x="429768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0.5000</a:t>
            </a:r>
          </a:p>
        </p:txBody>
      </p:sp>
      <p:sp>
        <p:nvSpPr>
          <p:cNvPr id="9" name="TextBox 8"/>
          <p:cNvSpPr txBox="1"/>
          <p:nvPr/>
        </p:nvSpPr>
        <p:spPr>
          <a:xfrm>
            <a:off x="429768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صحت نوع ناهنجاری</a:t>
            </a:r>
          </a:p>
        </p:txBody>
      </p:sp>
      <p:sp>
        <p:nvSpPr>
          <p:cNvPr id="10" name="TextBox 9"/>
          <p:cNvSpPr txBox="1"/>
          <p:nvPr/>
        </p:nvSpPr>
        <p:spPr>
          <a:xfrm>
            <a:off x="804672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Arial"/>
                <a:cs typeface="Arial"/>
              </a:rPr>
              <a:t>0.6897</a:t>
            </a:r>
          </a:p>
        </p:txBody>
      </p:sp>
      <p:sp>
        <p:nvSpPr>
          <p:cNvPr id="11" name="TextBox 10"/>
          <p:cNvSpPr txBox="1"/>
          <p:nvPr/>
        </p:nvSpPr>
        <p:spPr>
          <a:xfrm>
            <a:off x="804672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Arial"/>
                <a:cs typeface="Arial"/>
              </a:rPr>
              <a:t>صحت چندکلاسه</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9326880" y="-1280160"/>
            <a:ext cx="4572000" cy="457200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02920"/>
            <a:ext cx="10881360" cy="640080"/>
          </a:xfrm>
          <a:prstGeom prst="rect">
            <a:avLst/>
          </a:prstGeom>
          <a:noFill/>
        </p:spPr>
        <p:txBody>
          <a:bodyPr wrap="square" anchor="t" lIns="0" rIns="0" tIns="0" bIns="0">
            <a:spAutoFit/>
          </a:bodyPr>
          <a:lstStyle/>
          <a:p>
            <a:pPr rtl="1" algn="r">
              <a:spcBef>
                <a:spcPts val="0"/>
              </a:spcBef>
              <a:spcAft>
                <a:spcPts val="0"/>
              </a:spcAft>
            </a:pPr>
            <a:r>
              <a:rPr sz="2900" b="1" i="0">
                <a:solidFill>
                  <a:srgbClr val="FFFFFF"/>
                </a:solidFill>
                <a:latin typeface="Arial"/>
                <a:cs typeface="Arial"/>
              </a:rPr>
              <a:t>جمع‌بندی و کارهای آینده</a:t>
            </a:r>
          </a:p>
        </p:txBody>
      </p:sp>
      <p:sp>
        <p:nvSpPr>
          <p:cNvPr id="4" name="Rounded Rectangle 3"/>
          <p:cNvSpPr/>
          <p:nvPr/>
        </p:nvSpPr>
        <p:spPr>
          <a:xfrm>
            <a:off x="640080" y="1600200"/>
            <a:ext cx="10881360" cy="868680"/>
          </a:xfrm>
          <a:prstGeom prst="roundRect">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692640" y="1746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7FD3CC"/>
                </a:solidFill>
                <a:latin typeface="Arial"/>
                <a:cs typeface="Arial"/>
              </a:rPr>
              <a:t>دستاورد</a:t>
            </a:r>
          </a:p>
        </p:txBody>
      </p:sp>
      <p:sp>
        <p:nvSpPr>
          <p:cNvPr id="6" name="TextBox 5"/>
          <p:cNvSpPr txBox="1"/>
          <p:nvPr/>
        </p:nvSpPr>
        <p:spPr>
          <a:xfrm>
            <a:off x="914400" y="1783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اصلاح سه اشکال بنیادی، بازطراحی معماری با رمزگذار منجمد، سر ترنسفورمر زمانی، و پروتکل ارزیابی با کف نوفه</a:t>
            </a:r>
          </a:p>
        </p:txBody>
      </p:sp>
      <p:sp>
        <p:nvSpPr>
          <p:cNvPr id="7" name="Rounded Rectangle 6"/>
          <p:cNvSpPr/>
          <p:nvPr/>
        </p:nvSpPr>
        <p:spPr>
          <a:xfrm>
            <a:off x="640080" y="2743200"/>
            <a:ext cx="10881360" cy="868680"/>
          </a:xfrm>
          <a:prstGeom prst="roundRect">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92640" y="2889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F5C27A"/>
                </a:solidFill>
                <a:latin typeface="Arial"/>
                <a:cs typeface="Arial"/>
              </a:rPr>
              <a:t>محدودیت</a:t>
            </a:r>
          </a:p>
        </p:txBody>
      </p:sp>
      <p:sp>
        <p:nvSpPr>
          <p:cNvPr id="9" name="TextBox 8"/>
          <p:cNvSpPr txBox="1"/>
          <p:nvPr/>
        </p:nvSpPr>
        <p:spPr>
          <a:xfrm>
            <a:off x="914400" y="2926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رمزگذار به دامنه نظارتی تطبیق نمی‌یابد؛ مجموعه آزمون کوچک است و بازه‌های اطمینان پهن</a:t>
            </a:r>
          </a:p>
        </p:txBody>
      </p:sp>
      <p:sp>
        <p:nvSpPr>
          <p:cNvPr id="10" name="Rounded Rectangle 9"/>
          <p:cNvSpPr/>
          <p:nvPr/>
        </p:nvSpPr>
        <p:spPr>
          <a:xfrm>
            <a:off x="640080" y="3886200"/>
            <a:ext cx="10881360" cy="868680"/>
          </a:xfrm>
          <a:prstGeom prst="roundRect">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0" y="4032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BFD4F2"/>
                </a:solidFill>
                <a:latin typeface="Arial"/>
                <a:cs typeface="Arial"/>
              </a:rPr>
              <a:t>کار آینده</a:t>
            </a:r>
          </a:p>
        </p:txBody>
      </p:sp>
      <p:sp>
        <p:nvSpPr>
          <p:cNvPr id="12" name="TextBox 11"/>
          <p:cNvSpPr txBox="1"/>
          <p:nvPr/>
        </p:nvSpPr>
        <p:spPr>
          <a:xfrm>
            <a:off x="914400" y="4069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Arial"/>
                <a:cs typeface="Arial"/>
              </a:rPr>
              <a:t>افزایش وضوح مکانی برای خوشه دزدی، تنظیم دقیق رمزگذار روی داده نظارتی، و تقسیم داده با سهم بزرگ‌تر برای آزمون</a:t>
            </a:r>
          </a:p>
        </p:txBody>
      </p:sp>
      <p:sp>
        <p:nvSpPr>
          <p:cNvPr id="13" name="Rounded Rectangle 12"/>
          <p:cNvSpPr/>
          <p:nvPr/>
        </p:nvSpPr>
        <p:spPr>
          <a:xfrm>
            <a:off x="640080" y="5212080"/>
            <a:ext cx="10881360" cy="1005840"/>
          </a:xfrm>
          <a:prstGeom prst="round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413248"/>
            <a:ext cx="10332720" cy="640080"/>
          </a:xfrm>
          <a:prstGeom prst="rect">
            <a:avLst/>
          </a:prstGeom>
          <a:noFill/>
        </p:spPr>
        <p:txBody>
          <a:bodyPr wrap="square" anchor="t" lIns="0" rIns="0" tIns="0" bIns="0">
            <a:spAutoFit/>
          </a:bodyPr>
          <a:lstStyle/>
          <a:p>
            <a:pPr rtl="1" algn="r">
              <a:lnSpc>
                <a:spcPts val="2100"/>
              </a:lnSpc>
              <a:spcBef>
                <a:spcPts val="0"/>
              </a:spcBef>
              <a:spcAft>
                <a:spcPts val="0"/>
              </a:spcAft>
            </a:pPr>
            <a:r>
              <a:rPr sz="1400" b="1" i="0">
                <a:solidFill>
                  <a:srgbClr val="1B1300"/>
                </a:solidFill>
                <a:latin typeface="Arial"/>
                <a:cs typeface="Arial"/>
              </a:rPr>
              <a:t>بیشترین اثر را نه یک ایده الگوریتمی، بلکه کاهش هزینه هر آزمایش داشت؛ و کمّی کردن نوفه پیش از تفسیر، از ادعاهایی جلوگیری کرد که داده پشتیبان آن‌ها نبود.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