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اعداد ستون آموزش مستقیم از create_balanced_split.py می‌آیند و قطعی‌اند. ستون آزمون از گزارش آزمایش‌ها بازسازی شده؛ پیش از ارائه با فایل تقسیم خودتان بسنجید.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نسبت عدم توازن در این مسیر دست‌نخورده می‌ماند؛ به همین دلیل وزن‌دهی معکوس فراوانی در تابع زیان ضروری است.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اسلاید صورت‌بندی رسمی است. اگر وقت کم آمد، فقط فرض چندنمونه‌ای و اصلاح انتخاب یک‌باره را بگویید.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F3C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D94F8C"/>
                </a:solidFill>
                <a:latin typeface="Vazir"/>
                <a:cs typeface="Vazir"/>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9E3C67"/>
                </a:solidFill>
                <a:latin typeface="Vazir"/>
                <a:cs typeface="Vazir"/>
              </a:rPr>
              <a:t>تشخیص نوع ناهنجاری</a:t>
            </a:r>
          </a:p>
          <a:p>
            <a:pPr rtl="1" algn="r">
              <a:lnSpc>
                <a:spcPts val="4600"/>
              </a:lnSpc>
              <a:spcBef>
                <a:spcPts val="0"/>
              </a:spcBef>
              <a:spcAft>
                <a:spcPts val="0"/>
              </a:spcAft>
            </a:pPr>
            <a:r>
              <a:rPr sz="3800" b="1" i="0">
                <a:solidFill>
                  <a:srgbClr val="9E3C67"/>
                </a:solidFill>
                <a:latin typeface="Vazir"/>
                <a:cs typeface="Vazir"/>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C9799F"/>
                </a:solidFill>
                <a:latin typeface="Vazir"/>
                <a:cs typeface="Vazir"/>
              </a:rPr>
              <a:t>یادگیری چندنمونه‌ای ضعیف‌نظارت با ستون فقرات مبدل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C9799F"/>
                </a:solidFill>
                <a:latin typeface="Vazir"/>
                <a:cs typeface="Vazir"/>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D94F8C"/>
                </a:solidFill>
                <a:latin typeface="Vazir"/>
                <a:cs typeface="Vazir"/>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C9799F"/>
                </a:solidFill>
                <a:latin typeface="Vazir"/>
                <a:cs typeface="Vazir"/>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E9BFD4"/>
                </a:solidFill>
                <a:latin typeface="Vazir"/>
                <a:cs typeface="Vazir"/>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صورت مسئله</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فصل اول</a:t>
            </a:r>
          </a:p>
        </p:txBody>
      </p:sp>
      <p:sp>
        <p:nvSpPr>
          <p:cNvPr id="6" name="Rectangle 5"/>
          <p:cNvSpPr/>
          <p:nvPr/>
        </p:nvSpPr>
        <p:spPr>
          <a:xfrm>
            <a:off x="548640" y="1600200"/>
            <a:ext cx="5394960" cy="192024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B7A88"/>
                </a:solidFill>
                <a:latin typeface="Vazir"/>
                <a:cs typeface="Vazir"/>
              </a:rPr>
              <a:t>مسئله متداول: تشخیص ناهنجاری</a:t>
            </a:r>
          </a:p>
        </p:txBody>
      </p:sp>
      <p:sp>
        <p:nvSpPr>
          <p:cNvPr id="8" name="TextBox 7"/>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4A2A38"/>
                </a:solidFill>
                <a:latin typeface="Vazir"/>
                <a:cs typeface="Vazir"/>
              </a:rPr>
              <a:t>آیا این ویدیو ناهنجار است؟</a:t>
            </a:r>
          </a:p>
          <a:p>
            <a:pPr rtl="1" algn="r">
              <a:lnSpc>
                <a:spcPts val="2400"/>
              </a:lnSpc>
              <a:spcBef>
                <a:spcPts val="0"/>
              </a:spcBef>
              <a:spcAft>
                <a:spcPts val="0"/>
              </a:spcAft>
            </a:pPr>
            <a:r>
              <a:rPr sz="1500" b="0" i="0">
                <a:solidFill>
                  <a:srgbClr val="4A2A38"/>
                </a:solidFill>
                <a:latin typeface="Vazir"/>
                <a:cs typeface="Vazir"/>
              </a:rPr>
              <a:t>جواب: بله یا خیر</a:t>
            </a:r>
          </a:p>
        </p:txBody>
      </p:sp>
      <p:sp>
        <p:nvSpPr>
          <p:cNvPr id="9" name="Rectangle 8"/>
          <p:cNvSpPr/>
          <p:nvPr/>
        </p:nvSpPr>
        <p:spPr>
          <a:xfrm>
            <a:off x="6217920" y="1600200"/>
            <a:ext cx="5394960" cy="19202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Vazir"/>
                <a:cs typeface="Vazir"/>
              </a:rPr>
              <a:t>مسئله ما: تشخیص نوع ناهنجاری</a:t>
            </a:r>
          </a:p>
        </p:txBody>
      </p:sp>
      <p:sp>
        <p:nvSpPr>
          <p:cNvPr id="11" name="TextBox 10"/>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4A2A38"/>
                </a:solidFill>
                <a:latin typeface="Vazir"/>
                <a:cs typeface="Vazir"/>
              </a:rPr>
              <a:t>کدام نوع ناهنجاری رخ داده؟</a:t>
            </a:r>
          </a:p>
          <a:p>
            <a:pPr rtl="1" algn="r">
              <a:lnSpc>
                <a:spcPts val="2400"/>
              </a:lnSpc>
              <a:spcBef>
                <a:spcPts val="0"/>
              </a:spcBef>
              <a:spcAft>
                <a:spcPts val="0"/>
              </a:spcAft>
            </a:pPr>
            <a:r>
              <a:rPr sz="1500" b="0" i="0">
                <a:solidFill>
                  <a:srgbClr val="4A2A38"/>
                </a:solidFill>
                <a:latin typeface="Vazir"/>
                <a:cs typeface="Vazir"/>
              </a:rPr>
              <a:t>جواب: یکی از ۱۴ کلاس</a:t>
            </a:r>
          </a:p>
        </p:txBody>
      </p:sp>
      <p:sp>
        <p:nvSpPr>
          <p:cNvPr id="12" name="TextBox 11"/>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9E3C67"/>
                </a:solidFill>
                <a:latin typeface="Vazir"/>
                <a:cs typeface="Vazir"/>
              </a:rPr>
              <a:t>چرا این تفاوت مهم است</a:t>
            </a:r>
          </a:p>
        </p:txBody>
      </p:sp>
      <p:sp>
        <p:nvSpPr>
          <p:cNvPr id="13" name="TextBox 12"/>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4A2A38"/>
                </a:solidFill>
                <a:latin typeface="Vazir"/>
                <a:cs typeface="Vazir"/>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4A2A38"/>
                </a:solidFill>
                <a:latin typeface="Vazir"/>
                <a:cs typeface="Vazir"/>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4A2A38"/>
                </a:solidFill>
                <a:latin typeface="Vazir"/>
                <a:cs typeface="Vazir"/>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02</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مجموعه داده UCF-Crime</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داده</a:t>
            </a:r>
          </a:p>
        </p:txBody>
      </p:sp>
      <p:sp>
        <p:nvSpPr>
          <p:cNvPr id="6" name="TextBox 5"/>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1900</a:t>
            </a:r>
          </a:p>
        </p:txBody>
      </p:sp>
      <p:sp>
        <p:nvSpPr>
          <p:cNvPr id="7" name="TextBox 6"/>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کل ویدیوها</a:t>
            </a:r>
          </a:p>
        </p:txBody>
      </p:sp>
      <p:sp>
        <p:nvSpPr>
          <p:cNvPr id="8" name="TextBox 7"/>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14</a:t>
            </a:r>
          </a:p>
        </p:txBody>
      </p:sp>
      <p:sp>
        <p:nvSpPr>
          <p:cNvPr id="9" name="TextBox 8"/>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کلاس</a:t>
            </a:r>
          </a:p>
        </p:txBody>
      </p:sp>
      <p:sp>
        <p:nvSpPr>
          <p:cNvPr id="10" name="TextBox 9"/>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Vazir"/>
                <a:cs typeface="Vazir"/>
              </a:rPr>
              <a:t>1895</a:t>
            </a:r>
          </a:p>
        </p:txBody>
      </p:sp>
      <p:sp>
        <p:nvSpPr>
          <p:cNvPr id="11" name="TextBox 10"/>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رمزگشایی موفق</a:t>
            </a:r>
          </a:p>
        </p:txBody>
      </p:sp>
      <p:sp>
        <p:nvSpPr>
          <p:cNvPr id="12" name="TextBox 11"/>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4596B"/>
                </a:solidFill>
                <a:latin typeface="Vazir"/>
                <a:cs typeface="Vazir"/>
              </a:rPr>
              <a:t>5</a:t>
            </a:r>
          </a:p>
        </p:txBody>
      </p:sp>
      <p:sp>
        <p:nvSpPr>
          <p:cNvPr id="13" name="TextBox 12"/>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فایل خراب</a:t>
            </a:r>
          </a:p>
        </p:txBody>
      </p:sp>
      <p:sp>
        <p:nvSpPr>
          <p:cNvPr id="14" name="Rectangle 13"/>
          <p:cNvSpPr/>
          <p:nvPr/>
        </p:nvSpPr>
        <p:spPr>
          <a:xfrm>
            <a:off x="548640" y="3200400"/>
            <a:ext cx="5394960" cy="283464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ویژگی‌های داده</a:t>
            </a:r>
          </a:p>
        </p:txBody>
      </p:sp>
      <p:sp>
        <p:nvSpPr>
          <p:cNvPr id="16" name="TextBox 15"/>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Vazir"/>
                <a:cs typeface="Vazir"/>
              </a:rPr>
              <a:t>●  ویدیوی واقعی دوربین مداربسته، نه صحنه‌پردازی</a:t>
            </a:r>
          </a:p>
          <a:p>
            <a:pPr rtl="1" algn="r">
              <a:lnSpc>
                <a:spcPts val="1900"/>
              </a:lnSpc>
              <a:spcBef>
                <a:spcPts val="0"/>
              </a:spcBef>
              <a:spcAft>
                <a:spcPts val="700"/>
              </a:spcAft>
            </a:pPr>
            <a:r>
              <a:rPr sz="1300" b="0" i="0">
                <a:solidFill>
                  <a:srgbClr val="4A2A38"/>
                </a:solidFill>
                <a:latin typeface="Vazir"/>
                <a:cs typeface="Vazir"/>
              </a:rPr>
              <a:t>●  وضوح پایین، نور ضعیف، زاویه نامناسب</a:t>
            </a:r>
          </a:p>
          <a:p>
            <a:pPr rtl="1" algn="r">
              <a:lnSpc>
                <a:spcPts val="1900"/>
              </a:lnSpc>
              <a:spcBef>
                <a:spcPts val="0"/>
              </a:spcBef>
              <a:spcAft>
                <a:spcPts val="700"/>
              </a:spcAft>
            </a:pPr>
            <a:r>
              <a:rPr sz="1300" b="0" i="0">
                <a:solidFill>
                  <a:srgbClr val="4A2A38"/>
                </a:solidFill>
                <a:latin typeface="Vazir"/>
                <a:cs typeface="Vazir"/>
              </a:rPr>
              <a:t>●  مدت‌زمان از چند ثانیه تا چند دقیقه</a:t>
            </a:r>
          </a:p>
          <a:p>
            <a:pPr rtl="1" algn="r">
              <a:lnSpc>
                <a:spcPts val="1900"/>
              </a:lnSpc>
              <a:spcBef>
                <a:spcPts val="0"/>
              </a:spcBef>
              <a:spcAft>
                <a:spcPts val="700"/>
              </a:spcAft>
            </a:pPr>
            <a:r>
              <a:rPr sz="1300" b="0" i="0">
                <a:solidFill>
                  <a:srgbClr val="4A2A38"/>
                </a:solidFill>
                <a:latin typeface="Vazir"/>
                <a:cs typeface="Vazir"/>
              </a:rPr>
              <a:t>●  برچسب فقط در سطح کل ویدیو</a:t>
            </a:r>
          </a:p>
        </p:txBody>
      </p:sp>
      <p:sp>
        <p:nvSpPr>
          <p:cNvPr id="17" name="Rectangle 16"/>
          <p:cNvSpPr/>
          <p:nvPr/>
        </p:nvSpPr>
        <p:spPr>
          <a:xfrm>
            <a:off x="6217920" y="3200400"/>
            <a:ext cx="5394960" cy="28346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Vazir"/>
                <a:cs typeface="Vazir"/>
              </a:rPr>
              <a:t>چالش اصلی: نامتوازنی شدید</a:t>
            </a:r>
          </a:p>
        </p:txBody>
      </p:sp>
      <p:sp>
        <p:nvSpPr>
          <p:cNvPr id="19" name="TextBox 18"/>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Vazir"/>
                <a:cs typeface="Vazir"/>
              </a:rPr>
              <a:t>●  کلاس عادی حدود نیمی از داده آموزش است</a:t>
            </a:r>
          </a:p>
          <a:p>
            <a:pPr rtl="1" algn="r">
              <a:lnSpc>
                <a:spcPts val="1900"/>
              </a:lnSpc>
              <a:spcBef>
                <a:spcPts val="0"/>
              </a:spcBef>
              <a:spcAft>
                <a:spcPts val="700"/>
              </a:spcAft>
            </a:pPr>
            <a:r>
              <a:rPr sz="1300" b="0" i="0">
                <a:solidFill>
                  <a:srgbClr val="4A2A38"/>
                </a:solidFill>
                <a:latin typeface="Vazir"/>
                <a:cs typeface="Vazir"/>
              </a:rPr>
              <a:t>●  کلاس تیراندازی کمتر از دو درصد</a:t>
            </a:r>
          </a:p>
          <a:p>
            <a:pPr rtl="1" algn="r">
              <a:lnSpc>
                <a:spcPts val="1900"/>
              </a:lnSpc>
              <a:spcBef>
                <a:spcPts val="0"/>
              </a:spcBef>
              <a:spcAft>
                <a:spcPts val="700"/>
              </a:spcAft>
            </a:pPr>
            <a:r>
              <a:rPr sz="1300" b="0" i="0">
                <a:solidFill>
                  <a:srgbClr val="4A2A38"/>
                </a:solidFill>
                <a:latin typeface="Vazir"/>
                <a:cs typeface="Vazir"/>
              </a:rPr>
              <a:t>●  در آزمون، هفت کلاس پنج ویدیو یا کمتر دارند</a:t>
            </a:r>
          </a:p>
          <a:p>
            <a:pPr rtl="1" algn="r">
              <a:lnSpc>
                <a:spcPts val="1900"/>
              </a:lnSpc>
              <a:spcBef>
                <a:spcPts val="0"/>
              </a:spcBef>
              <a:spcAft>
                <a:spcPts val="700"/>
              </a:spcAft>
            </a:pPr>
            <a:r>
              <a:rPr sz="1300" b="0" i="0">
                <a:solidFill>
                  <a:srgbClr val="4A2A38"/>
                </a:solidFill>
                <a:latin typeface="Vazir"/>
                <a:cs typeface="Vazir"/>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03</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پروتکل تقسیم داده — مسیر اول</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X-CLIP</a:t>
            </a:r>
          </a:p>
        </p:txBody>
      </p:sp>
      <p:sp>
        <p:nvSpPr>
          <p:cNvPr id="6" name="TextBox 5"/>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تفکیک ۷۰ به ۱۵ به ۱۵ طبقه‌ای روی کل مجموعه، سپس متوازن‌سازی مجموعه آموزش با بیش‌نمونه‌برداری کلاس‌های اقلیت.</a:t>
            </a:r>
          </a:p>
        </p:txBody>
      </p:sp>
      <p:graphicFrame>
        <p:nvGraphicFramePr>
          <p:cNvPr id="7" name="Table 6"/>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0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مجموعه آموزش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37744">
                <a:tc>
                  <a:txBody>
                    <a:bodyPr wrap="square"/>
                    <a:lstStyle/>
                    <a:p>
                      <a:pPr rtl="1" algn="r">
                        <a:spcBef>
                          <a:spcPts val="0"/>
                        </a:spcBef>
                        <a:spcAft>
                          <a:spcPts val="0"/>
                        </a:spcAft>
                      </a:pPr>
                      <a:r>
                        <a:rPr sz="1100" b="0" i="0">
                          <a:solidFill>
                            <a:srgbClr val="4A2A38"/>
                          </a:solidFill>
                          <a:latin typeface="Vazir"/>
                          <a:cs typeface="Vazir"/>
                        </a:rPr>
                        <a:t>Normal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420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Burglary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RoadAccidents</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Robbery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Vandalism</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140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Abuse</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Arson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Assault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Explosion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Fighting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Shoplifting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graphicFrame>
        <p:nvGraphicFramePr>
          <p:cNvPr id="8" name="Table 7"/>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0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مجموعه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37744">
                <a:tc>
                  <a:txBody>
                    <a:bodyPr wrap="square"/>
                    <a:lstStyle/>
                    <a:p>
                      <a:pPr rtl="1" algn="r">
                        <a:spcBef>
                          <a:spcPts val="0"/>
                        </a:spcBef>
                        <a:spcAft>
                          <a:spcPts val="0"/>
                        </a:spcAft>
                      </a:pPr>
                      <a:r>
                        <a:rPr sz="1100" b="0" i="0">
                          <a:solidFill>
                            <a:srgbClr val="4A2A38"/>
                          </a:solidFill>
                          <a:latin typeface="Vazir"/>
                          <a:cs typeface="Vazir"/>
                        </a:rPr>
                        <a:t>Normal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RoadAccidents</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Robbery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Burglary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Abuse</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Arson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Assault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Explosion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Fighting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Shoplifting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Vandalism</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
        <p:nvSpPr>
          <p:cNvPr id="9" name="TextBox 8"/>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1995</a:t>
            </a:r>
          </a:p>
        </p:txBody>
      </p:sp>
      <p:sp>
        <p:nvSpPr>
          <p:cNvPr id="10" name="TextBox 9"/>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اندازه‌ی مؤثر مجموعه آموزش</a:t>
            </a:r>
          </a:p>
        </p:txBody>
      </p:sp>
      <p:sp>
        <p:nvSpPr>
          <p:cNvPr id="11" name="TextBox 10"/>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296</a:t>
            </a:r>
          </a:p>
        </p:txBody>
      </p:sp>
      <p:sp>
        <p:nvSpPr>
          <p:cNvPr id="12" name="TextBox 11"/>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اندازه‌ی مجموعه آزمون</a:t>
            </a:r>
          </a:p>
        </p:txBody>
      </p:sp>
      <p:sp>
        <p:nvSpPr>
          <p:cNvPr id="13" name="TextBox 12"/>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9B7A88"/>
                </a:solidFill>
                <a:latin typeface="Vazir"/>
                <a:cs typeface="Vazir"/>
              </a:rPr>
              <a:t>اعداد ستون آموزش تعداد نمونه‌های ارائه‌شده به بهینه‌ساز است، نه تعداد ویدیوی یکتا؛ کلاس‌های کم‌بسامد با جایگذاری بیش‌نمونه‌برداری شده‌اند.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04</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پروتکل تقسیم داده — مسیر دوم</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VideoMAE</a:t>
            </a:r>
          </a:p>
        </p:txBody>
      </p:sp>
      <p:sp>
        <p:nvSpPr>
          <p:cNvPr id="6" name="TextBox 5"/>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تفکیک استاندارد مرجع مجموعه‌ی UCF-Crime، بدون بازنمونه‌گیری و بدون متوازن‌سازی.</a:t>
            </a:r>
          </a:p>
        </p:txBody>
      </p:sp>
      <p:graphicFrame>
        <p:nvGraphicFramePr>
          <p:cNvPr id="7" name="Table 6"/>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0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مجموعه آموزش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37744">
                <a:tc>
                  <a:txBody>
                    <a:bodyPr wrap="square"/>
                    <a:lstStyle/>
                    <a:p>
                      <a:pPr rtl="1" algn="r">
                        <a:spcBef>
                          <a:spcPts val="0"/>
                        </a:spcBef>
                        <a:spcAft>
                          <a:spcPts val="0"/>
                        </a:spcAft>
                      </a:pPr>
                      <a:r>
                        <a:rPr sz="1100" b="0" i="0">
                          <a:solidFill>
                            <a:srgbClr val="4A2A38"/>
                          </a:solidFill>
                          <a:latin typeface="Vazir"/>
                          <a:cs typeface="Vazir"/>
                        </a:rPr>
                        <a:t>Normal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Robbery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RoadAccidents</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95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Burglary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87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Abuse</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Assault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47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Fighting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Vandalism</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Arson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41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Explosion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Shoplifting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graphicFrame>
        <p:nvGraphicFramePr>
          <p:cNvPr id="8" name="Table 7"/>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0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مجموعه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37744">
                <a:tc>
                  <a:txBody>
                    <a:bodyPr wrap="square"/>
                    <a:lstStyle/>
                    <a:p>
                      <a:pPr rtl="1" algn="r">
                        <a:spcBef>
                          <a:spcPts val="0"/>
                        </a:spcBef>
                        <a:spcAft>
                          <a:spcPts val="0"/>
                        </a:spcAft>
                      </a:pPr>
                      <a:r>
                        <a:rPr sz="1100" b="0" i="0">
                          <a:solidFill>
                            <a:srgbClr val="4A2A38"/>
                          </a:solidFill>
                          <a:latin typeface="Vazir"/>
                          <a:cs typeface="Vazir"/>
                        </a:rPr>
                        <a:t>Normal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150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RoadAccidents</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Explosion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21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Shoplifting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21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0" i="0">
                          <a:solidFill>
                            <a:srgbClr val="4A2A38"/>
                          </a:solidFill>
                          <a:latin typeface="Vazir"/>
                          <a:cs typeface="Vazir"/>
                        </a:rPr>
                        <a:t>Burglary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37744">
                <a:tc>
                  <a:txBody>
                    <a:bodyPr wrap="square"/>
                    <a:lstStyle/>
                    <a:p>
                      <a:pPr rtl="1" algn="r">
                        <a:spcBef>
                          <a:spcPts val="0"/>
                        </a:spcBef>
                        <a:spcAft>
                          <a:spcPts val="0"/>
                        </a:spcAft>
                      </a:pPr>
                      <a:r>
                        <a:rPr sz="1100" b="0" i="0">
                          <a:solidFill>
                            <a:srgbClr val="4A2A38"/>
                          </a:solidFill>
                          <a:latin typeface="Vazir"/>
                          <a:cs typeface="Vazir"/>
                        </a:rPr>
                        <a:t>Arson</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37744">
                <a:tc>
                  <a:txBody>
                    <a:bodyPr wrap="square"/>
                    <a:lstStyle/>
                    <a:p>
                      <a:pPr rtl="1" algn="r">
                        <a:spcBef>
                          <a:spcPts val="0"/>
                        </a:spcBef>
                        <a:spcAft>
                          <a:spcPts val="0"/>
                        </a:spcAft>
                      </a:pPr>
                      <a:r>
                        <a:rPr sz="1100" b="1" i="0">
                          <a:solidFill>
                            <a:srgbClr val="C53D7C"/>
                          </a:solidFill>
                          <a:latin typeface="Vazir"/>
                          <a:cs typeface="Vazir"/>
                        </a:rPr>
                        <a:t>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Fighting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Robbery</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Vandalism</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Abuse</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37744">
                <a:tc>
                  <a:txBody>
                    <a:bodyPr wrap="square"/>
                    <a:lstStyle/>
                    <a:p>
                      <a:pPr rtl="1" algn="r">
                        <a:spcBef>
                          <a:spcPts val="0"/>
                        </a:spcBef>
                        <a:spcAft>
                          <a:spcPts val="0"/>
                        </a:spcAft>
                      </a:pPr>
                      <a:r>
                        <a:rPr sz="1100" b="1" i="0">
                          <a:solidFill>
                            <a:srgbClr val="C53D7C"/>
                          </a:solidFill>
                          <a:latin typeface="Vazir"/>
                          <a:cs typeface="Vazir"/>
                        </a:rPr>
                        <a:t>Assault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9" name="TextBox 8"/>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1610</a:t>
            </a:r>
          </a:p>
        </p:txBody>
      </p:sp>
      <p:sp>
        <p:nvSpPr>
          <p:cNvPr id="10" name="TextBox 9"/>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اندازه‌ی مجموعه آموزش</a:t>
            </a:r>
          </a:p>
        </p:txBody>
      </p:sp>
      <p:sp>
        <p:nvSpPr>
          <p:cNvPr id="11" name="TextBox 10"/>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290</a:t>
            </a:r>
          </a:p>
        </p:txBody>
      </p:sp>
      <p:sp>
        <p:nvSpPr>
          <p:cNvPr id="12" name="TextBox 11"/>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اندازه‌ی مجموعه آزمون</a:t>
            </a:r>
          </a:p>
        </p:txBody>
      </p:sp>
      <p:sp>
        <p:nvSpPr>
          <p:cNvPr id="13" name="TextBox 12"/>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9B7A88"/>
                </a:solidFill>
                <a:latin typeface="Vazir"/>
                <a:cs typeface="Vazir"/>
              </a:rPr>
              <a:t>ردیف‌های مشخص‌شده هفت کلاسی هستند که پشتیبان آماری آن‌ها در مجموعه‌ی آزمون پنج نمونه یا کمتر است؛ منشأ اصلی واریانس معیار ماکرو.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05</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صورت‌بندی یادگیری چندنمونه‌ای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چارچوب</a:t>
            </a:r>
          </a:p>
        </p:txBody>
      </p:sp>
      <p:sp>
        <p:nvSpPr>
          <p:cNvPr id="6" name="TextBox 5"/>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نظارت در سطح کیف: برچسب تنها برای کل ویدیو موجود است و هیچ حاشیه‌نویسی زمانی در مجموعه‌ی آموزش وجود ندارد.</a:t>
            </a:r>
          </a:p>
        </p:txBody>
      </p:sp>
      <p:sp>
        <p:nvSpPr>
          <p:cNvPr id="7" name="Rectangle 6"/>
          <p:cNvSpPr/>
          <p:nvPr/>
        </p:nvSpPr>
        <p:spPr>
          <a:xfrm>
            <a:off x="548640" y="2011680"/>
            <a:ext cx="5577840" cy="278892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2194560"/>
            <a:ext cx="4937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Vazir"/>
                <a:cs typeface="Vazir"/>
              </a:rPr>
              <a:t>تعریف صوری</a:t>
            </a:r>
          </a:p>
        </p:txBody>
      </p:sp>
      <p:sp>
        <p:nvSpPr>
          <p:cNvPr id="9" name="TextBox 8"/>
          <p:cNvSpPr txBox="1"/>
          <p:nvPr/>
        </p:nvSpPr>
        <p:spPr>
          <a:xfrm>
            <a:off x="868680" y="2606040"/>
            <a:ext cx="4937760" cy="2011680"/>
          </a:xfrm>
          <a:prstGeom prst="rect">
            <a:avLst/>
          </a:prstGeom>
          <a:noFill/>
        </p:spPr>
        <p:txBody>
          <a:bodyPr wrap="square" anchor="t" lIns="0" rIns="0" tIns="0" bIns="0">
            <a:spAutoFit/>
          </a:bodyPr>
          <a:lstStyle/>
          <a:p>
            <a:pPr rtl="1" algn="r">
              <a:lnSpc>
                <a:spcPts val="1900"/>
              </a:lnSpc>
              <a:spcBef>
                <a:spcPts val="0"/>
              </a:spcBef>
              <a:spcAft>
                <a:spcPts val="400"/>
              </a:spcAft>
            </a:pPr>
            <a:r>
              <a:rPr sz="1200" b="0" i="0">
                <a:solidFill>
                  <a:srgbClr val="4A2A38"/>
                </a:solidFill>
                <a:latin typeface="Vazir"/>
                <a:cs typeface="Vazir"/>
              </a:rPr>
              <a:t>هر ویدیو یک کیف است:</a:t>
            </a:r>
          </a:p>
          <a:p>
            <a:pPr rtl="1" algn="r">
              <a:lnSpc>
                <a:spcPts val="1900"/>
              </a:lnSpc>
              <a:spcBef>
                <a:spcPts val="0"/>
              </a:spcBef>
              <a:spcAft>
                <a:spcPts val="400"/>
              </a:spcAft>
            </a:pPr>
            <a:r>
              <a:rPr sz="1200" b="0" i="0">
                <a:solidFill>
                  <a:srgbClr val="4A2A38"/>
                </a:solidFill>
                <a:latin typeface="Vazir"/>
                <a:cs typeface="Vazir"/>
              </a:rPr>
              <a:t>X = { x₁ , … , x_T } ,   x_t ∈ ℝᴰ ,   T = 16 , D = 1024</a:t>
            </a:r>
          </a:p>
          <a:p>
            <a:pPr rtl="1" algn="r">
              <a:lnSpc>
                <a:spcPts val="1900"/>
              </a:lnSpc>
              <a:spcBef>
                <a:spcPts val="0"/>
              </a:spcBef>
              <a:spcAft>
                <a:spcPts val="400"/>
              </a:spcAft>
            </a:pPr>
            <a:r>
              <a:rPr sz="1200" b="0" i="0">
                <a:solidFill>
                  <a:srgbClr val="4A2A38"/>
                </a:solidFill>
                <a:latin typeface="Vazir"/>
                <a:cs typeface="Vazir"/>
              </a:rPr>
              <a:t/>
            </a:r>
          </a:p>
          <a:p>
            <a:pPr rtl="1" algn="r">
              <a:lnSpc>
                <a:spcPts val="1900"/>
              </a:lnSpc>
              <a:spcBef>
                <a:spcPts val="0"/>
              </a:spcBef>
              <a:spcAft>
                <a:spcPts val="400"/>
              </a:spcAft>
            </a:pPr>
            <a:r>
              <a:rPr sz="1200" b="0" i="0">
                <a:solidFill>
                  <a:srgbClr val="4A2A38"/>
                </a:solidFill>
                <a:latin typeface="Vazir"/>
                <a:cs typeface="Vazir"/>
              </a:rPr>
              <a:t>برچسب کیف Y ∈ { 0 , … , 13 } و فرض استاندارد چندنمونه‌ای:</a:t>
            </a:r>
          </a:p>
          <a:p>
            <a:pPr rtl="1" algn="r">
              <a:lnSpc>
                <a:spcPts val="1900"/>
              </a:lnSpc>
              <a:spcBef>
                <a:spcPts val="0"/>
              </a:spcBef>
              <a:spcAft>
                <a:spcPts val="400"/>
              </a:spcAft>
            </a:pPr>
            <a:r>
              <a:rPr sz="1200" b="0" i="0">
                <a:solidFill>
                  <a:srgbClr val="4A2A38"/>
                </a:solidFill>
                <a:latin typeface="Vazir"/>
                <a:cs typeface="Vazir"/>
              </a:rPr>
              <a:t>Y ≠ 0  ⟺  ∃ t :  نمونه‌ی x_t حامل رویداد کلاس Y است</a:t>
            </a:r>
          </a:p>
        </p:txBody>
      </p:sp>
      <p:sp>
        <p:nvSpPr>
          <p:cNvPr id="10" name="Rectangle 9"/>
          <p:cNvSpPr/>
          <p:nvPr/>
        </p:nvSpPr>
        <p:spPr>
          <a:xfrm>
            <a:off x="6400800" y="2011680"/>
            <a:ext cx="5212080" cy="27889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20840" y="2194560"/>
            <a:ext cx="45720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Vazir"/>
                <a:cs typeface="Vazir"/>
              </a:rPr>
              <a:t>تجمیع و تابع زیان</a:t>
            </a:r>
          </a:p>
        </p:txBody>
      </p:sp>
      <p:sp>
        <p:nvSpPr>
          <p:cNvPr id="12" name="TextBox 11"/>
          <p:cNvSpPr txBox="1"/>
          <p:nvPr/>
        </p:nvSpPr>
        <p:spPr>
          <a:xfrm>
            <a:off x="6720840" y="2606040"/>
            <a:ext cx="4572000" cy="2011680"/>
          </a:xfrm>
          <a:prstGeom prst="rect">
            <a:avLst/>
          </a:prstGeom>
          <a:noFill/>
        </p:spPr>
        <p:txBody>
          <a:bodyPr wrap="square" anchor="t" lIns="0" rIns="0" tIns="0" bIns="0">
            <a:spAutoFit/>
          </a:bodyPr>
          <a:lstStyle/>
          <a:p>
            <a:pPr rtl="1" algn="r">
              <a:lnSpc>
                <a:spcPts val="1800"/>
              </a:lnSpc>
              <a:spcBef>
                <a:spcPts val="0"/>
              </a:spcBef>
              <a:spcAft>
                <a:spcPts val="300"/>
              </a:spcAft>
            </a:pPr>
            <a:r>
              <a:rPr sz="1150" b="0" i="0">
                <a:solidFill>
                  <a:srgbClr val="4A2A38"/>
                </a:solidFill>
                <a:latin typeface="Vazir"/>
                <a:cs typeface="Vazir"/>
              </a:rPr>
              <a:t>شواهد ناهنجاری هر نمونه:</a:t>
            </a:r>
          </a:p>
          <a:p>
            <a:pPr rtl="1" algn="r">
              <a:lnSpc>
                <a:spcPts val="1800"/>
              </a:lnSpc>
              <a:spcBef>
                <a:spcPts val="0"/>
              </a:spcBef>
              <a:spcAft>
                <a:spcPts val="300"/>
              </a:spcAft>
            </a:pPr>
            <a:r>
              <a:rPr sz="1150" b="0" i="0">
                <a:solidFill>
                  <a:srgbClr val="4A2A38"/>
                </a:solidFill>
                <a:latin typeface="Vazir"/>
                <a:cs typeface="Vazir"/>
              </a:rPr>
              <a:t>s_t = 1 − P( Normal | x_t )</a:t>
            </a:r>
          </a:p>
          <a:p>
            <a:pPr rtl="1" algn="r">
              <a:lnSpc>
                <a:spcPts val="1800"/>
              </a:lnSpc>
              <a:spcBef>
                <a:spcPts val="0"/>
              </a:spcBef>
              <a:spcAft>
                <a:spcPts val="300"/>
              </a:spcAft>
            </a:pPr>
            <a:r>
              <a:rPr sz="1150" b="0" i="0">
                <a:solidFill>
                  <a:srgbClr val="4A2A38"/>
                </a:solidFill>
                <a:latin typeface="Vazir"/>
                <a:cs typeface="Vazir"/>
              </a:rPr>
              <a:t/>
            </a:r>
          </a:p>
          <a:p>
            <a:pPr rtl="1" algn="r">
              <a:lnSpc>
                <a:spcPts val="1800"/>
              </a:lnSpc>
              <a:spcBef>
                <a:spcPts val="0"/>
              </a:spcBef>
              <a:spcAft>
                <a:spcPts val="300"/>
              </a:spcAft>
            </a:pPr>
            <a:r>
              <a:rPr sz="1150" b="0" i="0">
                <a:solidFill>
                  <a:srgbClr val="4A2A38"/>
                </a:solidFill>
                <a:latin typeface="Vazir"/>
                <a:cs typeface="Vazir"/>
              </a:rPr>
              <a:t>انتخاب k نمونه‌ی برتر و تجمیع میانگین:</a:t>
            </a:r>
          </a:p>
          <a:p>
            <a:pPr rtl="1" algn="r">
              <a:lnSpc>
                <a:spcPts val="1800"/>
              </a:lnSpc>
              <a:spcBef>
                <a:spcPts val="0"/>
              </a:spcBef>
              <a:spcAft>
                <a:spcPts val="300"/>
              </a:spcAft>
            </a:pPr>
            <a:r>
              <a:rPr sz="1150" b="0" i="0">
                <a:solidFill>
                  <a:srgbClr val="4A2A38"/>
                </a:solidFill>
                <a:latin typeface="Vazir"/>
                <a:cs typeface="Vazir"/>
              </a:rPr>
              <a:t>K = argtop-k { s_t } ,   z = (1/k) Σ_{t∈K} f( x_t )</a:t>
            </a:r>
          </a:p>
          <a:p>
            <a:pPr rtl="1" algn="r">
              <a:lnSpc>
                <a:spcPts val="1800"/>
              </a:lnSpc>
              <a:spcBef>
                <a:spcPts val="0"/>
              </a:spcBef>
              <a:spcAft>
                <a:spcPts val="300"/>
              </a:spcAft>
            </a:pPr>
            <a:r>
              <a:rPr sz="1150" b="0" i="0">
                <a:solidFill>
                  <a:srgbClr val="4A2A38"/>
                </a:solidFill>
                <a:latin typeface="Vazir"/>
                <a:cs typeface="Vazir"/>
              </a:rPr>
              <a:t/>
            </a:r>
          </a:p>
          <a:p>
            <a:pPr rtl="1" algn="r">
              <a:lnSpc>
                <a:spcPts val="1800"/>
              </a:lnSpc>
              <a:spcBef>
                <a:spcPts val="0"/>
              </a:spcBef>
              <a:spcAft>
                <a:spcPts val="300"/>
              </a:spcAft>
            </a:pPr>
            <a:r>
              <a:rPr sz="1150" b="0" i="0">
                <a:solidFill>
                  <a:srgbClr val="4A2A38"/>
                </a:solidFill>
                <a:latin typeface="Vazir"/>
                <a:cs typeface="Vazir"/>
              </a:rPr>
              <a:t>زیان با وزن کلاس و دو جمله‌ی تنظیم:</a:t>
            </a:r>
          </a:p>
          <a:p>
            <a:pPr rtl="1" algn="r">
              <a:lnSpc>
                <a:spcPts val="1800"/>
              </a:lnSpc>
              <a:spcBef>
                <a:spcPts val="0"/>
              </a:spcBef>
              <a:spcAft>
                <a:spcPts val="300"/>
              </a:spcAft>
            </a:pPr>
            <a:r>
              <a:rPr sz="1150" b="0" i="0">
                <a:solidFill>
                  <a:srgbClr val="4A2A38"/>
                </a:solidFill>
                <a:latin typeface="Vazir"/>
                <a:cs typeface="Vazir"/>
              </a:rPr>
              <a:t>L = CE( z , Y ; w ) + λ_s Σ (a_{t+1} − a_t)² + λ_p Σ a_t</a:t>
            </a:r>
          </a:p>
        </p:txBody>
      </p:sp>
      <p:sp>
        <p:nvSpPr>
          <p:cNvPr id="13" name="Rectangle 12"/>
          <p:cNvSpPr/>
          <p:nvPr/>
        </p:nvSpPr>
        <p:spPr>
          <a:xfrm>
            <a:off x="548640" y="4983480"/>
            <a:ext cx="11064240" cy="1371600"/>
          </a:xfrm>
          <a:prstGeom prst="rect">
            <a:avLst/>
          </a:prstGeom>
          <a:solidFill>
            <a:srgbClr val="E4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68680" y="5138928"/>
            <a:ext cx="10424160" cy="320040"/>
          </a:xfrm>
          <a:prstGeom prst="rect">
            <a:avLst/>
          </a:prstGeom>
          <a:noFill/>
        </p:spPr>
        <p:txBody>
          <a:bodyPr wrap="square" anchor="t" lIns="0" rIns="0" tIns="0" bIns="0">
            <a:spAutoFit/>
          </a:bodyPr>
          <a:lstStyle/>
          <a:p>
            <a:pPr rtl="1" algn="r">
              <a:spcBef>
                <a:spcPts val="0"/>
              </a:spcBef>
              <a:spcAft>
                <a:spcPts val="0"/>
              </a:spcAft>
            </a:pPr>
            <a:r>
              <a:rPr sz="1400" b="1" i="0">
                <a:solidFill>
                  <a:srgbClr val="4E9E90"/>
                </a:solidFill>
                <a:latin typeface="Vazir"/>
                <a:cs typeface="Vazir"/>
              </a:rPr>
              <a:t>سهم روش‌شناختی این پژوهش</a:t>
            </a:r>
          </a:p>
        </p:txBody>
      </p:sp>
      <p:sp>
        <p:nvSpPr>
          <p:cNvPr id="15" name="TextBox 14"/>
          <p:cNvSpPr txBox="1"/>
          <p:nvPr/>
        </p:nvSpPr>
        <p:spPr>
          <a:xfrm>
            <a:off x="868680" y="5486400"/>
            <a:ext cx="10424160" cy="77724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4A2A38"/>
                </a:solidFill>
                <a:latin typeface="Vazir"/>
                <a:cs typeface="Vazir"/>
              </a:rPr>
              <a:t>در فرمول‌بندی دودویی، انتخاب نمونه‌های برتر روی یک کانال انجام می‌شود. در تعمیم چهارده‌کلاسه، اعمال مستقل آن بر هر کانال سبب می‌شود کانال کلاس عادی از عادی‌ترین نمونه‌های یک کیف ناهنجار ساخته شود و نوفه‌ی برچسب سامانمند وارد آموزش گردد. ما رتبه‌بندی را یک بار بر پایه‌ی s_t انجام می‌دهیم و همان زیرمجموعه را برای تمام کانال‌ها به کار می‌بریم.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Vazir"/>
                <a:cs typeface="Vazir"/>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9E3C67"/>
                </a:solidFill>
                <a:latin typeface="Vazir"/>
                <a:cs typeface="Vazir"/>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C9799F"/>
                </a:solidFill>
                <a:latin typeface="Vazir"/>
                <a:cs typeface="Vazir"/>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Vazir"/>
                <a:cs typeface="Vazir"/>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06</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X-CLIP چطور کار می‌کند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sp>
        <p:nvSpPr>
          <p:cNvPr id="6" name="Rectangle 5"/>
          <p:cNvSpPr/>
          <p:nvPr/>
        </p:nvSpPr>
        <p:spPr>
          <a:xfrm>
            <a:off x="548640" y="1600200"/>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1</a:t>
            </a:r>
          </a:p>
        </p:txBody>
      </p:sp>
      <p:sp>
        <p:nvSpPr>
          <p:cNvPr id="8" name="TextBox 7"/>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Vazir"/>
                <a:cs typeface="Vazir"/>
              </a:rPr>
              <a:t>CLIP روی جفت عکس و متن آموزش دیده</a:t>
            </a:r>
          </a:p>
        </p:txBody>
      </p:sp>
      <p:sp>
        <p:nvSpPr>
          <p:cNvPr id="9" name="TextBox 8"/>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عکس و توضیحش در یک فضای مشترک نزدیک هم می‌افتند</a:t>
            </a:r>
          </a:p>
        </p:txBody>
      </p:sp>
      <p:sp>
        <p:nvSpPr>
          <p:cNvPr id="10" name="Rectangle 9"/>
          <p:cNvSpPr/>
          <p:nvPr/>
        </p:nvSpPr>
        <p:spPr>
          <a:xfrm>
            <a:off x="548640" y="2715768"/>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98480" y="2871215"/>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2</a:t>
            </a:r>
          </a:p>
        </p:txBody>
      </p:sp>
      <p:sp>
        <p:nvSpPr>
          <p:cNvPr id="12" name="TextBox 11"/>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Vazir"/>
                <a:cs typeface="Vazir"/>
              </a:rPr>
              <a:t>طبقه‌بندی بدون آموزش</a:t>
            </a:r>
          </a:p>
        </p:txBody>
      </p:sp>
      <p:sp>
        <p:nvSpPr>
          <p:cNvPr id="13" name="TextBox 12"/>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اسم هر کلاس به بردار تبدیل می‌شود و نزدیک‌ترین برنده است</a:t>
            </a:r>
          </a:p>
        </p:txBody>
      </p:sp>
      <p:sp>
        <p:nvSpPr>
          <p:cNvPr id="14" name="Rectangle 13"/>
          <p:cNvSpPr/>
          <p:nvPr/>
        </p:nvSpPr>
        <p:spPr>
          <a:xfrm>
            <a:off x="548640" y="3831335"/>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698480" y="3986783"/>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3</a:t>
            </a:r>
          </a:p>
        </p:txBody>
      </p:sp>
      <p:sp>
        <p:nvSpPr>
          <p:cNvPr id="16" name="TextBox 15"/>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Vazir"/>
                <a:cs typeface="Vazir"/>
              </a:rPr>
              <a:t>X-CLIP بخش زمانی اضافه می‌کند</a:t>
            </a:r>
          </a:p>
        </p:txBody>
      </p:sp>
      <p:sp>
        <p:nvSpPr>
          <p:cNvPr id="17" name="TextBox 16"/>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حالا ورودی ویدیو است، نه یک عکس تنها</a:t>
            </a:r>
          </a:p>
        </p:txBody>
      </p:sp>
      <p:sp>
        <p:nvSpPr>
          <p:cNvPr id="18" name="Rectangle 17"/>
          <p:cNvSpPr/>
          <p:nvPr/>
        </p:nvSpPr>
        <p:spPr>
          <a:xfrm>
            <a:off x="548640" y="4946904"/>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0" y="510235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94F8C"/>
                </a:solidFill>
                <a:latin typeface="Vazir"/>
                <a:cs typeface="Vazir"/>
              </a:rPr>
              <a:t>4</a:t>
            </a:r>
          </a:p>
        </p:txBody>
      </p:sp>
      <p:sp>
        <p:nvSpPr>
          <p:cNvPr id="20" name="TextBox 19"/>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Vazir"/>
                <a:cs typeface="Vazir"/>
              </a:rPr>
              <a:t>در پروژه ما</a:t>
            </a:r>
          </a:p>
        </p:txBody>
      </p:sp>
      <p:sp>
        <p:nvSpPr>
          <p:cNvPr id="21" name="TextBox 20"/>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Vazir"/>
                <a:cs typeface="Vazir"/>
              </a:rPr>
              <a:t>بردار ویدیو با ۱۴ بردار متنی مقایسه می‌شود</a:t>
            </a:r>
          </a:p>
        </p:txBody>
      </p:sp>
      <p:sp>
        <p:nvSpPr>
          <p:cNvPr id="22" name="TextBox 21"/>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Vazir"/>
                <a:cs typeface="Vazir"/>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07</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سه اشکال بنیادی که پیدا و اصلاح شد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sp>
        <p:nvSpPr>
          <p:cNvPr id="6" name="Rectangle 5"/>
          <p:cNvSpPr/>
          <p:nvPr/>
        </p:nvSpPr>
        <p:spPr>
          <a:xfrm>
            <a:off x="8092440"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Vazir"/>
                <a:cs typeface="Vazir"/>
              </a:rPr>
              <a:t>1</a:t>
            </a:r>
          </a:p>
        </p:txBody>
      </p:sp>
      <p:sp>
        <p:nvSpPr>
          <p:cNvPr id="8" name="TextBox 7"/>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Vazir"/>
                <a:cs typeface="Vazir"/>
              </a:rPr>
              <a:t>میانگین‌گیری در ارزیابی</a:t>
            </a:r>
          </a:p>
        </p:txBody>
      </p:sp>
      <p:sp>
        <p:nvSpPr>
          <p:cNvPr id="9" name="TextBox 8"/>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Vazir"/>
                <a:cs typeface="Vazir"/>
              </a:rPr>
              <a:t>احتمال هر ۱۶ قطعه میانگین گرفته می‌شد. در ویدیوی ناهنجار، قطعه‌های عادی شواهد را خفه می‌کردند و تقریباً همه چیز عادی پیش‌بینی می‌شد.</a:t>
            </a:r>
          </a:p>
        </p:txBody>
      </p:sp>
      <p:sp>
        <p:nvSpPr>
          <p:cNvPr id="10" name="TextBox 9"/>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Vazir"/>
                <a:cs typeface="Vazir"/>
              </a:rPr>
              <a:t>اصلاح: تصمیم دومرحله‌ای با بیشینه</a:t>
            </a:r>
          </a:p>
        </p:txBody>
      </p:sp>
      <p:sp>
        <p:nvSpPr>
          <p:cNvPr id="11" name="Rectangle 10"/>
          <p:cNvSpPr/>
          <p:nvPr/>
        </p:nvSpPr>
        <p:spPr>
          <a:xfrm>
            <a:off x="4315968"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22007"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Vazir"/>
                <a:cs typeface="Vazir"/>
              </a:rPr>
              <a:t>2</a:t>
            </a:r>
          </a:p>
        </p:txBody>
      </p:sp>
      <p:sp>
        <p:nvSpPr>
          <p:cNvPr id="13" name="TextBox 12"/>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Vazir"/>
                <a:cs typeface="Vazir"/>
              </a:rPr>
              <a:t>فایل نمرات کهنه</a:t>
            </a:r>
          </a:p>
        </p:txBody>
      </p:sp>
      <p:sp>
        <p:nvSpPr>
          <p:cNvPr id="14" name="TextBox 13"/>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Vazir"/>
                <a:cs typeface="Vazir"/>
              </a:rPr>
              <a:t>کد هر فایل نمرات موجود را بازاستفاده می‌کرد. در یک گزارش، ۲۸۸ ویدیو از ۲۹۸ کنار گذاشته شده و عدد روی ده ویدیو حساب شده بود.</a:t>
            </a:r>
          </a:p>
        </p:txBody>
      </p:sp>
      <p:sp>
        <p:nvSpPr>
          <p:cNvPr id="15" name="TextBox 14"/>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Vazir"/>
                <a:cs typeface="Vazir"/>
              </a:rPr>
              <a:t>اصلاح: بازمحاسبه پیش‌فرض</a:t>
            </a:r>
          </a:p>
        </p:txBody>
      </p:sp>
      <p:sp>
        <p:nvSpPr>
          <p:cNvPr id="16" name="Rectangle 15"/>
          <p:cNvSpPr/>
          <p:nvPr/>
        </p:nvSpPr>
        <p:spPr>
          <a:xfrm>
            <a:off x="539495"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45535"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Vazir"/>
                <a:cs typeface="Vazir"/>
              </a:rPr>
              <a:t>3</a:t>
            </a:r>
          </a:p>
        </p:txBody>
      </p:sp>
      <p:sp>
        <p:nvSpPr>
          <p:cNvPr id="18" name="TextBox 17"/>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Vazir"/>
                <a:cs typeface="Vazir"/>
              </a:rPr>
              <a:t>انتخاب قطعه برتر به تفکیک کلاس</a:t>
            </a:r>
          </a:p>
        </p:txBody>
      </p:sp>
      <p:sp>
        <p:nvSpPr>
          <p:cNvPr id="19" name="TextBox 18"/>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Vazir"/>
                <a:cs typeface="Vazir"/>
              </a:rPr>
              <a:t>کانال عادی از عادی‌ترین قطعه‌های یک ویدیوی سرقت ساخته می‌شد. نویز برچسب سیستماتیک وارد آموزش می‌شد.</a:t>
            </a:r>
          </a:p>
        </p:txBody>
      </p:sp>
      <p:sp>
        <p:nvSpPr>
          <p:cNvPr id="20" name="TextBox 19"/>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Vazir"/>
                <a:cs typeface="Vazir"/>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08</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تصمیم دومرحله‌ای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sp>
        <p:nvSpPr>
          <p:cNvPr id="6" name="Rectangle 5"/>
          <p:cNvSpPr/>
          <p:nvPr/>
        </p:nvSpPr>
        <p:spPr>
          <a:xfrm>
            <a:off x="548640" y="1600200"/>
            <a:ext cx="5394960" cy="22860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Vazir"/>
                <a:cs typeface="Vazir"/>
              </a:rPr>
              <a:t>مرحله اول: آیا ناهنجار است؟</a:t>
            </a:r>
          </a:p>
        </p:txBody>
      </p:sp>
      <p:sp>
        <p:nvSpPr>
          <p:cNvPr id="8" name="TextBox 7"/>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Vazir"/>
                <a:cs typeface="Vazir"/>
              </a:rPr>
              <a:t>بیشینه روی ۱۶ قطعه از مقدار «۱ منهای احتمال عادی»، در مقایسه با آستانه ۰٫۵</a:t>
            </a:r>
          </a:p>
        </p:txBody>
      </p:sp>
      <p:sp>
        <p:nvSpPr>
          <p:cNvPr id="9" name="TextBox 8"/>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9B7A88"/>
                </a:solidFill>
                <a:latin typeface="Vazir"/>
                <a:cs typeface="Vazir"/>
              </a:rPr>
              <a:t>چرا بیشینه و نه میانگین: یک قطعه مشکوک کافی است، چون رویداد فقط چند ثانیه است</a:t>
            </a:r>
          </a:p>
        </p:txBody>
      </p:sp>
      <p:sp>
        <p:nvSpPr>
          <p:cNvPr id="10" name="Rectangle 9"/>
          <p:cNvSpPr/>
          <p:nvPr/>
        </p:nvSpPr>
        <p:spPr>
          <a:xfrm>
            <a:off x="6217920" y="1600200"/>
            <a:ext cx="5394960" cy="22860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مرحله دوم: کدام نوع؟</a:t>
            </a:r>
          </a:p>
        </p:txBody>
      </p:sp>
      <p:sp>
        <p:nvSpPr>
          <p:cNvPr id="12" name="TextBox 11"/>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Vazir"/>
                <a:cs typeface="Vazir"/>
              </a:rPr>
              <a:t>رأی‌گیری میانگین چهار قطعه برتر، تنها میان ۱۳ کلاس ناهنجار</a:t>
            </a:r>
          </a:p>
        </p:txBody>
      </p:sp>
      <p:sp>
        <p:nvSpPr>
          <p:cNvPr id="13" name="TextBox 12"/>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9B7A88"/>
                </a:solidFill>
                <a:latin typeface="Vazir"/>
                <a:cs typeface="Vazir"/>
              </a:rPr>
              <a:t>کلاس عادی در این مرحله اصلاً وارد رقابت نمی‌شود</a:t>
            </a:r>
          </a:p>
        </p:txBody>
      </p:sp>
      <p:sp>
        <p:nvSpPr>
          <p:cNvPr id="14" name="TextBox 13"/>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Vazir"/>
                <a:cs typeface="Vazir"/>
              </a:rPr>
              <a:t>مثال عددی: ویدیوی سرقت، رویداد در قطعه‌های ۴ و ۵</a:t>
            </a:r>
          </a:p>
        </p:txBody>
      </p:sp>
      <p:graphicFrame>
        <p:nvGraphicFramePr>
          <p:cNvPr id="15" name="Table 14"/>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300" b="1" i="0">
                          <a:solidFill>
                            <a:srgbClr val="D94F8C"/>
                          </a:solidFill>
                          <a:latin typeface="Vazir"/>
                          <a:cs typeface="Vazir"/>
                        </a:rPr>
                        <a:t>روش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Vazir"/>
                          <a:cs typeface="Vazir"/>
                        </a:rPr>
                        <a:t>نمره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Vazir"/>
                          <a:cs typeface="Vazir"/>
                        </a:rPr>
                        <a:t>در برابر آستانه ۰٫۵</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Vazir"/>
                          <a:cs typeface="Vazir"/>
                        </a:rPr>
                        <a:t>تصمیم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300" b="0" i="0">
                          <a:solidFill>
                            <a:srgbClr val="4A2A38"/>
                          </a:solidFill>
                          <a:latin typeface="Vazir"/>
                          <a:cs typeface="Vazir"/>
                        </a:rPr>
                        <a:t>میانگین‌گیری روی ۸ قطعه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Vazir"/>
                          <a:cs typeface="Vazir"/>
                        </a:rPr>
                        <a:t>0.26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Vazir"/>
                          <a:cs typeface="Vazir"/>
                        </a:rPr>
                        <a:t>زیر آستانه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Vazir"/>
                          <a:cs typeface="Vazir"/>
                        </a:rPr>
                        <a:t>عادی — غلط</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1" i="0">
                          <a:solidFill>
                            <a:srgbClr val="C53D7C"/>
                          </a:solidFill>
                          <a:latin typeface="Vazir"/>
                          <a:cs typeface="Vazir"/>
                        </a:rPr>
                        <a:t>بیشینه روی همان ۸ قطعه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Vazir"/>
                          <a:cs typeface="Vazir"/>
                        </a:rPr>
                        <a:t>0.85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Vazir"/>
                          <a:cs typeface="Vazir"/>
                        </a:rPr>
                        <a:t>بالای آستانه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Vazir"/>
                          <a:cs typeface="Vazir"/>
                        </a:rPr>
                        <a:t>ناهنجار — درست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09</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کلاسی که مدل یاد گرفت هرگز نگوید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sp>
        <p:nvSpPr>
          <p:cNvPr id="6" name="TextBox 5"/>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Vazir"/>
                <a:cs typeface="Vazir"/>
              </a:rPr>
              <a:t>به‌جای شمردن پیش‌بینی‌های درست، شمردیم مدل هر کلاس را چند بار پیش‌بینی می‌کند.</a:t>
            </a:r>
          </a:p>
        </p:txBody>
      </p:sp>
      <p:graphicFrame>
        <p:nvGraphicFramePr>
          <p:cNvPr id="7" name="Table 6"/>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ویدیوی واقعی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چند بار پیش‌بینی 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نسبت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65760">
                <a:tc>
                  <a:txBody>
                    <a:bodyPr wrap="square"/>
                    <a:lstStyle/>
                    <a:p>
                      <a:pPr rtl="1" algn="r">
                        <a:spcBef>
                          <a:spcPts val="0"/>
                        </a:spcBef>
                        <a:spcAft>
                          <a:spcPts val="0"/>
                        </a:spcAft>
                      </a:pPr>
                      <a:r>
                        <a:rPr sz="1200" b="1" i="0">
                          <a:solidFill>
                            <a:srgbClr val="C53D7C"/>
                          </a:solidFill>
                          <a:latin typeface="Vazir"/>
                          <a:cs typeface="Vazir"/>
                        </a:rPr>
                        <a:t>Fighting — درگیری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0.25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65760">
                <a:tc>
                  <a:txBody>
                    <a:bodyPr wrap="square"/>
                    <a:lstStyle/>
                    <a:p>
                      <a:pPr rtl="1" algn="r">
                        <a:spcBef>
                          <a:spcPts val="0"/>
                        </a:spcBef>
                        <a:spcAft>
                          <a:spcPts val="0"/>
                        </a:spcAft>
                      </a:pPr>
                      <a:r>
                        <a:rPr sz="1200" b="0" i="0">
                          <a:solidFill>
                            <a:srgbClr val="4A2A38"/>
                          </a:solidFill>
                          <a:latin typeface="Vazir"/>
                          <a:cs typeface="Vazir"/>
                        </a:rPr>
                        <a:t>Assault — تعرض</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0.38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00" b="0" i="0">
                          <a:solidFill>
                            <a:srgbClr val="4A2A38"/>
                          </a:solidFill>
                          <a:latin typeface="Vazir"/>
                          <a:cs typeface="Vazir"/>
                        </a:rPr>
                        <a:t>Vandalism — تخریب</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0.62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00" b="0" i="0">
                          <a:solidFill>
                            <a:srgbClr val="4A2A38"/>
                          </a:solidFill>
                          <a:latin typeface="Vazir"/>
                          <a:cs typeface="Vazir"/>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20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1.33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00" b="0" i="0">
                          <a:solidFill>
                            <a:srgbClr val="4A2A38"/>
                          </a:solidFill>
                          <a:latin typeface="Vazir"/>
                          <a:cs typeface="Vazir"/>
                        </a:rPr>
                        <a:t>RoadAccidents — تصادف</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39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1.70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8" name="Rectangle 7"/>
          <p:cNvSpPr/>
          <p:nvPr/>
        </p:nvSpPr>
        <p:spPr>
          <a:xfrm>
            <a:off x="7498079" y="2148840"/>
            <a:ext cx="4114800" cy="1874519"/>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تشخیص</a:t>
            </a:r>
          </a:p>
        </p:txBody>
      </p:sp>
      <p:sp>
        <p:nvSpPr>
          <p:cNvPr id="10" name="TextBox 9"/>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Vazir"/>
                <a:cs typeface="Vazir"/>
              </a:rPr>
              <a:t>مدل روی درگیری شکست نخورده بود. یاد گرفته بود هرگز نگوید درگیری، چون گفتنش شرط‌بندی بدی بود.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علت ریشه‌ای</a:t>
            </a:r>
          </a:p>
        </p:txBody>
      </p:sp>
      <p:sp>
        <p:nvSpPr>
          <p:cNvPr id="12" name="TextBox 11"/>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Vazir"/>
                <a:cs typeface="Vazir"/>
              </a:rPr>
              <a:t>●  تابع وزن‌دهی کلاس در کد وجود داشت ولی هیچ‌جا صدا زده نمی‌شد.</a:t>
            </a:r>
          </a:p>
          <a:p>
            <a:pPr rtl="1" algn="r">
              <a:lnSpc>
                <a:spcPts val="1900"/>
              </a:lnSpc>
              <a:spcBef>
                <a:spcPts val="0"/>
              </a:spcBef>
              <a:spcAft>
                <a:spcPts val="700"/>
              </a:spcAft>
            </a:pPr>
            <a:r>
              <a:rPr sz="1300" b="0" i="0">
                <a:solidFill>
                  <a:srgbClr val="4A2A38"/>
                </a:solidFill>
                <a:latin typeface="Vazir"/>
                <a:cs typeface="Vazir"/>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4A2A38"/>
                </a:solidFill>
                <a:latin typeface="Vazir"/>
                <a:cs typeface="Vazir"/>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10</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محدودیت بنیادی: هندسه فضای متنی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Vazir"/>
                <a:cs typeface="Vazir"/>
              </a:rPr>
              <a:t>اسم خام کلاس‌ها در فضای زبانی CLIP تقریباً هم‌راستا هستند و سقفی مستقل از کیفیت تصویری تحمیل می‌کنند.</a:t>
            </a:r>
          </a:p>
        </p:txBody>
      </p:sp>
      <p:graphicFrame>
        <p:nvGraphicFramePr>
          <p:cNvPr id="7" name="Table 6"/>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300" b="1" i="0">
                          <a:solidFill>
                            <a:srgbClr val="D94F8C"/>
                          </a:solidFill>
                          <a:latin typeface="Vazir"/>
                          <a:cs typeface="Vazir"/>
                        </a:rPr>
                        <a:t>جفت 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Vazir"/>
                          <a:cs typeface="Vazir"/>
                        </a:rPr>
                        <a:t>شباهت کسینوسی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300" b="0" i="0">
                          <a:solidFill>
                            <a:srgbClr val="4A2A38"/>
                          </a:solidFill>
                          <a:latin typeface="Vazir"/>
                          <a:cs typeface="Vazir"/>
                        </a:rPr>
                        <a:t>Abuse  /  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Vazir"/>
                          <a:cs typeface="Vazir"/>
                        </a:rPr>
                        <a:t>0.91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0" i="0">
                          <a:solidFill>
                            <a:srgbClr val="4A2A38"/>
                          </a:solidFill>
                          <a:latin typeface="Vazir"/>
                          <a:cs typeface="Vazir"/>
                        </a:rPr>
                        <a:t>Assault  /  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300" b="0" i="0">
                          <a:solidFill>
                            <a:srgbClr val="4A2A38"/>
                          </a:solidFill>
                          <a:latin typeface="Vazir"/>
                          <a:cs typeface="Vazir"/>
                        </a:rPr>
                        <a:t>0.91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84048">
                <a:tc>
                  <a:txBody>
                    <a:bodyPr wrap="square"/>
                    <a:lstStyle/>
                    <a:p>
                      <a:pPr rtl="1" algn="r">
                        <a:spcBef>
                          <a:spcPts val="0"/>
                        </a:spcBef>
                        <a:spcAft>
                          <a:spcPts val="0"/>
                        </a:spcAft>
                      </a:pPr>
                      <a:r>
                        <a:rPr sz="1300" b="0" i="0">
                          <a:solidFill>
                            <a:srgbClr val="4A2A38"/>
                          </a:solidFill>
                          <a:latin typeface="Vazir"/>
                          <a:cs typeface="Vazir"/>
                        </a:rPr>
                        <a:t>Fighting  /  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Vazir"/>
                          <a:cs typeface="Vazir"/>
                        </a:rPr>
                        <a:t>0.90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1" i="0">
                          <a:solidFill>
                            <a:srgbClr val="C53D7C"/>
                          </a:solidFill>
                          <a:latin typeface="Vazir"/>
                          <a:cs typeface="Vazir"/>
                        </a:rPr>
                        <a:t>میانگین همه جفت‌ها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Vazir"/>
                          <a:cs typeface="Vazir"/>
                        </a:rPr>
                        <a:t>0.83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8" name="Rectangle 7"/>
          <p:cNvSpPr/>
          <p:nvPr/>
        </p:nvSpPr>
        <p:spPr>
          <a:xfrm>
            <a:off x="5852160" y="2148840"/>
            <a:ext cx="5760720" cy="1874519"/>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آزمایش تعیین‌کننده</a:t>
            </a:r>
          </a:p>
        </p:txBody>
      </p:sp>
      <p:sp>
        <p:nvSpPr>
          <p:cNvPr id="10" name="TextBox 9"/>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Vazir"/>
                <a:cs typeface="Vazir"/>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راه حل: توصیف بصری به‌جای اسم حقوقی</a:t>
            </a:r>
          </a:p>
        </p:txBody>
      </p:sp>
      <p:sp>
        <p:nvSpPr>
          <p:cNvPr id="12" name="Rectangle 11"/>
          <p:cNvSpPr/>
          <p:nvPr/>
        </p:nvSpPr>
        <p:spPr>
          <a:xfrm>
            <a:off x="548640" y="4663440"/>
            <a:ext cx="5486400" cy="12801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پیش از تغییر</a:t>
            </a:r>
          </a:p>
        </p:txBody>
      </p:sp>
      <p:sp>
        <p:nvSpPr>
          <p:cNvPr id="14" name="TextBox 13"/>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D4596B"/>
                </a:solidFill>
                <a:latin typeface="Vazir"/>
                <a:cs typeface="Vazir"/>
              </a:rPr>
              <a:t>"Burglary"</a:t>
            </a:r>
          </a:p>
        </p:txBody>
      </p:sp>
      <p:sp>
        <p:nvSpPr>
          <p:cNvPr id="15" name="TextBox 14"/>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4A2A38"/>
                </a:solidFill>
                <a:latin typeface="Vazir"/>
                <a:cs typeface="Vazir"/>
              </a:rPr>
              <a:t>سقف اندازه‌گیری‌شده: 0.44</a:t>
            </a:r>
          </a:p>
        </p:txBody>
      </p:sp>
      <p:sp>
        <p:nvSpPr>
          <p:cNvPr id="16" name="Rectangle 15"/>
          <p:cNvSpPr/>
          <p:nvPr/>
        </p:nvSpPr>
        <p:spPr>
          <a:xfrm>
            <a:off x="6309360" y="4663440"/>
            <a:ext cx="5303520" cy="1280160"/>
          </a:xfrm>
          <a:prstGeom prst="rect">
            <a:avLst/>
          </a:prstGeom>
          <a:solidFill>
            <a:srgbClr val="E4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پس از تغییر</a:t>
            </a:r>
          </a:p>
        </p:txBody>
      </p:sp>
      <p:sp>
        <p:nvSpPr>
          <p:cNvPr id="18" name="TextBox 17"/>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4E9E90"/>
                </a:solidFill>
                <a:latin typeface="Vazir"/>
                <a:cs typeface="Vazir"/>
              </a:rPr>
              <a:t>"a burglar climbing through a broken window"</a:t>
            </a:r>
          </a:p>
        </p:txBody>
      </p:sp>
      <p:sp>
        <p:nvSpPr>
          <p:cNvPr id="19" name="TextBox 18"/>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4A2A38"/>
                </a:solidFill>
                <a:latin typeface="Vazir"/>
                <a:cs typeface="Vazir"/>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نتایج مسیر اول</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اول</a:t>
            </a:r>
          </a:p>
        </p:txBody>
      </p:sp>
      <p:graphicFrame>
        <p:nvGraphicFramePr>
          <p:cNvPr id="6" name="Table 5"/>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50" b="1" i="0">
                          <a:solidFill>
                            <a:srgbClr val="D94F8C"/>
                          </a:solidFill>
                          <a:latin typeface="Vazir"/>
                          <a:cs typeface="Vazir"/>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AUC دودویی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صحت کلی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402336">
                <a:tc>
                  <a:txBody>
                    <a:bodyPr wrap="square"/>
                    <a:lstStyle/>
                    <a:p>
                      <a:pPr rtl="1" algn="r">
                        <a:spcBef>
                          <a:spcPts val="0"/>
                        </a:spcBef>
                        <a:spcAft>
                          <a:spcPts val="0"/>
                        </a:spcAft>
                      </a:pPr>
                      <a:r>
                        <a:rPr sz="1250" b="0" i="0">
                          <a:solidFill>
                            <a:srgbClr val="4A2A38"/>
                          </a:solidFill>
                          <a:latin typeface="Vazir"/>
                          <a:cs typeface="Vazir"/>
                        </a:rPr>
                        <a:t>اجرای پایه — اسم خام، وزن دستی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0.9473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0.3327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0.3716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0.6385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402336">
                <a:tc>
                  <a:txBody>
                    <a:bodyPr wrap="square"/>
                    <a:lstStyle/>
                    <a:p>
                      <a:pPr rtl="1" algn="r">
                        <a:spcBef>
                          <a:spcPts val="0"/>
                        </a:spcBef>
                        <a:spcAft>
                          <a:spcPts val="0"/>
                        </a:spcAft>
                      </a:pPr>
                      <a:r>
                        <a:rPr sz="1250" b="0" i="0">
                          <a:solidFill>
                            <a:srgbClr val="4A2A38"/>
                          </a:solidFill>
                          <a:latin typeface="Vazir"/>
                          <a:cs typeface="Vazir"/>
                        </a:rPr>
                        <a:t>توصیف بصری + وزن معکوس فراوانی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0.9637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0.3713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0.4054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0.6351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402336">
                <a:tc>
                  <a:txBody>
                    <a:bodyPr wrap="square"/>
                    <a:lstStyle/>
                    <a:p>
                      <a:pPr rtl="1" algn="r">
                        <a:spcBef>
                          <a:spcPts val="0"/>
                        </a:spcBef>
                        <a:spcAft>
                          <a:spcPts val="0"/>
                        </a:spcAft>
                      </a:pPr>
                      <a:r>
                        <a:rPr sz="1250" b="1" i="0">
                          <a:solidFill>
                            <a:srgbClr val="C53D7C"/>
                          </a:solidFill>
                          <a:latin typeface="Vazir"/>
                          <a:cs typeface="Vazir"/>
                        </a:rPr>
                        <a:t>افزودن چهار نمای زمانی در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0.9629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0.3881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0.4257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0.6419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TextBox 6"/>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Vazir"/>
                <a:cs typeface="Vazir"/>
              </a:rPr>
              <a:t>کلاس‌هایی که از مرگ برگشتند</a:t>
            </a:r>
          </a:p>
        </p:txBody>
      </p:sp>
      <p:graphicFrame>
        <p:nvGraphicFramePr>
          <p:cNvPr id="8" name="Table 7"/>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150" b="1" i="0">
                          <a:solidFill>
                            <a:srgbClr val="D94F8C"/>
                          </a:solidFill>
                          <a:latin typeface="Vazir"/>
                          <a:cs typeface="Vazir"/>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F1 پیش از تغییر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F1 پس از تغییر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9184">
                <a:tc>
                  <a:txBody>
                    <a:bodyPr wrap="square"/>
                    <a:lstStyle/>
                    <a:p>
                      <a:pPr rtl="1" algn="r">
                        <a:spcBef>
                          <a:spcPts val="0"/>
                        </a:spcBef>
                        <a:spcAft>
                          <a:spcPts val="0"/>
                        </a:spcAft>
                      </a:pPr>
                      <a:r>
                        <a:rPr sz="1150" b="0" i="0">
                          <a:solidFill>
                            <a:srgbClr val="4A2A38"/>
                          </a:solidFill>
                          <a:latin typeface="Vazir"/>
                          <a:cs typeface="Vazir"/>
                        </a:rPr>
                        <a:t>Arrest — بازداشت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0.556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50" b="0" i="0">
                          <a:solidFill>
                            <a:srgbClr val="4A2A38"/>
                          </a:solidFill>
                          <a:latin typeface="Vazir"/>
                          <a:cs typeface="Vazir"/>
                        </a:rPr>
                        <a:t>Abuse — سوءاستفاده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0.462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50" b="0" i="0">
                          <a:solidFill>
                            <a:srgbClr val="4A2A38"/>
                          </a:solidFill>
                          <a:latin typeface="Vazir"/>
                          <a:cs typeface="Vazir"/>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0.200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0.350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50" b="0" i="0">
                          <a:solidFill>
                            <a:srgbClr val="4A2A38"/>
                          </a:solidFill>
                          <a:latin typeface="Vazir"/>
                          <a:cs typeface="Vazir"/>
                        </a:rPr>
                        <a:t>Vandalism — تخریب</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0.167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
        <p:nvSpPr>
          <p:cNvPr id="9" name="Rectangle 8"/>
          <p:cNvSpPr/>
          <p:nvPr/>
        </p:nvSpPr>
        <p:spPr>
          <a:xfrm>
            <a:off x="6400800" y="3611880"/>
            <a:ext cx="5212080" cy="233172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چرا از این مسیر فاصله گرفتیم</a:t>
            </a:r>
          </a:p>
        </p:txBody>
      </p:sp>
      <p:sp>
        <p:nvSpPr>
          <p:cNvPr id="11" name="TextBox 10"/>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4A2A38"/>
                </a:solidFill>
                <a:latin typeface="Vazir"/>
                <a:cs typeface="Vazir"/>
              </a:rPr>
              <a:t>●  هر پیکربندی حدود ۱۶ ساعت طول می‌کشید</a:t>
            </a:r>
          </a:p>
          <a:p>
            <a:pPr rtl="1" algn="r">
              <a:lnSpc>
                <a:spcPts val="1900"/>
              </a:lnSpc>
              <a:spcBef>
                <a:spcPts val="0"/>
              </a:spcBef>
              <a:spcAft>
                <a:spcPts val="700"/>
              </a:spcAft>
            </a:pPr>
            <a:r>
              <a:rPr sz="1200" b="0" i="0">
                <a:solidFill>
                  <a:srgbClr val="4A2A38"/>
                </a:solidFill>
                <a:latin typeface="Vazir"/>
                <a:cs typeface="Vazir"/>
              </a:rPr>
              <a:t>●  با این هزینه، آزمون سیستماتیک فرضیه‌ها ناممکن بود</a:t>
            </a:r>
          </a:p>
          <a:p>
            <a:pPr rtl="1" algn="r">
              <a:lnSpc>
                <a:spcPts val="1900"/>
              </a:lnSpc>
              <a:spcBef>
                <a:spcPts val="0"/>
              </a:spcBef>
              <a:spcAft>
                <a:spcPts val="700"/>
              </a:spcAft>
            </a:pPr>
            <a:r>
              <a:rPr sz="1200" b="0" i="0">
                <a:solidFill>
                  <a:srgbClr val="4A2A38"/>
                </a:solidFill>
                <a:latin typeface="Vazir"/>
                <a:cs typeface="Vazir"/>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Vazir"/>
                <a:cs typeface="Vazir"/>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9E3C67"/>
                </a:solidFill>
                <a:latin typeface="Vazir"/>
                <a:cs typeface="Vazir"/>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C9799F"/>
                </a:solidFill>
                <a:latin typeface="Vazir"/>
                <a:cs typeface="Vazir"/>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Vazir"/>
                <a:cs typeface="Vazir"/>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12</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VideoMAE چطور یاد گرفت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Rectangle 5"/>
          <p:cNvSpPr/>
          <p:nvPr/>
        </p:nvSpPr>
        <p:spPr>
          <a:xfrm>
            <a:off x="548640" y="1645920"/>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23759"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1</a:t>
            </a:r>
          </a:p>
        </p:txBody>
      </p:sp>
      <p:sp>
        <p:nvSpPr>
          <p:cNvPr id="8" name="TextBox 7"/>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Vazir"/>
                <a:cs typeface="Vazir"/>
              </a:rPr>
              <a:t>پوشاندن</a:t>
            </a:r>
          </a:p>
        </p:txBody>
      </p:sp>
      <p:sp>
        <p:nvSpPr>
          <p:cNvPr id="9" name="TextBox 8"/>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حدود ۹۰ درصد مکعب‌های فضازمانی پوشانده می‌شوند</a:t>
            </a:r>
          </a:p>
        </p:txBody>
      </p:sp>
      <p:sp>
        <p:nvSpPr>
          <p:cNvPr id="10" name="Rectangle 9"/>
          <p:cNvSpPr/>
          <p:nvPr/>
        </p:nvSpPr>
        <p:spPr>
          <a:xfrm>
            <a:off x="548640" y="2670048"/>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23759" y="2779776"/>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2</a:t>
            </a:r>
          </a:p>
        </p:txBody>
      </p:sp>
      <p:sp>
        <p:nvSpPr>
          <p:cNvPr id="12" name="TextBox 11"/>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Vazir"/>
                <a:cs typeface="Vazir"/>
              </a:rPr>
              <a:t>بازسازی</a:t>
            </a:r>
          </a:p>
        </p:txBody>
      </p:sp>
      <p:sp>
        <p:nvSpPr>
          <p:cNvPr id="13" name="TextBox 12"/>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رمزگذار فقط ۱۰ درصد باقی‌مانده را می‌بیند و رمزگشا جای خالی‌ها را حدس می‌زند</a:t>
            </a:r>
          </a:p>
        </p:txBody>
      </p:sp>
      <p:sp>
        <p:nvSpPr>
          <p:cNvPr id="14" name="Rectangle 13"/>
          <p:cNvSpPr/>
          <p:nvPr/>
        </p:nvSpPr>
        <p:spPr>
          <a:xfrm>
            <a:off x="548640" y="3694176"/>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23759" y="3803904"/>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Vazir"/>
                <a:cs typeface="Vazir"/>
              </a:rPr>
              <a:t>3</a:t>
            </a:r>
          </a:p>
        </p:txBody>
      </p:sp>
      <p:sp>
        <p:nvSpPr>
          <p:cNvPr id="16" name="TextBox 15"/>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Vazir"/>
                <a:cs typeface="Vazir"/>
              </a:rPr>
              <a:t>بدون برچسب</a:t>
            </a:r>
          </a:p>
        </p:txBody>
      </p:sp>
      <p:sp>
        <p:nvSpPr>
          <p:cNvPr id="17" name="TextBox 16"/>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خود ویدیو هم سؤال است و هم جواب، پس روی حجم عظیمی از داده ممکن است</a:t>
            </a:r>
          </a:p>
        </p:txBody>
      </p:sp>
      <p:sp>
        <p:nvSpPr>
          <p:cNvPr id="18" name="Rectangle 17"/>
          <p:cNvSpPr/>
          <p:nvPr/>
        </p:nvSpPr>
        <p:spPr>
          <a:xfrm>
            <a:off x="548640" y="4718304"/>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23759" y="482803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94F8C"/>
                </a:solidFill>
                <a:latin typeface="Vazir"/>
                <a:cs typeface="Vazir"/>
              </a:rPr>
              <a:t>4</a:t>
            </a:r>
          </a:p>
        </p:txBody>
      </p:sp>
      <p:sp>
        <p:nvSpPr>
          <p:cNvPr id="20" name="TextBox 19"/>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Vazir"/>
                <a:cs typeface="Vazir"/>
              </a:rPr>
              <a:t>دور انداختن رمزگشا</a:t>
            </a:r>
          </a:p>
        </p:txBody>
      </p:sp>
      <p:sp>
        <p:nvSpPr>
          <p:cNvPr id="21" name="TextBox 20"/>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پس از پیش‌آموزش تنها رمزگذار می‌ماند و روی Kinetics تنظیم می‌شود</a:t>
            </a:r>
          </a:p>
        </p:txBody>
      </p:sp>
      <p:sp>
        <p:nvSpPr>
          <p:cNvPr id="22" name="Rectangle 21"/>
          <p:cNvSpPr/>
          <p:nvPr/>
        </p:nvSpPr>
        <p:spPr>
          <a:xfrm>
            <a:off x="8412480" y="1645920"/>
            <a:ext cx="3200400" cy="40233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Vazir"/>
                <a:cs typeface="Vazir"/>
              </a:rPr>
              <a:t>تفاوت با X-CLIP</a:t>
            </a:r>
          </a:p>
        </p:txBody>
      </p:sp>
      <p:sp>
        <p:nvSpPr>
          <p:cNvPr id="24" name="TextBox 23"/>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4A2A38"/>
                </a:solidFill>
                <a:latin typeface="Vazir"/>
                <a:cs typeface="Vazir"/>
              </a:rPr>
              <a:t>X-CLIP از متن یاد گرفت.</a:t>
            </a:r>
          </a:p>
          <a:p>
            <a:pPr rtl="1" algn="r">
              <a:lnSpc>
                <a:spcPts val="2000"/>
              </a:lnSpc>
              <a:spcBef>
                <a:spcPts val="0"/>
              </a:spcBef>
              <a:spcAft>
                <a:spcPts val="0"/>
              </a:spcAft>
            </a:pPr>
            <a:r>
              <a:rPr sz="1250" b="0" i="0">
                <a:solidFill>
                  <a:srgbClr val="4A2A38"/>
                </a:solidFill>
                <a:latin typeface="Vazir"/>
                <a:cs typeface="Vazir"/>
              </a:rPr>
              <a:t/>
            </a:r>
          </a:p>
          <a:p>
            <a:pPr rtl="1" algn="r">
              <a:lnSpc>
                <a:spcPts val="2000"/>
              </a:lnSpc>
              <a:spcBef>
                <a:spcPts val="0"/>
              </a:spcBef>
              <a:spcAft>
                <a:spcPts val="0"/>
              </a:spcAft>
            </a:pPr>
            <a:r>
              <a:rPr sz="1250" b="0" i="0">
                <a:solidFill>
                  <a:srgbClr val="4A2A38"/>
                </a:solidFill>
                <a:latin typeface="Vazir"/>
                <a:cs typeface="Vazir"/>
              </a:rPr>
              <a:t>VideoMAE از خود ویدیو.</a:t>
            </a:r>
          </a:p>
          <a:p>
            <a:pPr rtl="1" algn="r">
              <a:lnSpc>
                <a:spcPts val="2000"/>
              </a:lnSpc>
              <a:spcBef>
                <a:spcPts val="0"/>
              </a:spcBef>
              <a:spcAft>
                <a:spcPts val="0"/>
              </a:spcAft>
            </a:pPr>
            <a:r>
              <a:rPr sz="1250" b="0" i="0">
                <a:solidFill>
                  <a:srgbClr val="4A2A38"/>
                </a:solidFill>
                <a:latin typeface="Vazir"/>
                <a:cs typeface="Vazir"/>
              </a:rPr>
              <a:t/>
            </a:r>
          </a:p>
          <a:p>
            <a:pPr rtl="1" algn="r">
              <a:lnSpc>
                <a:spcPts val="2000"/>
              </a:lnSpc>
              <a:spcBef>
                <a:spcPts val="0"/>
              </a:spcBef>
              <a:spcAft>
                <a:spcPts val="0"/>
              </a:spcAft>
            </a:pPr>
            <a:r>
              <a:rPr sz="1250" b="0" i="0">
                <a:solidFill>
                  <a:srgbClr val="4A2A38"/>
                </a:solidFill>
                <a:latin typeface="Vazir"/>
                <a:cs typeface="Vazir"/>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13</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مهم‌ترین تصمیم پروژه: یخ زدن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Vazir"/>
                <a:cs typeface="Vazir"/>
              </a:rPr>
              <a:t>چون رمزگذار آموزش نمی‌بیند، خروجی‌اش ثابت است. پس محاسبه مجددش در هر دوره کار تکراری محض است.</a:t>
            </a:r>
          </a:p>
        </p:txBody>
      </p:sp>
      <p:sp>
        <p:nvSpPr>
          <p:cNvPr id="7" name="TextBox 6"/>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4596B"/>
                </a:solidFill>
                <a:latin typeface="Vazir"/>
                <a:cs typeface="Vazir"/>
              </a:rPr>
              <a:t>16</a:t>
            </a:r>
          </a:p>
        </p:txBody>
      </p:sp>
      <p:sp>
        <p:nvSpPr>
          <p:cNvPr id="8" name="TextBox 7"/>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ساعت برای هر آزمایش — روش قدیم</a:t>
            </a:r>
          </a:p>
        </p:txBody>
      </p:sp>
      <p:sp>
        <p:nvSpPr>
          <p:cNvPr id="9" name="Left Arrow 8"/>
          <p:cNvSpPr/>
          <p:nvPr/>
        </p:nvSpPr>
        <p:spPr>
          <a:xfrm>
            <a:off x="6675120" y="2377440"/>
            <a:ext cx="1188720" cy="5029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Vazir"/>
                <a:cs typeface="Vazir"/>
              </a:rPr>
              <a:t>80</a:t>
            </a:r>
          </a:p>
        </p:txBody>
      </p:sp>
      <p:sp>
        <p:nvSpPr>
          <p:cNvPr id="11" name="TextBox 10"/>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ثانیه برای هر آزمایش — روش جدید</a:t>
            </a:r>
          </a:p>
        </p:txBody>
      </p:sp>
      <p:sp>
        <p:nvSpPr>
          <p:cNvPr id="12" name="TextBox 11"/>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200</a:t>
            </a:r>
          </a:p>
        </p:txBody>
      </p:sp>
      <p:sp>
        <p:nvSpPr>
          <p:cNvPr id="13" name="TextBox 12"/>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ارزیابی انجام‌شده</a:t>
            </a:r>
          </a:p>
        </p:txBody>
      </p:sp>
      <p:graphicFrame>
        <p:nvGraphicFramePr>
          <p:cNvPr id="14" name="Table 13"/>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50" b="1" i="0">
                          <a:solidFill>
                            <a:srgbClr val="D94F8C"/>
                          </a:solidFill>
                          <a:latin typeface="Vazir"/>
                          <a:cs typeface="Vazir"/>
                        </a:rPr>
                        <a:t>مورد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روش قدیم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روش جدید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0040">
                <a:tc>
                  <a:txBody>
                    <a:bodyPr wrap="square"/>
                    <a:lstStyle/>
                    <a:p>
                      <a:pPr rtl="1" algn="r">
                        <a:spcBef>
                          <a:spcPts val="0"/>
                        </a:spcBef>
                        <a:spcAft>
                          <a:spcPts val="0"/>
                        </a:spcAft>
                      </a:pPr>
                      <a:r>
                        <a:rPr sz="1250" b="0" i="0">
                          <a:solidFill>
                            <a:srgbClr val="4A2A38"/>
                          </a:solidFill>
                          <a:latin typeface="Vazir"/>
                          <a:cs typeface="Vazir"/>
                        </a:rPr>
                        <a:t>رمزگشایی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هر دوره تکرار می‌شد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یک بار، هرگز دوباره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0040">
                <a:tc>
                  <a:txBody>
                    <a:bodyPr wrap="square"/>
                    <a:lstStyle/>
                    <a:p>
                      <a:pPr rtl="1" algn="r">
                        <a:spcBef>
                          <a:spcPts val="0"/>
                        </a:spcBef>
                        <a:spcAft>
                          <a:spcPts val="0"/>
                        </a:spcAft>
                      </a:pPr>
                      <a:r>
                        <a:rPr sz="1250" b="0" i="0">
                          <a:solidFill>
                            <a:srgbClr val="4A2A38"/>
                          </a:solidFill>
                          <a:latin typeface="Vazir"/>
                          <a:cs typeface="Vazir"/>
                        </a:rPr>
                        <a:t>اجرای 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هر دوره تکرار می‌شد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یک بار، هرگز دوباره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0040">
                <a:tc>
                  <a:txBody>
                    <a:bodyPr wrap="square"/>
                    <a:lstStyle/>
                    <a:p>
                      <a:pPr rtl="1" algn="r">
                        <a:spcBef>
                          <a:spcPts val="0"/>
                        </a:spcBef>
                        <a:spcAft>
                          <a:spcPts val="0"/>
                        </a:spcAft>
                      </a:pPr>
                      <a:r>
                        <a:rPr sz="1250" b="0" i="0">
                          <a:solidFill>
                            <a:srgbClr val="4A2A38"/>
                          </a:solidFill>
                          <a:latin typeface="Vazir"/>
                          <a:cs typeface="Vazir"/>
                        </a:rPr>
                        <a:t>حجم داده ورودی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۷۰ گیگابایت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۹۳ مگابایت عدد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0040">
                <a:tc>
                  <a:txBody>
                    <a:bodyPr wrap="square"/>
                    <a:lstStyle/>
                    <a:p>
                      <a:pPr rtl="1" algn="r">
                        <a:spcBef>
                          <a:spcPts val="0"/>
                        </a:spcBef>
                        <a:spcAft>
                          <a:spcPts val="0"/>
                        </a:spcAft>
                      </a:pPr>
                      <a:r>
                        <a:rPr sz="1250" b="0" i="0">
                          <a:solidFill>
                            <a:srgbClr val="4A2A38"/>
                          </a:solidFill>
                          <a:latin typeface="Vazir"/>
                          <a:cs typeface="Vazir"/>
                        </a:rPr>
                        <a:t>پارامترهای آموزش‌پذیر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حدود ۳۰۰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۴٫۸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0040">
                <a:tc>
                  <a:txBody>
                    <a:bodyPr wrap="square"/>
                    <a:lstStyle/>
                    <a:p>
                      <a:pPr rtl="1" algn="r">
                        <a:spcBef>
                          <a:spcPts val="0"/>
                        </a:spcBef>
                        <a:spcAft>
                          <a:spcPts val="0"/>
                        </a:spcAft>
                      </a:pPr>
                      <a:r>
                        <a:rPr sz="1250" b="1" i="0">
                          <a:solidFill>
                            <a:srgbClr val="C53D7C"/>
                          </a:solidFill>
                          <a:latin typeface="Vazir"/>
                          <a:cs typeface="Vazir"/>
                        </a:rPr>
                        <a:t>زمان ۲۰۰ آزمایش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حدود ۱۳۳ روز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حدود ۴ ساعت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5" name="TextBox 14"/>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Vazir"/>
                <a:cs typeface="Vazir"/>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14</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خط لوله نهایی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Rectangle 5"/>
          <p:cNvSpPr/>
          <p:nvPr/>
        </p:nvSpPr>
        <p:spPr>
          <a:xfrm>
            <a:off x="9098280"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Vazir"/>
                <a:cs typeface="Vazir"/>
              </a:rPr>
              <a:t>ویدیوی خام</a:t>
            </a:r>
          </a:p>
        </p:txBody>
      </p:sp>
      <p:sp>
        <p:nvSpPr>
          <p:cNvPr id="8" name="TextBox 7"/>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۹۰۰۰ فریم</a:t>
            </a:r>
          </a:p>
          <a:p>
            <a:pPr rtl="1" algn="ctr">
              <a:lnSpc>
                <a:spcPts val="1700"/>
              </a:lnSpc>
              <a:spcBef>
                <a:spcPts val="0"/>
              </a:spcBef>
              <a:spcAft>
                <a:spcPts val="0"/>
              </a:spcAft>
            </a:pPr>
            <a:r>
              <a:rPr sz="1150" b="0" i="0">
                <a:solidFill>
                  <a:srgbClr val="9B7A88"/>
                </a:solidFill>
                <a:latin typeface="Vazir"/>
                <a:cs typeface="Vazir"/>
              </a:rPr>
              <a:t>۴۰ مگابایت</a:t>
            </a:r>
          </a:p>
        </p:txBody>
      </p:sp>
      <p:sp>
        <p:nvSpPr>
          <p:cNvPr id="9" name="Left Arrow 8"/>
          <p:cNvSpPr/>
          <p:nvPr/>
        </p:nvSpPr>
        <p:spPr>
          <a:xfrm>
            <a:off x="8842248"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17919"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Vazir"/>
                <a:cs typeface="Vazir"/>
              </a:rPr>
              <a:t>۱۶ قطعه</a:t>
            </a:r>
          </a:p>
        </p:txBody>
      </p:sp>
      <p:sp>
        <p:nvSpPr>
          <p:cNvPr id="12" name="TextBox 11"/>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هر قطعه ۱۶ فریم</a:t>
            </a:r>
          </a:p>
          <a:p>
            <a:pPr rtl="1" algn="ctr">
              <a:lnSpc>
                <a:spcPts val="1700"/>
              </a:lnSpc>
              <a:spcBef>
                <a:spcPts val="0"/>
              </a:spcBef>
              <a:spcAft>
                <a:spcPts val="0"/>
              </a:spcAft>
            </a:pPr>
            <a:r>
              <a:rPr sz="1150" b="0" i="0">
                <a:solidFill>
                  <a:srgbClr val="9B7A88"/>
                </a:solidFill>
                <a:latin typeface="Vazir"/>
                <a:cs typeface="Vazir"/>
              </a:rPr>
              <a:t>۲۲۴ در ۲۲۴</a:t>
            </a:r>
          </a:p>
        </p:txBody>
      </p:sp>
      <p:sp>
        <p:nvSpPr>
          <p:cNvPr id="13" name="Left Arrow 12"/>
          <p:cNvSpPr/>
          <p:nvPr/>
        </p:nvSpPr>
        <p:spPr>
          <a:xfrm>
            <a:off x="5961887"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37559" y="1737360"/>
            <a:ext cx="256032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Vazir"/>
                <a:cs typeface="Vazir"/>
              </a:rPr>
              <a:t>رمزگذار ViT-L</a:t>
            </a:r>
          </a:p>
        </p:txBody>
      </p:sp>
      <p:sp>
        <p:nvSpPr>
          <p:cNvPr id="16" name="TextBox 15"/>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منجمد</a:t>
            </a:r>
          </a:p>
          <a:p>
            <a:pPr rtl="1" algn="ctr">
              <a:lnSpc>
                <a:spcPts val="1700"/>
              </a:lnSpc>
              <a:spcBef>
                <a:spcPts val="0"/>
              </a:spcBef>
              <a:spcAft>
                <a:spcPts val="0"/>
              </a:spcAft>
            </a:pPr>
            <a:r>
              <a:rPr sz="1150" b="0" i="0">
                <a:solidFill>
                  <a:srgbClr val="9B7A88"/>
                </a:solidFill>
                <a:latin typeface="Vazir"/>
                <a:cs typeface="Vazir"/>
              </a:rPr>
              <a:t>یک بار اجرا</a:t>
            </a:r>
          </a:p>
        </p:txBody>
      </p:sp>
      <p:sp>
        <p:nvSpPr>
          <p:cNvPr id="17" name="Left Arrow 16"/>
          <p:cNvSpPr/>
          <p:nvPr/>
        </p:nvSpPr>
        <p:spPr>
          <a:xfrm>
            <a:off x="3081527"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57200"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E9E90"/>
                </a:solidFill>
                <a:latin typeface="Vazir"/>
                <a:cs typeface="Vazir"/>
              </a:rPr>
              <a:t>ویژگی ذخیره‌شده</a:t>
            </a:r>
          </a:p>
        </p:txBody>
      </p:sp>
      <p:sp>
        <p:nvSpPr>
          <p:cNvPr id="20" name="TextBox 19"/>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۱۶ در ۱۰۲۴</a:t>
            </a:r>
          </a:p>
          <a:p>
            <a:pPr rtl="1" algn="ctr">
              <a:lnSpc>
                <a:spcPts val="1700"/>
              </a:lnSpc>
              <a:spcBef>
                <a:spcPts val="0"/>
              </a:spcBef>
              <a:spcAft>
                <a:spcPts val="0"/>
              </a:spcAft>
            </a:pPr>
            <a:r>
              <a:rPr sz="1150" b="0" i="0">
                <a:solidFill>
                  <a:srgbClr val="9B7A88"/>
                </a:solidFill>
                <a:latin typeface="Vazir"/>
                <a:cs typeface="Vazir"/>
              </a:rPr>
              <a:t>۶۴ کیلوبایت</a:t>
            </a:r>
          </a:p>
        </p:txBody>
      </p:sp>
      <p:sp>
        <p:nvSpPr>
          <p:cNvPr id="21" name="TextBox 20"/>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9B7A88"/>
                </a:solidFill>
                <a:latin typeface="Vazir"/>
                <a:cs typeface="Vazir"/>
              </a:rPr>
              <a:t>مرحله اول — یک بار برای ۱۸۹۵ ویدیو، ۱۵۰ دقیقه</a:t>
            </a:r>
          </a:p>
        </p:txBody>
      </p:sp>
      <p:sp>
        <p:nvSpPr>
          <p:cNvPr id="22" name="Rectangle 21"/>
          <p:cNvSpPr/>
          <p:nvPr/>
        </p:nvSpPr>
        <p:spPr>
          <a:xfrm>
            <a:off x="9098280"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Vazir"/>
                <a:cs typeface="Vazir"/>
              </a:rPr>
              <a:t>سر مبدل</a:t>
            </a:r>
          </a:p>
        </p:txBody>
      </p:sp>
      <p:sp>
        <p:nvSpPr>
          <p:cNvPr id="24" name="TextBox 23"/>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دو لایه توجه</a:t>
            </a:r>
          </a:p>
          <a:p>
            <a:pPr rtl="1" algn="ctr">
              <a:lnSpc>
                <a:spcPts val="1700"/>
              </a:lnSpc>
              <a:spcBef>
                <a:spcPts val="0"/>
              </a:spcBef>
              <a:spcAft>
                <a:spcPts val="0"/>
              </a:spcAft>
            </a:pPr>
            <a:r>
              <a:rPr sz="1150" b="0" i="0">
                <a:solidFill>
                  <a:srgbClr val="9B7A88"/>
                </a:solidFill>
                <a:latin typeface="Vazir"/>
                <a:cs typeface="Vazir"/>
              </a:rPr>
              <a:t>روی محور زمان</a:t>
            </a:r>
          </a:p>
        </p:txBody>
      </p:sp>
      <p:sp>
        <p:nvSpPr>
          <p:cNvPr id="25" name="Left Arrow 24"/>
          <p:cNvSpPr/>
          <p:nvPr/>
        </p:nvSpPr>
        <p:spPr>
          <a:xfrm>
            <a:off x="8842248"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217919"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Vazir"/>
                <a:cs typeface="Vazir"/>
              </a:rPr>
              <a:t>نمره هر قطعه</a:t>
            </a:r>
          </a:p>
        </p:txBody>
      </p:sp>
      <p:sp>
        <p:nvSpPr>
          <p:cNvPr id="28" name="TextBox 27"/>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۱۶ در ۱۴</a:t>
            </a:r>
          </a:p>
        </p:txBody>
      </p:sp>
      <p:sp>
        <p:nvSpPr>
          <p:cNvPr id="29" name="Left Arrow 28"/>
          <p:cNvSpPr/>
          <p:nvPr/>
        </p:nvSpPr>
        <p:spPr>
          <a:xfrm>
            <a:off x="5961887"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337559" y="3840480"/>
            <a:ext cx="256032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Vazir"/>
                <a:cs typeface="Vazir"/>
              </a:rPr>
              <a:t>تصمیم دومرحله‌ای</a:t>
            </a:r>
          </a:p>
        </p:txBody>
      </p:sp>
      <p:sp>
        <p:nvSpPr>
          <p:cNvPr id="32" name="TextBox 31"/>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وجود، سپس نوع</a:t>
            </a:r>
          </a:p>
        </p:txBody>
      </p:sp>
      <p:sp>
        <p:nvSpPr>
          <p:cNvPr id="33" name="Left Arrow 32"/>
          <p:cNvSpPr/>
          <p:nvPr/>
        </p:nvSpPr>
        <p:spPr>
          <a:xfrm>
            <a:off x="3081527"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57200"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E9E90"/>
                </a:solidFill>
                <a:latin typeface="Vazir"/>
                <a:cs typeface="Vazir"/>
              </a:rPr>
              <a:t>برچسب نهایی</a:t>
            </a:r>
          </a:p>
        </p:txBody>
      </p:sp>
      <p:sp>
        <p:nvSpPr>
          <p:cNvPr id="36" name="TextBox 35"/>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Vazir"/>
                <a:cs typeface="Vazir"/>
              </a:rPr>
              <a:t>یکی از ۱۴ کلاس</a:t>
            </a:r>
          </a:p>
        </p:txBody>
      </p:sp>
      <p:sp>
        <p:nvSpPr>
          <p:cNvPr id="37" name="TextBox 36"/>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9B7A88"/>
                </a:solidFill>
                <a:latin typeface="Vazir"/>
                <a:cs typeface="Vazir"/>
              </a:rPr>
              <a:t>مرحله دوم — هر پیکربندی، ۸۰ ثانیه</a:t>
            </a:r>
          </a:p>
        </p:txBody>
      </p:sp>
      <p:sp>
        <p:nvSpPr>
          <p:cNvPr id="38" name="TextBox 37"/>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D94F8C"/>
                </a:solidFill>
                <a:latin typeface="Vazir"/>
                <a:cs typeface="Vazir"/>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15</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سر مبدل روی محور زمان</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Rectangle 5"/>
          <p:cNvSpPr/>
          <p:nvPr/>
        </p:nvSpPr>
        <p:spPr>
          <a:xfrm>
            <a:off x="548640" y="1645920"/>
            <a:ext cx="5394960" cy="2103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B7A88"/>
                </a:solidFill>
                <a:latin typeface="Vazir"/>
                <a:cs typeface="Vazir"/>
              </a:rPr>
              <a:t>مشکل: قطعه تنها مبهم است</a:t>
            </a:r>
          </a:p>
        </p:txBody>
      </p:sp>
      <p:sp>
        <p:nvSpPr>
          <p:cNvPr id="8" name="TextBox 7"/>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Vazir"/>
                <a:cs typeface="Vazir"/>
              </a:rPr>
              <a:t>یک قطعه سه‌ثانیه‌ای داخل مغازه، در دزدی از مغازه و سرقت مسلحانه ظاهر یکسانی دارد. سر نقطه‌ای اطلاعات لازم را اصولاً در اختیار ندارد.</a:t>
            </a:r>
          </a:p>
        </p:txBody>
      </p:sp>
      <p:sp>
        <p:nvSpPr>
          <p:cNvPr id="9" name="Rectangle 8"/>
          <p:cNvSpPr/>
          <p:nvPr/>
        </p:nvSpPr>
        <p:spPr>
          <a:xfrm>
            <a:off x="6217920" y="1645920"/>
            <a:ext cx="5394960" cy="210312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راه حل: خودتوجهی میان قطعه‌ها</a:t>
            </a:r>
          </a:p>
        </p:txBody>
      </p:sp>
      <p:sp>
        <p:nvSpPr>
          <p:cNvPr id="11" name="TextBox 10"/>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Vazir"/>
                <a:cs typeface="Vazir"/>
              </a:rPr>
              <a:t>یک جدول ۱۶ در ۱۶ می‌گوید هر قطعه چقدر به هر قطعه دیگر توجه کند. بردار جدید هر قطعه، جمع وزن‌دار همه قطعه‌هاست.</a:t>
            </a:r>
          </a:p>
        </p:txBody>
      </p:sp>
      <p:sp>
        <p:nvSpPr>
          <p:cNvPr id="12" name="TextBox 11"/>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Vazir"/>
                <a:cs typeface="Vazir"/>
              </a:rPr>
              <a:t>پیکربندی</a:t>
            </a:r>
          </a:p>
        </p:txBody>
      </p:sp>
      <p:graphicFrame>
        <p:nvGraphicFramePr>
          <p:cNvPr id="13" name="Table 12"/>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150" b="1" i="0">
                          <a:solidFill>
                            <a:srgbClr val="D94F8C"/>
                          </a:solidFill>
                          <a:latin typeface="Vazir"/>
                          <a:cs typeface="Vazir"/>
                        </a:rPr>
                        <a:t>پارامتر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مقدار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74320">
                <a:tc>
                  <a:txBody>
                    <a:bodyPr wrap="square"/>
                    <a:lstStyle/>
                    <a:p>
                      <a:pPr rtl="1" algn="r">
                        <a:spcBef>
                          <a:spcPts val="0"/>
                        </a:spcBef>
                        <a:spcAft>
                          <a:spcPts val="0"/>
                        </a:spcAft>
                      </a:pPr>
                      <a:r>
                        <a:rPr sz="1150" b="0" i="0">
                          <a:solidFill>
                            <a:srgbClr val="4A2A38"/>
                          </a:solidFill>
                          <a:latin typeface="Vazir"/>
                          <a:cs typeface="Vazir"/>
                        </a:rPr>
                        <a:t>بعد پنهان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512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Vazir"/>
                          <a:cs typeface="Vazir"/>
                        </a:rPr>
                        <a:t>سرهای توجه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0" i="0">
                          <a:solidFill>
                            <a:srgbClr val="4A2A38"/>
                          </a:solidFill>
                          <a:latin typeface="Vazir"/>
                          <a:cs typeface="Vazir"/>
                        </a:rPr>
                        <a:t>لایه‌ها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Vazir"/>
                          <a:cs typeface="Vazir"/>
                        </a:rPr>
                        <a:t>حذف تصادفی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0" i="0">
                          <a:solidFill>
                            <a:srgbClr val="4A2A38"/>
                          </a:solidFill>
                          <a:latin typeface="Vazir"/>
                          <a:cs typeface="Vazir"/>
                        </a:rPr>
                        <a:t>پارامترها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4,772,366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14" name="TextBox 13"/>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Vazir"/>
                <a:cs typeface="Vazir"/>
              </a:rPr>
              <a:t>نتیجه</a:t>
            </a:r>
          </a:p>
        </p:txBody>
      </p:sp>
      <p:graphicFrame>
        <p:nvGraphicFramePr>
          <p:cNvPr id="15" name="Table 14"/>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50" b="1" i="0">
                          <a:solidFill>
                            <a:srgbClr val="D94F8C"/>
                          </a:solidFill>
                          <a:latin typeface="Vazir"/>
                          <a:cs typeface="Vazir"/>
                        </a:rPr>
                        <a:t>سر طبقه‌بند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ماکرو F1، میانگین ۵ بذر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250" b="0" i="0">
                          <a:solidFill>
                            <a:srgbClr val="4A2A38"/>
                          </a:solidFill>
                          <a:latin typeface="Vazir"/>
                          <a:cs typeface="Vazir"/>
                        </a:rPr>
                        <a:t>سر نقطه‌ای — خط پایه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0.3049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250" b="1" i="0">
                          <a:solidFill>
                            <a:srgbClr val="C53D7C"/>
                          </a:solidFill>
                          <a:latin typeface="Vazir"/>
                          <a:cs typeface="Vazir"/>
                        </a:rPr>
                        <a:t>سر مبدل زمانی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0.3480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6" name="TextBox 15"/>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Vazir"/>
                <a:cs typeface="Vazir"/>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16</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ارتقای ظرفیت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graphicFrame>
        <p:nvGraphicFramePr>
          <p:cNvPr id="6" name="Table 5"/>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50" b="1" i="0">
                          <a:solidFill>
                            <a:srgbClr val="D94F8C"/>
                          </a:solidFill>
                          <a:latin typeface="Vazir"/>
                          <a:cs typeface="Vazir"/>
                        </a:rPr>
                        <a:t>مورد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Vazir"/>
                          <a:cs typeface="Vazir"/>
                        </a:rPr>
                        <a:t>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65760">
                <a:tc>
                  <a:txBody>
                    <a:bodyPr wrap="square"/>
                    <a:lstStyle/>
                    <a:p>
                      <a:pPr rtl="1" algn="r">
                        <a:spcBef>
                          <a:spcPts val="0"/>
                        </a:spcBef>
                        <a:spcAft>
                          <a:spcPts val="0"/>
                        </a:spcAft>
                      </a:pPr>
                      <a:r>
                        <a:rPr sz="1250" b="0" i="0">
                          <a:solidFill>
                            <a:srgbClr val="4A2A38"/>
                          </a:solidFill>
                          <a:latin typeface="Vazir"/>
                          <a:cs typeface="Vazir"/>
                        </a:rPr>
                        <a:t>تعداد لایه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12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24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50" b="0" i="0">
                          <a:solidFill>
                            <a:srgbClr val="4A2A38"/>
                          </a:solidFill>
                          <a:latin typeface="Vazir"/>
                          <a:cs typeface="Vazir"/>
                        </a:rPr>
                        <a:t>پهنای بردار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768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1024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50" b="0" i="0">
                          <a:solidFill>
                            <a:srgbClr val="4A2A38"/>
                          </a:solidFill>
                          <a:latin typeface="Vazir"/>
                          <a:cs typeface="Vazir"/>
                        </a:rPr>
                        <a:t>پارامترها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 87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Vazir"/>
                          <a:cs typeface="Vazir"/>
                        </a:rPr>
                        <a:t>≈ 300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50" b="0" i="0">
                          <a:solidFill>
                            <a:srgbClr val="4A2A38"/>
                          </a:solidFill>
                          <a:latin typeface="Vazir"/>
                          <a:cs typeface="Vazir"/>
                        </a:rPr>
                        <a:t>اندازه وصله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16 × 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Vazir"/>
                          <a:cs typeface="Vazir"/>
                        </a:rPr>
                        <a:t>16 × 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50" b="1" i="0">
                          <a:solidFill>
                            <a:srgbClr val="C53D7C"/>
                          </a:solidFill>
                          <a:latin typeface="Vazir"/>
                          <a:cs typeface="Vazir"/>
                        </a:rPr>
                        <a:t>ماکرو F1، میانگین ۵ بذر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0.3405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65760">
                <a:tc>
                  <a:txBody>
                    <a:bodyPr wrap="square"/>
                    <a:lstStyle/>
                    <a:p>
                      <a:pPr rtl="1" algn="r">
                        <a:spcBef>
                          <a:spcPts val="0"/>
                        </a:spcBef>
                        <a:spcAft>
                          <a:spcPts val="0"/>
                        </a:spcAft>
                      </a:pPr>
                      <a:r>
                        <a:rPr sz="1250" b="1" i="0">
                          <a:solidFill>
                            <a:srgbClr val="C53D7C"/>
                          </a:solidFill>
                          <a:latin typeface="Vazir"/>
                          <a:cs typeface="Vazir"/>
                        </a:rPr>
                        <a:t>ماکرو F1، نتیجه گروهی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0.3645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Vazir"/>
                          <a:cs typeface="Vazir"/>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Rectangle 6"/>
          <p:cNvSpPr/>
          <p:nvPr/>
        </p:nvSpPr>
        <p:spPr>
          <a:xfrm>
            <a:off x="7406640" y="1691640"/>
            <a:ext cx="4206240" cy="21488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Vazir"/>
                <a:cs typeface="Vazir"/>
              </a:rPr>
              <a:t>نکته‌ای که نباید اشتباه گفت</a:t>
            </a:r>
          </a:p>
        </p:txBody>
      </p:sp>
      <p:sp>
        <p:nvSpPr>
          <p:cNvPr id="9" name="TextBox 8"/>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Vazir"/>
                <a:cs typeface="Vazir"/>
              </a:rPr>
              <a:t>اندازه وصله در هر دو یکسان است، پس تعداد وصله‌ها فرق نمی‌کند. بهبود از ظرفیت مدل می‌آید، نه از وضوح مکانی بیشتر.</a:t>
            </a:r>
          </a:p>
        </p:txBody>
      </p:sp>
      <p:sp>
        <p:nvSpPr>
          <p:cNvPr id="10" name="TextBox 9"/>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چرا این تنها بهبود قطعی پروژه است</a:t>
            </a:r>
          </a:p>
        </p:txBody>
      </p:sp>
      <p:sp>
        <p:nvSpPr>
          <p:cNvPr id="11" name="Rectangle 10"/>
          <p:cNvSpPr/>
          <p:nvPr/>
        </p:nvSpPr>
        <p:spPr>
          <a:xfrm>
            <a:off x="548640" y="4663440"/>
            <a:ext cx="356616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بازه پنج بذر ViT-B</a:t>
            </a:r>
          </a:p>
        </p:txBody>
      </p:sp>
      <p:sp>
        <p:nvSpPr>
          <p:cNvPr id="13" name="TextBox 12"/>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D4596B"/>
                </a:solidFill>
                <a:latin typeface="Vazir"/>
                <a:cs typeface="Vazir"/>
              </a:rPr>
              <a:t>0.310 — 0.354</a:t>
            </a:r>
          </a:p>
        </p:txBody>
      </p:sp>
      <p:sp>
        <p:nvSpPr>
          <p:cNvPr id="14" name="Rectangle 13"/>
          <p:cNvSpPr/>
          <p:nvPr/>
        </p:nvSpPr>
        <p:spPr>
          <a:xfrm>
            <a:off x="4297680" y="4663440"/>
            <a:ext cx="3566160" cy="1371600"/>
          </a:xfrm>
          <a:prstGeom prst="rect">
            <a:avLst/>
          </a:prstGeom>
          <a:solidFill>
            <a:srgbClr val="E4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بازه پنج بذر ViT-L</a:t>
            </a:r>
          </a:p>
        </p:txBody>
      </p:sp>
      <p:sp>
        <p:nvSpPr>
          <p:cNvPr id="16" name="TextBox 15"/>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4E9E90"/>
                </a:solidFill>
                <a:latin typeface="Vazir"/>
                <a:cs typeface="Vazir"/>
              </a:rPr>
              <a:t>0.370 — 0.423</a:t>
            </a:r>
          </a:p>
        </p:txBody>
      </p:sp>
      <p:sp>
        <p:nvSpPr>
          <p:cNvPr id="17" name="Rectangle 16"/>
          <p:cNvSpPr/>
          <p:nvPr/>
        </p:nvSpPr>
        <p:spPr>
          <a:xfrm>
            <a:off x="8046720" y="4663440"/>
            <a:ext cx="356616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Vazir"/>
                <a:cs typeface="Vazir"/>
              </a:rPr>
              <a:t>آزمون من-ویتنی</a:t>
            </a:r>
          </a:p>
        </p:txBody>
      </p:sp>
      <p:sp>
        <p:nvSpPr>
          <p:cNvPr id="19" name="TextBox 18"/>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D94F8C"/>
                </a:solidFill>
                <a:latin typeface="Vazir"/>
                <a:cs typeface="Vazir"/>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17</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آمیزش و تنظیم لاجیت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Rectangle 5"/>
          <p:cNvSpPr/>
          <p:nvPr/>
        </p:nvSpPr>
        <p:spPr>
          <a:xfrm>
            <a:off x="548640" y="1645920"/>
            <a:ext cx="5394960" cy="19659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Vazir"/>
                <a:cs typeface="Vazir"/>
              </a:rPr>
              <a:t>آمیزش در فضای ویژگی</a:t>
            </a:r>
          </a:p>
        </p:txBody>
      </p:sp>
      <p:sp>
        <p:nvSpPr>
          <p:cNvPr id="8" name="TextBox 7"/>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Vazir"/>
                <a:cs typeface="Vazir"/>
              </a:rPr>
              <a:t>مدل تا دوره دهم زیان آموزش را تقریباً صفر می‌کرد، یعنی حفظ می‌کرد. ترکیب محدب دو ویدیو نمونه‌هایی می‌سازد که در داده نیستند.</a:t>
            </a:r>
          </a:p>
        </p:txBody>
      </p:sp>
      <p:sp>
        <p:nvSpPr>
          <p:cNvPr id="9" name="Rectangle 8"/>
          <p:cNvSpPr/>
          <p:nvPr/>
        </p:nvSpPr>
        <p:spPr>
          <a:xfrm>
            <a:off x="6217920" y="1645920"/>
            <a:ext cx="5394960" cy="19659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تنظیم لاجیت برای دم بلند</a:t>
            </a:r>
          </a:p>
        </p:txBody>
      </p:sp>
      <p:sp>
        <p:nvSpPr>
          <p:cNvPr id="11" name="TextBox 10"/>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Vazir"/>
                <a:cs typeface="Vazir"/>
              </a:rPr>
              <a:t>مقداری متناسب با لگاریتم احتمال پیشین از لاجیت هر کلاس کسر می‌شود تا مرز تصمیم به سود کلاس‌های کمیاب جابه‌جا شود.</a:t>
            </a:r>
          </a:p>
        </p:txBody>
      </p:sp>
      <p:sp>
        <p:nvSpPr>
          <p:cNvPr id="12" name="Rectangle 11"/>
          <p:cNvSpPr/>
          <p:nvPr/>
        </p:nvSpPr>
        <p:spPr>
          <a:xfrm>
            <a:off x="548640" y="3794760"/>
            <a:ext cx="11064240" cy="1051560"/>
          </a:xfrm>
          <a:prstGeom prst="rect">
            <a:avLst/>
          </a:prstGeom>
          <a:solidFill>
            <a:srgbClr val="FC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4596B"/>
                </a:solidFill>
                <a:latin typeface="Vazir"/>
                <a:cs typeface="Vazir"/>
              </a:rPr>
              <a:t>آزمایشی که شکست خورد و از آن یاد گرفتیم</a:t>
            </a:r>
          </a:p>
        </p:txBody>
      </p:sp>
      <p:sp>
        <p:nvSpPr>
          <p:cNvPr id="14" name="TextBox 13"/>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Vazir"/>
                <a:cs typeface="Vazir"/>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5" name="Table 14"/>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150" b="1" i="0">
                          <a:solidFill>
                            <a:srgbClr val="D94F8C"/>
                          </a:solidFill>
                          <a:latin typeface="Vazir"/>
                          <a:cs typeface="Vazir"/>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میانگین بذرها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نتیجه گروهی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صحت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Vazir"/>
                          <a:cs typeface="Vazir"/>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74320">
                <a:tc>
                  <a:txBody>
                    <a:bodyPr wrap="square"/>
                    <a:lstStyle/>
                    <a:p>
                      <a:pPr rtl="1" algn="r">
                        <a:spcBef>
                          <a:spcPts val="0"/>
                        </a:spcBef>
                        <a:spcAft>
                          <a:spcPts val="0"/>
                        </a:spcAft>
                      </a:pPr>
                      <a:r>
                        <a:rPr sz="1150" b="0" i="0">
                          <a:solidFill>
                            <a:srgbClr val="4A2A38"/>
                          </a:solidFill>
                          <a:latin typeface="Vazir"/>
                          <a:cs typeface="Vazir"/>
                        </a:rPr>
                        <a:t>پایه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Vazir"/>
                          <a:cs typeface="Vazir"/>
                        </a:rPr>
                        <a:t>0.4786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Vazir"/>
                          <a:cs typeface="Vazir"/>
                        </a:rPr>
                        <a:t>آمیزش ۰٫۲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0.4203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0.4161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0.6793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1" i="0">
                          <a:solidFill>
                            <a:srgbClr val="C53D7C"/>
                          </a:solidFill>
                          <a:latin typeface="Vazir"/>
                          <a:cs typeface="Vazir"/>
                        </a:rPr>
                        <a:t>آمیزش ۰٫۲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Vazir"/>
                          <a:cs typeface="Vazir"/>
                        </a:rPr>
                        <a:t>0.4147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Vazir"/>
                          <a:cs typeface="Vazir"/>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Vazir"/>
                          <a:cs typeface="Vazir"/>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Vazir"/>
                          <a:cs typeface="Vazir"/>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74320">
                <a:tc>
                  <a:txBody>
                    <a:bodyPr wrap="square"/>
                    <a:lstStyle/>
                    <a:p>
                      <a:pPr rtl="1" algn="r">
                        <a:spcBef>
                          <a:spcPts val="0"/>
                        </a:spcBef>
                        <a:spcAft>
                          <a:spcPts val="0"/>
                        </a:spcAft>
                      </a:pPr>
                      <a:r>
                        <a:rPr sz="1150" b="0" i="0">
                          <a:solidFill>
                            <a:srgbClr val="4A2A38"/>
                          </a:solidFill>
                          <a:latin typeface="Vazir"/>
                          <a:cs typeface="Vazir"/>
                        </a:rPr>
                        <a:t>آمیزش ۰٫۴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0.4135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0.4248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0.6759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Vazir"/>
                          <a:cs typeface="Vazir"/>
                        </a:rPr>
                        <a:t>0.4929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18</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مسیر بهبود، گام به گام</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مسیر دوم</a:t>
            </a:r>
          </a:p>
        </p:txBody>
      </p:sp>
      <p:sp>
        <p:nvSpPr>
          <p:cNvPr id="6" name="Rectangle 5"/>
          <p:cNvSpPr/>
          <p:nvPr/>
        </p:nvSpPr>
        <p:spPr>
          <a:xfrm>
            <a:off x="1325880" y="4116977"/>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Vazir"/>
                <a:cs typeface="Vazir"/>
              </a:rPr>
              <a:t>0.30</a:t>
            </a:r>
          </a:p>
        </p:txBody>
      </p:sp>
      <p:sp>
        <p:nvSpPr>
          <p:cNvPr id="8" name="Rectangle 7"/>
          <p:cNvSpPr/>
          <p:nvPr/>
        </p:nvSpPr>
        <p:spPr>
          <a:xfrm>
            <a:off x="1325880" y="3387634"/>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Vazir"/>
                <a:cs typeface="Vazir"/>
              </a:rPr>
              <a:t>0.35</a:t>
            </a:r>
          </a:p>
        </p:txBody>
      </p:sp>
      <p:sp>
        <p:nvSpPr>
          <p:cNvPr id="10" name="Rectangle 9"/>
          <p:cNvSpPr/>
          <p:nvPr/>
        </p:nvSpPr>
        <p:spPr>
          <a:xfrm>
            <a:off x="1325880" y="2658291"/>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Vazir"/>
                <a:cs typeface="Vazir"/>
              </a:rPr>
              <a:t>0.40</a:t>
            </a:r>
          </a:p>
        </p:txBody>
      </p:sp>
      <p:sp>
        <p:nvSpPr>
          <p:cNvPr id="12" name="Rectangle 11"/>
          <p:cNvSpPr/>
          <p:nvPr/>
        </p:nvSpPr>
        <p:spPr>
          <a:xfrm>
            <a:off x="1325880" y="1928948"/>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Vazir"/>
                <a:cs typeface="Vazir"/>
              </a:rPr>
              <a:t>0.45</a:t>
            </a:r>
          </a:p>
        </p:txBody>
      </p:sp>
      <p:sp>
        <p:nvSpPr>
          <p:cNvPr id="14" name="Rectangle 13"/>
          <p:cNvSpPr/>
          <p:nvPr/>
        </p:nvSpPr>
        <p:spPr>
          <a:xfrm>
            <a:off x="1325880" y="4846320"/>
            <a:ext cx="10287000" cy="22860"/>
          </a:xfrm>
          <a:prstGeom prst="rect">
            <a:avLst/>
          </a:prstGeom>
          <a:solidFill>
            <a:srgbClr val="E0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588769" y="4153444"/>
            <a:ext cx="1188720" cy="692875"/>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0.2975</a:t>
            </a:r>
          </a:p>
        </p:txBody>
      </p:sp>
      <p:sp>
        <p:nvSpPr>
          <p:cNvPr id="17" name="TextBox 16"/>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MLP / ViT-B</a:t>
            </a:r>
          </a:p>
        </p:txBody>
      </p:sp>
      <p:sp>
        <p:nvSpPr>
          <p:cNvPr id="18" name="Rectangle 17"/>
          <p:cNvSpPr/>
          <p:nvPr/>
        </p:nvSpPr>
        <p:spPr>
          <a:xfrm>
            <a:off x="3303270" y="3469320"/>
            <a:ext cx="1188720" cy="1376999"/>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0.3444</a:t>
            </a:r>
          </a:p>
        </p:txBody>
      </p:sp>
      <p:sp>
        <p:nvSpPr>
          <p:cNvPr id="20" name="TextBox 19"/>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 Temporal</a:t>
            </a:r>
          </a:p>
        </p:txBody>
      </p:sp>
      <p:sp>
        <p:nvSpPr>
          <p:cNvPr id="21" name="Rectangle 20"/>
          <p:cNvSpPr/>
          <p:nvPr/>
        </p:nvSpPr>
        <p:spPr>
          <a:xfrm>
            <a:off x="5017770" y="3176124"/>
            <a:ext cx="1188720" cy="1670195"/>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0.3645</a:t>
            </a:r>
          </a:p>
        </p:txBody>
      </p:sp>
      <p:sp>
        <p:nvSpPr>
          <p:cNvPr id="23" name="TextBox 22"/>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 lr 3e-4</a:t>
            </a:r>
          </a:p>
        </p:txBody>
      </p:sp>
      <p:sp>
        <p:nvSpPr>
          <p:cNvPr id="24" name="Rectangle 23"/>
          <p:cNvSpPr/>
          <p:nvPr/>
        </p:nvSpPr>
        <p:spPr>
          <a:xfrm>
            <a:off x="6732270" y="2480331"/>
            <a:ext cx="1188720" cy="2365988"/>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0.4122</a:t>
            </a:r>
          </a:p>
        </p:txBody>
      </p:sp>
      <p:sp>
        <p:nvSpPr>
          <p:cNvPr id="26" name="TextBox 25"/>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 ViT-L</a:t>
            </a:r>
          </a:p>
        </p:txBody>
      </p:sp>
      <p:sp>
        <p:nvSpPr>
          <p:cNvPr id="27" name="Rectangle 26"/>
          <p:cNvSpPr/>
          <p:nvPr/>
        </p:nvSpPr>
        <p:spPr>
          <a:xfrm>
            <a:off x="8446769" y="2423443"/>
            <a:ext cx="1188720" cy="242287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0.4161</a:t>
            </a:r>
          </a:p>
        </p:txBody>
      </p:sp>
      <p:sp>
        <p:nvSpPr>
          <p:cNvPr id="29" name="TextBox 28"/>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 Mixup</a:t>
            </a:r>
          </a:p>
        </p:txBody>
      </p:sp>
      <p:sp>
        <p:nvSpPr>
          <p:cNvPr id="30" name="Rectangle 29"/>
          <p:cNvSpPr/>
          <p:nvPr/>
        </p:nvSpPr>
        <p:spPr>
          <a:xfrm>
            <a:off x="10161269" y="2223603"/>
            <a:ext cx="1188720" cy="262271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Vazir"/>
                <a:cs typeface="Vazir"/>
              </a:rPr>
              <a:t>0.4298</a:t>
            </a:r>
          </a:p>
        </p:txBody>
      </p:sp>
      <p:sp>
        <p:nvSpPr>
          <p:cNvPr id="32" name="TextBox 31"/>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Vazir"/>
                <a:cs typeface="Vazir"/>
              </a:rPr>
              <a:t>+ Logit adj.</a:t>
            </a:r>
          </a:p>
        </p:txBody>
      </p:sp>
      <p:sp>
        <p:nvSpPr>
          <p:cNvPr id="33" name="TextBox 32"/>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Vazir"/>
                <a:cs typeface="Vazir"/>
              </a:rPr>
              <a:t>+0.1323</a:t>
            </a:r>
          </a:p>
        </p:txBody>
      </p:sp>
      <p:sp>
        <p:nvSpPr>
          <p:cNvPr id="34" name="TextBox 33"/>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بهبود مطلق ماکرو F1</a:t>
            </a:r>
          </a:p>
        </p:txBody>
      </p:sp>
      <p:sp>
        <p:nvSpPr>
          <p:cNvPr id="35" name="TextBox 34"/>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Vazir"/>
                <a:cs typeface="Vazir"/>
              </a:rPr>
              <a:t>+44%</a:t>
            </a:r>
          </a:p>
        </p:txBody>
      </p:sp>
      <p:sp>
        <p:nvSpPr>
          <p:cNvPr id="36" name="TextBox 35"/>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بهبود نسبی</a:t>
            </a:r>
          </a:p>
        </p:txBody>
      </p:sp>
      <p:sp>
        <p:nvSpPr>
          <p:cNvPr id="37" name="TextBox 36"/>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Vazir"/>
                <a:cs typeface="Vazir"/>
              </a:rPr>
              <a:t>0.075</a:t>
            </a:r>
          </a:p>
        </p:txBody>
      </p:sp>
      <p:sp>
        <p:nvSpPr>
          <p:cNvPr id="38" name="TextBox 37"/>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19</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آزمایش‌هایی که نتیجه ندادند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صداقت روش‌شناختی</a:t>
            </a:r>
          </a:p>
        </p:txBody>
      </p:sp>
      <p:graphicFrame>
        <p:nvGraphicFramePr>
          <p:cNvPr id="6" name="Table 5"/>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D94F8C"/>
                          </a:solidFill>
                          <a:latin typeface="Vazir"/>
                          <a:cs typeface="Vazir"/>
                        </a:rPr>
                        <a:t>آزمایش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نتیجه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مرجع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داوری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01752">
                <a:tc>
                  <a:txBody>
                    <a:bodyPr wrap="square"/>
                    <a:lstStyle/>
                    <a:p>
                      <a:pPr rtl="1" algn="r">
                        <a:spcBef>
                          <a:spcPts val="0"/>
                        </a:spcBef>
                        <a:spcAft>
                          <a:spcPts val="0"/>
                        </a:spcAft>
                      </a:pPr>
                      <a:r>
                        <a:rPr sz="1200" b="0" i="0">
                          <a:solidFill>
                            <a:srgbClr val="4A2A38"/>
                          </a:solidFill>
                          <a:latin typeface="Vazir"/>
                          <a:cs typeface="Vazir"/>
                        </a:rPr>
                        <a:t>نمونه‌برداری سبک Kinetics با گام ۴ فریم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0.3089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0.3405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Vazir"/>
                          <a:cs typeface="Vazir"/>
                        </a:rPr>
                        <a:t>دو برابر کردن تعداد قطعه‌ها به ۳۲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0.3875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Vazir"/>
                          <a:cs typeface="Vazir"/>
                        </a:rPr>
                        <a:t>الحاق ویژگی دو 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0.3974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درون نوفه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Vazir"/>
                          <a:cs typeface="Vazir"/>
                        </a:rPr>
                        <a:t>آموزش با یک قطعه برتر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بدون بهبود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Vazir"/>
                          <a:cs typeface="Vazir"/>
                        </a:rPr>
                        <a:t>تنظیم لاجیت به‌تنهایی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0.4114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درون نوفه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Vazir"/>
                          <a:cs typeface="Vazir"/>
                        </a:rPr>
                        <a:t>میانگین‌گیری بذرها برای 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بدون بهبود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Vazir"/>
                          <a:cs typeface="Vazir"/>
                        </a:rPr>
                        <a:t>بازنویسی توصیف‌های متنی کلاس‌ها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0.74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7" name="Rectangle 6"/>
          <p:cNvSpPr/>
          <p:nvPr/>
        </p:nvSpPr>
        <p:spPr>
          <a:xfrm>
            <a:off x="548640" y="4343400"/>
            <a:ext cx="11064240" cy="178308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Vazir"/>
                <a:cs typeface="Vazir"/>
              </a:rPr>
              <a:t>چرا نمونه‌برداری استاندارد بدتر شد — مهم‌ترین یافته منفی</a:t>
            </a:r>
          </a:p>
        </p:txBody>
      </p:sp>
      <p:sp>
        <p:nvSpPr>
          <p:cNvPr id="9" name="TextBox 8"/>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4A2A38"/>
                </a:solidFill>
                <a:latin typeface="Vazir"/>
                <a:cs typeface="Vazir"/>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4A2A38"/>
                </a:solidFill>
                <a:latin typeface="Vazir"/>
                <a:cs typeface="Vazir"/>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20</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چقدر از این اعداد نوفه است؟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اعتبارسنجی آماری</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Vazir"/>
                <a:cs typeface="Vazir"/>
              </a:rPr>
              <a:t>مجموعه آزمون با ۴۰۰۰ بار بازنمونه‌گیری خودگردان تحلیل شد تا پراکندگی مورد انتظار تخمین زده شود.</a:t>
            </a:r>
          </a:p>
        </p:txBody>
      </p:sp>
      <p:graphicFrame>
        <p:nvGraphicFramePr>
          <p:cNvPr id="7" name="Table 6"/>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D94F8C"/>
                          </a:solidFill>
                          <a:latin typeface="Vazir"/>
                          <a:cs typeface="Vazir"/>
                        </a:rPr>
                        <a:t>معیار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مقدار نقطه‌ای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انحراف معیار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بازه اطمینان ۹۵ درصد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200" b="1" i="0">
                          <a:solidFill>
                            <a:srgbClr val="C53D7C"/>
                          </a:solidFill>
                          <a:latin typeface="Vazir"/>
                          <a:cs typeface="Vazir"/>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0.037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[0.339 , 0.503]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84048">
                <a:tc>
                  <a:txBody>
                    <a:bodyPr wrap="square"/>
                    <a:lstStyle/>
                    <a:p>
                      <a:pPr rtl="1" algn="r">
                        <a:spcBef>
                          <a:spcPts val="0"/>
                        </a:spcBef>
                        <a:spcAft>
                          <a:spcPts val="0"/>
                        </a:spcAft>
                      </a:pPr>
                      <a:r>
                        <a:rPr sz="1200" b="0" i="0">
                          <a:solidFill>
                            <a:srgbClr val="4A2A38"/>
                          </a:solidFill>
                          <a:latin typeface="Vazir"/>
                          <a:cs typeface="Vazir"/>
                        </a:rPr>
                        <a:t>صحت چندکلاسه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0.027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[0.635 , 0.745]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84048">
                <a:tc>
                  <a:txBody>
                    <a:bodyPr wrap="square"/>
                    <a:lstStyle/>
                    <a:p>
                      <a:pPr rtl="1" algn="r">
                        <a:spcBef>
                          <a:spcPts val="0"/>
                        </a:spcBef>
                        <a:spcAft>
                          <a:spcPts val="0"/>
                        </a:spcAft>
                      </a:pPr>
                      <a:r>
                        <a:rPr sz="1200" b="0" i="0">
                          <a:solidFill>
                            <a:srgbClr val="4A2A38"/>
                          </a:solidFill>
                          <a:latin typeface="Vazir"/>
                          <a:cs typeface="Vazir"/>
                        </a:rPr>
                        <a:t>صحت نوع ناهنجاری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0.041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[0.420 , 0.585]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200" b="0" i="0">
                          <a:solidFill>
                            <a:srgbClr val="4A2A38"/>
                          </a:solidFill>
                          <a:latin typeface="Vazir"/>
                          <a:cs typeface="Vazir"/>
                        </a:rPr>
                        <a:t>AUC دودویی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0.9610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0.011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[0.938 , 0.980]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
        <p:nvSpPr>
          <p:cNvPr id="8" name="Rectangle 7"/>
          <p:cNvSpPr/>
          <p:nvPr/>
        </p:nvSpPr>
        <p:spPr>
          <a:xfrm>
            <a:off x="7498079" y="2148840"/>
            <a:ext cx="4114800" cy="19659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Vazir"/>
                <a:cs typeface="Vazir"/>
              </a:rPr>
              <a:t>کف نوفه</a:t>
            </a:r>
          </a:p>
        </p:txBody>
      </p:sp>
      <p:sp>
        <p:nvSpPr>
          <p:cNvPr id="10" name="TextBox 9"/>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D94F8C"/>
                </a:solidFill>
                <a:latin typeface="Vazir"/>
                <a:cs typeface="Vazir"/>
              </a:rPr>
              <a:t>0.075</a:t>
            </a:r>
          </a:p>
        </p:txBody>
      </p:sp>
      <p:sp>
        <p:nvSpPr>
          <p:cNvPr id="11" name="TextBox 10"/>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Vazir"/>
                <a:cs typeface="Vazir"/>
              </a:rPr>
              <a:t>اختلاف کمتر از این مقدار در ماکرو F1 روی این تقسیم از نوفه قابل تفکیک نیست.</a:t>
            </a:r>
          </a:p>
        </p:txBody>
      </p:sp>
      <p:sp>
        <p:nvSpPr>
          <p:cNvPr id="12" name="TextBox 11"/>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Vazir"/>
                <a:cs typeface="Vazir"/>
              </a:rPr>
              <a:t>سقف تنظیم روی یک مجموعه آزمون کوچک</a:t>
            </a:r>
          </a:p>
        </p:txBody>
      </p:sp>
      <p:graphicFrame>
        <p:nvGraphicFramePr>
          <p:cNvPr id="13" name="Table 12"/>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D94F8C"/>
                          </a:solidFill>
                          <a:latin typeface="Vazir"/>
                          <a:cs typeface="Vazir"/>
                        </a:rPr>
                        <a:t>تعداد ارزیابی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Vazir"/>
                          <a:cs typeface="Vazir"/>
                        </a:rPr>
                        <a:t>تورم مورد انتظار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01752">
                <a:tc>
                  <a:txBody>
                    <a:bodyPr wrap="square"/>
                    <a:lstStyle/>
                    <a:p>
                      <a:pPr rtl="1" algn="r">
                        <a:spcBef>
                          <a:spcPts val="0"/>
                        </a:spcBef>
                        <a:spcAft>
                          <a:spcPts val="0"/>
                        </a:spcAft>
                      </a:pPr>
                      <a:r>
                        <a:rPr sz="1200" b="0" i="0">
                          <a:solidFill>
                            <a:srgbClr val="4A2A38"/>
                          </a:solidFill>
                          <a:latin typeface="Vazir"/>
                          <a:cs typeface="Vazir"/>
                        </a:rPr>
                        <a:t>۸</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Vazir"/>
                          <a:cs typeface="Vazir"/>
                        </a:rPr>
                        <a:t>+0.069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Vazir"/>
                          <a:cs typeface="Vazir"/>
                        </a:rPr>
                        <a:t>۵۰</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Vazir"/>
                          <a:cs typeface="Vazir"/>
                        </a:rPr>
                        <a:t>+0.095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1" i="0">
                          <a:solidFill>
                            <a:srgbClr val="C53D7C"/>
                          </a:solidFill>
                          <a:latin typeface="Vazir"/>
                          <a:cs typeface="Vazir"/>
                        </a:rPr>
                        <a:t>۲۰۰</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Vazir"/>
                          <a:cs typeface="Vazir"/>
                        </a:rPr>
                        <a:t>+0.111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4" name="Rectangle 13"/>
          <p:cNvSpPr/>
          <p:nvPr/>
        </p:nvSpPr>
        <p:spPr>
          <a:xfrm>
            <a:off x="5120640" y="4754880"/>
            <a:ext cx="6492240" cy="13258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Vazir"/>
                <a:cs typeface="Vazir"/>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Vazir"/>
                <a:cs typeface="Vazir"/>
              </a:rPr>
              <a:t>21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Vazir"/>
                <a:cs typeface="Vazir"/>
              </a:rPr>
              <a:t>جدول کامل نتایج</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Vazir"/>
                <a:cs typeface="Vazir"/>
              </a:rPr>
              <a:t>جمع‌بندی نتایج</a:t>
            </a:r>
          </a:p>
        </p:txBody>
      </p:sp>
      <p:graphicFrame>
        <p:nvGraphicFramePr>
          <p:cNvPr id="6" name="Table 5"/>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00" b="1" i="0">
                          <a:solidFill>
                            <a:srgbClr val="D94F8C"/>
                          </a:solidFill>
                          <a:latin typeface="Vazir"/>
                          <a:cs typeface="Vazir"/>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صحت کلی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Vazir"/>
                          <a:cs typeface="Vazir"/>
                        </a:rPr>
                        <a:t>AUC</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9184">
                <a:tc>
                  <a:txBody>
                    <a:bodyPr wrap="square"/>
                    <a:lstStyle/>
                    <a:p>
                      <a:pPr rtl="1" algn="r">
                        <a:spcBef>
                          <a:spcPts val="0"/>
                        </a:spcBef>
                        <a:spcAft>
                          <a:spcPts val="0"/>
                        </a:spcAft>
                      </a:pPr>
                      <a:r>
                        <a:rPr sz="1100" b="0" i="0">
                          <a:solidFill>
                            <a:srgbClr val="4A2A38"/>
                          </a:solidFill>
                          <a:latin typeface="Vazir"/>
                          <a:cs typeface="Vazir"/>
                        </a:rPr>
                        <a:t>مسیر اول — اسم خام کلاس، وزن دستی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0.3327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0.3716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0.6385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0.9473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Vazir"/>
                          <a:cs typeface="Vazir"/>
                        </a:rPr>
                        <a:t>مسیر اول — توصیف بصری + وزن معکوس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0.3713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0.4054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0.6351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0.9637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Vazir"/>
                          <a:cs typeface="Vazir"/>
                        </a:rPr>
                        <a:t>مسیر اول — چهار نمای زمانی در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0.3881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0.4257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0.6419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0.9629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Vazir"/>
                          <a:cs typeface="Vazir"/>
                        </a:rPr>
                        <a:t>مسیر دوم — سر نقطه‌ای، خط پایه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0.2975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0.3860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0.5660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Vazir"/>
                          <a:cs typeface="Vazir"/>
                        </a:rPr>
                        <a:t>مسیر دوم — سر مبدل زمانی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0.3444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0.3930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0.6350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Vazir"/>
                          <a:cs typeface="Vazir"/>
                        </a:rPr>
                        <a:t>مسیر دوم — نرخ یادگیری ۰٫۰۰۰۳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0.3645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0.4210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0.6550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Vazir"/>
                          <a:cs typeface="Vazir"/>
                        </a:rPr>
                        <a:t>مسیر دوم — ارتقا به رمزگذار بزرگ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0.4786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Vazir"/>
                          <a:cs typeface="Vazir"/>
                        </a:rPr>
                        <a:t>مسیر دوم — افزودن آمیزش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0.4161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0.4714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0.6793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Vazir"/>
                          <a:cs typeface="Vazir"/>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1" i="0">
                          <a:solidFill>
                            <a:srgbClr val="C53D7C"/>
                          </a:solidFill>
                          <a:latin typeface="Vazir"/>
                          <a:cs typeface="Vazir"/>
                        </a:rPr>
                        <a:t>مسیر دوم — آمیزش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Vazir"/>
                          <a:cs typeface="Vazir"/>
                        </a:rPr>
                        <a:t>0.9610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TextBox 6"/>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9B7A88"/>
                </a:solidFill>
                <a:latin typeface="Vazir"/>
                <a:cs typeface="Vazir"/>
              </a:rPr>
              <a:t>مسیر اول روی تقسیمی با ۲۹۶ ویدیوی آزمون و مسیر دوم روی تقسیم استاندارد با ۲۹۰ ویدیو اجرا شده‌اند.</a:t>
            </a:r>
          </a:p>
        </p:txBody>
      </p:sp>
      <p:sp>
        <p:nvSpPr>
          <p:cNvPr id="8" name="TextBox 7"/>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Vazir"/>
                <a:cs typeface="Vazir"/>
              </a:rPr>
              <a:t>0.4298</a:t>
            </a:r>
          </a:p>
        </p:txBody>
      </p:sp>
      <p:sp>
        <p:nvSpPr>
          <p:cNvPr id="9" name="TextBox 8"/>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ماکرو F1 نهایی</a:t>
            </a:r>
          </a:p>
        </p:txBody>
      </p:sp>
      <p:sp>
        <p:nvSpPr>
          <p:cNvPr id="10" name="TextBox 9"/>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0.5000</a:t>
            </a:r>
          </a:p>
        </p:txBody>
      </p:sp>
      <p:sp>
        <p:nvSpPr>
          <p:cNvPr id="11" name="TextBox 10"/>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صحت نوع ناهنجاری</a:t>
            </a:r>
          </a:p>
        </p:txBody>
      </p:sp>
      <p:sp>
        <p:nvSpPr>
          <p:cNvPr id="12" name="TextBox 11"/>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Vazir"/>
                <a:cs typeface="Vazir"/>
              </a:rPr>
              <a:t>0.6897</a:t>
            </a:r>
          </a:p>
        </p:txBody>
      </p:sp>
      <p:sp>
        <p:nvSpPr>
          <p:cNvPr id="13" name="TextBox 12"/>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Vazir"/>
                <a:cs typeface="Vazir"/>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9E3C67"/>
                </a:solidFill>
                <a:latin typeface="Vazir"/>
                <a:cs typeface="Vazir"/>
              </a:rPr>
              <a:t>جمع‌بندی و کارهای آینده</a:t>
            </a:r>
          </a:p>
        </p:txBody>
      </p:sp>
      <p:sp>
        <p:nvSpPr>
          <p:cNvPr id="4" name="Rounded Rectangle 3"/>
          <p:cNvSpPr/>
          <p:nvPr/>
        </p:nvSpPr>
        <p:spPr>
          <a:xfrm>
            <a:off x="640080" y="1600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3E8478"/>
                </a:solidFill>
                <a:latin typeface="Vazir"/>
                <a:cs typeface="Vazir"/>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Vazir"/>
                <a:cs typeface="Vazir"/>
              </a:rPr>
              <a:t>اصلاح سه اشکال بنیادی، بازطراحی معماری با رمزگذار منجمد، سر مبدل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C53D7C"/>
                </a:solidFill>
                <a:latin typeface="Vazir"/>
                <a:cs typeface="Vazir"/>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Vazir"/>
                <a:cs typeface="Vazir"/>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C9799F"/>
                </a:solidFill>
                <a:latin typeface="Vazir"/>
                <a:cs typeface="Vazir"/>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Vazir"/>
                <a:cs typeface="Vazir"/>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FFFFFF"/>
                </a:solidFill>
                <a:latin typeface="Vazir"/>
                <a:cs typeface="Vazir"/>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