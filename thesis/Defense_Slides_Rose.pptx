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پروژه تبدیل یک سامانه تشخیص ناهنجاری دودویی به سامانه چهارده‌کلاسه است. عدد نهایی ماکرو F1 برابر 0.4298 در برابر خط پایه 0.2975.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بیشتر پژوهش‌ها مسئله را دودویی تعریف می‌کنند. ما یک گام جلوتر رفتیم.</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نامتوازنی هم آموزش را دشوار می‌کند و هم ارزیابی را نوفه‌آلود.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اعداد ستون آموزش مستقیم از create_balanced_split.py می‌آیند و قطعی‌اند. ستون آزمون از گزارش آزمایش‌ها بازسازی شده؛ پیش از ارائه با فایل تقسیم خودتان بسنجید.</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نسبت عدم توازن در این مسیر دست‌نخورده می‌ماند؛ به همین دلیل وزن‌دهی معکوس فراوانی در تابع زیان ضروری است.</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این اسلاید صورت‌بندی رسمی است. اگر وقت کم آمد، فقط فرض چندنمونه‌ای و اصلاح انتخاب یک‌باره را بگویید.</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مسیر اول روی کد UMIL بنا شد. ماکرو F1 از 0.3327 به 0.3881 رسید.</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در X-CLIP وزن‌های طبقه‌بند از متن ساخته می‌شوند. همان جایی که بعدا سقف پیدا شد.</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این سه اصلاح مقدم بر هر ایده جدیدی بود. بدون آن‌ها هیچ اندازه‌گیری قابل اعتماد نبود.</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مدل درست کار می‌کرد و مرحله تجمیع نتیجه را نابود می‌کرد.</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با وجود ۹ پیش‌بینی هنوز هیچ‌کدام درست نبود. مشکل دوم بصری بود، نه وزنی.</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اصطلاحات حقوقی انتزاعی در فضای زبانی خوشه می‌شوند؛ توصیف آنچه دوربین می‌بیند نه.</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مسیر اول به 0.3881 رسید. دو دیوار ماند: هزینه آزمایش و ماهیت مکانی خطای خوشه دزدی.</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مسیر دوم از صفر نوشته شد. ماکرو F1 از 0.2975 به 0.4298 رسید.</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پوشاندن لوله‌ای است: اگر جایی پوشانده شود، در همه فریم‌ها پوشانده می‌شود، تا مدل از فریم بغلی کپی نکند.</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این تصمیم خودش نتیجه را بهتر نکرد. اجازه داد بقیه چیزها را پیدا کنیم.</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ویدیوی ۴۰ مگابایتی به آرایه ۶۴ کیلوبایتی تبدیل می‌شود.</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این تغییر از تحلیل خطا آمد، نه از جستجوی ابرپارامتر.</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دو بازه هیچ همپوشانی ندارند. بدترین بذر ViT-L از بهترین بذر ViT-B بالاتر است.</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ترکیب روی هر سه معیار بهترین یا هم‌ارز بهترین است. سه ترکیب مقایسه شد، پس تورم انتخاب حدود ۰٫۰۵ است.</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دو گام از شش گام بیشترین سهم را داشتند: توجه زمانی و ارتقای رمزگذار. هر دو از تحلیل خطا آمدند.</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گزارش نتایج منفی بخشی از نتیجه است، نه حاشیه آن.</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این تحلیل تفسیر کل پروژه را عوض کرد. ارتقای رمزگذار از کف نوفه عبور می‌کند؛ بقیه بهبودها با احتیاط گزارش می‌شوند.</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عدد قابل دفاع نهایی 0.4298 با بودجه ثابت و بدون انتخاب روی مجموعه آزمون است.</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سوال‌های محتمل: چرا رمزگذار را تنظیم دقیق نکردید، چرا عدد از مقالات پیشرفته پایین‌تر است، و از کجا معلوم آستانه روی تست تنظیم نشده.</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503920" y="-1463040"/>
            <a:ext cx="5669280" cy="5669280"/>
          </a:xfrm>
          <a:prstGeom prst="ellipse">
            <a:avLst/>
          </a:prstGeom>
          <a:solidFill>
            <a:srgbClr val="F9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91840"/>
            <a:ext cx="3291840" cy="3291840"/>
          </a:xfrm>
          <a:prstGeom prst="ellipse">
            <a:avLst/>
          </a:prstGeom>
          <a:solidFill>
            <a:srgbClr val="F3C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371600"/>
            <a:ext cx="7680960" cy="365760"/>
          </a:xfrm>
          <a:prstGeom prst="rect">
            <a:avLst/>
          </a:prstGeom>
          <a:noFill/>
        </p:spPr>
        <p:txBody>
          <a:bodyPr wrap="square" anchor="t" lIns="0" rIns="0" tIns="0" bIns="0">
            <a:spAutoFit/>
          </a:bodyPr>
          <a:lstStyle/>
          <a:p>
            <a:pPr rtl="1" algn="r">
              <a:spcBef>
                <a:spcPts val="0"/>
              </a:spcBef>
              <a:spcAft>
                <a:spcPts val="0"/>
              </a:spcAft>
            </a:pPr>
            <a:r>
              <a:rPr sz="1400" b="1" i="0">
                <a:solidFill>
                  <a:srgbClr val="D94F8C"/>
                </a:solidFill>
                <a:latin typeface="Vazir"/>
                <a:cs typeface="Vazir"/>
              </a:rPr>
              <a:t>پایان‌نامه کارشناسی مهندسی کامپیوتر</a:t>
            </a:r>
          </a:p>
        </p:txBody>
      </p:sp>
      <p:sp>
        <p:nvSpPr>
          <p:cNvPr id="5" name="TextBox 4"/>
          <p:cNvSpPr txBox="1"/>
          <p:nvPr/>
        </p:nvSpPr>
        <p:spPr>
          <a:xfrm>
            <a:off x="731520" y="1874519"/>
            <a:ext cx="7680960" cy="1737360"/>
          </a:xfrm>
          <a:prstGeom prst="rect">
            <a:avLst/>
          </a:prstGeom>
          <a:noFill/>
        </p:spPr>
        <p:txBody>
          <a:bodyPr wrap="square" anchor="t" lIns="0" rIns="0" tIns="0" bIns="0">
            <a:spAutoFit/>
          </a:bodyPr>
          <a:lstStyle/>
          <a:p>
            <a:pPr rtl="1" algn="r">
              <a:lnSpc>
                <a:spcPts val="4600"/>
              </a:lnSpc>
              <a:spcBef>
                <a:spcPts val="0"/>
              </a:spcBef>
              <a:spcAft>
                <a:spcPts val="0"/>
              </a:spcAft>
            </a:pPr>
            <a:r>
              <a:rPr sz="3800" b="1" i="0">
                <a:solidFill>
                  <a:srgbClr val="9E3C67"/>
                </a:solidFill>
                <a:latin typeface="Vazir"/>
                <a:cs typeface="Vazir"/>
              </a:rPr>
              <a:t>تشخیص نوع ناهنجاری</a:t>
            </a:r>
          </a:p>
          <a:p>
            <a:pPr rtl="1" algn="r">
              <a:lnSpc>
                <a:spcPts val="4600"/>
              </a:lnSpc>
              <a:spcBef>
                <a:spcPts val="0"/>
              </a:spcBef>
              <a:spcAft>
                <a:spcPts val="0"/>
              </a:spcAft>
            </a:pPr>
            <a:r>
              <a:rPr sz="3800" b="1" i="0">
                <a:solidFill>
                  <a:srgbClr val="9E3C67"/>
                </a:solidFill>
                <a:latin typeface="Vazir"/>
                <a:cs typeface="Vazir"/>
              </a:rPr>
              <a:t>در ویدیوهای نظارتی</a:t>
            </a:r>
          </a:p>
        </p:txBody>
      </p:sp>
      <p:sp>
        <p:nvSpPr>
          <p:cNvPr id="6" name="TextBox 5"/>
          <p:cNvSpPr txBox="1"/>
          <p:nvPr/>
        </p:nvSpPr>
        <p:spPr>
          <a:xfrm>
            <a:off x="731520" y="3794760"/>
            <a:ext cx="7680960" cy="457200"/>
          </a:xfrm>
          <a:prstGeom prst="rect">
            <a:avLst/>
          </a:prstGeom>
          <a:noFill/>
        </p:spPr>
        <p:txBody>
          <a:bodyPr wrap="square" anchor="t" lIns="0" rIns="0" tIns="0" bIns="0">
            <a:spAutoFit/>
          </a:bodyPr>
          <a:lstStyle/>
          <a:p>
            <a:pPr rtl="1" algn="r">
              <a:spcBef>
                <a:spcPts val="0"/>
              </a:spcBef>
              <a:spcAft>
                <a:spcPts val="0"/>
              </a:spcAft>
            </a:pPr>
            <a:r>
              <a:rPr sz="1600" b="0" i="0">
                <a:solidFill>
                  <a:srgbClr val="C9799F"/>
                </a:solidFill>
                <a:latin typeface="Vazir"/>
                <a:cs typeface="Vazir"/>
              </a:rPr>
              <a:t>یادگیری چندنمونه‌ای ضعیف‌نظارت با ستون فقرات ترنسفورمر ویدیویی</a:t>
            </a:r>
          </a:p>
        </p:txBody>
      </p:sp>
      <p:sp>
        <p:nvSpPr>
          <p:cNvPr id="7" name="TextBox 6"/>
          <p:cNvSpPr txBox="1"/>
          <p:nvPr/>
        </p:nvSpPr>
        <p:spPr>
          <a:xfrm>
            <a:off x="731520" y="4709160"/>
            <a:ext cx="2743200" cy="274320"/>
          </a:xfrm>
          <a:prstGeom prst="rect">
            <a:avLst/>
          </a:prstGeom>
          <a:noFill/>
        </p:spPr>
        <p:txBody>
          <a:bodyPr wrap="square" anchor="t" lIns="0" rIns="0" tIns="0" bIns="0">
            <a:spAutoFit/>
          </a:bodyPr>
          <a:lstStyle/>
          <a:p>
            <a:pPr rtl="1" algn="r">
              <a:spcBef>
                <a:spcPts val="0"/>
              </a:spcBef>
              <a:spcAft>
                <a:spcPts val="0"/>
              </a:spcAft>
            </a:pPr>
            <a:r>
              <a:rPr sz="1200" b="0" i="0">
                <a:solidFill>
                  <a:srgbClr val="C9799F"/>
                </a:solidFill>
                <a:latin typeface="Vazir"/>
                <a:cs typeface="Vazir"/>
              </a:rPr>
              <a:t>ماکرو F1 نهایی</a:t>
            </a:r>
          </a:p>
        </p:txBody>
      </p:sp>
      <p:sp>
        <p:nvSpPr>
          <p:cNvPr id="8" name="TextBox 7"/>
          <p:cNvSpPr txBox="1"/>
          <p:nvPr/>
        </p:nvSpPr>
        <p:spPr>
          <a:xfrm>
            <a:off x="731520" y="4983480"/>
            <a:ext cx="2743200" cy="731520"/>
          </a:xfrm>
          <a:prstGeom prst="rect">
            <a:avLst/>
          </a:prstGeom>
          <a:noFill/>
        </p:spPr>
        <p:txBody>
          <a:bodyPr wrap="square" anchor="t" lIns="0" rIns="0" tIns="0" bIns="0">
            <a:spAutoFit/>
          </a:bodyPr>
          <a:lstStyle/>
          <a:p>
            <a:pPr rtl="0" algn="l">
              <a:spcBef>
                <a:spcPts val="0"/>
              </a:spcBef>
              <a:spcAft>
                <a:spcPts val="0"/>
              </a:spcAft>
            </a:pPr>
            <a:r>
              <a:rPr sz="4000" b="1" i="0">
                <a:solidFill>
                  <a:srgbClr val="D94F8C"/>
                </a:solidFill>
                <a:latin typeface="Vazir"/>
                <a:cs typeface="Vazir"/>
              </a:rPr>
              <a:t>0.4298</a:t>
            </a:r>
          </a:p>
        </p:txBody>
      </p:sp>
      <p:sp>
        <p:nvSpPr>
          <p:cNvPr id="9" name="TextBox 8"/>
          <p:cNvSpPr txBox="1"/>
          <p:nvPr/>
        </p:nvSpPr>
        <p:spPr>
          <a:xfrm>
            <a:off x="3657600" y="5230368"/>
            <a:ext cx="2926080" cy="365760"/>
          </a:xfrm>
          <a:prstGeom prst="rect">
            <a:avLst/>
          </a:prstGeom>
          <a:noFill/>
        </p:spPr>
        <p:txBody>
          <a:bodyPr wrap="square" anchor="t" lIns="0" rIns="0" tIns="0" bIns="0">
            <a:spAutoFit/>
          </a:bodyPr>
          <a:lstStyle/>
          <a:p>
            <a:pPr rtl="1" algn="r">
              <a:spcBef>
                <a:spcPts val="0"/>
              </a:spcBef>
              <a:spcAft>
                <a:spcPts val="0"/>
              </a:spcAft>
            </a:pPr>
            <a:r>
              <a:rPr sz="1300" b="0" i="0">
                <a:solidFill>
                  <a:srgbClr val="C9799F"/>
                </a:solidFill>
                <a:latin typeface="Vazir"/>
                <a:cs typeface="Vazir"/>
              </a:rPr>
              <a:t>از خط پایه 0.2975</a:t>
            </a:r>
          </a:p>
        </p:txBody>
      </p:sp>
      <p:sp>
        <p:nvSpPr>
          <p:cNvPr id="10" name="TextBox 9"/>
          <p:cNvSpPr txBox="1"/>
          <p:nvPr/>
        </p:nvSpPr>
        <p:spPr>
          <a:xfrm>
            <a:off x="731520" y="6035040"/>
            <a:ext cx="7680960" cy="320040"/>
          </a:xfrm>
          <a:prstGeom prst="rect">
            <a:avLst/>
          </a:prstGeom>
          <a:noFill/>
        </p:spPr>
        <p:txBody>
          <a:bodyPr wrap="square" anchor="t" lIns="0" rIns="0" tIns="0" bIns="0">
            <a:spAutoFit/>
          </a:bodyPr>
          <a:lstStyle/>
          <a:p>
            <a:pPr rtl="1" algn="r">
              <a:spcBef>
                <a:spcPts val="0"/>
              </a:spcBef>
              <a:spcAft>
                <a:spcPts val="0"/>
              </a:spcAft>
            </a:pPr>
            <a:r>
              <a:rPr sz="1200" b="0" i="0">
                <a:solidFill>
                  <a:srgbClr val="E9BFD4"/>
                </a:solidFill>
                <a:latin typeface="Vazir"/>
                <a:cs typeface="Vazir"/>
              </a:rPr>
              <a:t>دانشگاه صنعتی همدان  ·  گروه مهندسی کامپیوتر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01</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صورت مسئله</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فصل اول</a:t>
            </a:r>
          </a:p>
        </p:txBody>
      </p:sp>
      <p:sp>
        <p:nvSpPr>
          <p:cNvPr id="6" name="Rectangle 5"/>
          <p:cNvSpPr/>
          <p:nvPr/>
        </p:nvSpPr>
        <p:spPr>
          <a:xfrm>
            <a:off x="548640" y="1600200"/>
            <a:ext cx="5394960" cy="192024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783080"/>
            <a:ext cx="4754880" cy="365760"/>
          </a:xfrm>
          <a:prstGeom prst="rect">
            <a:avLst/>
          </a:prstGeom>
          <a:noFill/>
        </p:spPr>
        <p:txBody>
          <a:bodyPr wrap="square" anchor="t" lIns="0" rIns="0" tIns="0" bIns="0">
            <a:spAutoFit/>
          </a:bodyPr>
          <a:lstStyle/>
          <a:p>
            <a:pPr rtl="1" algn="r">
              <a:spcBef>
                <a:spcPts val="0"/>
              </a:spcBef>
              <a:spcAft>
                <a:spcPts val="0"/>
              </a:spcAft>
            </a:pPr>
            <a:r>
              <a:rPr sz="1700" b="1" i="0">
                <a:solidFill>
                  <a:srgbClr val="9B7A88"/>
                </a:solidFill>
                <a:latin typeface="Vazir"/>
                <a:cs typeface="Vazir"/>
              </a:rPr>
              <a:t>مسئله متداول: تشخیص ناهنجاری</a:t>
            </a:r>
          </a:p>
        </p:txBody>
      </p:sp>
      <p:sp>
        <p:nvSpPr>
          <p:cNvPr id="8" name="TextBox 7"/>
          <p:cNvSpPr txBox="1"/>
          <p:nvPr/>
        </p:nvSpPr>
        <p:spPr>
          <a:xfrm>
            <a:off x="868680" y="2240280"/>
            <a:ext cx="4754880" cy="914400"/>
          </a:xfrm>
          <a:prstGeom prst="rect">
            <a:avLst/>
          </a:prstGeom>
          <a:noFill/>
        </p:spPr>
        <p:txBody>
          <a:bodyPr wrap="square" anchor="t" lIns="0" rIns="0" tIns="0" bIns="0">
            <a:spAutoFit/>
          </a:bodyPr>
          <a:lstStyle/>
          <a:p>
            <a:pPr rtl="1" algn="r">
              <a:lnSpc>
                <a:spcPts val="2400"/>
              </a:lnSpc>
              <a:spcBef>
                <a:spcPts val="0"/>
              </a:spcBef>
              <a:spcAft>
                <a:spcPts val="0"/>
              </a:spcAft>
            </a:pPr>
            <a:r>
              <a:rPr sz="1500" b="0" i="0">
                <a:solidFill>
                  <a:srgbClr val="4A2A38"/>
                </a:solidFill>
                <a:latin typeface="Vazir"/>
                <a:cs typeface="Vazir"/>
              </a:rPr>
              <a:t>آیا این ویدیو ناهنجار است؟</a:t>
            </a:r>
          </a:p>
          <a:p>
            <a:pPr rtl="1" algn="r">
              <a:lnSpc>
                <a:spcPts val="2400"/>
              </a:lnSpc>
              <a:spcBef>
                <a:spcPts val="0"/>
              </a:spcBef>
              <a:spcAft>
                <a:spcPts val="0"/>
              </a:spcAft>
            </a:pPr>
            <a:r>
              <a:rPr sz="1500" b="0" i="0">
                <a:solidFill>
                  <a:srgbClr val="4A2A38"/>
                </a:solidFill>
                <a:latin typeface="Vazir"/>
                <a:cs typeface="Vazir"/>
              </a:rPr>
              <a:t>جواب: بله یا خیر</a:t>
            </a:r>
          </a:p>
        </p:txBody>
      </p:sp>
      <p:sp>
        <p:nvSpPr>
          <p:cNvPr id="9" name="Rectangle 8"/>
          <p:cNvSpPr/>
          <p:nvPr/>
        </p:nvSpPr>
        <p:spPr>
          <a:xfrm>
            <a:off x="6217920" y="1600200"/>
            <a:ext cx="5394960" cy="192024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37960" y="1783080"/>
            <a:ext cx="4754880" cy="365760"/>
          </a:xfrm>
          <a:prstGeom prst="rect">
            <a:avLst/>
          </a:prstGeom>
          <a:noFill/>
        </p:spPr>
        <p:txBody>
          <a:bodyPr wrap="square" anchor="t" lIns="0" rIns="0" tIns="0" bIns="0">
            <a:spAutoFit/>
          </a:bodyPr>
          <a:lstStyle/>
          <a:p>
            <a:pPr rtl="1" algn="r">
              <a:spcBef>
                <a:spcPts val="0"/>
              </a:spcBef>
              <a:spcAft>
                <a:spcPts val="0"/>
              </a:spcAft>
            </a:pPr>
            <a:r>
              <a:rPr sz="1700" b="1" i="0">
                <a:solidFill>
                  <a:srgbClr val="D94F8C"/>
                </a:solidFill>
                <a:latin typeface="Vazir"/>
                <a:cs typeface="Vazir"/>
              </a:rPr>
              <a:t>مسئله ما: تشخیص نوع ناهنجاری</a:t>
            </a:r>
          </a:p>
        </p:txBody>
      </p:sp>
      <p:sp>
        <p:nvSpPr>
          <p:cNvPr id="11" name="TextBox 10"/>
          <p:cNvSpPr txBox="1"/>
          <p:nvPr/>
        </p:nvSpPr>
        <p:spPr>
          <a:xfrm>
            <a:off x="6537960" y="2240280"/>
            <a:ext cx="4754880" cy="914400"/>
          </a:xfrm>
          <a:prstGeom prst="rect">
            <a:avLst/>
          </a:prstGeom>
          <a:noFill/>
        </p:spPr>
        <p:txBody>
          <a:bodyPr wrap="square" anchor="t" lIns="0" rIns="0" tIns="0" bIns="0">
            <a:spAutoFit/>
          </a:bodyPr>
          <a:lstStyle/>
          <a:p>
            <a:pPr rtl="1" algn="r">
              <a:lnSpc>
                <a:spcPts val="2400"/>
              </a:lnSpc>
              <a:spcBef>
                <a:spcPts val="0"/>
              </a:spcBef>
              <a:spcAft>
                <a:spcPts val="0"/>
              </a:spcAft>
            </a:pPr>
            <a:r>
              <a:rPr sz="1500" b="0" i="0">
                <a:solidFill>
                  <a:srgbClr val="4A2A38"/>
                </a:solidFill>
                <a:latin typeface="Vazir"/>
                <a:cs typeface="Vazir"/>
              </a:rPr>
              <a:t>کدام نوع ناهنجاری رخ داده؟</a:t>
            </a:r>
          </a:p>
          <a:p>
            <a:pPr rtl="1" algn="r">
              <a:lnSpc>
                <a:spcPts val="2400"/>
              </a:lnSpc>
              <a:spcBef>
                <a:spcPts val="0"/>
              </a:spcBef>
              <a:spcAft>
                <a:spcPts val="0"/>
              </a:spcAft>
            </a:pPr>
            <a:r>
              <a:rPr sz="1500" b="0" i="0">
                <a:solidFill>
                  <a:srgbClr val="4A2A38"/>
                </a:solidFill>
                <a:latin typeface="Vazir"/>
                <a:cs typeface="Vazir"/>
              </a:rPr>
              <a:t>جواب: یکی از ۱۴ کلاس</a:t>
            </a:r>
          </a:p>
        </p:txBody>
      </p:sp>
      <p:sp>
        <p:nvSpPr>
          <p:cNvPr id="12" name="TextBox 11"/>
          <p:cNvSpPr txBox="1"/>
          <p:nvPr/>
        </p:nvSpPr>
        <p:spPr>
          <a:xfrm>
            <a:off x="548640" y="3794760"/>
            <a:ext cx="11064240" cy="365760"/>
          </a:xfrm>
          <a:prstGeom prst="rect">
            <a:avLst/>
          </a:prstGeom>
          <a:noFill/>
        </p:spPr>
        <p:txBody>
          <a:bodyPr wrap="square" anchor="t" lIns="0" rIns="0" tIns="0" bIns="0">
            <a:spAutoFit/>
          </a:bodyPr>
          <a:lstStyle/>
          <a:p>
            <a:pPr rtl="1" algn="r">
              <a:spcBef>
                <a:spcPts val="0"/>
              </a:spcBef>
              <a:spcAft>
                <a:spcPts val="0"/>
              </a:spcAft>
            </a:pPr>
            <a:r>
              <a:rPr sz="1800" b="1" i="0">
                <a:solidFill>
                  <a:srgbClr val="9E3C67"/>
                </a:solidFill>
                <a:latin typeface="Vazir"/>
                <a:cs typeface="Vazir"/>
              </a:rPr>
              <a:t>چرا این تفاوت مهم است</a:t>
            </a:r>
          </a:p>
        </p:txBody>
      </p:sp>
      <p:sp>
        <p:nvSpPr>
          <p:cNvPr id="13" name="TextBox 12"/>
          <p:cNvSpPr txBox="1"/>
          <p:nvPr/>
        </p:nvSpPr>
        <p:spPr>
          <a:xfrm>
            <a:off x="548640" y="4251960"/>
            <a:ext cx="11064240" cy="1426464"/>
          </a:xfrm>
          <a:prstGeom prst="rect">
            <a:avLst/>
          </a:prstGeom>
          <a:noFill/>
        </p:spPr>
        <p:txBody>
          <a:bodyPr wrap="square" anchor="t" lIns="0" rIns="0" tIns="0" bIns="0">
            <a:spAutoFit/>
          </a:bodyPr>
          <a:lstStyle/>
          <a:p>
            <a:pPr rtl="1" algn="r">
              <a:lnSpc>
                <a:spcPts val="1900"/>
              </a:lnSpc>
              <a:spcBef>
                <a:spcPts val="0"/>
              </a:spcBef>
              <a:spcAft>
                <a:spcPts val="700"/>
              </a:spcAft>
            </a:pPr>
            <a:r>
              <a:rPr sz="1400" b="0" i="0">
                <a:solidFill>
                  <a:srgbClr val="4A2A38"/>
                </a:solidFill>
                <a:latin typeface="Vazir"/>
                <a:cs typeface="Vazir"/>
              </a:rPr>
              <a:t>●  پاسخ عملیاتی به تصادف رانندگی، آمبولانس است؛ به سرقت مسلحانه، نیروی مسلح.</a:t>
            </a:r>
          </a:p>
          <a:p>
            <a:pPr rtl="1" algn="r">
              <a:lnSpc>
                <a:spcPts val="1900"/>
              </a:lnSpc>
              <a:spcBef>
                <a:spcPts val="0"/>
              </a:spcBef>
              <a:spcAft>
                <a:spcPts val="700"/>
              </a:spcAft>
            </a:pPr>
            <a:r>
              <a:rPr sz="1400" b="0" i="0">
                <a:solidFill>
                  <a:srgbClr val="4A2A38"/>
                </a:solidFill>
                <a:latin typeface="Vazir"/>
                <a:cs typeface="Vazir"/>
              </a:rPr>
              <a:t>●  یک هشدار خام «ناهنجاری رخ داد» برای اپراتور قابل اقدام نیست.</a:t>
            </a:r>
          </a:p>
          <a:p>
            <a:pPr rtl="1" algn="r">
              <a:lnSpc>
                <a:spcPts val="1900"/>
              </a:lnSpc>
              <a:spcBef>
                <a:spcPts val="0"/>
              </a:spcBef>
              <a:spcAft>
                <a:spcPts val="700"/>
              </a:spcAft>
            </a:pPr>
            <a:r>
              <a:rPr sz="1400" b="0" i="0">
                <a:solidFill>
                  <a:srgbClr val="4A2A38"/>
                </a:solidFill>
                <a:latin typeface="Vazir"/>
                <a:cs typeface="Vazir"/>
              </a:rPr>
              <a:t>●  از نظر دشواری، مسئله چهارده‌کلاسه با نسخه دودویی قابل مقایسه نیست.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02</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مجموعه داده UCF-Crime</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داده</a:t>
            </a:r>
          </a:p>
        </p:txBody>
      </p:sp>
      <p:sp>
        <p:nvSpPr>
          <p:cNvPr id="6" name="TextBox 5"/>
          <p:cNvSpPr txBox="1"/>
          <p:nvPr/>
        </p:nvSpPr>
        <p:spPr>
          <a:xfrm>
            <a:off x="548640" y="1645920"/>
            <a:ext cx="26517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9E3C67"/>
                </a:solidFill>
                <a:latin typeface="Vazir"/>
                <a:cs typeface="Vazir"/>
              </a:rPr>
              <a:t>1900</a:t>
            </a:r>
          </a:p>
        </p:txBody>
      </p:sp>
      <p:sp>
        <p:nvSpPr>
          <p:cNvPr id="7" name="TextBox 6"/>
          <p:cNvSpPr txBox="1"/>
          <p:nvPr/>
        </p:nvSpPr>
        <p:spPr>
          <a:xfrm>
            <a:off x="548640" y="2359152"/>
            <a:ext cx="26517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کل ویدیوها</a:t>
            </a:r>
          </a:p>
        </p:txBody>
      </p:sp>
      <p:sp>
        <p:nvSpPr>
          <p:cNvPr id="8" name="TextBox 7"/>
          <p:cNvSpPr txBox="1"/>
          <p:nvPr/>
        </p:nvSpPr>
        <p:spPr>
          <a:xfrm>
            <a:off x="3383280" y="1645920"/>
            <a:ext cx="26517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9E3C67"/>
                </a:solidFill>
                <a:latin typeface="Vazir"/>
                <a:cs typeface="Vazir"/>
              </a:rPr>
              <a:t>14</a:t>
            </a:r>
          </a:p>
        </p:txBody>
      </p:sp>
      <p:sp>
        <p:nvSpPr>
          <p:cNvPr id="9" name="TextBox 8"/>
          <p:cNvSpPr txBox="1"/>
          <p:nvPr/>
        </p:nvSpPr>
        <p:spPr>
          <a:xfrm>
            <a:off x="3383280" y="2359152"/>
            <a:ext cx="26517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کلاس</a:t>
            </a:r>
          </a:p>
        </p:txBody>
      </p:sp>
      <p:sp>
        <p:nvSpPr>
          <p:cNvPr id="10" name="TextBox 9"/>
          <p:cNvSpPr txBox="1"/>
          <p:nvPr/>
        </p:nvSpPr>
        <p:spPr>
          <a:xfrm>
            <a:off x="6217920" y="1645920"/>
            <a:ext cx="26517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4E9E90"/>
                </a:solidFill>
                <a:latin typeface="Vazir"/>
                <a:cs typeface="Vazir"/>
              </a:rPr>
              <a:t>1895</a:t>
            </a:r>
          </a:p>
        </p:txBody>
      </p:sp>
      <p:sp>
        <p:nvSpPr>
          <p:cNvPr id="11" name="TextBox 10"/>
          <p:cNvSpPr txBox="1"/>
          <p:nvPr/>
        </p:nvSpPr>
        <p:spPr>
          <a:xfrm>
            <a:off x="6217920" y="2359152"/>
            <a:ext cx="26517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رمزگشایی موفق</a:t>
            </a:r>
          </a:p>
        </p:txBody>
      </p:sp>
      <p:sp>
        <p:nvSpPr>
          <p:cNvPr id="12" name="TextBox 11"/>
          <p:cNvSpPr txBox="1"/>
          <p:nvPr/>
        </p:nvSpPr>
        <p:spPr>
          <a:xfrm>
            <a:off x="9052560" y="1645920"/>
            <a:ext cx="26517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D4596B"/>
                </a:solidFill>
                <a:latin typeface="Vazir"/>
                <a:cs typeface="Vazir"/>
              </a:rPr>
              <a:t>5</a:t>
            </a:r>
          </a:p>
        </p:txBody>
      </p:sp>
      <p:sp>
        <p:nvSpPr>
          <p:cNvPr id="13" name="TextBox 12"/>
          <p:cNvSpPr txBox="1"/>
          <p:nvPr/>
        </p:nvSpPr>
        <p:spPr>
          <a:xfrm>
            <a:off x="9052560" y="2359152"/>
            <a:ext cx="26517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فایل خراب</a:t>
            </a:r>
          </a:p>
        </p:txBody>
      </p:sp>
      <p:sp>
        <p:nvSpPr>
          <p:cNvPr id="14" name="Rectangle 13"/>
          <p:cNvSpPr/>
          <p:nvPr/>
        </p:nvSpPr>
        <p:spPr>
          <a:xfrm>
            <a:off x="548640" y="3200400"/>
            <a:ext cx="5394960" cy="283464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3383280"/>
            <a:ext cx="4754880" cy="365760"/>
          </a:xfrm>
          <a:prstGeom prst="rect">
            <a:avLst/>
          </a:prstGeom>
          <a:noFill/>
        </p:spPr>
        <p:txBody>
          <a:bodyPr wrap="square" anchor="t" lIns="0" rIns="0" tIns="0" bIns="0">
            <a:spAutoFit/>
          </a:bodyPr>
          <a:lstStyle/>
          <a:p>
            <a:pPr rtl="1" algn="r">
              <a:spcBef>
                <a:spcPts val="0"/>
              </a:spcBef>
              <a:spcAft>
                <a:spcPts val="0"/>
              </a:spcAft>
            </a:pPr>
            <a:r>
              <a:rPr sz="1700" b="1" i="0">
                <a:solidFill>
                  <a:srgbClr val="9E3C67"/>
                </a:solidFill>
                <a:latin typeface="Vazir"/>
                <a:cs typeface="Vazir"/>
              </a:rPr>
              <a:t>ویژگی‌های داده</a:t>
            </a:r>
          </a:p>
        </p:txBody>
      </p:sp>
      <p:sp>
        <p:nvSpPr>
          <p:cNvPr id="16" name="TextBox 15"/>
          <p:cNvSpPr txBox="1"/>
          <p:nvPr/>
        </p:nvSpPr>
        <p:spPr>
          <a:xfrm>
            <a:off x="868680" y="3840480"/>
            <a:ext cx="4754880" cy="1810512"/>
          </a:xfrm>
          <a:prstGeom prst="rect">
            <a:avLst/>
          </a:prstGeom>
          <a:noFill/>
        </p:spPr>
        <p:txBody>
          <a:bodyPr wrap="square" anchor="t" lIns="0" rIns="0" tIns="0" bIns="0">
            <a:spAutoFit/>
          </a:bodyPr>
          <a:lstStyle/>
          <a:p>
            <a:pPr rtl="1" algn="r">
              <a:lnSpc>
                <a:spcPts val="1900"/>
              </a:lnSpc>
              <a:spcBef>
                <a:spcPts val="0"/>
              </a:spcBef>
              <a:spcAft>
                <a:spcPts val="700"/>
              </a:spcAft>
            </a:pPr>
            <a:r>
              <a:rPr sz="1300" b="0" i="0">
                <a:solidFill>
                  <a:srgbClr val="4A2A38"/>
                </a:solidFill>
                <a:latin typeface="Vazir"/>
                <a:cs typeface="Vazir"/>
              </a:rPr>
              <a:t>●  ویدیوی واقعی دوربین مداربسته، نه صحنه‌پردازی</a:t>
            </a:r>
          </a:p>
          <a:p>
            <a:pPr rtl="1" algn="r">
              <a:lnSpc>
                <a:spcPts val="1900"/>
              </a:lnSpc>
              <a:spcBef>
                <a:spcPts val="0"/>
              </a:spcBef>
              <a:spcAft>
                <a:spcPts val="700"/>
              </a:spcAft>
            </a:pPr>
            <a:r>
              <a:rPr sz="1300" b="0" i="0">
                <a:solidFill>
                  <a:srgbClr val="4A2A38"/>
                </a:solidFill>
                <a:latin typeface="Vazir"/>
                <a:cs typeface="Vazir"/>
              </a:rPr>
              <a:t>●  وضوح پایین، نور ضعیف، زاویه نامناسب</a:t>
            </a:r>
          </a:p>
          <a:p>
            <a:pPr rtl="1" algn="r">
              <a:lnSpc>
                <a:spcPts val="1900"/>
              </a:lnSpc>
              <a:spcBef>
                <a:spcPts val="0"/>
              </a:spcBef>
              <a:spcAft>
                <a:spcPts val="700"/>
              </a:spcAft>
            </a:pPr>
            <a:r>
              <a:rPr sz="1300" b="0" i="0">
                <a:solidFill>
                  <a:srgbClr val="4A2A38"/>
                </a:solidFill>
                <a:latin typeface="Vazir"/>
                <a:cs typeface="Vazir"/>
              </a:rPr>
              <a:t>●  مدت‌زمان از چند ثانیه تا چند دقیقه</a:t>
            </a:r>
          </a:p>
          <a:p>
            <a:pPr rtl="1" algn="r">
              <a:lnSpc>
                <a:spcPts val="1900"/>
              </a:lnSpc>
              <a:spcBef>
                <a:spcPts val="0"/>
              </a:spcBef>
              <a:spcAft>
                <a:spcPts val="700"/>
              </a:spcAft>
            </a:pPr>
            <a:r>
              <a:rPr sz="1300" b="0" i="0">
                <a:solidFill>
                  <a:srgbClr val="4A2A38"/>
                </a:solidFill>
                <a:latin typeface="Vazir"/>
                <a:cs typeface="Vazir"/>
              </a:rPr>
              <a:t>●  برچسب فقط در سطح کل ویدیو</a:t>
            </a:r>
          </a:p>
        </p:txBody>
      </p:sp>
      <p:sp>
        <p:nvSpPr>
          <p:cNvPr id="17" name="Rectangle 16"/>
          <p:cNvSpPr/>
          <p:nvPr/>
        </p:nvSpPr>
        <p:spPr>
          <a:xfrm>
            <a:off x="6217920" y="3200400"/>
            <a:ext cx="5394960" cy="283464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37960" y="3383280"/>
            <a:ext cx="4754880" cy="365760"/>
          </a:xfrm>
          <a:prstGeom prst="rect">
            <a:avLst/>
          </a:prstGeom>
          <a:noFill/>
        </p:spPr>
        <p:txBody>
          <a:bodyPr wrap="square" anchor="t" lIns="0" rIns="0" tIns="0" bIns="0">
            <a:spAutoFit/>
          </a:bodyPr>
          <a:lstStyle/>
          <a:p>
            <a:pPr rtl="1" algn="r">
              <a:spcBef>
                <a:spcPts val="0"/>
              </a:spcBef>
              <a:spcAft>
                <a:spcPts val="0"/>
              </a:spcAft>
            </a:pPr>
            <a:r>
              <a:rPr sz="1700" b="1" i="0">
                <a:solidFill>
                  <a:srgbClr val="D94F8C"/>
                </a:solidFill>
                <a:latin typeface="Vazir"/>
                <a:cs typeface="Vazir"/>
              </a:rPr>
              <a:t>چالش اصلی: نامتوازنی شدید</a:t>
            </a:r>
          </a:p>
        </p:txBody>
      </p:sp>
      <p:sp>
        <p:nvSpPr>
          <p:cNvPr id="19" name="TextBox 18"/>
          <p:cNvSpPr txBox="1"/>
          <p:nvPr/>
        </p:nvSpPr>
        <p:spPr>
          <a:xfrm>
            <a:off x="6537960" y="3840480"/>
            <a:ext cx="4754880" cy="1810512"/>
          </a:xfrm>
          <a:prstGeom prst="rect">
            <a:avLst/>
          </a:prstGeom>
          <a:noFill/>
        </p:spPr>
        <p:txBody>
          <a:bodyPr wrap="square" anchor="t" lIns="0" rIns="0" tIns="0" bIns="0">
            <a:spAutoFit/>
          </a:bodyPr>
          <a:lstStyle/>
          <a:p>
            <a:pPr rtl="1" algn="r">
              <a:lnSpc>
                <a:spcPts val="1900"/>
              </a:lnSpc>
              <a:spcBef>
                <a:spcPts val="0"/>
              </a:spcBef>
              <a:spcAft>
                <a:spcPts val="700"/>
              </a:spcAft>
            </a:pPr>
            <a:r>
              <a:rPr sz="1300" b="0" i="0">
                <a:solidFill>
                  <a:srgbClr val="4A2A38"/>
                </a:solidFill>
                <a:latin typeface="Vazir"/>
                <a:cs typeface="Vazir"/>
              </a:rPr>
              <a:t>●  کلاس عادی حدود نیمی از داده آموزش است</a:t>
            </a:r>
          </a:p>
          <a:p>
            <a:pPr rtl="1" algn="r">
              <a:lnSpc>
                <a:spcPts val="1900"/>
              </a:lnSpc>
              <a:spcBef>
                <a:spcPts val="0"/>
              </a:spcBef>
              <a:spcAft>
                <a:spcPts val="700"/>
              </a:spcAft>
            </a:pPr>
            <a:r>
              <a:rPr sz="1300" b="0" i="0">
                <a:solidFill>
                  <a:srgbClr val="4A2A38"/>
                </a:solidFill>
                <a:latin typeface="Vazir"/>
                <a:cs typeface="Vazir"/>
              </a:rPr>
              <a:t>●  کلاس تیراندازی کمتر از دو درصد</a:t>
            </a:r>
          </a:p>
          <a:p>
            <a:pPr rtl="1" algn="r">
              <a:lnSpc>
                <a:spcPts val="1900"/>
              </a:lnSpc>
              <a:spcBef>
                <a:spcPts val="0"/>
              </a:spcBef>
              <a:spcAft>
                <a:spcPts val="700"/>
              </a:spcAft>
            </a:pPr>
            <a:r>
              <a:rPr sz="1300" b="0" i="0">
                <a:solidFill>
                  <a:srgbClr val="4A2A38"/>
                </a:solidFill>
                <a:latin typeface="Vazir"/>
                <a:cs typeface="Vazir"/>
              </a:rPr>
              <a:t>●  در آزمون، هفت کلاس پنج ویدیو یا کمتر دارند</a:t>
            </a:r>
          </a:p>
          <a:p>
            <a:pPr rtl="1" algn="r">
              <a:lnSpc>
                <a:spcPts val="1900"/>
              </a:lnSpc>
              <a:spcBef>
                <a:spcPts val="0"/>
              </a:spcBef>
              <a:spcAft>
                <a:spcPts val="700"/>
              </a:spcAft>
            </a:pPr>
            <a:r>
              <a:rPr sz="1300" b="0" i="0">
                <a:solidFill>
                  <a:srgbClr val="4A2A38"/>
                </a:solidFill>
                <a:latin typeface="Vazir"/>
                <a:cs typeface="Vazir"/>
              </a:rPr>
              <a:t>●  کلاس Assault تنها سه ویدیوی آزمون دارد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03</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پروتکل تقسیم داده — مسیر اول</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X-CLIP</a:t>
            </a:r>
          </a:p>
        </p:txBody>
      </p:sp>
      <p:sp>
        <p:nvSpPr>
          <p:cNvPr id="6" name="TextBox 5"/>
          <p:cNvSpPr txBox="1"/>
          <p:nvPr/>
        </p:nvSpPr>
        <p:spPr>
          <a:xfrm>
            <a:off x="548640" y="1554480"/>
            <a:ext cx="11064240" cy="329184"/>
          </a:xfrm>
          <a:prstGeom prst="rect">
            <a:avLst/>
          </a:prstGeom>
          <a:noFill/>
        </p:spPr>
        <p:txBody>
          <a:bodyPr wrap="square" anchor="t" lIns="0" rIns="0" tIns="0" bIns="0">
            <a:spAutoFit/>
          </a:bodyPr>
          <a:lstStyle/>
          <a:p>
            <a:pPr rtl="1" algn="r">
              <a:spcBef>
                <a:spcPts val="0"/>
              </a:spcBef>
              <a:spcAft>
                <a:spcPts val="0"/>
              </a:spcAft>
            </a:pPr>
            <a:r>
              <a:rPr sz="1250" b="0" i="0">
                <a:solidFill>
                  <a:srgbClr val="9B7A88"/>
                </a:solidFill>
                <a:latin typeface="Vazir"/>
                <a:cs typeface="Vazir"/>
              </a:rPr>
              <a:t>تفکیک ۷۰ به ۱۵ به ۱۵ طبقه‌ای روی کل مجموعه، سپس متوازن‌سازی مجموعه آموزش با بیش‌نمونه‌برداری کلاس‌های اقلیت.</a:t>
            </a:r>
          </a:p>
        </p:txBody>
      </p:sp>
      <p:graphicFrame>
        <p:nvGraphicFramePr>
          <p:cNvPr id="7" name="Table 6"/>
          <p:cNvGraphicFramePr>
            <a:graphicFrameLocks noGrp="1"/>
          </p:cNvGraphicFramePr>
          <p:nvPr/>
        </p:nvGraphicFramePr>
        <p:xfrm>
          <a:off x="548640" y="1965960"/>
          <a:ext cx="5394960" cy="3566160"/>
        </p:xfrm>
        <a:graphic>
          <a:graphicData uri="http://schemas.openxmlformats.org/drawingml/2006/table">
            <a:tbl>
              <a:tblPr firstRow="0" bandRow="0">
                <a:tableStyleId>{5C22544A-7EE6-4342-B048-85BDC9FD1C3A}</a:tableStyleId>
              </a:tblPr>
              <a:tblGrid>
                <a:gridCol w="3383280"/>
                <a:gridCol w="2011680"/>
              </a:tblGrid>
              <a:tr h="237744">
                <a:tc>
                  <a:txBody>
                    <a:bodyPr wrap="square"/>
                    <a:lstStyle/>
                    <a:p>
                      <a:pPr rtl="1" algn="ctr">
                        <a:spcBef>
                          <a:spcPts val="0"/>
                        </a:spcBef>
                        <a:spcAft>
                          <a:spcPts val="0"/>
                        </a:spcAft>
                      </a:pPr>
                      <a:r>
                        <a:rPr sz="1100" b="1" i="0">
                          <a:solidFill>
                            <a:srgbClr val="D94F8C"/>
                          </a:solidFill>
                          <a:latin typeface="Vazir"/>
                          <a:cs typeface="Vazir"/>
                        </a:rPr>
                        <a:t>کلاس</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00" b="1" i="0">
                          <a:solidFill>
                            <a:srgbClr val="D94F8C"/>
                          </a:solidFill>
                          <a:latin typeface="Vazir"/>
                          <a:cs typeface="Vazir"/>
                        </a:rPr>
                        <a:t>مجموعه آموزش</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237744">
                <a:tc>
                  <a:txBody>
                    <a:bodyPr wrap="square"/>
                    <a:lstStyle/>
                    <a:p>
                      <a:pPr rtl="1" algn="r">
                        <a:spcBef>
                          <a:spcPts val="0"/>
                        </a:spcBef>
                        <a:spcAft>
                          <a:spcPts val="0"/>
                        </a:spcAft>
                      </a:pPr>
                      <a:r>
                        <a:rPr sz="1100" b="0" i="0">
                          <a:solidFill>
                            <a:srgbClr val="4A2A38"/>
                          </a:solidFill>
                          <a:latin typeface="Vazir"/>
                          <a:cs typeface="Vazir"/>
                        </a:rPr>
                        <a:t>Normal</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420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Burglary</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140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RoadAccidents</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140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Robbery</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140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Shooting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140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Stealing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140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Vandalism</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140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Abuse</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105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Arrest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105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Arson</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105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Assault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105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Explosion</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105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Fighting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105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Shoplifting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105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bl>
          </a:graphicData>
        </a:graphic>
      </p:graphicFrame>
      <p:graphicFrame>
        <p:nvGraphicFramePr>
          <p:cNvPr id="8" name="Table 7"/>
          <p:cNvGraphicFramePr>
            <a:graphicFrameLocks noGrp="1"/>
          </p:cNvGraphicFramePr>
          <p:nvPr/>
        </p:nvGraphicFramePr>
        <p:xfrm>
          <a:off x="6217920" y="1965960"/>
          <a:ext cx="5394960" cy="3566160"/>
        </p:xfrm>
        <a:graphic>
          <a:graphicData uri="http://schemas.openxmlformats.org/drawingml/2006/table">
            <a:tbl>
              <a:tblPr firstRow="0" bandRow="0">
                <a:tableStyleId>{5C22544A-7EE6-4342-B048-85BDC9FD1C3A}</a:tableStyleId>
              </a:tblPr>
              <a:tblGrid>
                <a:gridCol w="3383280"/>
                <a:gridCol w="2011680"/>
              </a:tblGrid>
              <a:tr h="237744">
                <a:tc>
                  <a:txBody>
                    <a:bodyPr wrap="square"/>
                    <a:lstStyle/>
                    <a:p>
                      <a:pPr rtl="1" algn="ctr">
                        <a:spcBef>
                          <a:spcPts val="0"/>
                        </a:spcBef>
                        <a:spcAft>
                          <a:spcPts val="0"/>
                        </a:spcAft>
                      </a:pPr>
                      <a:r>
                        <a:rPr sz="1100" b="1" i="0">
                          <a:solidFill>
                            <a:srgbClr val="D94F8C"/>
                          </a:solidFill>
                          <a:latin typeface="Vazir"/>
                          <a:cs typeface="Vazir"/>
                        </a:rPr>
                        <a:t>کلاس</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00" b="1" i="0">
                          <a:solidFill>
                            <a:srgbClr val="D94F8C"/>
                          </a:solidFill>
                          <a:latin typeface="Vazir"/>
                          <a:cs typeface="Vazir"/>
                        </a:rPr>
                        <a:t>مجموعه آزمون</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237744">
                <a:tc>
                  <a:txBody>
                    <a:bodyPr wrap="square"/>
                    <a:lstStyle/>
                    <a:p>
                      <a:pPr rtl="1" algn="r">
                        <a:spcBef>
                          <a:spcPts val="0"/>
                        </a:spcBef>
                        <a:spcAft>
                          <a:spcPts val="0"/>
                        </a:spcAft>
                      </a:pPr>
                      <a:r>
                        <a:rPr sz="1100" b="0" i="0">
                          <a:solidFill>
                            <a:srgbClr val="4A2A38"/>
                          </a:solidFill>
                          <a:latin typeface="Vazir"/>
                          <a:cs typeface="Vazir"/>
                        </a:rPr>
                        <a:t>Normal</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148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RoadAccidents</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23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Robbery</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23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Burglary</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15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Stealing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15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Abuse</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Arrest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Arson</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Assault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Explosion</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Fighting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Shooting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Shoplifting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Vandalism</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bl>
          </a:graphicData>
        </a:graphic>
      </p:graphicFrame>
      <p:sp>
        <p:nvSpPr>
          <p:cNvPr id="9" name="TextBox 8"/>
          <p:cNvSpPr txBox="1"/>
          <p:nvPr/>
        </p:nvSpPr>
        <p:spPr>
          <a:xfrm>
            <a:off x="548640" y="5623560"/>
            <a:ext cx="26517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9E3C67"/>
                </a:solidFill>
                <a:latin typeface="Vazir"/>
                <a:cs typeface="Vazir"/>
              </a:rPr>
              <a:t>1995</a:t>
            </a:r>
          </a:p>
        </p:txBody>
      </p:sp>
      <p:sp>
        <p:nvSpPr>
          <p:cNvPr id="10" name="TextBox 9"/>
          <p:cNvSpPr txBox="1"/>
          <p:nvPr/>
        </p:nvSpPr>
        <p:spPr>
          <a:xfrm>
            <a:off x="548640" y="6336792"/>
            <a:ext cx="26517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اندازه‌ی مؤثر مجموعه آموزش</a:t>
            </a:r>
          </a:p>
        </p:txBody>
      </p:sp>
      <p:sp>
        <p:nvSpPr>
          <p:cNvPr id="11" name="TextBox 10"/>
          <p:cNvSpPr txBox="1"/>
          <p:nvPr/>
        </p:nvSpPr>
        <p:spPr>
          <a:xfrm>
            <a:off x="3291840" y="5623560"/>
            <a:ext cx="26517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9E3C67"/>
                </a:solidFill>
                <a:latin typeface="Vazir"/>
                <a:cs typeface="Vazir"/>
              </a:rPr>
              <a:t>296</a:t>
            </a:r>
          </a:p>
        </p:txBody>
      </p:sp>
      <p:sp>
        <p:nvSpPr>
          <p:cNvPr id="12" name="TextBox 11"/>
          <p:cNvSpPr txBox="1"/>
          <p:nvPr/>
        </p:nvSpPr>
        <p:spPr>
          <a:xfrm>
            <a:off x="3291840" y="6336792"/>
            <a:ext cx="26517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اندازه‌ی مجموعه آزمون</a:t>
            </a:r>
          </a:p>
        </p:txBody>
      </p:sp>
      <p:sp>
        <p:nvSpPr>
          <p:cNvPr id="13" name="TextBox 12"/>
          <p:cNvSpPr txBox="1"/>
          <p:nvPr/>
        </p:nvSpPr>
        <p:spPr>
          <a:xfrm>
            <a:off x="6217920" y="5669280"/>
            <a:ext cx="5394960" cy="777240"/>
          </a:xfrm>
          <a:prstGeom prst="rect">
            <a:avLst/>
          </a:prstGeom>
          <a:noFill/>
        </p:spPr>
        <p:txBody>
          <a:bodyPr wrap="square" anchor="t" lIns="0" rIns="0" tIns="0" bIns="0">
            <a:spAutoFit/>
          </a:bodyPr>
          <a:lstStyle/>
          <a:p>
            <a:pPr rtl="1" algn="r">
              <a:lnSpc>
                <a:spcPts val="1600"/>
              </a:lnSpc>
              <a:spcBef>
                <a:spcPts val="0"/>
              </a:spcBef>
              <a:spcAft>
                <a:spcPts val="0"/>
              </a:spcAft>
            </a:pPr>
            <a:r>
              <a:rPr sz="1100" b="0" i="0">
                <a:solidFill>
                  <a:srgbClr val="9B7A88"/>
                </a:solidFill>
                <a:latin typeface="Vazir"/>
                <a:cs typeface="Vazir"/>
              </a:rPr>
              <a:t>اعداد ستون آموزش تعداد نمونه‌های ارائه‌شده به بهینه‌ساز است، نه تعداد ویدیوی یکتا؛ کلاس‌های کم‌بسامد با جایگذاری بیش‌نمونه‌برداری شده‌اند.</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04</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پروتکل تقسیم داده — مسیر دوم</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VideoMAE</a:t>
            </a:r>
          </a:p>
        </p:txBody>
      </p:sp>
      <p:sp>
        <p:nvSpPr>
          <p:cNvPr id="6" name="TextBox 5"/>
          <p:cNvSpPr txBox="1"/>
          <p:nvPr/>
        </p:nvSpPr>
        <p:spPr>
          <a:xfrm>
            <a:off x="548640" y="1554480"/>
            <a:ext cx="11064240" cy="329184"/>
          </a:xfrm>
          <a:prstGeom prst="rect">
            <a:avLst/>
          </a:prstGeom>
          <a:noFill/>
        </p:spPr>
        <p:txBody>
          <a:bodyPr wrap="square" anchor="t" lIns="0" rIns="0" tIns="0" bIns="0">
            <a:spAutoFit/>
          </a:bodyPr>
          <a:lstStyle/>
          <a:p>
            <a:pPr rtl="1" algn="r">
              <a:spcBef>
                <a:spcPts val="0"/>
              </a:spcBef>
              <a:spcAft>
                <a:spcPts val="0"/>
              </a:spcAft>
            </a:pPr>
            <a:r>
              <a:rPr sz="1250" b="0" i="0">
                <a:solidFill>
                  <a:srgbClr val="9B7A88"/>
                </a:solidFill>
                <a:latin typeface="Vazir"/>
                <a:cs typeface="Vazir"/>
              </a:rPr>
              <a:t>تفکیک استاندارد مرجع مجموعه‌ی UCF-Crime، بدون بازنمونه‌گیری و بدون متوازن‌سازی.</a:t>
            </a:r>
          </a:p>
        </p:txBody>
      </p:sp>
      <p:graphicFrame>
        <p:nvGraphicFramePr>
          <p:cNvPr id="7" name="Table 6"/>
          <p:cNvGraphicFramePr>
            <a:graphicFrameLocks noGrp="1"/>
          </p:cNvGraphicFramePr>
          <p:nvPr/>
        </p:nvGraphicFramePr>
        <p:xfrm>
          <a:off x="548640" y="1965960"/>
          <a:ext cx="5394960" cy="3566160"/>
        </p:xfrm>
        <a:graphic>
          <a:graphicData uri="http://schemas.openxmlformats.org/drawingml/2006/table">
            <a:tbl>
              <a:tblPr firstRow="0" bandRow="0">
                <a:tableStyleId>{5C22544A-7EE6-4342-B048-85BDC9FD1C3A}</a:tableStyleId>
              </a:tblPr>
              <a:tblGrid>
                <a:gridCol w="3383280"/>
                <a:gridCol w="2011680"/>
              </a:tblGrid>
              <a:tr h="237744">
                <a:tc>
                  <a:txBody>
                    <a:bodyPr wrap="square"/>
                    <a:lstStyle/>
                    <a:p>
                      <a:pPr rtl="1" algn="ctr">
                        <a:spcBef>
                          <a:spcPts val="0"/>
                        </a:spcBef>
                        <a:spcAft>
                          <a:spcPts val="0"/>
                        </a:spcAft>
                      </a:pPr>
                      <a:r>
                        <a:rPr sz="1100" b="1" i="0">
                          <a:solidFill>
                            <a:srgbClr val="D94F8C"/>
                          </a:solidFill>
                          <a:latin typeface="Vazir"/>
                          <a:cs typeface="Vazir"/>
                        </a:rPr>
                        <a:t>کلاس</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00" b="1" i="0">
                          <a:solidFill>
                            <a:srgbClr val="D94F8C"/>
                          </a:solidFill>
                          <a:latin typeface="Vazir"/>
                          <a:cs typeface="Vazir"/>
                        </a:rPr>
                        <a:t>مجموعه آموزش</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237744">
                <a:tc>
                  <a:txBody>
                    <a:bodyPr wrap="square"/>
                    <a:lstStyle/>
                    <a:p>
                      <a:pPr rtl="1" algn="r">
                        <a:spcBef>
                          <a:spcPts val="0"/>
                        </a:spcBef>
                        <a:spcAft>
                          <a:spcPts val="0"/>
                        </a:spcAft>
                      </a:pPr>
                      <a:r>
                        <a:rPr sz="1100" b="0" i="0">
                          <a:solidFill>
                            <a:srgbClr val="4A2A38"/>
                          </a:solidFill>
                          <a:latin typeface="Vazir"/>
                          <a:cs typeface="Vazir"/>
                        </a:rPr>
                        <a:t>Normal</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800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Robbery</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145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RoadAccidents</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127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Stealing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95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Burglary</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87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Abuse</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48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Assault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47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Arrest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45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Fighting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45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Vandalism</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45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Arson</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41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Explosion</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29</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Shoplifting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29</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Shooting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27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bl>
          </a:graphicData>
        </a:graphic>
      </p:graphicFrame>
      <p:graphicFrame>
        <p:nvGraphicFramePr>
          <p:cNvPr id="8" name="Table 7"/>
          <p:cNvGraphicFramePr>
            <a:graphicFrameLocks noGrp="1"/>
          </p:cNvGraphicFramePr>
          <p:nvPr/>
        </p:nvGraphicFramePr>
        <p:xfrm>
          <a:off x="6217920" y="1965960"/>
          <a:ext cx="5394960" cy="3566160"/>
        </p:xfrm>
        <a:graphic>
          <a:graphicData uri="http://schemas.openxmlformats.org/drawingml/2006/table">
            <a:tbl>
              <a:tblPr firstRow="0" bandRow="0">
                <a:tableStyleId>{5C22544A-7EE6-4342-B048-85BDC9FD1C3A}</a:tableStyleId>
              </a:tblPr>
              <a:tblGrid>
                <a:gridCol w="3383280"/>
                <a:gridCol w="2011680"/>
              </a:tblGrid>
              <a:tr h="237744">
                <a:tc>
                  <a:txBody>
                    <a:bodyPr wrap="square"/>
                    <a:lstStyle/>
                    <a:p>
                      <a:pPr rtl="1" algn="ctr">
                        <a:spcBef>
                          <a:spcPts val="0"/>
                        </a:spcBef>
                        <a:spcAft>
                          <a:spcPts val="0"/>
                        </a:spcAft>
                      </a:pPr>
                      <a:r>
                        <a:rPr sz="1100" b="1" i="0">
                          <a:solidFill>
                            <a:srgbClr val="D94F8C"/>
                          </a:solidFill>
                          <a:latin typeface="Vazir"/>
                          <a:cs typeface="Vazir"/>
                        </a:rPr>
                        <a:t>کلاس</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00" b="1" i="0">
                          <a:solidFill>
                            <a:srgbClr val="D94F8C"/>
                          </a:solidFill>
                          <a:latin typeface="Vazir"/>
                          <a:cs typeface="Vazir"/>
                        </a:rPr>
                        <a:t>مجموعه آزمون</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237744">
                <a:tc>
                  <a:txBody>
                    <a:bodyPr wrap="square"/>
                    <a:lstStyle/>
                    <a:p>
                      <a:pPr rtl="1" algn="r">
                        <a:spcBef>
                          <a:spcPts val="0"/>
                        </a:spcBef>
                        <a:spcAft>
                          <a:spcPts val="0"/>
                        </a:spcAft>
                      </a:pPr>
                      <a:r>
                        <a:rPr sz="1100" b="0" i="0">
                          <a:solidFill>
                            <a:srgbClr val="4A2A38"/>
                          </a:solidFill>
                          <a:latin typeface="Vazir"/>
                          <a:cs typeface="Vazir"/>
                        </a:rPr>
                        <a:t>Normal</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150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RoadAccidents</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23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Shooting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23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Explosion</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21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Shoplifting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21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0" i="0">
                          <a:solidFill>
                            <a:srgbClr val="4A2A38"/>
                          </a:solidFill>
                          <a:latin typeface="Vazir"/>
                          <a:cs typeface="Vazir"/>
                        </a:rPr>
                        <a:t>Burglary</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13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37744">
                <a:tc>
                  <a:txBody>
                    <a:bodyPr wrap="square"/>
                    <a:lstStyle/>
                    <a:p>
                      <a:pPr rtl="1" algn="r">
                        <a:spcBef>
                          <a:spcPts val="0"/>
                        </a:spcBef>
                        <a:spcAft>
                          <a:spcPts val="0"/>
                        </a:spcAft>
                      </a:pPr>
                      <a:r>
                        <a:rPr sz="1100" b="0" i="0">
                          <a:solidFill>
                            <a:srgbClr val="4A2A38"/>
                          </a:solidFill>
                          <a:latin typeface="Vazir"/>
                          <a:cs typeface="Vazir"/>
                        </a:rPr>
                        <a:t>Arson</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9</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37744">
                <a:tc>
                  <a:txBody>
                    <a:bodyPr wrap="square"/>
                    <a:lstStyle/>
                    <a:p>
                      <a:pPr rtl="1" algn="r">
                        <a:spcBef>
                          <a:spcPts val="0"/>
                        </a:spcBef>
                        <a:spcAft>
                          <a:spcPts val="0"/>
                        </a:spcAft>
                      </a:pPr>
                      <a:r>
                        <a:rPr sz="1100" b="1" i="0">
                          <a:solidFill>
                            <a:srgbClr val="C53D7C"/>
                          </a:solidFill>
                          <a:latin typeface="Vazir"/>
                          <a:cs typeface="Vazir"/>
                        </a:rPr>
                        <a:t>Arrest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00" b="1" i="0">
                          <a:solidFill>
                            <a:srgbClr val="C53D7C"/>
                          </a:solidFill>
                          <a:latin typeface="Vazir"/>
                          <a:cs typeface="Vazir"/>
                        </a:rPr>
                        <a:t>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r h="237744">
                <a:tc>
                  <a:txBody>
                    <a:bodyPr wrap="square"/>
                    <a:lstStyle/>
                    <a:p>
                      <a:pPr rtl="1" algn="r">
                        <a:spcBef>
                          <a:spcPts val="0"/>
                        </a:spcBef>
                        <a:spcAft>
                          <a:spcPts val="0"/>
                        </a:spcAft>
                      </a:pPr>
                      <a:r>
                        <a:rPr sz="1100" b="1" i="0">
                          <a:solidFill>
                            <a:srgbClr val="C53D7C"/>
                          </a:solidFill>
                          <a:latin typeface="Vazir"/>
                          <a:cs typeface="Vazir"/>
                        </a:rPr>
                        <a:t>Fighting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00" b="1" i="0">
                          <a:solidFill>
                            <a:srgbClr val="C53D7C"/>
                          </a:solidFill>
                          <a:latin typeface="Vazir"/>
                          <a:cs typeface="Vazir"/>
                        </a:rPr>
                        <a:t>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r h="237744">
                <a:tc>
                  <a:txBody>
                    <a:bodyPr wrap="square"/>
                    <a:lstStyle/>
                    <a:p>
                      <a:pPr rtl="1" algn="r">
                        <a:spcBef>
                          <a:spcPts val="0"/>
                        </a:spcBef>
                        <a:spcAft>
                          <a:spcPts val="0"/>
                        </a:spcAft>
                      </a:pPr>
                      <a:r>
                        <a:rPr sz="1100" b="1" i="0">
                          <a:solidFill>
                            <a:srgbClr val="C53D7C"/>
                          </a:solidFill>
                          <a:latin typeface="Vazir"/>
                          <a:cs typeface="Vazir"/>
                        </a:rPr>
                        <a:t>Robbery</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00" b="1" i="0">
                          <a:solidFill>
                            <a:srgbClr val="C53D7C"/>
                          </a:solidFill>
                          <a:latin typeface="Vazir"/>
                          <a:cs typeface="Vazir"/>
                        </a:rPr>
                        <a:t>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r h="237744">
                <a:tc>
                  <a:txBody>
                    <a:bodyPr wrap="square"/>
                    <a:lstStyle/>
                    <a:p>
                      <a:pPr rtl="1" algn="r">
                        <a:spcBef>
                          <a:spcPts val="0"/>
                        </a:spcBef>
                        <a:spcAft>
                          <a:spcPts val="0"/>
                        </a:spcAft>
                      </a:pPr>
                      <a:r>
                        <a:rPr sz="1100" b="1" i="0">
                          <a:solidFill>
                            <a:srgbClr val="C53D7C"/>
                          </a:solidFill>
                          <a:latin typeface="Vazir"/>
                          <a:cs typeface="Vazir"/>
                        </a:rPr>
                        <a:t>Stealing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00" b="1" i="0">
                          <a:solidFill>
                            <a:srgbClr val="C53D7C"/>
                          </a:solidFill>
                          <a:latin typeface="Vazir"/>
                          <a:cs typeface="Vazir"/>
                        </a:rPr>
                        <a:t>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r h="237744">
                <a:tc>
                  <a:txBody>
                    <a:bodyPr wrap="square"/>
                    <a:lstStyle/>
                    <a:p>
                      <a:pPr rtl="1" algn="r">
                        <a:spcBef>
                          <a:spcPts val="0"/>
                        </a:spcBef>
                        <a:spcAft>
                          <a:spcPts val="0"/>
                        </a:spcAft>
                      </a:pPr>
                      <a:r>
                        <a:rPr sz="1100" b="1" i="0">
                          <a:solidFill>
                            <a:srgbClr val="C53D7C"/>
                          </a:solidFill>
                          <a:latin typeface="Vazir"/>
                          <a:cs typeface="Vazir"/>
                        </a:rPr>
                        <a:t>Vandalism</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00" b="1" i="0">
                          <a:solidFill>
                            <a:srgbClr val="C53D7C"/>
                          </a:solidFill>
                          <a:latin typeface="Vazir"/>
                          <a:cs typeface="Vazir"/>
                        </a:rPr>
                        <a:t>4</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r h="237744">
                <a:tc>
                  <a:txBody>
                    <a:bodyPr wrap="square"/>
                    <a:lstStyle/>
                    <a:p>
                      <a:pPr rtl="1" algn="r">
                        <a:spcBef>
                          <a:spcPts val="0"/>
                        </a:spcBef>
                        <a:spcAft>
                          <a:spcPts val="0"/>
                        </a:spcAft>
                      </a:pPr>
                      <a:r>
                        <a:rPr sz="1100" b="1" i="0">
                          <a:solidFill>
                            <a:srgbClr val="C53D7C"/>
                          </a:solidFill>
                          <a:latin typeface="Vazir"/>
                          <a:cs typeface="Vazir"/>
                        </a:rPr>
                        <a:t>Abuse</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00" b="1" i="0">
                          <a:solidFill>
                            <a:srgbClr val="C53D7C"/>
                          </a:solidFill>
                          <a:latin typeface="Vazir"/>
                          <a:cs typeface="Vazir"/>
                        </a:rPr>
                        <a:t>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r h="237744">
                <a:tc>
                  <a:txBody>
                    <a:bodyPr wrap="square"/>
                    <a:lstStyle/>
                    <a:p>
                      <a:pPr rtl="1" algn="r">
                        <a:spcBef>
                          <a:spcPts val="0"/>
                        </a:spcBef>
                        <a:spcAft>
                          <a:spcPts val="0"/>
                        </a:spcAft>
                      </a:pPr>
                      <a:r>
                        <a:rPr sz="1100" b="1" i="0">
                          <a:solidFill>
                            <a:srgbClr val="C53D7C"/>
                          </a:solidFill>
                          <a:latin typeface="Vazir"/>
                          <a:cs typeface="Vazir"/>
                        </a:rPr>
                        <a:t>Assault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00" b="1" i="0">
                          <a:solidFill>
                            <a:srgbClr val="C53D7C"/>
                          </a:solidFill>
                          <a:latin typeface="Vazir"/>
                          <a:cs typeface="Vazir"/>
                        </a:rPr>
                        <a:t>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bl>
          </a:graphicData>
        </a:graphic>
      </p:graphicFrame>
      <p:sp>
        <p:nvSpPr>
          <p:cNvPr id="9" name="TextBox 8"/>
          <p:cNvSpPr txBox="1"/>
          <p:nvPr/>
        </p:nvSpPr>
        <p:spPr>
          <a:xfrm>
            <a:off x="548640" y="5623560"/>
            <a:ext cx="26517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9E3C67"/>
                </a:solidFill>
                <a:latin typeface="Vazir"/>
                <a:cs typeface="Vazir"/>
              </a:rPr>
              <a:t>1610</a:t>
            </a:r>
          </a:p>
        </p:txBody>
      </p:sp>
      <p:sp>
        <p:nvSpPr>
          <p:cNvPr id="10" name="TextBox 9"/>
          <p:cNvSpPr txBox="1"/>
          <p:nvPr/>
        </p:nvSpPr>
        <p:spPr>
          <a:xfrm>
            <a:off x="548640" y="6336792"/>
            <a:ext cx="26517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اندازه‌ی مجموعه آموزش</a:t>
            </a:r>
          </a:p>
        </p:txBody>
      </p:sp>
      <p:sp>
        <p:nvSpPr>
          <p:cNvPr id="11" name="TextBox 10"/>
          <p:cNvSpPr txBox="1"/>
          <p:nvPr/>
        </p:nvSpPr>
        <p:spPr>
          <a:xfrm>
            <a:off x="3291840" y="5623560"/>
            <a:ext cx="26517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9E3C67"/>
                </a:solidFill>
                <a:latin typeface="Vazir"/>
                <a:cs typeface="Vazir"/>
              </a:rPr>
              <a:t>290</a:t>
            </a:r>
          </a:p>
        </p:txBody>
      </p:sp>
      <p:sp>
        <p:nvSpPr>
          <p:cNvPr id="12" name="TextBox 11"/>
          <p:cNvSpPr txBox="1"/>
          <p:nvPr/>
        </p:nvSpPr>
        <p:spPr>
          <a:xfrm>
            <a:off x="3291840" y="6336792"/>
            <a:ext cx="26517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اندازه‌ی مجموعه آزمون</a:t>
            </a:r>
          </a:p>
        </p:txBody>
      </p:sp>
      <p:sp>
        <p:nvSpPr>
          <p:cNvPr id="13" name="TextBox 12"/>
          <p:cNvSpPr txBox="1"/>
          <p:nvPr/>
        </p:nvSpPr>
        <p:spPr>
          <a:xfrm>
            <a:off x="6217920" y="5669280"/>
            <a:ext cx="5394960" cy="777240"/>
          </a:xfrm>
          <a:prstGeom prst="rect">
            <a:avLst/>
          </a:prstGeom>
          <a:noFill/>
        </p:spPr>
        <p:txBody>
          <a:bodyPr wrap="square" anchor="t" lIns="0" rIns="0" tIns="0" bIns="0">
            <a:spAutoFit/>
          </a:bodyPr>
          <a:lstStyle/>
          <a:p>
            <a:pPr rtl="1" algn="r">
              <a:lnSpc>
                <a:spcPts val="1600"/>
              </a:lnSpc>
              <a:spcBef>
                <a:spcPts val="0"/>
              </a:spcBef>
              <a:spcAft>
                <a:spcPts val="0"/>
              </a:spcAft>
            </a:pPr>
            <a:r>
              <a:rPr sz="1100" b="0" i="0">
                <a:solidFill>
                  <a:srgbClr val="9B7A88"/>
                </a:solidFill>
                <a:latin typeface="Vazir"/>
                <a:cs typeface="Vazir"/>
              </a:rPr>
              <a:t>ردیف‌های مشخص‌شده هفت کلاسی هستند که پشتیبان آماری آن‌ها در مجموعه‌ی آزمون پنج نمونه یا کمتر است؛ منشأ اصلی واریانس معیار ماکرو.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05</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صورت‌بندی یادگیری چندنمونه‌ای</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چارچوب</a:t>
            </a:r>
          </a:p>
        </p:txBody>
      </p:sp>
      <p:sp>
        <p:nvSpPr>
          <p:cNvPr id="6" name="TextBox 5"/>
          <p:cNvSpPr txBox="1"/>
          <p:nvPr/>
        </p:nvSpPr>
        <p:spPr>
          <a:xfrm>
            <a:off x="548640" y="1554480"/>
            <a:ext cx="11064240" cy="329184"/>
          </a:xfrm>
          <a:prstGeom prst="rect">
            <a:avLst/>
          </a:prstGeom>
          <a:noFill/>
        </p:spPr>
        <p:txBody>
          <a:bodyPr wrap="square" anchor="t" lIns="0" rIns="0" tIns="0" bIns="0">
            <a:spAutoFit/>
          </a:bodyPr>
          <a:lstStyle/>
          <a:p>
            <a:pPr rtl="1" algn="r">
              <a:spcBef>
                <a:spcPts val="0"/>
              </a:spcBef>
              <a:spcAft>
                <a:spcPts val="0"/>
              </a:spcAft>
            </a:pPr>
            <a:r>
              <a:rPr sz="1250" b="0" i="0">
                <a:solidFill>
                  <a:srgbClr val="9B7A88"/>
                </a:solidFill>
                <a:latin typeface="Vazir"/>
                <a:cs typeface="Vazir"/>
              </a:rPr>
              <a:t>نظارت در سطح کیف: برچسب تنها برای کل ویدیو موجود است و هیچ حاشیه‌نویسی زمانی در مجموعه‌ی آموزش وجود ندارد.</a:t>
            </a:r>
          </a:p>
        </p:txBody>
      </p:sp>
      <p:sp>
        <p:nvSpPr>
          <p:cNvPr id="7" name="Rectangle 6"/>
          <p:cNvSpPr/>
          <p:nvPr/>
        </p:nvSpPr>
        <p:spPr>
          <a:xfrm>
            <a:off x="548640" y="2011680"/>
            <a:ext cx="5577840" cy="278892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2194560"/>
            <a:ext cx="4937760" cy="320040"/>
          </a:xfrm>
          <a:prstGeom prst="rect">
            <a:avLst/>
          </a:prstGeom>
          <a:noFill/>
        </p:spPr>
        <p:txBody>
          <a:bodyPr wrap="square" anchor="t" lIns="0" rIns="0" tIns="0" bIns="0">
            <a:spAutoFit/>
          </a:bodyPr>
          <a:lstStyle/>
          <a:p>
            <a:pPr rtl="1" algn="r">
              <a:spcBef>
                <a:spcPts val="0"/>
              </a:spcBef>
              <a:spcAft>
                <a:spcPts val="0"/>
              </a:spcAft>
            </a:pPr>
            <a:r>
              <a:rPr sz="1500" b="1" i="0">
                <a:solidFill>
                  <a:srgbClr val="D94F8C"/>
                </a:solidFill>
                <a:latin typeface="Vazir"/>
                <a:cs typeface="Vazir"/>
              </a:rPr>
              <a:t>تعریف صوری</a:t>
            </a:r>
          </a:p>
        </p:txBody>
      </p:sp>
      <p:sp>
        <p:nvSpPr>
          <p:cNvPr id="9" name="TextBox 8"/>
          <p:cNvSpPr txBox="1"/>
          <p:nvPr/>
        </p:nvSpPr>
        <p:spPr>
          <a:xfrm>
            <a:off x="868680" y="2606040"/>
            <a:ext cx="4937760" cy="2011680"/>
          </a:xfrm>
          <a:prstGeom prst="rect">
            <a:avLst/>
          </a:prstGeom>
          <a:noFill/>
        </p:spPr>
        <p:txBody>
          <a:bodyPr wrap="square" anchor="t" lIns="0" rIns="0" tIns="0" bIns="0">
            <a:spAutoFit/>
          </a:bodyPr>
          <a:lstStyle/>
          <a:p>
            <a:pPr rtl="1" algn="r">
              <a:lnSpc>
                <a:spcPts val="1900"/>
              </a:lnSpc>
              <a:spcBef>
                <a:spcPts val="0"/>
              </a:spcBef>
              <a:spcAft>
                <a:spcPts val="400"/>
              </a:spcAft>
            </a:pPr>
            <a:r>
              <a:rPr sz="1200" b="0" i="0">
                <a:solidFill>
                  <a:srgbClr val="4A2A38"/>
                </a:solidFill>
                <a:latin typeface="Vazir"/>
                <a:cs typeface="Vazir"/>
              </a:rPr>
              <a:t>هر ویدیو یک کیف است:</a:t>
            </a:r>
          </a:p>
          <a:p>
            <a:pPr rtl="1" algn="r">
              <a:lnSpc>
                <a:spcPts val="1900"/>
              </a:lnSpc>
              <a:spcBef>
                <a:spcPts val="0"/>
              </a:spcBef>
              <a:spcAft>
                <a:spcPts val="400"/>
              </a:spcAft>
            </a:pPr>
            <a:r>
              <a:rPr sz="1200" b="0" i="0">
                <a:solidFill>
                  <a:srgbClr val="4A2A38"/>
                </a:solidFill>
                <a:latin typeface="Vazir"/>
                <a:cs typeface="Vazir"/>
              </a:rPr>
              <a:t>X = { x₁ , … , x_T } ,   x_t ∈ ℝᴰ ,   T = 16 , D = 1024</a:t>
            </a:r>
          </a:p>
          <a:p>
            <a:pPr rtl="1" algn="r">
              <a:lnSpc>
                <a:spcPts val="1900"/>
              </a:lnSpc>
              <a:spcBef>
                <a:spcPts val="0"/>
              </a:spcBef>
              <a:spcAft>
                <a:spcPts val="400"/>
              </a:spcAft>
            </a:pPr>
            <a:r>
              <a:rPr sz="1200" b="0" i="0">
                <a:solidFill>
                  <a:srgbClr val="4A2A38"/>
                </a:solidFill>
                <a:latin typeface="Vazir"/>
                <a:cs typeface="Vazir"/>
              </a:rPr>
              <a:t/>
            </a:r>
          </a:p>
          <a:p>
            <a:pPr rtl="1" algn="r">
              <a:lnSpc>
                <a:spcPts val="1900"/>
              </a:lnSpc>
              <a:spcBef>
                <a:spcPts val="0"/>
              </a:spcBef>
              <a:spcAft>
                <a:spcPts val="400"/>
              </a:spcAft>
            </a:pPr>
            <a:r>
              <a:rPr sz="1200" b="0" i="0">
                <a:solidFill>
                  <a:srgbClr val="4A2A38"/>
                </a:solidFill>
                <a:latin typeface="Vazir"/>
                <a:cs typeface="Vazir"/>
              </a:rPr>
              <a:t>برچسب کیف Y ∈ { 0 , … , 13 } و فرض استاندارد چندنمونه‌ای:</a:t>
            </a:r>
          </a:p>
          <a:p>
            <a:pPr rtl="1" algn="r">
              <a:lnSpc>
                <a:spcPts val="1900"/>
              </a:lnSpc>
              <a:spcBef>
                <a:spcPts val="0"/>
              </a:spcBef>
              <a:spcAft>
                <a:spcPts val="400"/>
              </a:spcAft>
            </a:pPr>
            <a:r>
              <a:rPr sz="1200" b="0" i="0">
                <a:solidFill>
                  <a:srgbClr val="4A2A38"/>
                </a:solidFill>
                <a:latin typeface="Vazir"/>
                <a:cs typeface="Vazir"/>
              </a:rPr>
              <a:t>Y ≠ 0  ⟺  ∃ t :  نمونه‌ی x_t حامل رویداد کلاس Y است</a:t>
            </a:r>
          </a:p>
        </p:txBody>
      </p:sp>
      <p:sp>
        <p:nvSpPr>
          <p:cNvPr id="10" name="Rectangle 9"/>
          <p:cNvSpPr/>
          <p:nvPr/>
        </p:nvSpPr>
        <p:spPr>
          <a:xfrm>
            <a:off x="6400800" y="2011680"/>
            <a:ext cx="5212080" cy="278892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720840" y="2194560"/>
            <a:ext cx="4572000" cy="320040"/>
          </a:xfrm>
          <a:prstGeom prst="rect">
            <a:avLst/>
          </a:prstGeom>
          <a:noFill/>
        </p:spPr>
        <p:txBody>
          <a:bodyPr wrap="square" anchor="t" lIns="0" rIns="0" tIns="0" bIns="0">
            <a:spAutoFit/>
          </a:bodyPr>
          <a:lstStyle/>
          <a:p>
            <a:pPr rtl="1" algn="r">
              <a:spcBef>
                <a:spcPts val="0"/>
              </a:spcBef>
              <a:spcAft>
                <a:spcPts val="0"/>
              </a:spcAft>
            </a:pPr>
            <a:r>
              <a:rPr sz="1500" b="1" i="0">
                <a:solidFill>
                  <a:srgbClr val="9E3C67"/>
                </a:solidFill>
                <a:latin typeface="Vazir"/>
                <a:cs typeface="Vazir"/>
              </a:rPr>
              <a:t>تجمیع و تابع زیان</a:t>
            </a:r>
          </a:p>
        </p:txBody>
      </p:sp>
      <p:sp>
        <p:nvSpPr>
          <p:cNvPr id="12" name="TextBox 11"/>
          <p:cNvSpPr txBox="1"/>
          <p:nvPr/>
        </p:nvSpPr>
        <p:spPr>
          <a:xfrm>
            <a:off x="6720840" y="2606040"/>
            <a:ext cx="4572000" cy="2011680"/>
          </a:xfrm>
          <a:prstGeom prst="rect">
            <a:avLst/>
          </a:prstGeom>
          <a:noFill/>
        </p:spPr>
        <p:txBody>
          <a:bodyPr wrap="square" anchor="t" lIns="0" rIns="0" tIns="0" bIns="0">
            <a:spAutoFit/>
          </a:bodyPr>
          <a:lstStyle/>
          <a:p>
            <a:pPr rtl="1" algn="r">
              <a:lnSpc>
                <a:spcPts val="1800"/>
              </a:lnSpc>
              <a:spcBef>
                <a:spcPts val="0"/>
              </a:spcBef>
              <a:spcAft>
                <a:spcPts val="300"/>
              </a:spcAft>
            </a:pPr>
            <a:r>
              <a:rPr sz="1150" b="0" i="0">
                <a:solidFill>
                  <a:srgbClr val="4A2A38"/>
                </a:solidFill>
                <a:latin typeface="Vazir"/>
                <a:cs typeface="Vazir"/>
              </a:rPr>
              <a:t>شواهد ناهنجاری هر نمونه:</a:t>
            </a:r>
          </a:p>
          <a:p>
            <a:pPr rtl="1" algn="r">
              <a:lnSpc>
                <a:spcPts val="1800"/>
              </a:lnSpc>
              <a:spcBef>
                <a:spcPts val="0"/>
              </a:spcBef>
              <a:spcAft>
                <a:spcPts val="300"/>
              </a:spcAft>
            </a:pPr>
            <a:r>
              <a:rPr sz="1150" b="0" i="0">
                <a:solidFill>
                  <a:srgbClr val="4A2A38"/>
                </a:solidFill>
                <a:latin typeface="Vazir"/>
                <a:cs typeface="Vazir"/>
              </a:rPr>
              <a:t>s_t = 1 − P( Normal | x_t )</a:t>
            </a:r>
          </a:p>
          <a:p>
            <a:pPr rtl="1" algn="r">
              <a:lnSpc>
                <a:spcPts val="1800"/>
              </a:lnSpc>
              <a:spcBef>
                <a:spcPts val="0"/>
              </a:spcBef>
              <a:spcAft>
                <a:spcPts val="300"/>
              </a:spcAft>
            </a:pPr>
            <a:r>
              <a:rPr sz="1150" b="0" i="0">
                <a:solidFill>
                  <a:srgbClr val="4A2A38"/>
                </a:solidFill>
                <a:latin typeface="Vazir"/>
                <a:cs typeface="Vazir"/>
              </a:rPr>
              <a:t/>
            </a:r>
          </a:p>
          <a:p>
            <a:pPr rtl="1" algn="r">
              <a:lnSpc>
                <a:spcPts val="1800"/>
              </a:lnSpc>
              <a:spcBef>
                <a:spcPts val="0"/>
              </a:spcBef>
              <a:spcAft>
                <a:spcPts val="300"/>
              </a:spcAft>
            </a:pPr>
            <a:r>
              <a:rPr sz="1150" b="0" i="0">
                <a:solidFill>
                  <a:srgbClr val="4A2A38"/>
                </a:solidFill>
                <a:latin typeface="Vazir"/>
                <a:cs typeface="Vazir"/>
              </a:rPr>
              <a:t>انتخاب k نمونه‌ی برتر و تجمیع میانگین:</a:t>
            </a:r>
          </a:p>
          <a:p>
            <a:pPr rtl="1" algn="r">
              <a:lnSpc>
                <a:spcPts val="1800"/>
              </a:lnSpc>
              <a:spcBef>
                <a:spcPts val="0"/>
              </a:spcBef>
              <a:spcAft>
                <a:spcPts val="300"/>
              </a:spcAft>
            </a:pPr>
            <a:r>
              <a:rPr sz="1150" b="0" i="0">
                <a:solidFill>
                  <a:srgbClr val="4A2A38"/>
                </a:solidFill>
                <a:latin typeface="Vazir"/>
                <a:cs typeface="Vazir"/>
              </a:rPr>
              <a:t>K = argtop-k { s_t } ,   z = (1/k) Σ_{t∈K} f( x_t )</a:t>
            </a:r>
          </a:p>
          <a:p>
            <a:pPr rtl="1" algn="r">
              <a:lnSpc>
                <a:spcPts val="1800"/>
              </a:lnSpc>
              <a:spcBef>
                <a:spcPts val="0"/>
              </a:spcBef>
              <a:spcAft>
                <a:spcPts val="300"/>
              </a:spcAft>
            </a:pPr>
            <a:r>
              <a:rPr sz="1150" b="0" i="0">
                <a:solidFill>
                  <a:srgbClr val="4A2A38"/>
                </a:solidFill>
                <a:latin typeface="Vazir"/>
                <a:cs typeface="Vazir"/>
              </a:rPr>
              <a:t/>
            </a:r>
          </a:p>
          <a:p>
            <a:pPr rtl="1" algn="r">
              <a:lnSpc>
                <a:spcPts val="1800"/>
              </a:lnSpc>
              <a:spcBef>
                <a:spcPts val="0"/>
              </a:spcBef>
              <a:spcAft>
                <a:spcPts val="300"/>
              </a:spcAft>
            </a:pPr>
            <a:r>
              <a:rPr sz="1150" b="0" i="0">
                <a:solidFill>
                  <a:srgbClr val="4A2A38"/>
                </a:solidFill>
                <a:latin typeface="Vazir"/>
                <a:cs typeface="Vazir"/>
              </a:rPr>
              <a:t>زیان با وزن کلاس و دو جمله‌ی تنظیم:</a:t>
            </a:r>
          </a:p>
          <a:p>
            <a:pPr rtl="1" algn="r">
              <a:lnSpc>
                <a:spcPts val="1800"/>
              </a:lnSpc>
              <a:spcBef>
                <a:spcPts val="0"/>
              </a:spcBef>
              <a:spcAft>
                <a:spcPts val="300"/>
              </a:spcAft>
            </a:pPr>
            <a:r>
              <a:rPr sz="1150" b="0" i="0">
                <a:solidFill>
                  <a:srgbClr val="4A2A38"/>
                </a:solidFill>
                <a:latin typeface="Vazir"/>
                <a:cs typeface="Vazir"/>
              </a:rPr>
              <a:t>L = CE( z , Y ; w ) + λ_s Σ (a_{t+1} − a_t)² + λ_p Σ a_t</a:t>
            </a:r>
          </a:p>
        </p:txBody>
      </p:sp>
      <p:sp>
        <p:nvSpPr>
          <p:cNvPr id="13" name="Rectangle 12"/>
          <p:cNvSpPr/>
          <p:nvPr/>
        </p:nvSpPr>
        <p:spPr>
          <a:xfrm>
            <a:off x="548640" y="4983480"/>
            <a:ext cx="11064240" cy="1371600"/>
          </a:xfrm>
          <a:prstGeom prst="rect">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68680" y="5138928"/>
            <a:ext cx="10424160" cy="320040"/>
          </a:xfrm>
          <a:prstGeom prst="rect">
            <a:avLst/>
          </a:prstGeom>
          <a:noFill/>
        </p:spPr>
        <p:txBody>
          <a:bodyPr wrap="square" anchor="t" lIns="0" rIns="0" tIns="0" bIns="0">
            <a:spAutoFit/>
          </a:bodyPr>
          <a:lstStyle/>
          <a:p>
            <a:pPr rtl="1" algn="r">
              <a:spcBef>
                <a:spcPts val="0"/>
              </a:spcBef>
              <a:spcAft>
                <a:spcPts val="0"/>
              </a:spcAft>
            </a:pPr>
            <a:r>
              <a:rPr sz="1400" b="1" i="0">
                <a:solidFill>
                  <a:srgbClr val="4E9E90"/>
                </a:solidFill>
                <a:latin typeface="Vazir"/>
                <a:cs typeface="Vazir"/>
              </a:rPr>
              <a:t>سهم روش‌شناختی این پژوهش</a:t>
            </a:r>
          </a:p>
        </p:txBody>
      </p:sp>
      <p:sp>
        <p:nvSpPr>
          <p:cNvPr id="15" name="TextBox 14"/>
          <p:cNvSpPr txBox="1"/>
          <p:nvPr/>
        </p:nvSpPr>
        <p:spPr>
          <a:xfrm>
            <a:off x="868680" y="5486400"/>
            <a:ext cx="10424160" cy="777240"/>
          </a:xfrm>
          <a:prstGeom prst="rect">
            <a:avLst/>
          </a:prstGeom>
          <a:noFill/>
        </p:spPr>
        <p:txBody>
          <a:bodyPr wrap="square" anchor="t" lIns="0" rIns="0" tIns="0" bIns="0">
            <a:spAutoFit/>
          </a:bodyPr>
          <a:lstStyle/>
          <a:p>
            <a:pPr rtl="1" algn="r">
              <a:lnSpc>
                <a:spcPts val="1700"/>
              </a:lnSpc>
              <a:spcBef>
                <a:spcPts val="0"/>
              </a:spcBef>
              <a:spcAft>
                <a:spcPts val="0"/>
              </a:spcAft>
            </a:pPr>
            <a:r>
              <a:rPr sz="1150" b="0" i="0">
                <a:solidFill>
                  <a:srgbClr val="4A2A38"/>
                </a:solidFill>
                <a:latin typeface="Vazir"/>
                <a:cs typeface="Vazir"/>
              </a:rPr>
              <a:t>در فرمول‌بندی دودویی، انتخاب نمونه‌های برتر روی یک کانال انجام می‌شود. در تعمیم چهارده‌کلاسه، اعمال مستقل آن بر هر کانال سبب می‌شود کانال کلاس عادی از عادی‌ترین نمونه‌های یک کیف ناهنجار ساخته شود و نوفه‌ی برچسب سامانمند وارد آموزش گردد. ما رتبه‌بندی را یک بار بر پایه‌ی s_t انجام می‌دهیم و همان زیرمجموعه را برای تمام کانال‌ها به کار می‌بریم.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645920" y="-1371600"/>
            <a:ext cx="5120640" cy="5120640"/>
          </a:xfrm>
          <a:prstGeom prst="ellipse">
            <a:avLst/>
          </a:prstGeom>
          <a:solidFill>
            <a:srgbClr val="F9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0" y="2194560"/>
            <a:ext cx="6858000" cy="548640"/>
          </a:xfrm>
          <a:prstGeom prst="rect">
            <a:avLst/>
          </a:prstGeom>
          <a:noFill/>
        </p:spPr>
        <p:txBody>
          <a:bodyPr wrap="square" anchor="t" lIns="0" rIns="0" tIns="0" bIns="0">
            <a:spAutoFit/>
          </a:bodyPr>
          <a:lstStyle/>
          <a:p>
            <a:pPr rtl="1" algn="r">
              <a:spcBef>
                <a:spcPts val="0"/>
              </a:spcBef>
              <a:spcAft>
                <a:spcPts val="0"/>
              </a:spcAft>
            </a:pPr>
            <a:r>
              <a:rPr sz="1800" b="1" i="0">
                <a:solidFill>
                  <a:srgbClr val="D94F8C"/>
                </a:solidFill>
                <a:latin typeface="Vazir"/>
                <a:cs typeface="Vazir"/>
              </a:rPr>
              <a:t>مسیر اول</a:t>
            </a:r>
          </a:p>
        </p:txBody>
      </p:sp>
      <p:sp>
        <p:nvSpPr>
          <p:cNvPr id="4" name="TextBox 3"/>
          <p:cNvSpPr txBox="1"/>
          <p:nvPr/>
        </p:nvSpPr>
        <p:spPr>
          <a:xfrm>
            <a:off x="4572000" y="2743200"/>
            <a:ext cx="6858000" cy="1097280"/>
          </a:xfrm>
          <a:prstGeom prst="rect">
            <a:avLst/>
          </a:prstGeom>
          <a:noFill/>
        </p:spPr>
        <p:txBody>
          <a:bodyPr wrap="square" anchor="t" lIns="0" rIns="0" tIns="0" bIns="0">
            <a:spAutoFit/>
          </a:bodyPr>
          <a:lstStyle/>
          <a:p>
            <a:pPr rtl="0" algn="r">
              <a:spcBef>
                <a:spcPts val="0"/>
              </a:spcBef>
              <a:spcAft>
                <a:spcPts val="0"/>
              </a:spcAft>
            </a:pPr>
            <a:r>
              <a:rPr sz="5800" b="1" i="0">
                <a:solidFill>
                  <a:srgbClr val="9E3C67"/>
                </a:solidFill>
                <a:latin typeface="Vazir"/>
                <a:cs typeface="Vazir"/>
              </a:rPr>
              <a:t>X-CLIP</a:t>
            </a:r>
          </a:p>
        </p:txBody>
      </p:sp>
      <p:sp>
        <p:nvSpPr>
          <p:cNvPr id="5" name="TextBox 4"/>
          <p:cNvSpPr txBox="1"/>
          <p:nvPr/>
        </p:nvSpPr>
        <p:spPr>
          <a:xfrm>
            <a:off x="4572000" y="3931920"/>
            <a:ext cx="6858000" cy="457200"/>
          </a:xfrm>
          <a:prstGeom prst="rect">
            <a:avLst/>
          </a:prstGeom>
          <a:noFill/>
        </p:spPr>
        <p:txBody>
          <a:bodyPr wrap="square" anchor="t" lIns="0" rIns="0" tIns="0" bIns="0">
            <a:spAutoFit/>
          </a:bodyPr>
          <a:lstStyle/>
          <a:p>
            <a:pPr rtl="1" algn="r">
              <a:spcBef>
                <a:spcPts val="0"/>
              </a:spcBef>
              <a:spcAft>
                <a:spcPts val="0"/>
              </a:spcAft>
            </a:pPr>
            <a:r>
              <a:rPr sz="1700" b="0" i="0">
                <a:solidFill>
                  <a:srgbClr val="C9799F"/>
                </a:solidFill>
                <a:latin typeface="Vazir"/>
                <a:cs typeface="Vazir"/>
              </a:rPr>
              <a:t>تبدیل کد UMIL از دودویی به چهارده‌کلاسه</a:t>
            </a:r>
          </a:p>
        </p:txBody>
      </p:sp>
      <p:sp>
        <p:nvSpPr>
          <p:cNvPr id="6" name="TextBox 5"/>
          <p:cNvSpPr txBox="1"/>
          <p:nvPr/>
        </p:nvSpPr>
        <p:spPr>
          <a:xfrm>
            <a:off x="4572000" y="4663440"/>
            <a:ext cx="6858000" cy="640080"/>
          </a:xfrm>
          <a:prstGeom prst="rect">
            <a:avLst/>
          </a:prstGeom>
          <a:noFill/>
        </p:spPr>
        <p:txBody>
          <a:bodyPr wrap="square" anchor="t" lIns="0" rIns="0" tIns="0" bIns="0">
            <a:spAutoFit/>
          </a:bodyPr>
          <a:lstStyle/>
          <a:p>
            <a:pPr rtl="0" algn="r">
              <a:spcBef>
                <a:spcPts val="0"/>
              </a:spcBef>
              <a:spcAft>
                <a:spcPts val="0"/>
              </a:spcAft>
            </a:pPr>
            <a:r>
              <a:rPr sz="2600" b="1" i="0">
                <a:solidFill>
                  <a:srgbClr val="D94F8C"/>
                </a:solidFill>
                <a:latin typeface="Vazir"/>
                <a:cs typeface="Vazir"/>
              </a:rPr>
              <a:t>0.3327  ←  0.3881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06</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X-CLIP چطور کار می‌کند</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مسیر اول</a:t>
            </a:r>
          </a:p>
        </p:txBody>
      </p:sp>
      <p:sp>
        <p:nvSpPr>
          <p:cNvPr id="6" name="Rectangle 5"/>
          <p:cNvSpPr/>
          <p:nvPr/>
        </p:nvSpPr>
        <p:spPr>
          <a:xfrm>
            <a:off x="548640" y="1600200"/>
            <a:ext cx="11064240" cy="96012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698480" y="1755648"/>
            <a:ext cx="822960" cy="566928"/>
          </a:xfrm>
          <a:prstGeom prst="rect">
            <a:avLst/>
          </a:prstGeom>
          <a:noFill/>
        </p:spPr>
        <p:txBody>
          <a:bodyPr wrap="square" anchor="t" lIns="0" rIns="0" tIns="0" bIns="0">
            <a:spAutoFit/>
          </a:bodyPr>
          <a:lstStyle/>
          <a:p>
            <a:pPr rtl="0" algn="ctr">
              <a:spcBef>
                <a:spcPts val="0"/>
              </a:spcBef>
              <a:spcAft>
                <a:spcPts val="0"/>
              </a:spcAft>
            </a:pPr>
            <a:r>
              <a:rPr sz="2700" b="1" i="0">
                <a:solidFill>
                  <a:srgbClr val="9E3C67"/>
                </a:solidFill>
                <a:latin typeface="Vazir"/>
                <a:cs typeface="Vazir"/>
              </a:rPr>
              <a:t>1</a:t>
            </a:r>
          </a:p>
        </p:txBody>
      </p:sp>
      <p:sp>
        <p:nvSpPr>
          <p:cNvPr id="8" name="TextBox 7"/>
          <p:cNvSpPr txBox="1"/>
          <p:nvPr/>
        </p:nvSpPr>
        <p:spPr>
          <a:xfrm>
            <a:off x="914400" y="1728216"/>
            <a:ext cx="9692640" cy="320040"/>
          </a:xfrm>
          <a:prstGeom prst="rect">
            <a:avLst/>
          </a:prstGeom>
          <a:noFill/>
        </p:spPr>
        <p:txBody>
          <a:bodyPr wrap="square" anchor="t" lIns="0" rIns="0" tIns="0" bIns="0">
            <a:spAutoFit/>
          </a:bodyPr>
          <a:lstStyle/>
          <a:p>
            <a:pPr rtl="1" algn="r">
              <a:spcBef>
                <a:spcPts val="0"/>
              </a:spcBef>
              <a:spcAft>
                <a:spcPts val="0"/>
              </a:spcAft>
            </a:pPr>
            <a:r>
              <a:rPr sz="1550" b="1" i="0">
                <a:solidFill>
                  <a:srgbClr val="9E3C67"/>
                </a:solidFill>
                <a:latin typeface="Vazir"/>
                <a:cs typeface="Vazir"/>
              </a:rPr>
              <a:t>CLIP روی جفت عکس و متن آموزش دیده</a:t>
            </a:r>
          </a:p>
        </p:txBody>
      </p:sp>
      <p:sp>
        <p:nvSpPr>
          <p:cNvPr id="9" name="TextBox 8"/>
          <p:cNvSpPr txBox="1"/>
          <p:nvPr/>
        </p:nvSpPr>
        <p:spPr>
          <a:xfrm>
            <a:off x="914400" y="2075688"/>
            <a:ext cx="9692640" cy="320040"/>
          </a:xfrm>
          <a:prstGeom prst="rect">
            <a:avLst/>
          </a:prstGeom>
          <a:noFill/>
        </p:spPr>
        <p:txBody>
          <a:bodyPr wrap="square" anchor="t" lIns="0" rIns="0" tIns="0" bIns="0">
            <a:spAutoFit/>
          </a:bodyPr>
          <a:lstStyle/>
          <a:p>
            <a:pPr rtl="1" algn="r">
              <a:spcBef>
                <a:spcPts val="0"/>
              </a:spcBef>
              <a:spcAft>
                <a:spcPts val="0"/>
              </a:spcAft>
            </a:pPr>
            <a:r>
              <a:rPr sz="1250" b="0" i="0">
                <a:solidFill>
                  <a:srgbClr val="9B7A88"/>
                </a:solidFill>
                <a:latin typeface="Vazir"/>
                <a:cs typeface="Vazir"/>
              </a:rPr>
              <a:t>عکس و توضیحش در یک فضای مشترک نزدیک هم می‌افتند</a:t>
            </a:r>
          </a:p>
        </p:txBody>
      </p:sp>
      <p:sp>
        <p:nvSpPr>
          <p:cNvPr id="10" name="Rectangle 9"/>
          <p:cNvSpPr/>
          <p:nvPr/>
        </p:nvSpPr>
        <p:spPr>
          <a:xfrm>
            <a:off x="548640" y="2715768"/>
            <a:ext cx="11064240" cy="96012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698480" y="2871215"/>
            <a:ext cx="822960" cy="566928"/>
          </a:xfrm>
          <a:prstGeom prst="rect">
            <a:avLst/>
          </a:prstGeom>
          <a:noFill/>
        </p:spPr>
        <p:txBody>
          <a:bodyPr wrap="square" anchor="t" lIns="0" rIns="0" tIns="0" bIns="0">
            <a:spAutoFit/>
          </a:bodyPr>
          <a:lstStyle/>
          <a:p>
            <a:pPr rtl="0" algn="ctr">
              <a:spcBef>
                <a:spcPts val="0"/>
              </a:spcBef>
              <a:spcAft>
                <a:spcPts val="0"/>
              </a:spcAft>
            </a:pPr>
            <a:r>
              <a:rPr sz="2700" b="1" i="0">
                <a:solidFill>
                  <a:srgbClr val="9E3C67"/>
                </a:solidFill>
                <a:latin typeface="Vazir"/>
                <a:cs typeface="Vazir"/>
              </a:rPr>
              <a:t>2</a:t>
            </a:r>
          </a:p>
        </p:txBody>
      </p:sp>
      <p:sp>
        <p:nvSpPr>
          <p:cNvPr id="12" name="TextBox 11"/>
          <p:cNvSpPr txBox="1"/>
          <p:nvPr/>
        </p:nvSpPr>
        <p:spPr>
          <a:xfrm>
            <a:off x="914400" y="2843784"/>
            <a:ext cx="9692640" cy="320040"/>
          </a:xfrm>
          <a:prstGeom prst="rect">
            <a:avLst/>
          </a:prstGeom>
          <a:noFill/>
        </p:spPr>
        <p:txBody>
          <a:bodyPr wrap="square" anchor="t" lIns="0" rIns="0" tIns="0" bIns="0">
            <a:spAutoFit/>
          </a:bodyPr>
          <a:lstStyle/>
          <a:p>
            <a:pPr rtl="1" algn="r">
              <a:spcBef>
                <a:spcPts val="0"/>
              </a:spcBef>
              <a:spcAft>
                <a:spcPts val="0"/>
              </a:spcAft>
            </a:pPr>
            <a:r>
              <a:rPr sz="1550" b="1" i="0">
                <a:solidFill>
                  <a:srgbClr val="9E3C67"/>
                </a:solidFill>
                <a:latin typeface="Vazir"/>
                <a:cs typeface="Vazir"/>
              </a:rPr>
              <a:t>طبقه‌بندی بدون آموزش</a:t>
            </a:r>
          </a:p>
        </p:txBody>
      </p:sp>
      <p:sp>
        <p:nvSpPr>
          <p:cNvPr id="13" name="TextBox 12"/>
          <p:cNvSpPr txBox="1"/>
          <p:nvPr/>
        </p:nvSpPr>
        <p:spPr>
          <a:xfrm>
            <a:off x="914400" y="3191256"/>
            <a:ext cx="9692640" cy="320040"/>
          </a:xfrm>
          <a:prstGeom prst="rect">
            <a:avLst/>
          </a:prstGeom>
          <a:noFill/>
        </p:spPr>
        <p:txBody>
          <a:bodyPr wrap="square" anchor="t" lIns="0" rIns="0" tIns="0" bIns="0">
            <a:spAutoFit/>
          </a:bodyPr>
          <a:lstStyle/>
          <a:p>
            <a:pPr rtl="1" algn="r">
              <a:spcBef>
                <a:spcPts val="0"/>
              </a:spcBef>
              <a:spcAft>
                <a:spcPts val="0"/>
              </a:spcAft>
            </a:pPr>
            <a:r>
              <a:rPr sz="1250" b="0" i="0">
                <a:solidFill>
                  <a:srgbClr val="9B7A88"/>
                </a:solidFill>
                <a:latin typeface="Vazir"/>
                <a:cs typeface="Vazir"/>
              </a:rPr>
              <a:t>اسم هر کلاس به بردار تبدیل می‌شود و نزدیک‌ترین برنده است</a:t>
            </a:r>
          </a:p>
        </p:txBody>
      </p:sp>
      <p:sp>
        <p:nvSpPr>
          <p:cNvPr id="14" name="Rectangle 13"/>
          <p:cNvSpPr/>
          <p:nvPr/>
        </p:nvSpPr>
        <p:spPr>
          <a:xfrm>
            <a:off x="548640" y="3831335"/>
            <a:ext cx="11064240" cy="96012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698480" y="3986783"/>
            <a:ext cx="822960" cy="566928"/>
          </a:xfrm>
          <a:prstGeom prst="rect">
            <a:avLst/>
          </a:prstGeom>
          <a:noFill/>
        </p:spPr>
        <p:txBody>
          <a:bodyPr wrap="square" anchor="t" lIns="0" rIns="0" tIns="0" bIns="0">
            <a:spAutoFit/>
          </a:bodyPr>
          <a:lstStyle/>
          <a:p>
            <a:pPr rtl="0" algn="ctr">
              <a:spcBef>
                <a:spcPts val="0"/>
              </a:spcBef>
              <a:spcAft>
                <a:spcPts val="0"/>
              </a:spcAft>
            </a:pPr>
            <a:r>
              <a:rPr sz="2700" b="1" i="0">
                <a:solidFill>
                  <a:srgbClr val="9E3C67"/>
                </a:solidFill>
                <a:latin typeface="Vazir"/>
                <a:cs typeface="Vazir"/>
              </a:rPr>
              <a:t>3</a:t>
            </a:r>
          </a:p>
        </p:txBody>
      </p:sp>
      <p:sp>
        <p:nvSpPr>
          <p:cNvPr id="16" name="TextBox 15"/>
          <p:cNvSpPr txBox="1"/>
          <p:nvPr/>
        </p:nvSpPr>
        <p:spPr>
          <a:xfrm>
            <a:off x="914400" y="3959351"/>
            <a:ext cx="9692640" cy="320040"/>
          </a:xfrm>
          <a:prstGeom prst="rect">
            <a:avLst/>
          </a:prstGeom>
          <a:noFill/>
        </p:spPr>
        <p:txBody>
          <a:bodyPr wrap="square" anchor="t" lIns="0" rIns="0" tIns="0" bIns="0">
            <a:spAutoFit/>
          </a:bodyPr>
          <a:lstStyle/>
          <a:p>
            <a:pPr rtl="1" algn="r">
              <a:spcBef>
                <a:spcPts val="0"/>
              </a:spcBef>
              <a:spcAft>
                <a:spcPts val="0"/>
              </a:spcAft>
            </a:pPr>
            <a:r>
              <a:rPr sz="1550" b="1" i="0">
                <a:solidFill>
                  <a:srgbClr val="9E3C67"/>
                </a:solidFill>
                <a:latin typeface="Vazir"/>
                <a:cs typeface="Vazir"/>
              </a:rPr>
              <a:t>X-CLIP بخش زمانی اضافه می‌کند</a:t>
            </a:r>
          </a:p>
        </p:txBody>
      </p:sp>
      <p:sp>
        <p:nvSpPr>
          <p:cNvPr id="17" name="TextBox 16"/>
          <p:cNvSpPr txBox="1"/>
          <p:nvPr/>
        </p:nvSpPr>
        <p:spPr>
          <a:xfrm>
            <a:off x="914400" y="4306823"/>
            <a:ext cx="9692640" cy="320040"/>
          </a:xfrm>
          <a:prstGeom prst="rect">
            <a:avLst/>
          </a:prstGeom>
          <a:noFill/>
        </p:spPr>
        <p:txBody>
          <a:bodyPr wrap="square" anchor="t" lIns="0" rIns="0" tIns="0" bIns="0">
            <a:spAutoFit/>
          </a:bodyPr>
          <a:lstStyle/>
          <a:p>
            <a:pPr rtl="1" algn="r">
              <a:spcBef>
                <a:spcPts val="0"/>
              </a:spcBef>
              <a:spcAft>
                <a:spcPts val="0"/>
              </a:spcAft>
            </a:pPr>
            <a:r>
              <a:rPr sz="1250" b="0" i="0">
                <a:solidFill>
                  <a:srgbClr val="9B7A88"/>
                </a:solidFill>
                <a:latin typeface="Vazir"/>
                <a:cs typeface="Vazir"/>
              </a:rPr>
              <a:t>حالا ورودی ویدیو است، نه یک عکس تنها</a:t>
            </a:r>
          </a:p>
        </p:txBody>
      </p:sp>
      <p:sp>
        <p:nvSpPr>
          <p:cNvPr id="18" name="Rectangle 17"/>
          <p:cNvSpPr/>
          <p:nvPr/>
        </p:nvSpPr>
        <p:spPr>
          <a:xfrm>
            <a:off x="548640" y="4946904"/>
            <a:ext cx="11064240" cy="96012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698480" y="5102352"/>
            <a:ext cx="822960" cy="566928"/>
          </a:xfrm>
          <a:prstGeom prst="rect">
            <a:avLst/>
          </a:prstGeom>
          <a:noFill/>
        </p:spPr>
        <p:txBody>
          <a:bodyPr wrap="square" anchor="t" lIns="0" rIns="0" tIns="0" bIns="0">
            <a:spAutoFit/>
          </a:bodyPr>
          <a:lstStyle/>
          <a:p>
            <a:pPr rtl="0" algn="ctr">
              <a:spcBef>
                <a:spcPts val="0"/>
              </a:spcBef>
              <a:spcAft>
                <a:spcPts val="0"/>
              </a:spcAft>
            </a:pPr>
            <a:r>
              <a:rPr sz="2700" b="1" i="0">
                <a:solidFill>
                  <a:srgbClr val="D94F8C"/>
                </a:solidFill>
                <a:latin typeface="Vazir"/>
                <a:cs typeface="Vazir"/>
              </a:rPr>
              <a:t>4</a:t>
            </a:r>
          </a:p>
        </p:txBody>
      </p:sp>
      <p:sp>
        <p:nvSpPr>
          <p:cNvPr id="20" name="TextBox 19"/>
          <p:cNvSpPr txBox="1"/>
          <p:nvPr/>
        </p:nvSpPr>
        <p:spPr>
          <a:xfrm>
            <a:off x="914400" y="5074920"/>
            <a:ext cx="9692640" cy="320040"/>
          </a:xfrm>
          <a:prstGeom prst="rect">
            <a:avLst/>
          </a:prstGeom>
          <a:noFill/>
        </p:spPr>
        <p:txBody>
          <a:bodyPr wrap="square" anchor="t" lIns="0" rIns="0" tIns="0" bIns="0">
            <a:spAutoFit/>
          </a:bodyPr>
          <a:lstStyle/>
          <a:p>
            <a:pPr rtl="1" algn="r">
              <a:spcBef>
                <a:spcPts val="0"/>
              </a:spcBef>
              <a:spcAft>
                <a:spcPts val="0"/>
              </a:spcAft>
            </a:pPr>
            <a:r>
              <a:rPr sz="1550" b="1" i="0">
                <a:solidFill>
                  <a:srgbClr val="9E3C67"/>
                </a:solidFill>
                <a:latin typeface="Vazir"/>
                <a:cs typeface="Vazir"/>
              </a:rPr>
              <a:t>در پروژه ما</a:t>
            </a:r>
          </a:p>
        </p:txBody>
      </p:sp>
      <p:sp>
        <p:nvSpPr>
          <p:cNvPr id="21" name="TextBox 20"/>
          <p:cNvSpPr txBox="1"/>
          <p:nvPr/>
        </p:nvSpPr>
        <p:spPr>
          <a:xfrm>
            <a:off x="914400" y="5422392"/>
            <a:ext cx="9692640" cy="320040"/>
          </a:xfrm>
          <a:prstGeom prst="rect">
            <a:avLst/>
          </a:prstGeom>
          <a:noFill/>
        </p:spPr>
        <p:txBody>
          <a:bodyPr wrap="square" anchor="t" lIns="0" rIns="0" tIns="0" bIns="0">
            <a:spAutoFit/>
          </a:bodyPr>
          <a:lstStyle/>
          <a:p>
            <a:pPr rtl="1" algn="r">
              <a:spcBef>
                <a:spcPts val="0"/>
              </a:spcBef>
              <a:spcAft>
                <a:spcPts val="0"/>
              </a:spcAft>
            </a:pPr>
            <a:r>
              <a:rPr sz="1250" b="0" i="0">
                <a:solidFill>
                  <a:srgbClr val="9B7A88"/>
                </a:solidFill>
                <a:latin typeface="Vazir"/>
                <a:cs typeface="Vazir"/>
              </a:rPr>
              <a:t>بردار ویدیو با ۱۴ بردار متنی مقایسه می‌شود</a:t>
            </a:r>
          </a:p>
        </p:txBody>
      </p:sp>
      <p:sp>
        <p:nvSpPr>
          <p:cNvPr id="22" name="TextBox 21"/>
          <p:cNvSpPr txBox="1"/>
          <p:nvPr/>
        </p:nvSpPr>
        <p:spPr>
          <a:xfrm>
            <a:off x="548640" y="6080760"/>
            <a:ext cx="11064240" cy="365760"/>
          </a:xfrm>
          <a:prstGeom prst="rect">
            <a:avLst/>
          </a:prstGeom>
          <a:noFill/>
        </p:spPr>
        <p:txBody>
          <a:bodyPr wrap="square" anchor="t" lIns="0" rIns="0" tIns="0" bIns="0">
            <a:spAutoFit/>
          </a:bodyPr>
          <a:lstStyle/>
          <a:p>
            <a:pPr rtl="1" algn="r">
              <a:spcBef>
                <a:spcPts val="0"/>
              </a:spcBef>
              <a:spcAft>
                <a:spcPts val="0"/>
              </a:spcAft>
            </a:pPr>
            <a:r>
              <a:rPr sz="1300" b="1" i="0">
                <a:solidFill>
                  <a:srgbClr val="D94F8C"/>
                </a:solidFill>
                <a:latin typeface="Vazir"/>
                <a:cs typeface="Vazir"/>
              </a:rPr>
              <a:t>آن ۱۴ بردار متنی نقش وزن‌های طبقه‌بند را بازی می‌کنند و هرگز آموزش نمی‌بینند.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07</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سه اشکال بنیادی که پیدا و اصلاح شد</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مسیر اول</a:t>
            </a:r>
          </a:p>
        </p:txBody>
      </p:sp>
      <p:sp>
        <p:nvSpPr>
          <p:cNvPr id="6" name="Rectangle 5"/>
          <p:cNvSpPr/>
          <p:nvPr/>
        </p:nvSpPr>
        <p:spPr>
          <a:xfrm>
            <a:off x="8092440" y="1645920"/>
            <a:ext cx="3520440" cy="406908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698480" y="1783079"/>
            <a:ext cx="822960" cy="566928"/>
          </a:xfrm>
          <a:prstGeom prst="rect">
            <a:avLst/>
          </a:prstGeom>
          <a:noFill/>
        </p:spPr>
        <p:txBody>
          <a:bodyPr wrap="square" anchor="t" lIns="0" rIns="0" tIns="0" bIns="0">
            <a:spAutoFit/>
          </a:bodyPr>
          <a:lstStyle/>
          <a:p>
            <a:pPr rtl="0" algn="ctr">
              <a:spcBef>
                <a:spcPts val="0"/>
              </a:spcBef>
              <a:spcAft>
                <a:spcPts val="0"/>
              </a:spcAft>
            </a:pPr>
            <a:r>
              <a:rPr sz="2700" b="1" i="0">
                <a:solidFill>
                  <a:srgbClr val="D4596B"/>
                </a:solidFill>
                <a:latin typeface="Vazir"/>
                <a:cs typeface="Vazir"/>
              </a:rPr>
              <a:t>1</a:t>
            </a:r>
          </a:p>
        </p:txBody>
      </p:sp>
      <p:sp>
        <p:nvSpPr>
          <p:cNvPr id="8" name="TextBox 7"/>
          <p:cNvSpPr txBox="1"/>
          <p:nvPr/>
        </p:nvSpPr>
        <p:spPr>
          <a:xfrm>
            <a:off x="8321040" y="2514600"/>
            <a:ext cx="3063240" cy="685800"/>
          </a:xfrm>
          <a:prstGeom prst="rect">
            <a:avLst/>
          </a:prstGeom>
          <a:noFill/>
        </p:spPr>
        <p:txBody>
          <a:bodyPr wrap="square" anchor="t" lIns="0" rIns="0" tIns="0" bIns="0">
            <a:spAutoFit/>
          </a:bodyPr>
          <a:lstStyle/>
          <a:p>
            <a:pPr rtl="1" algn="r">
              <a:lnSpc>
                <a:spcPts val="2100"/>
              </a:lnSpc>
              <a:spcBef>
                <a:spcPts val="0"/>
              </a:spcBef>
              <a:spcAft>
                <a:spcPts val="0"/>
              </a:spcAft>
            </a:pPr>
            <a:r>
              <a:rPr sz="1500" b="1" i="0">
                <a:solidFill>
                  <a:srgbClr val="9E3C67"/>
                </a:solidFill>
                <a:latin typeface="Vazir"/>
                <a:cs typeface="Vazir"/>
              </a:rPr>
              <a:t>میانگین‌گیری در ارزیابی</a:t>
            </a:r>
          </a:p>
        </p:txBody>
      </p:sp>
      <p:sp>
        <p:nvSpPr>
          <p:cNvPr id="9" name="TextBox 8"/>
          <p:cNvSpPr txBox="1"/>
          <p:nvPr/>
        </p:nvSpPr>
        <p:spPr>
          <a:xfrm>
            <a:off x="8321040" y="3200400"/>
            <a:ext cx="3063240" cy="1645920"/>
          </a:xfrm>
          <a:prstGeom prst="rect">
            <a:avLst/>
          </a:prstGeom>
          <a:noFill/>
        </p:spPr>
        <p:txBody>
          <a:bodyPr wrap="square" anchor="t" lIns="0" rIns="0" tIns="0" bIns="0">
            <a:spAutoFit/>
          </a:bodyPr>
          <a:lstStyle/>
          <a:p>
            <a:pPr rtl="1" algn="r">
              <a:lnSpc>
                <a:spcPts val="1900"/>
              </a:lnSpc>
              <a:spcBef>
                <a:spcPts val="0"/>
              </a:spcBef>
              <a:spcAft>
                <a:spcPts val="0"/>
              </a:spcAft>
            </a:pPr>
            <a:r>
              <a:rPr sz="1200" b="0" i="0">
                <a:solidFill>
                  <a:srgbClr val="4A2A38"/>
                </a:solidFill>
                <a:latin typeface="Vazir"/>
                <a:cs typeface="Vazir"/>
              </a:rPr>
              <a:t>احتمال هر ۱۶ قطعه میانگین گرفته می‌شد. در ویدیوی ناهنجار، قطعه‌های عادی شواهد را خفه می‌کردند و تقریباً همه چیز عادی پیش‌بینی می‌شد.</a:t>
            </a:r>
          </a:p>
        </p:txBody>
      </p:sp>
      <p:sp>
        <p:nvSpPr>
          <p:cNvPr id="10" name="TextBox 9"/>
          <p:cNvSpPr txBox="1"/>
          <p:nvPr/>
        </p:nvSpPr>
        <p:spPr>
          <a:xfrm>
            <a:off x="8321040" y="4937760"/>
            <a:ext cx="3063240" cy="640080"/>
          </a:xfrm>
          <a:prstGeom prst="rect">
            <a:avLst/>
          </a:prstGeom>
          <a:noFill/>
        </p:spPr>
        <p:txBody>
          <a:bodyPr wrap="square" anchor="t" lIns="0" rIns="0" tIns="0" bIns="0">
            <a:spAutoFit/>
          </a:bodyPr>
          <a:lstStyle/>
          <a:p>
            <a:pPr rtl="1" algn="r">
              <a:lnSpc>
                <a:spcPts val="1800"/>
              </a:lnSpc>
              <a:spcBef>
                <a:spcPts val="0"/>
              </a:spcBef>
              <a:spcAft>
                <a:spcPts val="0"/>
              </a:spcAft>
            </a:pPr>
            <a:r>
              <a:rPr sz="1200" b="1" i="0">
                <a:solidFill>
                  <a:srgbClr val="4E9E90"/>
                </a:solidFill>
                <a:latin typeface="Vazir"/>
                <a:cs typeface="Vazir"/>
              </a:rPr>
              <a:t>اصلاح: تصمیم دومرحله‌ای با بیشینه</a:t>
            </a:r>
          </a:p>
        </p:txBody>
      </p:sp>
      <p:sp>
        <p:nvSpPr>
          <p:cNvPr id="11" name="Rectangle 10"/>
          <p:cNvSpPr/>
          <p:nvPr/>
        </p:nvSpPr>
        <p:spPr>
          <a:xfrm>
            <a:off x="4315968" y="1645920"/>
            <a:ext cx="3520440" cy="406908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22007" y="1783079"/>
            <a:ext cx="822960" cy="566928"/>
          </a:xfrm>
          <a:prstGeom prst="rect">
            <a:avLst/>
          </a:prstGeom>
          <a:noFill/>
        </p:spPr>
        <p:txBody>
          <a:bodyPr wrap="square" anchor="t" lIns="0" rIns="0" tIns="0" bIns="0">
            <a:spAutoFit/>
          </a:bodyPr>
          <a:lstStyle/>
          <a:p>
            <a:pPr rtl="0" algn="ctr">
              <a:spcBef>
                <a:spcPts val="0"/>
              </a:spcBef>
              <a:spcAft>
                <a:spcPts val="0"/>
              </a:spcAft>
            </a:pPr>
            <a:r>
              <a:rPr sz="2700" b="1" i="0">
                <a:solidFill>
                  <a:srgbClr val="D4596B"/>
                </a:solidFill>
                <a:latin typeface="Vazir"/>
                <a:cs typeface="Vazir"/>
              </a:rPr>
              <a:t>2</a:t>
            </a:r>
          </a:p>
        </p:txBody>
      </p:sp>
      <p:sp>
        <p:nvSpPr>
          <p:cNvPr id="13" name="TextBox 12"/>
          <p:cNvSpPr txBox="1"/>
          <p:nvPr/>
        </p:nvSpPr>
        <p:spPr>
          <a:xfrm>
            <a:off x="4544568" y="2514600"/>
            <a:ext cx="3063240" cy="685800"/>
          </a:xfrm>
          <a:prstGeom prst="rect">
            <a:avLst/>
          </a:prstGeom>
          <a:noFill/>
        </p:spPr>
        <p:txBody>
          <a:bodyPr wrap="square" anchor="t" lIns="0" rIns="0" tIns="0" bIns="0">
            <a:spAutoFit/>
          </a:bodyPr>
          <a:lstStyle/>
          <a:p>
            <a:pPr rtl="1" algn="r">
              <a:lnSpc>
                <a:spcPts val="2100"/>
              </a:lnSpc>
              <a:spcBef>
                <a:spcPts val="0"/>
              </a:spcBef>
              <a:spcAft>
                <a:spcPts val="0"/>
              </a:spcAft>
            </a:pPr>
            <a:r>
              <a:rPr sz="1500" b="1" i="0">
                <a:solidFill>
                  <a:srgbClr val="9E3C67"/>
                </a:solidFill>
                <a:latin typeface="Vazir"/>
                <a:cs typeface="Vazir"/>
              </a:rPr>
              <a:t>فایل نمرات کهنه</a:t>
            </a:r>
          </a:p>
        </p:txBody>
      </p:sp>
      <p:sp>
        <p:nvSpPr>
          <p:cNvPr id="14" name="TextBox 13"/>
          <p:cNvSpPr txBox="1"/>
          <p:nvPr/>
        </p:nvSpPr>
        <p:spPr>
          <a:xfrm>
            <a:off x="4544568" y="3200400"/>
            <a:ext cx="3063240" cy="1645920"/>
          </a:xfrm>
          <a:prstGeom prst="rect">
            <a:avLst/>
          </a:prstGeom>
          <a:noFill/>
        </p:spPr>
        <p:txBody>
          <a:bodyPr wrap="square" anchor="t" lIns="0" rIns="0" tIns="0" bIns="0">
            <a:spAutoFit/>
          </a:bodyPr>
          <a:lstStyle/>
          <a:p>
            <a:pPr rtl="1" algn="r">
              <a:lnSpc>
                <a:spcPts val="1900"/>
              </a:lnSpc>
              <a:spcBef>
                <a:spcPts val="0"/>
              </a:spcBef>
              <a:spcAft>
                <a:spcPts val="0"/>
              </a:spcAft>
            </a:pPr>
            <a:r>
              <a:rPr sz="1200" b="0" i="0">
                <a:solidFill>
                  <a:srgbClr val="4A2A38"/>
                </a:solidFill>
                <a:latin typeface="Vazir"/>
                <a:cs typeface="Vazir"/>
              </a:rPr>
              <a:t>کد هر فایل نمرات موجود را بازاستفاده می‌کرد. در یک گزارش، ۲۸۸ ویدیو از ۲۹۸ کنار گذاشته شده و عدد روی ده ویدیو حساب شده بود.</a:t>
            </a:r>
          </a:p>
        </p:txBody>
      </p:sp>
      <p:sp>
        <p:nvSpPr>
          <p:cNvPr id="15" name="TextBox 14"/>
          <p:cNvSpPr txBox="1"/>
          <p:nvPr/>
        </p:nvSpPr>
        <p:spPr>
          <a:xfrm>
            <a:off x="4544568" y="4937760"/>
            <a:ext cx="3063240" cy="640080"/>
          </a:xfrm>
          <a:prstGeom prst="rect">
            <a:avLst/>
          </a:prstGeom>
          <a:noFill/>
        </p:spPr>
        <p:txBody>
          <a:bodyPr wrap="square" anchor="t" lIns="0" rIns="0" tIns="0" bIns="0">
            <a:spAutoFit/>
          </a:bodyPr>
          <a:lstStyle/>
          <a:p>
            <a:pPr rtl="1" algn="r">
              <a:lnSpc>
                <a:spcPts val="1800"/>
              </a:lnSpc>
              <a:spcBef>
                <a:spcPts val="0"/>
              </a:spcBef>
              <a:spcAft>
                <a:spcPts val="0"/>
              </a:spcAft>
            </a:pPr>
            <a:r>
              <a:rPr sz="1200" b="1" i="0">
                <a:solidFill>
                  <a:srgbClr val="4E9E90"/>
                </a:solidFill>
                <a:latin typeface="Vazir"/>
                <a:cs typeface="Vazir"/>
              </a:rPr>
              <a:t>اصلاح: بازمحاسبه پیش‌فرض</a:t>
            </a:r>
          </a:p>
        </p:txBody>
      </p:sp>
      <p:sp>
        <p:nvSpPr>
          <p:cNvPr id="16" name="Rectangle 15"/>
          <p:cNvSpPr/>
          <p:nvPr/>
        </p:nvSpPr>
        <p:spPr>
          <a:xfrm>
            <a:off x="539495" y="1645920"/>
            <a:ext cx="3520440" cy="406908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145535" y="1783079"/>
            <a:ext cx="822960" cy="566928"/>
          </a:xfrm>
          <a:prstGeom prst="rect">
            <a:avLst/>
          </a:prstGeom>
          <a:noFill/>
        </p:spPr>
        <p:txBody>
          <a:bodyPr wrap="square" anchor="t" lIns="0" rIns="0" tIns="0" bIns="0">
            <a:spAutoFit/>
          </a:bodyPr>
          <a:lstStyle/>
          <a:p>
            <a:pPr rtl="0" algn="ctr">
              <a:spcBef>
                <a:spcPts val="0"/>
              </a:spcBef>
              <a:spcAft>
                <a:spcPts val="0"/>
              </a:spcAft>
            </a:pPr>
            <a:r>
              <a:rPr sz="2700" b="1" i="0">
                <a:solidFill>
                  <a:srgbClr val="D4596B"/>
                </a:solidFill>
                <a:latin typeface="Vazir"/>
                <a:cs typeface="Vazir"/>
              </a:rPr>
              <a:t>3</a:t>
            </a:r>
          </a:p>
        </p:txBody>
      </p:sp>
      <p:sp>
        <p:nvSpPr>
          <p:cNvPr id="18" name="TextBox 17"/>
          <p:cNvSpPr txBox="1"/>
          <p:nvPr/>
        </p:nvSpPr>
        <p:spPr>
          <a:xfrm>
            <a:off x="768095" y="2514600"/>
            <a:ext cx="3063240" cy="685800"/>
          </a:xfrm>
          <a:prstGeom prst="rect">
            <a:avLst/>
          </a:prstGeom>
          <a:noFill/>
        </p:spPr>
        <p:txBody>
          <a:bodyPr wrap="square" anchor="t" lIns="0" rIns="0" tIns="0" bIns="0">
            <a:spAutoFit/>
          </a:bodyPr>
          <a:lstStyle/>
          <a:p>
            <a:pPr rtl="1" algn="r">
              <a:lnSpc>
                <a:spcPts val="2100"/>
              </a:lnSpc>
              <a:spcBef>
                <a:spcPts val="0"/>
              </a:spcBef>
              <a:spcAft>
                <a:spcPts val="0"/>
              </a:spcAft>
            </a:pPr>
            <a:r>
              <a:rPr sz="1500" b="1" i="0">
                <a:solidFill>
                  <a:srgbClr val="9E3C67"/>
                </a:solidFill>
                <a:latin typeface="Vazir"/>
                <a:cs typeface="Vazir"/>
              </a:rPr>
              <a:t>انتخاب قطعه برتر به تفکیک کلاس</a:t>
            </a:r>
          </a:p>
        </p:txBody>
      </p:sp>
      <p:sp>
        <p:nvSpPr>
          <p:cNvPr id="19" name="TextBox 18"/>
          <p:cNvSpPr txBox="1"/>
          <p:nvPr/>
        </p:nvSpPr>
        <p:spPr>
          <a:xfrm>
            <a:off x="768095" y="3200400"/>
            <a:ext cx="3063240" cy="1645920"/>
          </a:xfrm>
          <a:prstGeom prst="rect">
            <a:avLst/>
          </a:prstGeom>
          <a:noFill/>
        </p:spPr>
        <p:txBody>
          <a:bodyPr wrap="square" anchor="t" lIns="0" rIns="0" tIns="0" bIns="0">
            <a:spAutoFit/>
          </a:bodyPr>
          <a:lstStyle/>
          <a:p>
            <a:pPr rtl="1" algn="r">
              <a:lnSpc>
                <a:spcPts val="1900"/>
              </a:lnSpc>
              <a:spcBef>
                <a:spcPts val="0"/>
              </a:spcBef>
              <a:spcAft>
                <a:spcPts val="0"/>
              </a:spcAft>
            </a:pPr>
            <a:r>
              <a:rPr sz="1200" b="0" i="0">
                <a:solidFill>
                  <a:srgbClr val="4A2A38"/>
                </a:solidFill>
                <a:latin typeface="Vazir"/>
                <a:cs typeface="Vazir"/>
              </a:rPr>
              <a:t>کانال عادی از عادی‌ترین قطعه‌های یک ویدیوی سرقت ساخته می‌شد. نویز برچسب سیستماتیک وارد آموزش می‌شد.</a:t>
            </a:r>
          </a:p>
        </p:txBody>
      </p:sp>
      <p:sp>
        <p:nvSpPr>
          <p:cNvPr id="20" name="TextBox 19"/>
          <p:cNvSpPr txBox="1"/>
          <p:nvPr/>
        </p:nvSpPr>
        <p:spPr>
          <a:xfrm>
            <a:off x="768095" y="4937760"/>
            <a:ext cx="3063240" cy="640080"/>
          </a:xfrm>
          <a:prstGeom prst="rect">
            <a:avLst/>
          </a:prstGeom>
          <a:noFill/>
        </p:spPr>
        <p:txBody>
          <a:bodyPr wrap="square" anchor="t" lIns="0" rIns="0" tIns="0" bIns="0">
            <a:spAutoFit/>
          </a:bodyPr>
          <a:lstStyle/>
          <a:p>
            <a:pPr rtl="1" algn="r">
              <a:lnSpc>
                <a:spcPts val="1800"/>
              </a:lnSpc>
              <a:spcBef>
                <a:spcPts val="0"/>
              </a:spcBef>
              <a:spcAft>
                <a:spcPts val="0"/>
              </a:spcAft>
            </a:pPr>
            <a:r>
              <a:rPr sz="1200" b="1" i="0">
                <a:solidFill>
                  <a:srgbClr val="4E9E90"/>
                </a:solidFill>
                <a:latin typeface="Vazir"/>
                <a:cs typeface="Vazir"/>
              </a:rPr>
              <a:t>اصلاح: یک رتبه‌بندی برای همه کلاس‌ها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08</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تصمیم دومرحله‌ای</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مسیر اول</a:t>
            </a:r>
          </a:p>
        </p:txBody>
      </p:sp>
      <p:sp>
        <p:nvSpPr>
          <p:cNvPr id="6" name="Rectangle 5"/>
          <p:cNvSpPr/>
          <p:nvPr/>
        </p:nvSpPr>
        <p:spPr>
          <a:xfrm>
            <a:off x="548640" y="1600200"/>
            <a:ext cx="5394960" cy="228600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783080"/>
            <a:ext cx="4754880" cy="365760"/>
          </a:xfrm>
          <a:prstGeom prst="rect">
            <a:avLst/>
          </a:prstGeom>
          <a:noFill/>
        </p:spPr>
        <p:txBody>
          <a:bodyPr wrap="square" anchor="t" lIns="0" rIns="0" tIns="0" bIns="0">
            <a:spAutoFit/>
          </a:bodyPr>
          <a:lstStyle/>
          <a:p>
            <a:pPr rtl="1" algn="r">
              <a:spcBef>
                <a:spcPts val="0"/>
              </a:spcBef>
              <a:spcAft>
                <a:spcPts val="0"/>
              </a:spcAft>
            </a:pPr>
            <a:r>
              <a:rPr sz="1700" b="1" i="0">
                <a:solidFill>
                  <a:srgbClr val="D94F8C"/>
                </a:solidFill>
                <a:latin typeface="Vazir"/>
                <a:cs typeface="Vazir"/>
              </a:rPr>
              <a:t>مرحله اول: آیا ناهنجار است؟</a:t>
            </a:r>
          </a:p>
        </p:txBody>
      </p:sp>
      <p:sp>
        <p:nvSpPr>
          <p:cNvPr id="8" name="TextBox 7"/>
          <p:cNvSpPr txBox="1"/>
          <p:nvPr/>
        </p:nvSpPr>
        <p:spPr>
          <a:xfrm>
            <a:off x="868680" y="2194560"/>
            <a:ext cx="4754880" cy="731520"/>
          </a:xfrm>
          <a:prstGeom prst="rect">
            <a:avLst/>
          </a:prstGeom>
          <a:noFill/>
        </p:spPr>
        <p:txBody>
          <a:bodyPr wrap="square" anchor="t" lIns="0" rIns="0" tIns="0" bIns="0">
            <a:spAutoFit/>
          </a:bodyPr>
          <a:lstStyle/>
          <a:p>
            <a:pPr rtl="1" algn="r">
              <a:lnSpc>
                <a:spcPts val="2000"/>
              </a:lnSpc>
              <a:spcBef>
                <a:spcPts val="0"/>
              </a:spcBef>
              <a:spcAft>
                <a:spcPts val="0"/>
              </a:spcAft>
            </a:pPr>
            <a:r>
              <a:rPr sz="1300" b="0" i="0">
                <a:solidFill>
                  <a:srgbClr val="4A2A38"/>
                </a:solidFill>
                <a:latin typeface="Vazir"/>
                <a:cs typeface="Vazir"/>
              </a:rPr>
              <a:t>بیشینه روی ۱۶ قطعه از مقدار «۱ منهای احتمال عادی»، در مقایسه با آستانه ۰٫۵</a:t>
            </a:r>
          </a:p>
        </p:txBody>
      </p:sp>
      <p:sp>
        <p:nvSpPr>
          <p:cNvPr id="9" name="TextBox 8"/>
          <p:cNvSpPr txBox="1"/>
          <p:nvPr/>
        </p:nvSpPr>
        <p:spPr>
          <a:xfrm>
            <a:off x="868680" y="2926080"/>
            <a:ext cx="4754880" cy="777240"/>
          </a:xfrm>
          <a:prstGeom prst="rect">
            <a:avLst/>
          </a:prstGeom>
          <a:noFill/>
        </p:spPr>
        <p:txBody>
          <a:bodyPr wrap="square" anchor="t" lIns="0" rIns="0" tIns="0" bIns="0">
            <a:spAutoFit/>
          </a:bodyPr>
          <a:lstStyle/>
          <a:p>
            <a:pPr rtl="1" algn="r">
              <a:lnSpc>
                <a:spcPts val="1900"/>
              </a:lnSpc>
              <a:spcBef>
                <a:spcPts val="0"/>
              </a:spcBef>
              <a:spcAft>
                <a:spcPts val="0"/>
              </a:spcAft>
            </a:pPr>
            <a:r>
              <a:rPr sz="1200" b="0" i="0">
                <a:solidFill>
                  <a:srgbClr val="9B7A88"/>
                </a:solidFill>
                <a:latin typeface="Vazir"/>
                <a:cs typeface="Vazir"/>
              </a:rPr>
              <a:t>چرا بیشینه و نه میانگین: یک قطعه مشکوک کافی است، چون رویداد فقط چند ثانیه است</a:t>
            </a:r>
          </a:p>
        </p:txBody>
      </p:sp>
      <p:sp>
        <p:nvSpPr>
          <p:cNvPr id="10" name="Rectangle 9"/>
          <p:cNvSpPr/>
          <p:nvPr/>
        </p:nvSpPr>
        <p:spPr>
          <a:xfrm>
            <a:off x="6217920" y="1600200"/>
            <a:ext cx="5394960" cy="228600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37960" y="1783080"/>
            <a:ext cx="4754880" cy="365760"/>
          </a:xfrm>
          <a:prstGeom prst="rect">
            <a:avLst/>
          </a:prstGeom>
          <a:noFill/>
        </p:spPr>
        <p:txBody>
          <a:bodyPr wrap="square" anchor="t" lIns="0" rIns="0" tIns="0" bIns="0">
            <a:spAutoFit/>
          </a:bodyPr>
          <a:lstStyle/>
          <a:p>
            <a:pPr rtl="1" algn="r">
              <a:spcBef>
                <a:spcPts val="0"/>
              </a:spcBef>
              <a:spcAft>
                <a:spcPts val="0"/>
              </a:spcAft>
            </a:pPr>
            <a:r>
              <a:rPr sz="1700" b="1" i="0">
                <a:solidFill>
                  <a:srgbClr val="9E3C67"/>
                </a:solidFill>
                <a:latin typeface="Vazir"/>
                <a:cs typeface="Vazir"/>
              </a:rPr>
              <a:t>مرحله دوم: کدام نوع؟</a:t>
            </a:r>
          </a:p>
        </p:txBody>
      </p:sp>
      <p:sp>
        <p:nvSpPr>
          <p:cNvPr id="12" name="TextBox 11"/>
          <p:cNvSpPr txBox="1"/>
          <p:nvPr/>
        </p:nvSpPr>
        <p:spPr>
          <a:xfrm>
            <a:off x="6537960" y="2194560"/>
            <a:ext cx="4754880" cy="731520"/>
          </a:xfrm>
          <a:prstGeom prst="rect">
            <a:avLst/>
          </a:prstGeom>
          <a:noFill/>
        </p:spPr>
        <p:txBody>
          <a:bodyPr wrap="square" anchor="t" lIns="0" rIns="0" tIns="0" bIns="0">
            <a:spAutoFit/>
          </a:bodyPr>
          <a:lstStyle/>
          <a:p>
            <a:pPr rtl="1" algn="r">
              <a:lnSpc>
                <a:spcPts val="2000"/>
              </a:lnSpc>
              <a:spcBef>
                <a:spcPts val="0"/>
              </a:spcBef>
              <a:spcAft>
                <a:spcPts val="0"/>
              </a:spcAft>
            </a:pPr>
            <a:r>
              <a:rPr sz="1300" b="0" i="0">
                <a:solidFill>
                  <a:srgbClr val="4A2A38"/>
                </a:solidFill>
                <a:latin typeface="Vazir"/>
                <a:cs typeface="Vazir"/>
              </a:rPr>
              <a:t>رأی‌گیری میانگین چهار قطعه برتر، تنها میان ۱۳ کلاس ناهنجار</a:t>
            </a:r>
          </a:p>
        </p:txBody>
      </p:sp>
      <p:sp>
        <p:nvSpPr>
          <p:cNvPr id="13" name="TextBox 12"/>
          <p:cNvSpPr txBox="1"/>
          <p:nvPr/>
        </p:nvSpPr>
        <p:spPr>
          <a:xfrm>
            <a:off x="6537960" y="2926080"/>
            <a:ext cx="4754880" cy="777240"/>
          </a:xfrm>
          <a:prstGeom prst="rect">
            <a:avLst/>
          </a:prstGeom>
          <a:noFill/>
        </p:spPr>
        <p:txBody>
          <a:bodyPr wrap="square" anchor="t" lIns="0" rIns="0" tIns="0" bIns="0">
            <a:spAutoFit/>
          </a:bodyPr>
          <a:lstStyle/>
          <a:p>
            <a:pPr rtl="1" algn="r">
              <a:lnSpc>
                <a:spcPts val="1900"/>
              </a:lnSpc>
              <a:spcBef>
                <a:spcPts val="0"/>
              </a:spcBef>
              <a:spcAft>
                <a:spcPts val="0"/>
              </a:spcAft>
            </a:pPr>
            <a:r>
              <a:rPr sz="1200" b="0" i="0">
                <a:solidFill>
                  <a:srgbClr val="9B7A88"/>
                </a:solidFill>
                <a:latin typeface="Vazir"/>
                <a:cs typeface="Vazir"/>
              </a:rPr>
              <a:t>کلاس عادی در این مرحله اصلاً وارد رقابت نمی‌شود</a:t>
            </a:r>
          </a:p>
        </p:txBody>
      </p:sp>
      <p:sp>
        <p:nvSpPr>
          <p:cNvPr id="14" name="TextBox 13"/>
          <p:cNvSpPr txBox="1"/>
          <p:nvPr/>
        </p:nvSpPr>
        <p:spPr>
          <a:xfrm>
            <a:off x="548640" y="4114800"/>
            <a:ext cx="11064240" cy="365760"/>
          </a:xfrm>
          <a:prstGeom prst="rect">
            <a:avLst/>
          </a:prstGeom>
          <a:noFill/>
        </p:spPr>
        <p:txBody>
          <a:bodyPr wrap="square" anchor="t" lIns="0" rIns="0" tIns="0" bIns="0">
            <a:spAutoFit/>
          </a:bodyPr>
          <a:lstStyle/>
          <a:p>
            <a:pPr rtl="1" algn="r">
              <a:spcBef>
                <a:spcPts val="0"/>
              </a:spcBef>
              <a:spcAft>
                <a:spcPts val="0"/>
              </a:spcAft>
            </a:pPr>
            <a:r>
              <a:rPr sz="1600" b="1" i="0">
                <a:solidFill>
                  <a:srgbClr val="9E3C67"/>
                </a:solidFill>
                <a:latin typeface="Vazir"/>
                <a:cs typeface="Vazir"/>
              </a:rPr>
              <a:t>مثال عددی: ویدیوی سرقت، رویداد در قطعه‌های ۴ و ۵</a:t>
            </a:r>
          </a:p>
        </p:txBody>
      </p:sp>
      <p:graphicFrame>
        <p:nvGraphicFramePr>
          <p:cNvPr id="15" name="Table 14"/>
          <p:cNvGraphicFramePr>
            <a:graphicFrameLocks noGrp="1"/>
          </p:cNvGraphicFramePr>
          <p:nvPr/>
        </p:nvGraphicFramePr>
        <p:xfrm>
          <a:off x="548640" y="4572000"/>
          <a:ext cx="11064240" cy="1152144"/>
        </p:xfrm>
        <a:graphic>
          <a:graphicData uri="http://schemas.openxmlformats.org/drawingml/2006/table">
            <a:tbl>
              <a:tblPr firstRow="0" bandRow="0">
                <a:tableStyleId>{5C22544A-7EE6-4342-B048-85BDC9FD1C3A}</a:tableStyleId>
              </a:tblPr>
              <a:tblGrid>
                <a:gridCol w="3474720"/>
                <a:gridCol w="2103120"/>
                <a:gridCol w="2743200"/>
                <a:gridCol w="2743200"/>
              </a:tblGrid>
              <a:tr h="384048">
                <a:tc>
                  <a:txBody>
                    <a:bodyPr wrap="square"/>
                    <a:lstStyle/>
                    <a:p>
                      <a:pPr rtl="1" algn="ctr">
                        <a:spcBef>
                          <a:spcPts val="0"/>
                        </a:spcBef>
                        <a:spcAft>
                          <a:spcPts val="0"/>
                        </a:spcAft>
                      </a:pPr>
                      <a:r>
                        <a:rPr sz="1300" b="1" i="0">
                          <a:solidFill>
                            <a:srgbClr val="D94F8C"/>
                          </a:solidFill>
                          <a:latin typeface="Vazir"/>
                          <a:cs typeface="Vazir"/>
                        </a:rPr>
                        <a:t>روش</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300" b="1" i="0">
                          <a:solidFill>
                            <a:srgbClr val="D94F8C"/>
                          </a:solidFill>
                          <a:latin typeface="Vazir"/>
                          <a:cs typeface="Vazir"/>
                        </a:rPr>
                        <a:t>نمره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300" b="1" i="0">
                          <a:solidFill>
                            <a:srgbClr val="D94F8C"/>
                          </a:solidFill>
                          <a:latin typeface="Vazir"/>
                          <a:cs typeface="Vazir"/>
                        </a:rPr>
                        <a:t>در برابر آستانه ۰٫۵</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300" b="1" i="0">
                          <a:solidFill>
                            <a:srgbClr val="D94F8C"/>
                          </a:solidFill>
                          <a:latin typeface="Vazir"/>
                          <a:cs typeface="Vazir"/>
                        </a:rPr>
                        <a:t>تصمیم</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384048">
                <a:tc>
                  <a:txBody>
                    <a:bodyPr wrap="square"/>
                    <a:lstStyle/>
                    <a:p>
                      <a:pPr rtl="1" algn="r">
                        <a:spcBef>
                          <a:spcPts val="0"/>
                        </a:spcBef>
                        <a:spcAft>
                          <a:spcPts val="0"/>
                        </a:spcAft>
                      </a:pPr>
                      <a:r>
                        <a:rPr sz="1300" b="0" i="0">
                          <a:solidFill>
                            <a:srgbClr val="4A2A38"/>
                          </a:solidFill>
                          <a:latin typeface="Vazir"/>
                          <a:cs typeface="Vazir"/>
                        </a:rPr>
                        <a:t>میانگین‌گیری روی ۸ قطعه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300" b="0" i="0">
                          <a:solidFill>
                            <a:srgbClr val="4A2A38"/>
                          </a:solidFill>
                          <a:latin typeface="Vazir"/>
                          <a:cs typeface="Vazir"/>
                        </a:rPr>
                        <a:t>0.26</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300" b="0" i="0">
                          <a:solidFill>
                            <a:srgbClr val="4A2A38"/>
                          </a:solidFill>
                          <a:latin typeface="Vazir"/>
                          <a:cs typeface="Vazir"/>
                        </a:rPr>
                        <a:t>زیر آستانه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300" b="0" i="0">
                          <a:solidFill>
                            <a:srgbClr val="4A2A38"/>
                          </a:solidFill>
                          <a:latin typeface="Vazir"/>
                          <a:cs typeface="Vazir"/>
                        </a:rPr>
                        <a:t>عادی — غلط</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84048">
                <a:tc>
                  <a:txBody>
                    <a:bodyPr wrap="square"/>
                    <a:lstStyle/>
                    <a:p>
                      <a:pPr rtl="1" algn="r">
                        <a:spcBef>
                          <a:spcPts val="0"/>
                        </a:spcBef>
                        <a:spcAft>
                          <a:spcPts val="0"/>
                        </a:spcAft>
                      </a:pPr>
                      <a:r>
                        <a:rPr sz="1300" b="1" i="0">
                          <a:solidFill>
                            <a:srgbClr val="C53D7C"/>
                          </a:solidFill>
                          <a:latin typeface="Vazir"/>
                          <a:cs typeface="Vazir"/>
                        </a:rPr>
                        <a:t>بیشینه روی همان ۸ قطعه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300" b="1" i="0">
                          <a:solidFill>
                            <a:srgbClr val="C53D7C"/>
                          </a:solidFill>
                          <a:latin typeface="Vazir"/>
                          <a:cs typeface="Vazir"/>
                        </a:rPr>
                        <a:t>0.85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300" b="1" i="0">
                          <a:solidFill>
                            <a:srgbClr val="C53D7C"/>
                          </a:solidFill>
                          <a:latin typeface="Vazir"/>
                          <a:cs typeface="Vazir"/>
                        </a:rPr>
                        <a:t>بالای آستانه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300" b="1" i="0">
                          <a:solidFill>
                            <a:srgbClr val="C53D7C"/>
                          </a:solidFill>
                          <a:latin typeface="Vazir"/>
                          <a:cs typeface="Vazir"/>
                        </a:rPr>
                        <a:t>ناهنجار — درست</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09</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کلاسی که مدل یاد گرفت هرگز نگوید</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مسیر اول</a:t>
            </a:r>
          </a:p>
        </p:txBody>
      </p:sp>
      <p:sp>
        <p:nvSpPr>
          <p:cNvPr id="6" name="TextBox 5"/>
          <p:cNvSpPr txBox="1"/>
          <p:nvPr/>
        </p:nvSpPr>
        <p:spPr>
          <a:xfrm>
            <a:off x="548640" y="1645920"/>
            <a:ext cx="11064240" cy="365760"/>
          </a:xfrm>
          <a:prstGeom prst="rect">
            <a:avLst/>
          </a:prstGeom>
          <a:noFill/>
        </p:spPr>
        <p:txBody>
          <a:bodyPr wrap="square" anchor="t" lIns="0" rIns="0" tIns="0" bIns="0">
            <a:spAutoFit/>
          </a:bodyPr>
          <a:lstStyle/>
          <a:p>
            <a:pPr rtl="1" algn="r">
              <a:spcBef>
                <a:spcPts val="0"/>
              </a:spcBef>
              <a:spcAft>
                <a:spcPts val="0"/>
              </a:spcAft>
            </a:pPr>
            <a:r>
              <a:rPr sz="1400" b="0" i="0">
                <a:solidFill>
                  <a:srgbClr val="4A2A38"/>
                </a:solidFill>
                <a:latin typeface="Vazir"/>
                <a:cs typeface="Vazir"/>
              </a:rPr>
              <a:t>به‌جای شمردن پیش‌بینی‌های درست، شمردیم مدل هر کلاس را چند بار پیش‌بینی می‌کند.</a:t>
            </a:r>
          </a:p>
        </p:txBody>
      </p:sp>
      <p:graphicFrame>
        <p:nvGraphicFramePr>
          <p:cNvPr id="7" name="Table 6"/>
          <p:cNvGraphicFramePr>
            <a:graphicFrameLocks noGrp="1"/>
          </p:cNvGraphicFramePr>
          <p:nvPr/>
        </p:nvGraphicFramePr>
        <p:xfrm>
          <a:off x="548640" y="2148840"/>
          <a:ext cx="6675120" cy="2194560"/>
        </p:xfrm>
        <a:graphic>
          <a:graphicData uri="http://schemas.openxmlformats.org/drawingml/2006/table">
            <a:tbl>
              <a:tblPr firstRow="0" bandRow="0">
                <a:tableStyleId>{5C22544A-7EE6-4342-B048-85BDC9FD1C3A}</a:tableStyleId>
              </a:tblPr>
              <a:tblGrid>
                <a:gridCol w="2560320"/>
                <a:gridCol w="1371600"/>
                <a:gridCol w="1737360"/>
                <a:gridCol w="1005840"/>
              </a:tblGrid>
              <a:tr h="365760">
                <a:tc>
                  <a:txBody>
                    <a:bodyPr wrap="square"/>
                    <a:lstStyle/>
                    <a:p>
                      <a:pPr rtl="1" algn="ctr">
                        <a:spcBef>
                          <a:spcPts val="0"/>
                        </a:spcBef>
                        <a:spcAft>
                          <a:spcPts val="0"/>
                        </a:spcAft>
                      </a:pPr>
                      <a:r>
                        <a:rPr sz="1200" b="1" i="0">
                          <a:solidFill>
                            <a:srgbClr val="D94F8C"/>
                          </a:solidFill>
                          <a:latin typeface="Vazir"/>
                          <a:cs typeface="Vazir"/>
                        </a:rPr>
                        <a:t>کلاس</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00" b="1" i="0">
                          <a:solidFill>
                            <a:srgbClr val="D94F8C"/>
                          </a:solidFill>
                          <a:latin typeface="Vazir"/>
                          <a:cs typeface="Vazir"/>
                        </a:rPr>
                        <a:t>ویدیوی واقعی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00" b="1" i="0">
                          <a:solidFill>
                            <a:srgbClr val="D94F8C"/>
                          </a:solidFill>
                          <a:latin typeface="Vazir"/>
                          <a:cs typeface="Vazir"/>
                        </a:rPr>
                        <a:t>چند بار پیش‌بینی شد</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00" b="1" i="0">
                          <a:solidFill>
                            <a:srgbClr val="D94F8C"/>
                          </a:solidFill>
                          <a:latin typeface="Vazir"/>
                          <a:cs typeface="Vazir"/>
                        </a:rPr>
                        <a:t>نسبت</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365760">
                <a:tc>
                  <a:txBody>
                    <a:bodyPr wrap="square"/>
                    <a:lstStyle/>
                    <a:p>
                      <a:pPr rtl="1" algn="r">
                        <a:spcBef>
                          <a:spcPts val="0"/>
                        </a:spcBef>
                        <a:spcAft>
                          <a:spcPts val="0"/>
                        </a:spcAft>
                      </a:pPr>
                      <a:r>
                        <a:rPr sz="1200" b="1" i="0">
                          <a:solidFill>
                            <a:srgbClr val="C53D7C"/>
                          </a:solidFill>
                          <a:latin typeface="Vazir"/>
                          <a:cs typeface="Vazir"/>
                        </a:rPr>
                        <a:t>Fighting — درگیری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00" b="1" i="0">
                          <a:solidFill>
                            <a:srgbClr val="C53D7C"/>
                          </a:solidFill>
                          <a:latin typeface="Vazir"/>
                          <a:cs typeface="Vazir"/>
                        </a:rPr>
                        <a:t>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00" b="1" i="0">
                          <a:solidFill>
                            <a:srgbClr val="C53D7C"/>
                          </a:solidFill>
                          <a:latin typeface="Vazir"/>
                          <a:cs typeface="Vazir"/>
                        </a:rPr>
                        <a:t>2</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00" b="1" i="0">
                          <a:solidFill>
                            <a:srgbClr val="C53D7C"/>
                          </a:solidFill>
                          <a:latin typeface="Vazir"/>
                          <a:cs typeface="Vazir"/>
                        </a:rPr>
                        <a:t>0.25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r h="365760">
                <a:tc>
                  <a:txBody>
                    <a:bodyPr wrap="square"/>
                    <a:lstStyle/>
                    <a:p>
                      <a:pPr rtl="1" algn="r">
                        <a:spcBef>
                          <a:spcPts val="0"/>
                        </a:spcBef>
                        <a:spcAft>
                          <a:spcPts val="0"/>
                        </a:spcAft>
                      </a:pPr>
                      <a:r>
                        <a:rPr sz="1200" b="0" i="0">
                          <a:solidFill>
                            <a:srgbClr val="4A2A38"/>
                          </a:solidFill>
                          <a:latin typeface="Vazir"/>
                          <a:cs typeface="Vazir"/>
                        </a:rPr>
                        <a:t>Assault — تعرض</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0.38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65760">
                <a:tc>
                  <a:txBody>
                    <a:bodyPr wrap="square"/>
                    <a:lstStyle/>
                    <a:p>
                      <a:pPr rtl="1" algn="r">
                        <a:spcBef>
                          <a:spcPts val="0"/>
                        </a:spcBef>
                        <a:spcAft>
                          <a:spcPts val="0"/>
                        </a:spcAft>
                      </a:pPr>
                      <a:r>
                        <a:rPr sz="1200" b="0" i="0">
                          <a:solidFill>
                            <a:srgbClr val="4A2A38"/>
                          </a:solidFill>
                          <a:latin typeface="Vazir"/>
                          <a:cs typeface="Vazir"/>
                        </a:rPr>
                        <a:t>Vandalism — تخریب</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0.62</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65760">
                <a:tc>
                  <a:txBody>
                    <a:bodyPr wrap="square"/>
                    <a:lstStyle/>
                    <a:p>
                      <a:pPr rtl="1" algn="r">
                        <a:spcBef>
                          <a:spcPts val="0"/>
                        </a:spcBef>
                        <a:spcAft>
                          <a:spcPts val="0"/>
                        </a:spcAft>
                      </a:pPr>
                      <a:r>
                        <a:rPr sz="1200" b="0" i="0">
                          <a:solidFill>
                            <a:srgbClr val="4A2A38"/>
                          </a:solidFill>
                          <a:latin typeface="Vazir"/>
                          <a:cs typeface="Vazir"/>
                        </a:rPr>
                        <a:t>Stealing — دزدی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15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20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1.33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65760">
                <a:tc>
                  <a:txBody>
                    <a:bodyPr wrap="square"/>
                    <a:lstStyle/>
                    <a:p>
                      <a:pPr rtl="1" algn="r">
                        <a:spcBef>
                          <a:spcPts val="0"/>
                        </a:spcBef>
                        <a:spcAft>
                          <a:spcPts val="0"/>
                        </a:spcAft>
                      </a:pPr>
                      <a:r>
                        <a:rPr sz="1200" b="0" i="0">
                          <a:solidFill>
                            <a:srgbClr val="4A2A38"/>
                          </a:solidFill>
                          <a:latin typeface="Vazir"/>
                          <a:cs typeface="Vazir"/>
                        </a:rPr>
                        <a:t>RoadAccidents — تصادف</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23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39</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1.70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bl>
          </a:graphicData>
        </a:graphic>
      </p:graphicFrame>
      <p:sp>
        <p:nvSpPr>
          <p:cNvPr id="8" name="Rectangle 7"/>
          <p:cNvSpPr/>
          <p:nvPr/>
        </p:nvSpPr>
        <p:spPr>
          <a:xfrm>
            <a:off x="7498079" y="2148840"/>
            <a:ext cx="4114800" cy="1874519"/>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0" y="2313432"/>
            <a:ext cx="3566160" cy="320040"/>
          </a:xfrm>
          <a:prstGeom prst="rect">
            <a:avLst/>
          </a:prstGeom>
          <a:noFill/>
        </p:spPr>
        <p:txBody>
          <a:bodyPr wrap="square" anchor="t" lIns="0" rIns="0" tIns="0" bIns="0">
            <a:spAutoFit/>
          </a:bodyPr>
          <a:lstStyle/>
          <a:p>
            <a:pPr rtl="1" algn="r">
              <a:spcBef>
                <a:spcPts val="0"/>
              </a:spcBef>
              <a:spcAft>
                <a:spcPts val="0"/>
              </a:spcAft>
            </a:pPr>
            <a:r>
              <a:rPr sz="1600" b="1" i="0">
                <a:solidFill>
                  <a:srgbClr val="D94F8C"/>
                </a:solidFill>
                <a:latin typeface="Vazir"/>
                <a:cs typeface="Vazir"/>
              </a:rPr>
              <a:t>تشخیص</a:t>
            </a:r>
          </a:p>
        </p:txBody>
      </p:sp>
      <p:sp>
        <p:nvSpPr>
          <p:cNvPr id="10" name="TextBox 9"/>
          <p:cNvSpPr txBox="1"/>
          <p:nvPr/>
        </p:nvSpPr>
        <p:spPr>
          <a:xfrm>
            <a:off x="7772400" y="2697480"/>
            <a:ext cx="3566160" cy="1188720"/>
          </a:xfrm>
          <a:prstGeom prst="rect">
            <a:avLst/>
          </a:prstGeom>
          <a:noFill/>
        </p:spPr>
        <p:txBody>
          <a:bodyPr wrap="square" anchor="t" lIns="0" rIns="0" tIns="0" bIns="0">
            <a:spAutoFit/>
          </a:bodyPr>
          <a:lstStyle/>
          <a:p>
            <a:pPr rtl="1" algn="r">
              <a:lnSpc>
                <a:spcPts val="1900"/>
              </a:lnSpc>
              <a:spcBef>
                <a:spcPts val="0"/>
              </a:spcBef>
              <a:spcAft>
                <a:spcPts val="0"/>
              </a:spcAft>
            </a:pPr>
            <a:r>
              <a:rPr sz="1250" b="0" i="0">
                <a:solidFill>
                  <a:srgbClr val="4A2A38"/>
                </a:solidFill>
                <a:latin typeface="Vazir"/>
                <a:cs typeface="Vazir"/>
              </a:rPr>
              <a:t>مدل روی درگیری شکست نخورده بود. یاد گرفته بود هرگز نگوید درگیری، چون گفتنش شرط‌بندی بدی بود.</a:t>
            </a:r>
          </a:p>
        </p:txBody>
      </p:sp>
      <p:sp>
        <p:nvSpPr>
          <p:cNvPr id="11" name="TextBox 10"/>
          <p:cNvSpPr txBox="1"/>
          <p:nvPr/>
        </p:nvSpPr>
        <p:spPr>
          <a:xfrm>
            <a:off x="548640" y="4206240"/>
            <a:ext cx="11064240" cy="365760"/>
          </a:xfrm>
          <a:prstGeom prst="rect">
            <a:avLst/>
          </a:prstGeom>
          <a:noFill/>
        </p:spPr>
        <p:txBody>
          <a:bodyPr wrap="square" anchor="t" lIns="0" rIns="0" tIns="0" bIns="0">
            <a:spAutoFit/>
          </a:bodyPr>
          <a:lstStyle/>
          <a:p>
            <a:pPr rtl="1" algn="r">
              <a:spcBef>
                <a:spcPts val="0"/>
              </a:spcBef>
              <a:spcAft>
                <a:spcPts val="0"/>
              </a:spcAft>
            </a:pPr>
            <a:r>
              <a:rPr sz="1700" b="1" i="0">
                <a:solidFill>
                  <a:srgbClr val="9E3C67"/>
                </a:solidFill>
                <a:latin typeface="Vazir"/>
                <a:cs typeface="Vazir"/>
              </a:rPr>
              <a:t>علت ریشه‌ای</a:t>
            </a:r>
          </a:p>
        </p:txBody>
      </p:sp>
      <p:sp>
        <p:nvSpPr>
          <p:cNvPr id="12" name="TextBox 11"/>
          <p:cNvSpPr txBox="1"/>
          <p:nvPr/>
        </p:nvSpPr>
        <p:spPr>
          <a:xfrm>
            <a:off x="548640" y="4663440"/>
            <a:ext cx="11064240" cy="1426464"/>
          </a:xfrm>
          <a:prstGeom prst="rect">
            <a:avLst/>
          </a:prstGeom>
          <a:noFill/>
        </p:spPr>
        <p:txBody>
          <a:bodyPr wrap="square" anchor="t" lIns="0" rIns="0" tIns="0" bIns="0">
            <a:spAutoFit/>
          </a:bodyPr>
          <a:lstStyle/>
          <a:p>
            <a:pPr rtl="1" algn="r">
              <a:lnSpc>
                <a:spcPts val="1900"/>
              </a:lnSpc>
              <a:spcBef>
                <a:spcPts val="0"/>
              </a:spcBef>
              <a:spcAft>
                <a:spcPts val="700"/>
              </a:spcAft>
            </a:pPr>
            <a:r>
              <a:rPr sz="1300" b="0" i="0">
                <a:solidFill>
                  <a:srgbClr val="4A2A38"/>
                </a:solidFill>
                <a:latin typeface="Vazir"/>
                <a:cs typeface="Vazir"/>
              </a:rPr>
              <a:t>●  تابع وزن‌دهی کلاس در کد وجود داشت ولی هیچ‌جا صدا زده نمی‌شد.</a:t>
            </a:r>
          </a:p>
          <a:p>
            <a:pPr rtl="1" algn="r">
              <a:lnSpc>
                <a:spcPts val="1900"/>
              </a:lnSpc>
              <a:spcBef>
                <a:spcPts val="0"/>
              </a:spcBef>
              <a:spcAft>
                <a:spcPts val="700"/>
              </a:spcAft>
            </a:pPr>
            <a:r>
              <a:rPr sz="1300" b="0" i="0">
                <a:solidFill>
                  <a:srgbClr val="4A2A38"/>
                </a:solidFill>
                <a:latin typeface="Vazir"/>
                <a:cs typeface="Vazir"/>
              </a:rPr>
              <a:t>●  وزن‌ها همه‌جا ۱٫۰ بودند؛ کلاس عادی حدود ۱۹ برابر کلاس درگیری گرادیان تولید می‌کرد.</a:t>
            </a:r>
          </a:p>
          <a:p>
            <a:pPr rtl="1" algn="r">
              <a:lnSpc>
                <a:spcPts val="1900"/>
              </a:lnSpc>
              <a:spcBef>
                <a:spcPts val="0"/>
              </a:spcBef>
              <a:spcAft>
                <a:spcPts val="700"/>
              </a:spcAft>
            </a:pPr>
            <a:r>
              <a:rPr sz="1300" b="0" i="0">
                <a:solidFill>
                  <a:srgbClr val="4A2A38"/>
                </a:solidFill>
                <a:latin typeface="Vazir"/>
                <a:cs typeface="Vazir"/>
              </a:rPr>
              <a:t>●  با وزن‌دهی معکوس فراوانی آن نسبت به ۳٫۶ رسید و درگیری ۹ بار پیش‌بینی شد به‌جای ۲ بار.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10</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محدودیت بنیادی: هندسه فضای متنی</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مسیر اول</a:t>
            </a:r>
          </a:p>
        </p:txBody>
      </p:sp>
      <p:sp>
        <p:nvSpPr>
          <p:cNvPr id="6" name="TextBox 5"/>
          <p:cNvSpPr txBox="1"/>
          <p:nvPr/>
        </p:nvSpPr>
        <p:spPr>
          <a:xfrm>
            <a:off x="548640" y="1627632"/>
            <a:ext cx="11064240" cy="365760"/>
          </a:xfrm>
          <a:prstGeom prst="rect">
            <a:avLst/>
          </a:prstGeom>
          <a:noFill/>
        </p:spPr>
        <p:txBody>
          <a:bodyPr wrap="square" anchor="t" lIns="0" rIns="0" tIns="0" bIns="0">
            <a:spAutoFit/>
          </a:bodyPr>
          <a:lstStyle/>
          <a:p>
            <a:pPr rtl="1" algn="r">
              <a:spcBef>
                <a:spcPts val="0"/>
              </a:spcBef>
              <a:spcAft>
                <a:spcPts val="0"/>
              </a:spcAft>
            </a:pPr>
            <a:r>
              <a:rPr sz="1400" b="0" i="0">
                <a:solidFill>
                  <a:srgbClr val="4A2A38"/>
                </a:solidFill>
                <a:latin typeface="Vazir"/>
                <a:cs typeface="Vazir"/>
              </a:rPr>
              <a:t>اسم خام کلاس‌ها در فضای زبانی CLIP تقریباً هم‌راستا هستند و سقفی مستقل از کیفیت تصویری تحمیل می‌کنند.</a:t>
            </a:r>
          </a:p>
        </p:txBody>
      </p:sp>
      <p:graphicFrame>
        <p:nvGraphicFramePr>
          <p:cNvPr id="7" name="Table 6"/>
          <p:cNvGraphicFramePr>
            <a:graphicFrameLocks noGrp="1"/>
          </p:cNvGraphicFramePr>
          <p:nvPr/>
        </p:nvGraphicFramePr>
        <p:xfrm>
          <a:off x="548640" y="2148840"/>
          <a:ext cx="5029200" cy="1920240"/>
        </p:xfrm>
        <a:graphic>
          <a:graphicData uri="http://schemas.openxmlformats.org/drawingml/2006/table">
            <a:tbl>
              <a:tblPr firstRow="0" bandRow="0">
                <a:tableStyleId>{5C22544A-7EE6-4342-B048-85BDC9FD1C3A}</a:tableStyleId>
              </a:tblPr>
              <a:tblGrid>
                <a:gridCol w="3200400"/>
                <a:gridCol w="1828800"/>
              </a:tblGrid>
              <a:tr h="384048">
                <a:tc>
                  <a:txBody>
                    <a:bodyPr wrap="square"/>
                    <a:lstStyle/>
                    <a:p>
                      <a:pPr rtl="1" algn="ctr">
                        <a:spcBef>
                          <a:spcPts val="0"/>
                        </a:spcBef>
                        <a:spcAft>
                          <a:spcPts val="0"/>
                        </a:spcAft>
                      </a:pPr>
                      <a:r>
                        <a:rPr sz="1300" b="1" i="0">
                          <a:solidFill>
                            <a:srgbClr val="D94F8C"/>
                          </a:solidFill>
                          <a:latin typeface="Vazir"/>
                          <a:cs typeface="Vazir"/>
                        </a:rPr>
                        <a:t>جفت کلاس</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300" b="1" i="0">
                          <a:solidFill>
                            <a:srgbClr val="D94F8C"/>
                          </a:solidFill>
                          <a:latin typeface="Vazir"/>
                          <a:cs typeface="Vazir"/>
                        </a:rPr>
                        <a:t>شباهت کسینوسی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384048">
                <a:tc>
                  <a:txBody>
                    <a:bodyPr wrap="square"/>
                    <a:lstStyle/>
                    <a:p>
                      <a:pPr rtl="1" algn="r">
                        <a:spcBef>
                          <a:spcPts val="0"/>
                        </a:spcBef>
                        <a:spcAft>
                          <a:spcPts val="0"/>
                        </a:spcAft>
                      </a:pPr>
                      <a:r>
                        <a:rPr sz="1300" b="0" i="0">
                          <a:solidFill>
                            <a:srgbClr val="4A2A38"/>
                          </a:solidFill>
                          <a:latin typeface="Vazir"/>
                          <a:cs typeface="Vazir"/>
                        </a:rPr>
                        <a:t>Abuse  /  Stealing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300" b="0" i="0">
                          <a:solidFill>
                            <a:srgbClr val="4A2A38"/>
                          </a:solidFill>
                          <a:latin typeface="Vazir"/>
                          <a:cs typeface="Vazir"/>
                        </a:rPr>
                        <a:t>0.91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84048">
                <a:tc>
                  <a:txBody>
                    <a:bodyPr wrap="square"/>
                    <a:lstStyle/>
                    <a:p>
                      <a:pPr rtl="1" algn="r">
                        <a:spcBef>
                          <a:spcPts val="0"/>
                        </a:spcBef>
                        <a:spcAft>
                          <a:spcPts val="0"/>
                        </a:spcAft>
                      </a:pPr>
                      <a:r>
                        <a:rPr sz="1300" b="0" i="0">
                          <a:solidFill>
                            <a:srgbClr val="4A2A38"/>
                          </a:solidFill>
                          <a:latin typeface="Vazir"/>
                          <a:cs typeface="Vazir"/>
                        </a:rPr>
                        <a:t>Assault  /  Arrest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300" b="0" i="0">
                          <a:solidFill>
                            <a:srgbClr val="4A2A38"/>
                          </a:solidFill>
                          <a:latin typeface="Vazir"/>
                          <a:cs typeface="Vazir"/>
                        </a:rPr>
                        <a:t>0.91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84048">
                <a:tc>
                  <a:txBody>
                    <a:bodyPr wrap="square"/>
                    <a:lstStyle/>
                    <a:p>
                      <a:pPr rtl="1" algn="r">
                        <a:spcBef>
                          <a:spcPts val="0"/>
                        </a:spcBef>
                        <a:spcAft>
                          <a:spcPts val="0"/>
                        </a:spcAft>
                      </a:pPr>
                      <a:r>
                        <a:rPr sz="1300" b="0" i="0">
                          <a:solidFill>
                            <a:srgbClr val="4A2A38"/>
                          </a:solidFill>
                          <a:latin typeface="Vazir"/>
                          <a:cs typeface="Vazir"/>
                        </a:rPr>
                        <a:t>Fighting  /  Shooting</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300" b="0" i="0">
                          <a:solidFill>
                            <a:srgbClr val="4A2A38"/>
                          </a:solidFill>
                          <a:latin typeface="Vazir"/>
                          <a:cs typeface="Vazir"/>
                        </a:rPr>
                        <a:t>0.90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84048">
                <a:tc>
                  <a:txBody>
                    <a:bodyPr wrap="square"/>
                    <a:lstStyle/>
                    <a:p>
                      <a:pPr rtl="1" algn="r">
                        <a:spcBef>
                          <a:spcPts val="0"/>
                        </a:spcBef>
                        <a:spcAft>
                          <a:spcPts val="0"/>
                        </a:spcAft>
                      </a:pPr>
                      <a:r>
                        <a:rPr sz="1300" b="1" i="0">
                          <a:solidFill>
                            <a:srgbClr val="C53D7C"/>
                          </a:solidFill>
                          <a:latin typeface="Vazir"/>
                          <a:cs typeface="Vazir"/>
                        </a:rPr>
                        <a:t>میانگین همه جفت‌ها</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300" b="1" i="0">
                          <a:solidFill>
                            <a:srgbClr val="C53D7C"/>
                          </a:solidFill>
                          <a:latin typeface="Vazir"/>
                          <a:cs typeface="Vazir"/>
                        </a:rPr>
                        <a:t>0.83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bl>
          </a:graphicData>
        </a:graphic>
      </p:graphicFrame>
      <p:sp>
        <p:nvSpPr>
          <p:cNvPr id="8" name="Rectangle 7"/>
          <p:cNvSpPr/>
          <p:nvPr/>
        </p:nvSpPr>
        <p:spPr>
          <a:xfrm>
            <a:off x="5852160" y="2148840"/>
            <a:ext cx="5760720" cy="1874519"/>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126480" y="2313432"/>
            <a:ext cx="5212080" cy="320040"/>
          </a:xfrm>
          <a:prstGeom prst="rect">
            <a:avLst/>
          </a:prstGeom>
          <a:noFill/>
        </p:spPr>
        <p:txBody>
          <a:bodyPr wrap="square" anchor="t" lIns="0" rIns="0" tIns="0" bIns="0">
            <a:spAutoFit/>
          </a:bodyPr>
          <a:lstStyle/>
          <a:p>
            <a:pPr rtl="1" algn="r">
              <a:spcBef>
                <a:spcPts val="0"/>
              </a:spcBef>
              <a:spcAft>
                <a:spcPts val="0"/>
              </a:spcAft>
            </a:pPr>
            <a:r>
              <a:rPr sz="1600" b="1" i="0">
                <a:solidFill>
                  <a:srgbClr val="D94F8C"/>
                </a:solidFill>
                <a:latin typeface="Vazir"/>
                <a:cs typeface="Vazir"/>
              </a:rPr>
              <a:t>آزمایش تعیین‌کننده</a:t>
            </a:r>
          </a:p>
        </p:txBody>
      </p:sp>
      <p:sp>
        <p:nvSpPr>
          <p:cNvPr id="10" name="TextBox 9"/>
          <p:cNvSpPr txBox="1"/>
          <p:nvPr/>
        </p:nvSpPr>
        <p:spPr>
          <a:xfrm>
            <a:off x="6126480" y="2697480"/>
            <a:ext cx="5212080" cy="1188720"/>
          </a:xfrm>
          <a:prstGeom prst="rect">
            <a:avLst/>
          </a:prstGeom>
          <a:noFill/>
        </p:spPr>
        <p:txBody>
          <a:bodyPr wrap="square" anchor="t" lIns="0" rIns="0" tIns="0" bIns="0">
            <a:spAutoFit/>
          </a:bodyPr>
          <a:lstStyle/>
          <a:p>
            <a:pPr rtl="1" algn="r">
              <a:lnSpc>
                <a:spcPts val="1900"/>
              </a:lnSpc>
              <a:spcBef>
                <a:spcPts val="0"/>
              </a:spcBef>
              <a:spcAft>
                <a:spcPts val="0"/>
              </a:spcAft>
            </a:pPr>
            <a:r>
              <a:rPr sz="1250" b="0" i="0">
                <a:solidFill>
                  <a:srgbClr val="4A2A38"/>
                </a:solidFill>
                <a:latin typeface="Vazir"/>
                <a:cs typeface="Vazir"/>
              </a:rPr>
              <a:t>فرض کنید بخش تصویری کاملاً بی‌نقص باشد، یعنی بردار ویدیو دقیقاً برابر بردار کلاس خودش. در این حالت آرمانی، احتمال کلاس درست تنها ۰٫۴۴ درمی‌آید.</a:t>
            </a:r>
          </a:p>
        </p:txBody>
      </p:sp>
      <p:sp>
        <p:nvSpPr>
          <p:cNvPr id="11" name="TextBox 10"/>
          <p:cNvSpPr txBox="1"/>
          <p:nvPr/>
        </p:nvSpPr>
        <p:spPr>
          <a:xfrm>
            <a:off x="548640" y="4206240"/>
            <a:ext cx="11064240" cy="365760"/>
          </a:xfrm>
          <a:prstGeom prst="rect">
            <a:avLst/>
          </a:prstGeom>
          <a:noFill/>
        </p:spPr>
        <p:txBody>
          <a:bodyPr wrap="square" anchor="t" lIns="0" rIns="0" tIns="0" bIns="0">
            <a:spAutoFit/>
          </a:bodyPr>
          <a:lstStyle/>
          <a:p>
            <a:pPr rtl="1" algn="r">
              <a:spcBef>
                <a:spcPts val="0"/>
              </a:spcBef>
              <a:spcAft>
                <a:spcPts val="0"/>
              </a:spcAft>
            </a:pPr>
            <a:r>
              <a:rPr sz="1700" b="1" i="0">
                <a:solidFill>
                  <a:srgbClr val="9E3C67"/>
                </a:solidFill>
                <a:latin typeface="Vazir"/>
                <a:cs typeface="Vazir"/>
              </a:rPr>
              <a:t>راه حل: توصیف بصری به‌جای اسم حقوقی</a:t>
            </a:r>
          </a:p>
        </p:txBody>
      </p:sp>
      <p:sp>
        <p:nvSpPr>
          <p:cNvPr id="12" name="Rectangle 11"/>
          <p:cNvSpPr/>
          <p:nvPr/>
        </p:nvSpPr>
        <p:spPr>
          <a:xfrm>
            <a:off x="548640" y="4663440"/>
            <a:ext cx="5486400" cy="128016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4800600"/>
            <a:ext cx="4937760" cy="274320"/>
          </a:xfrm>
          <a:prstGeom prst="rect">
            <a:avLst/>
          </a:prstGeom>
          <a:noFill/>
        </p:spPr>
        <p:txBody>
          <a:bodyPr wrap="square" anchor="t" lIns="0" rIns="0" tIns="0" bIns="0">
            <a:spAutoFit/>
          </a:bodyPr>
          <a:lstStyle/>
          <a:p>
            <a:pPr rtl="1" algn="r">
              <a:spcBef>
                <a:spcPts val="0"/>
              </a:spcBef>
              <a:spcAft>
                <a:spcPts val="0"/>
              </a:spcAft>
            </a:pPr>
            <a:r>
              <a:rPr sz="1200" b="0" i="0">
                <a:solidFill>
                  <a:srgbClr val="9B7A88"/>
                </a:solidFill>
                <a:latin typeface="Vazir"/>
                <a:cs typeface="Vazir"/>
              </a:rPr>
              <a:t>پیش از تغییر</a:t>
            </a:r>
          </a:p>
        </p:txBody>
      </p:sp>
      <p:sp>
        <p:nvSpPr>
          <p:cNvPr id="14" name="TextBox 13"/>
          <p:cNvSpPr txBox="1"/>
          <p:nvPr/>
        </p:nvSpPr>
        <p:spPr>
          <a:xfrm>
            <a:off x="822960" y="5120640"/>
            <a:ext cx="4937760" cy="365760"/>
          </a:xfrm>
          <a:prstGeom prst="rect">
            <a:avLst/>
          </a:prstGeom>
          <a:noFill/>
        </p:spPr>
        <p:txBody>
          <a:bodyPr wrap="square" anchor="t" lIns="0" rIns="0" tIns="0" bIns="0">
            <a:spAutoFit/>
          </a:bodyPr>
          <a:lstStyle/>
          <a:p>
            <a:pPr rtl="0" algn="r">
              <a:spcBef>
                <a:spcPts val="0"/>
              </a:spcBef>
              <a:spcAft>
                <a:spcPts val="0"/>
              </a:spcAft>
            </a:pPr>
            <a:r>
              <a:rPr sz="1600" b="1" i="0">
                <a:solidFill>
                  <a:srgbClr val="D4596B"/>
                </a:solidFill>
                <a:latin typeface="Vazir"/>
                <a:cs typeface="Vazir"/>
              </a:rPr>
              <a:t>"Burglary"</a:t>
            </a:r>
          </a:p>
        </p:txBody>
      </p:sp>
      <p:sp>
        <p:nvSpPr>
          <p:cNvPr id="15" name="TextBox 14"/>
          <p:cNvSpPr txBox="1"/>
          <p:nvPr/>
        </p:nvSpPr>
        <p:spPr>
          <a:xfrm>
            <a:off x="822960" y="5532120"/>
            <a:ext cx="4937760" cy="320040"/>
          </a:xfrm>
          <a:prstGeom prst="rect">
            <a:avLst/>
          </a:prstGeom>
          <a:noFill/>
        </p:spPr>
        <p:txBody>
          <a:bodyPr wrap="square" anchor="t" lIns="0" rIns="0" tIns="0" bIns="0">
            <a:spAutoFit/>
          </a:bodyPr>
          <a:lstStyle/>
          <a:p>
            <a:pPr rtl="1" algn="r">
              <a:spcBef>
                <a:spcPts val="0"/>
              </a:spcBef>
              <a:spcAft>
                <a:spcPts val="0"/>
              </a:spcAft>
            </a:pPr>
            <a:r>
              <a:rPr sz="1250" b="0" i="0">
                <a:solidFill>
                  <a:srgbClr val="4A2A38"/>
                </a:solidFill>
                <a:latin typeface="Vazir"/>
                <a:cs typeface="Vazir"/>
              </a:rPr>
              <a:t>سقف اندازه‌گیری‌شده: 0.44</a:t>
            </a:r>
          </a:p>
        </p:txBody>
      </p:sp>
      <p:sp>
        <p:nvSpPr>
          <p:cNvPr id="16" name="Rectangle 15"/>
          <p:cNvSpPr/>
          <p:nvPr/>
        </p:nvSpPr>
        <p:spPr>
          <a:xfrm>
            <a:off x="6309360" y="4663440"/>
            <a:ext cx="5303520" cy="1280160"/>
          </a:xfrm>
          <a:prstGeom prst="rect">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83680" y="4800600"/>
            <a:ext cx="4754880" cy="274320"/>
          </a:xfrm>
          <a:prstGeom prst="rect">
            <a:avLst/>
          </a:prstGeom>
          <a:noFill/>
        </p:spPr>
        <p:txBody>
          <a:bodyPr wrap="square" anchor="t" lIns="0" rIns="0" tIns="0" bIns="0">
            <a:spAutoFit/>
          </a:bodyPr>
          <a:lstStyle/>
          <a:p>
            <a:pPr rtl="1" algn="r">
              <a:spcBef>
                <a:spcPts val="0"/>
              </a:spcBef>
              <a:spcAft>
                <a:spcPts val="0"/>
              </a:spcAft>
            </a:pPr>
            <a:r>
              <a:rPr sz="1200" b="0" i="0">
                <a:solidFill>
                  <a:srgbClr val="9B7A88"/>
                </a:solidFill>
                <a:latin typeface="Vazir"/>
                <a:cs typeface="Vazir"/>
              </a:rPr>
              <a:t>پس از تغییر</a:t>
            </a:r>
          </a:p>
        </p:txBody>
      </p:sp>
      <p:sp>
        <p:nvSpPr>
          <p:cNvPr id="18" name="TextBox 17"/>
          <p:cNvSpPr txBox="1"/>
          <p:nvPr/>
        </p:nvSpPr>
        <p:spPr>
          <a:xfrm>
            <a:off x="6583680" y="5120640"/>
            <a:ext cx="4754880" cy="365760"/>
          </a:xfrm>
          <a:prstGeom prst="rect">
            <a:avLst/>
          </a:prstGeom>
          <a:noFill/>
        </p:spPr>
        <p:txBody>
          <a:bodyPr wrap="square" anchor="t" lIns="0" rIns="0" tIns="0" bIns="0">
            <a:spAutoFit/>
          </a:bodyPr>
          <a:lstStyle/>
          <a:p>
            <a:pPr rtl="0" algn="r">
              <a:spcBef>
                <a:spcPts val="0"/>
              </a:spcBef>
              <a:spcAft>
                <a:spcPts val="0"/>
              </a:spcAft>
            </a:pPr>
            <a:r>
              <a:rPr sz="1150" b="1" i="0">
                <a:solidFill>
                  <a:srgbClr val="4E9E90"/>
                </a:solidFill>
                <a:latin typeface="Vazir"/>
                <a:cs typeface="Vazir"/>
              </a:rPr>
              <a:t>"a burglar climbing through a broken window"</a:t>
            </a:r>
          </a:p>
        </p:txBody>
      </p:sp>
      <p:sp>
        <p:nvSpPr>
          <p:cNvPr id="19" name="TextBox 18"/>
          <p:cNvSpPr txBox="1"/>
          <p:nvPr/>
        </p:nvSpPr>
        <p:spPr>
          <a:xfrm>
            <a:off x="6583680" y="5532120"/>
            <a:ext cx="4754880" cy="320040"/>
          </a:xfrm>
          <a:prstGeom prst="rect">
            <a:avLst/>
          </a:prstGeom>
          <a:noFill/>
        </p:spPr>
        <p:txBody>
          <a:bodyPr wrap="square" anchor="t" lIns="0" rIns="0" tIns="0" bIns="0">
            <a:spAutoFit/>
          </a:bodyPr>
          <a:lstStyle/>
          <a:p>
            <a:pPr rtl="1" algn="r">
              <a:spcBef>
                <a:spcPts val="0"/>
              </a:spcBef>
              <a:spcAft>
                <a:spcPts val="0"/>
              </a:spcAft>
            </a:pPr>
            <a:r>
              <a:rPr sz="1250" b="0" i="0">
                <a:solidFill>
                  <a:srgbClr val="4A2A38"/>
                </a:solidFill>
                <a:latin typeface="Vazir"/>
                <a:cs typeface="Vazir"/>
              </a:rPr>
              <a:t>سقف اندازه‌گیری‌شده: 0.86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11</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نتایج مسیر اول</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مسیر اول</a:t>
            </a:r>
          </a:p>
        </p:txBody>
      </p:sp>
      <p:graphicFrame>
        <p:nvGraphicFramePr>
          <p:cNvPr id="6" name="Table 5"/>
          <p:cNvGraphicFramePr>
            <a:graphicFrameLocks noGrp="1"/>
          </p:cNvGraphicFramePr>
          <p:nvPr/>
        </p:nvGraphicFramePr>
        <p:xfrm>
          <a:off x="548640" y="1691640"/>
          <a:ext cx="11064240" cy="1609344"/>
        </p:xfrm>
        <a:graphic>
          <a:graphicData uri="http://schemas.openxmlformats.org/drawingml/2006/table">
            <a:tbl>
              <a:tblPr firstRow="0" bandRow="0">
                <a:tableStyleId>{5C22544A-7EE6-4342-B048-85BDC9FD1C3A}</a:tableStyleId>
              </a:tblPr>
              <a:tblGrid>
                <a:gridCol w="4480560"/>
                <a:gridCol w="1645920"/>
                <a:gridCol w="1645920"/>
                <a:gridCol w="1645920"/>
                <a:gridCol w="1645920"/>
              </a:tblGrid>
              <a:tr h="402336">
                <a:tc>
                  <a:txBody>
                    <a:bodyPr wrap="square"/>
                    <a:lstStyle/>
                    <a:p>
                      <a:pPr rtl="1" algn="ctr">
                        <a:spcBef>
                          <a:spcPts val="0"/>
                        </a:spcBef>
                        <a:spcAft>
                          <a:spcPts val="0"/>
                        </a:spcAft>
                      </a:pPr>
                      <a:r>
                        <a:rPr sz="1250" b="1" i="0">
                          <a:solidFill>
                            <a:srgbClr val="D94F8C"/>
                          </a:solidFill>
                          <a:latin typeface="Vazir"/>
                          <a:cs typeface="Vazir"/>
                        </a:rPr>
                        <a:t>پیکربندی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50" b="1" i="0">
                          <a:solidFill>
                            <a:srgbClr val="D94F8C"/>
                          </a:solidFill>
                          <a:latin typeface="Vazir"/>
                          <a:cs typeface="Vazir"/>
                        </a:rPr>
                        <a:t>AUC دودویی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50" b="1" i="0">
                          <a:solidFill>
                            <a:srgbClr val="D94F8C"/>
                          </a:solidFill>
                          <a:latin typeface="Vazir"/>
                          <a:cs typeface="Vazir"/>
                        </a:rPr>
                        <a:t>ماکرو F1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50" b="1" i="0">
                          <a:solidFill>
                            <a:srgbClr val="D94F8C"/>
                          </a:solidFill>
                          <a:latin typeface="Vazir"/>
                          <a:cs typeface="Vazir"/>
                        </a:rPr>
                        <a:t>صحت نوع</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50" b="1" i="0">
                          <a:solidFill>
                            <a:srgbClr val="D94F8C"/>
                          </a:solidFill>
                          <a:latin typeface="Vazir"/>
                          <a:cs typeface="Vazir"/>
                        </a:rPr>
                        <a:t>صحت کلی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402336">
                <a:tc>
                  <a:txBody>
                    <a:bodyPr wrap="square"/>
                    <a:lstStyle/>
                    <a:p>
                      <a:pPr rtl="1" algn="r">
                        <a:spcBef>
                          <a:spcPts val="0"/>
                        </a:spcBef>
                        <a:spcAft>
                          <a:spcPts val="0"/>
                        </a:spcAft>
                      </a:pPr>
                      <a:r>
                        <a:rPr sz="1250" b="0" i="0">
                          <a:solidFill>
                            <a:srgbClr val="4A2A38"/>
                          </a:solidFill>
                          <a:latin typeface="Vazir"/>
                          <a:cs typeface="Vazir"/>
                        </a:rPr>
                        <a:t>اجرای پایه — اسم خام، وزن دستی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50" b="0" i="0">
                          <a:solidFill>
                            <a:srgbClr val="4A2A38"/>
                          </a:solidFill>
                          <a:latin typeface="Vazir"/>
                          <a:cs typeface="Vazir"/>
                        </a:rPr>
                        <a:t>0.9473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50" b="0" i="0">
                          <a:solidFill>
                            <a:srgbClr val="4A2A38"/>
                          </a:solidFill>
                          <a:latin typeface="Vazir"/>
                          <a:cs typeface="Vazir"/>
                        </a:rPr>
                        <a:t>0.3327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50" b="0" i="0">
                          <a:solidFill>
                            <a:srgbClr val="4A2A38"/>
                          </a:solidFill>
                          <a:latin typeface="Vazir"/>
                          <a:cs typeface="Vazir"/>
                        </a:rPr>
                        <a:t>0.3716</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50" b="0" i="0">
                          <a:solidFill>
                            <a:srgbClr val="4A2A38"/>
                          </a:solidFill>
                          <a:latin typeface="Vazir"/>
                          <a:cs typeface="Vazir"/>
                        </a:rPr>
                        <a:t>0.6385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402336">
                <a:tc>
                  <a:txBody>
                    <a:bodyPr wrap="square"/>
                    <a:lstStyle/>
                    <a:p>
                      <a:pPr rtl="1" algn="r">
                        <a:spcBef>
                          <a:spcPts val="0"/>
                        </a:spcBef>
                        <a:spcAft>
                          <a:spcPts val="0"/>
                        </a:spcAft>
                      </a:pPr>
                      <a:r>
                        <a:rPr sz="1250" b="0" i="0">
                          <a:solidFill>
                            <a:srgbClr val="4A2A38"/>
                          </a:solidFill>
                          <a:latin typeface="Vazir"/>
                          <a:cs typeface="Vazir"/>
                        </a:rPr>
                        <a:t>توصیف بصری + وزن معکوس فراوانی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50" b="0" i="0">
                          <a:solidFill>
                            <a:srgbClr val="4A2A38"/>
                          </a:solidFill>
                          <a:latin typeface="Vazir"/>
                          <a:cs typeface="Vazir"/>
                        </a:rPr>
                        <a:t>0.9637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50" b="0" i="0">
                          <a:solidFill>
                            <a:srgbClr val="4A2A38"/>
                          </a:solidFill>
                          <a:latin typeface="Vazir"/>
                          <a:cs typeface="Vazir"/>
                        </a:rPr>
                        <a:t>0.3713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50" b="0" i="0">
                          <a:solidFill>
                            <a:srgbClr val="4A2A38"/>
                          </a:solidFill>
                          <a:latin typeface="Vazir"/>
                          <a:cs typeface="Vazir"/>
                        </a:rPr>
                        <a:t>0.4054</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50" b="0" i="0">
                          <a:solidFill>
                            <a:srgbClr val="4A2A38"/>
                          </a:solidFill>
                          <a:latin typeface="Vazir"/>
                          <a:cs typeface="Vazir"/>
                        </a:rPr>
                        <a:t>0.6351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402336">
                <a:tc>
                  <a:txBody>
                    <a:bodyPr wrap="square"/>
                    <a:lstStyle/>
                    <a:p>
                      <a:pPr rtl="1" algn="r">
                        <a:spcBef>
                          <a:spcPts val="0"/>
                        </a:spcBef>
                        <a:spcAft>
                          <a:spcPts val="0"/>
                        </a:spcAft>
                      </a:pPr>
                      <a:r>
                        <a:rPr sz="1250" b="1" i="0">
                          <a:solidFill>
                            <a:srgbClr val="C53D7C"/>
                          </a:solidFill>
                          <a:latin typeface="Vazir"/>
                          <a:cs typeface="Vazir"/>
                        </a:rPr>
                        <a:t>افزودن چهار نمای زمانی در آزمون</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50" b="1" i="0">
                          <a:solidFill>
                            <a:srgbClr val="C53D7C"/>
                          </a:solidFill>
                          <a:latin typeface="Vazir"/>
                          <a:cs typeface="Vazir"/>
                        </a:rPr>
                        <a:t>0.9629</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50" b="1" i="0">
                          <a:solidFill>
                            <a:srgbClr val="C53D7C"/>
                          </a:solidFill>
                          <a:latin typeface="Vazir"/>
                          <a:cs typeface="Vazir"/>
                        </a:rPr>
                        <a:t>0.3881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50" b="1" i="0">
                          <a:solidFill>
                            <a:srgbClr val="C53D7C"/>
                          </a:solidFill>
                          <a:latin typeface="Vazir"/>
                          <a:cs typeface="Vazir"/>
                        </a:rPr>
                        <a:t>0.4257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50" b="1" i="0">
                          <a:solidFill>
                            <a:srgbClr val="C53D7C"/>
                          </a:solidFill>
                          <a:latin typeface="Vazir"/>
                          <a:cs typeface="Vazir"/>
                        </a:rPr>
                        <a:t>0.6419</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bl>
          </a:graphicData>
        </a:graphic>
      </p:graphicFrame>
      <p:sp>
        <p:nvSpPr>
          <p:cNvPr id="7" name="TextBox 6"/>
          <p:cNvSpPr txBox="1"/>
          <p:nvPr/>
        </p:nvSpPr>
        <p:spPr>
          <a:xfrm>
            <a:off x="548640" y="3611880"/>
            <a:ext cx="5486400" cy="365760"/>
          </a:xfrm>
          <a:prstGeom prst="rect">
            <a:avLst/>
          </a:prstGeom>
          <a:noFill/>
        </p:spPr>
        <p:txBody>
          <a:bodyPr wrap="square" anchor="t" lIns="0" rIns="0" tIns="0" bIns="0">
            <a:spAutoFit/>
          </a:bodyPr>
          <a:lstStyle/>
          <a:p>
            <a:pPr rtl="1" algn="r">
              <a:spcBef>
                <a:spcPts val="0"/>
              </a:spcBef>
              <a:spcAft>
                <a:spcPts val="0"/>
              </a:spcAft>
            </a:pPr>
            <a:r>
              <a:rPr sz="1600" b="1" i="0">
                <a:solidFill>
                  <a:srgbClr val="9E3C67"/>
                </a:solidFill>
                <a:latin typeface="Vazir"/>
                <a:cs typeface="Vazir"/>
              </a:rPr>
              <a:t>کلاس‌هایی که از مرگ برگشتند</a:t>
            </a:r>
          </a:p>
        </p:txBody>
      </p:sp>
      <p:graphicFrame>
        <p:nvGraphicFramePr>
          <p:cNvPr id="8" name="Table 7"/>
          <p:cNvGraphicFramePr>
            <a:graphicFrameLocks noGrp="1"/>
          </p:cNvGraphicFramePr>
          <p:nvPr/>
        </p:nvGraphicFramePr>
        <p:xfrm>
          <a:off x="548640" y="4069080"/>
          <a:ext cx="5486400" cy="1645920"/>
        </p:xfrm>
        <a:graphic>
          <a:graphicData uri="http://schemas.openxmlformats.org/drawingml/2006/table">
            <a:tbl>
              <a:tblPr firstRow="0" bandRow="0">
                <a:tableStyleId>{5C22544A-7EE6-4342-B048-85BDC9FD1C3A}</a:tableStyleId>
              </a:tblPr>
              <a:tblGrid>
                <a:gridCol w="2194560"/>
                <a:gridCol w="1645920"/>
                <a:gridCol w="1645920"/>
              </a:tblGrid>
              <a:tr h="329184">
                <a:tc>
                  <a:txBody>
                    <a:bodyPr wrap="square"/>
                    <a:lstStyle/>
                    <a:p>
                      <a:pPr rtl="1" algn="ctr">
                        <a:spcBef>
                          <a:spcPts val="0"/>
                        </a:spcBef>
                        <a:spcAft>
                          <a:spcPts val="0"/>
                        </a:spcAft>
                      </a:pPr>
                      <a:r>
                        <a:rPr sz="1150" b="1" i="0">
                          <a:solidFill>
                            <a:srgbClr val="D94F8C"/>
                          </a:solidFill>
                          <a:latin typeface="Vazir"/>
                          <a:cs typeface="Vazir"/>
                        </a:rPr>
                        <a:t>کلاس</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50" b="1" i="0">
                          <a:solidFill>
                            <a:srgbClr val="D94F8C"/>
                          </a:solidFill>
                          <a:latin typeface="Vazir"/>
                          <a:cs typeface="Vazir"/>
                        </a:rPr>
                        <a:t>F1 پیش از تغییر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50" b="1" i="0">
                          <a:solidFill>
                            <a:srgbClr val="D94F8C"/>
                          </a:solidFill>
                          <a:latin typeface="Vazir"/>
                          <a:cs typeface="Vazir"/>
                        </a:rPr>
                        <a:t>F1 پس از تغییر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329184">
                <a:tc>
                  <a:txBody>
                    <a:bodyPr wrap="square"/>
                    <a:lstStyle/>
                    <a:p>
                      <a:pPr rtl="1" algn="r">
                        <a:spcBef>
                          <a:spcPts val="0"/>
                        </a:spcBef>
                        <a:spcAft>
                          <a:spcPts val="0"/>
                        </a:spcAft>
                      </a:pPr>
                      <a:r>
                        <a:rPr sz="1150" b="0" i="0">
                          <a:solidFill>
                            <a:srgbClr val="4A2A38"/>
                          </a:solidFill>
                          <a:latin typeface="Vazir"/>
                          <a:cs typeface="Vazir"/>
                        </a:rPr>
                        <a:t>Arrest — بازداشت</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50" b="0" i="0">
                          <a:solidFill>
                            <a:srgbClr val="4A2A38"/>
                          </a:solidFill>
                          <a:latin typeface="Vazir"/>
                          <a:cs typeface="Vazir"/>
                        </a:rPr>
                        <a:t>0.000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50" b="0" i="0">
                          <a:solidFill>
                            <a:srgbClr val="4A2A38"/>
                          </a:solidFill>
                          <a:latin typeface="Vazir"/>
                          <a:cs typeface="Vazir"/>
                        </a:rPr>
                        <a:t>0.556</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29184">
                <a:tc>
                  <a:txBody>
                    <a:bodyPr wrap="square"/>
                    <a:lstStyle/>
                    <a:p>
                      <a:pPr rtl="1" algn="r">
                        <a:spcBef>
                          <a:spcPts val="0"/>
                        </a:spcBef>
                        <a:spcAft>
                          <a:spcPts val="0"/>
                        </a:spcAft>
                      </a:pPr>
                      <a:r>
                        <a:rPr sz="1150" b="0" i="0">
                          <a:solidFill>
                            <a:srgbClr val="4A2A38"/>
                          </a:solidFill>
                          <a:latin typeface="Vazir"/>
                          <a:cs typeface="Vazir"/>
                        </a:rPr>
                        <a:t>Abuse — سوءاستفاده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0.462</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0.714</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29184">
                <a:tc>
                  <a:txBody>
                    <a:bodyPr wrap="square"/>
                    <a:lstStyle/>
                    <a:p>
                      <a:pPr rtl="1" algn="r">
                        <a:spcBef>
                          <a:spcPts val="0"/>
                        </a:spcBef>
                        <a:spcAft>
                          <a:spcPts val="0"/>
                        </a:spcAft>
                      </a:pPr>
                      <a:r>
                        <a:rPr sz="1150" b="0" i="0">
                          <a:solidFill>
                            <a:srgbClr val="4A2A38"/>
                          </a:solidFill>
                          <a:latin typeface="Vazir"/>
                          <a:cs typeface="Vazir"/>
                        </a:rPr>
                        <a:t>Stealing — دزدی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50" b="0" i="0">
                          <a:solidFill>
                            <a:srgbClr val="4A2A38"/>
                          </a:solidFill>
                          <a:latin typeface="Vazir"/>
                          <a:cs typeface="Vazir"/>
                        </a:rPr>
                        <a:t>0.200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50" b="0" i="0">
                          <a:solidFill>
                            <a:srgbClr val="4A2A38"/>
                          </a:solidFill>
                          <a:latin typeface="Vazir"/>
                          <a:cs typeface="Vazir"/>
                        </a:rPr>
                        <a:t>0.350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29184">
                <a:tc>
                  <a:txBody>
                    <a:bodyPr wrap="square"/>
                    <a:lstStyle/>
                    <a:p>
                      <a:pPr rtl="1" algn="r">
                        <a:spcBef>
                          <a:spcPts val="0"/>
                        </a:spcBef>
                        <a:spcAft>
                          <a:spcPts val="0"/>
                        </a:spcAft>
                      </a:pPr>
                      <a:r>
                        <a:rPr sz="1150" b="0" i="0">
                          <a:solidFill>
                            <a:srgbClr val="4A2A38"/>
                          </a:solidFill>
                          <a:latin typeface="Vazir"/>
                          <a:cs typeface="Vazir"/>
                        </a:rPr>
                        <a:t>Vandalism — تخریب</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0.000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0.167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bl>
          </a:graphicData>
        </a:graphic>
      </p:graphicFrame>
      <p:sp>
        <p:nvSpPr>
          <p:cNvPr id="9" name="Rectangle 8"/>
          <p:cNvSpPr/>
          <p:nvPr/>
        </p:nvSpPr>
        <p:spPr>
          <a:xfrm>
            <a:off x="6400800" y="3611880"/>
            <a:ext cx="5212080" cy="233172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675120" y="3794760"/>
            <a:ext cx="4663440" cy="320040"/>
          </a:xfrm>
          <a:prstGeom prst="rect">
            <a:avLst/>
          </a:prstGeom>
          <a:noFill/>
        </p:spPr>
        <p:txBody>
          <a:bodyPr wrap="square" anchor="t" lIns="0" rIns="0" tIns="0" bIns="0">
            <a:spAutoFit/>
          </a:bodyPr>
          <a:lstStyle/>
          <a:p>
            <a:pPr rtl="1" algn="r">
              <a:spcBef>
                <a:spcPts val="0"/>
              </a:spcBef>
              <a:spcAft>
                <a:spcPts val="0"/>
              </a:spcAft>
            </a:pPr>
            <a:r>
              <a:rPr sz="1600" b="1" i="0">
                <a:solidFill>
                  <a:srgbClr val="D94F8C"/>
                </a:solidFill>
                <a:latin typeface="Vazir"/>
                <a:cs typeface="Vazir"/>
              </a:rPr>
              <a:t>چرا از این مسیر فاصله گرفتیم</a:t>
            </a:r>
          </a:p>
        </p:txBody>
      </p:sp>
      <p:sp>
        <p:nvSpPr>
          <p:cNvPr id="11" name="TextBox 10"/>
          <p:cNvSpPr txBox="1"/>
          <p:nvPr/>
        </p:nvSpPr>
        <p:spPr>
          <a:xfrm>
            <a:off x="6675120" y="4206240"/>
            <a:ext cx="4663440" cy="1426464"/>
          </a:xfrm>
          <a:prstGeom prst="rect">
            <a:avLst/>
          </a:prstGeom>
          <a:noFill/>
        </p:spPr>
        <p:txBody>
          <a:bodyPr wrap="square" anchor="t" lIns="0" rIns="0" tIns="0" bIns="0">
            <a:spAutoFit/>
          </a:bodyPr>
          <a:lstStyle/>
          <a:p>
            <a:pPr rtl="1" algn="r">
              <a:lnSpc>
                <a:spcPts val="1900"/>
              </a:lnSpc>
              <a:spcBef>
                <a:spcPts val="0"/>
              </a:spcBef>
              <a:spcAft>
                <a:spcPts val="700"/>
              </a:spcAft>
            </a:pPr>
            <a:r>
              <a:rPr sz="1200" b="0" i="0">
                <a:solidFill>
                  <a:srgbClr val="4A2A38"/>
                </a:solidFill>
                <a:latin typeface="Vazir"/>
                <a:cs typeface="Vazir"/>
              </a:rPr>
              <a:t>●  هر پیکربندی حدود ۱۶ ساعت طول می‌کشید</a:t>
            </a:r>
          </a:p>
          <a:p>
            <a:pPr rtl="1" algn="r">
              <a:lnSpc>
                <a:spcPts val="1900"/>
              </a:lnSpc>
              <a:spcBef>
                <a:spcPts val="0"/>
              </a:spcBef>
              <a:spcAft>
                <a:spcPts val="700"/>
              </a:spcAft>
            </a:pPr>
            <a:r>
              <a:rPr sz="1200" b="0" i="0">
                <a:solidFill>
                  <a:srgbClr val="4A2A38"/>
                </a:solidFill>
                <a:latin typeface="Vazir"/>
                <a:cs typeface="Vazir"/>
              </a:rPr>
              <a:t>●  با این هزینه، آزمون سیستماتیک فرضیه‌ها ناممکن بود</a:t>
            </a:r>
          </a:p>
          <a:p>
            <a:pPr rtl="1" algn="r">
              <a:lnSpc>
                <a:spcPts val="1900"/>
              </a:lnSpc>
              <a:spcBef>
                <a:spcPts val="0"/>
              </a:spcBef>
              <a:spcAft>
                <a:spcPts val="700"/>
              </a:spcAft>
            </a:pPr>
            <a:r>
              <a:rPr sz="1200" b="0" i="0">
                <a:solidFill>
                  <a:srgbClr val="4A2A38"/>
                </a:solidFill>
                <a:latin typeface="Vazir"/>
                <a:cs typeface="Vazir"/>
              </a:rPr>
              <a:t>●  خطای باقی‌مانده در خوشه دزدی بود و ماهیتش مکانی بود، نه زمانی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645920" y="-1371600"/>
            <a:ext cx="5120640" cy="5120640"/>
          </a:xfrm>
          <a:prstGeom prst="ellipse">
            <a:avLst/>
          </a:prstGeom>
          <a:solidFill>
            <a:srgbClr val="F9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0" y="2194560"/>
            <a:ext cx="6858000" cy="548640"/>
          </a:xfrm>
          <a:prstGeom prst="rect">
            <a:avLst/>
          </a:prstGeom>
          <a:noFill/>
        </p:spPr>
        <p:txBody>
          <a:bodyPr wrap="square" anchor="t" lIns="0" rIns="0" tIns="0" bIns="0">
            <a:spAutoFit/>
          </a:bodyPr>
          <a:lstStyle/>
          <a:p>
            <a:pPr rtl="1" algn="r">
              <a:spcBef>
                <a:spcPts val="0"/>
              </a:spcBef>
              <a:spcAft>
                <a:spcPts val="0"/>
              </a:spcAft>
            </a:pPr>
            <a:r>
              <a:rPr sz="1800" b="1" i="0">
                <a:solidFill>
                  <a:srgbClr val="D94F8C"/>
                </a:solidFill>
                <a:latin typeface="Vazir"/>
                <a:cs typeface="Vazir"/>
              </a:rPr>
              <a:t>مسیر دوم</a:t>
            </a:r>
          </a:p>
        </p:txBody>
      </p:sp>
      <p:sp>
        <p:nvSpPr>
          <p:cNvPr id="4" name="TextBox 3"/>
          <p:cNvSpPr txBox="1"/>
          <p:nvPr/>
        </p:nvSpPr>
        <p:spPr>
          <a:xfrm>
            <a:off x="4572000" y="2743200"/>
            <a:ext cx="6858000" cy="1097280"/>
          </a:xfrm>
          <a:prstGeom prst="rect">
            <a:avLst/>
          </a:prstGeom>
          <a:noFill/>
        </p:spPr>
        <p:txBody>
          <a:bodyPr wrap="square" anchor="t" lIns="0" rIns="0" tIns="0" bIns="0">
            <a:spAutoFit/>
          </a:bodyPr>
          <a:lstStyle/>
          <a:p>
            <a:pPr rtl="0" algn="r">
              <a:spcBef>
                <a:spcPts val="0"/>
              </a:spcBef>
              <a:spcAft>
                <a:spcPts val="0"/>
              </a:spcAft>
            </a:pPr>
            <a:r>
              <a:rPr sz="5800" b="1" i="0">
                <a:solidFill>
                  <a:srgbClr val="9E3C67"/>
                </a:solidFill>
                <a:latin typeface="Vazir"/>
                <a:cs typeface="Vazir"/>
              </a:rPr>
              <a:t>VideoMAE</a:t>
            </a:r>
          </a:p>
        </p:txBody>
      </p:sp>
      <p:sp>
        <p:nvSpPr>
          <p:cNvPr id="5" name="TextBox 4"/>
          <p:cNvSpPr txBox="1"/>
          <p:nvPr/>
        </p:nvSpPr>
        <p:spPr>
          <a:xfrm>
            <a:off x="4572000" y="3931920"/>
            <a:ext cx="6858000" cy="457200"/>
          </a:xfrm>
          <a:prstGeom prst="rect">
            <a:avLst/>
          </a:prstGeom>
          <a:noFill/>
        </p:spPr>
        <p:txBody>
          <a:bodyPr wrap="square" anchor="t" lIns="0" rIns="0" tIns="0" bIns="0">
            <a:spAutoFit/>
          </a:bodyPr>
          <a:lstStyle/>
          <a:p>
            <a:pPr rtl="1" algn="r">
              <a:spcBef>
                <a:spcPts val="0"/>
              </a:spcBef>
              <a:spcAft>
                <a:spcPts val="0"/>
              </a:spcAft>
            </a:pPr>
            <a:r>
              <a:rPr sz="1700" b="0" i="0">
                <a:solidFill>
                  <a:srgbClr val="C9799F"/>
                </a:solidFill>
                <a:latin typeface="Vazir"/>
                <a:cs typeface="Vazir"/>
              </a:rPr>
              <a:t>رمزگذار منجمد و ویژگی‌های ذخیره‌شده</a:t>
            </a:r>
          </a:p>
        </p:txBody>
      </p:sp>
      <p:sp>
        <p:nvSpPr>
          <p:cNvPr id="6" name="TextBox 5"/>
          <p:cNvSpPr txBox="1"/>
          <p:nvPr/>
        </p:nvSpPr>
        <p:spPr>
          <a:xfrm>
            <a:off x="4572000" y="4663440"/>
            <a:ext cx="6858000" cy="640080"/>
          </a:xfrm>
          <a:prstGeom prst="rect">
            <a:avLst/>
          </a:prstGeom>
          <a:noFill/>
        </p:spPr>
        <p:txBody>
          <a:bodyPr wrap="square" anchor="t" lIns="0" rIns="0" tIns="0" bIns="0">
            <a:spAutoFit/>
          </a:bodyPr>
          <a:lstStyle/>
          <a:p>
            <a:pPr rtl="0" algn="r">
              <a:spcBef>
                <a:spcPts val="0"/>
              </a:spcBef>
              <a:spcAft>
                <a:spcPts val="0"/>
              </a:spcAft>
            </a:pPr>
            <a:r>
              <a:rPr sz="2600" b="1" i="0">
                <a:solidFill>
                  <a:srgbClr val="D94F8C"/>
                </a:solidFill>
                <a:latin typeface="Vazir"/>
                <a:cs typeface="Vazir"/>
              </a:rPr>
              <a:t>0.2975  ←  0.4298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12</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VideoMAE چطور یاد گرفت</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مسیر دوم</a:t>
            </a:r>
          </a:p>
        </p:txBody>
      </p:sp>
      <p:sp>
        <p:nvSpPr>
          <p:cNvPr id="6" name="Rectangle 5"/>
          <p:cNvSpPr/>
          <p:nvPr/>
        </p:nvSpPr>
        <p:spPr>
          <a:xfrm>
            <a:off x="548640" y="1645920"/>
            <a:ext cx="7589520" cy="86868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223759" y="1755648"/>
            <a:ext cx="822960" cy="566928"/>
          </a:xfrm>
          <a:prstGeom prst="rect">
            <a:avLst/>
          </a:prstGeom>
          <a:noFill/>
        </p:spPr>
        <p:txBody>
          <a:bodyPr wrap="square" anchor="t" lIns="0" rIns="0" tIns="0" bIns="0">
            <a:spAutoFit/>
          </a:bodyPr>
          <a:lstStyle/>
          <a:p>
            <a:pPr rtl="0" algn="ctr">
              <a:spcBef>
                <a:spcPts val="0"/>
              </a:spcBef>
              <a:spcAft>
                <a:spcPts val="0"/>
              </a:spcAft>
            </a:pPr>
            <a:r>
              <a:rPr sz="2700" b="1" i="0">
                <a:solidFill>
                  <a:srgbClr val="9E3C67"/>
                </a:solidFill>
                <a:latin typeface="Vazir"/>
                <a:cs typeface="Vazir"/>
              </a:rPr>
              <a:t>1</a:t>
            </a:r>
          </a:p>
        </p:txBody>
      </p:sp>
      <p:sp>
        <p:nvSpPr>
          <p:cNvPr id="8" name="TextBox 7"/>
          <p:cNvSpPr txBox="1"/>
          <p:nvPr/>
        </p:nvSpPr>
        <p:spPr>
          <a:xfrm>
            <a:off x="914400" y="1737360"/>
            <a:ext cx="6309360" cy="292608"/>
          </a:xfrm>
          <a:prstGeom prst="rect">
            <a:avLst/>
          </a:prstGeom>
          <a:noFill/>
        </p:spPr>
        <p:txBody>
          <a:bodyPr wrap="square" anchor="t" lIns="0" rIns="0" tIns="0" bIns="0">
            <a:spAutoFit/>
          </a:bodyPr>
          <a:lstStyle/>
          <a:p>
            <a:pPr rtl="1" algn="r">
              <a:spcBef>
                <a:spcPts val="0"/>
              </a:spcBef>
              <a:spcAft>
                <a:spcPts val="0"/>
              </a:spcAft>
            </a:pPr>
            <a:r>
              <a:rPr sz="1500" b="1" i="0">
                <a:solidFill>
                  <a:srgbClr val="9E3C67"/>
                </a:solidFill>
                <a:latin typeface="Vazir"/>
                <a:cs typeface="Vazir"/>
              </a:rPr>
              <a:t>پوشاندن</a:t>
            </a:r>
          </a:p>
        </p:txBody>
      </p:sp>
      <p:sp>
        <p:nvSpPr>
          <p:cNvPr id="9" name="TextBox 8"/>
          <p:cNvSpPr txBox="1"/>
          <p:nvPr/>
        </p:nvSpPr>
        <p:spPr>
          <a:xfrm>
            <a:off x="914400" y="2057400"/>
            <a:ext cx="6309360" cy="384048"/>
          </a:xfrm>
          <a:prstGeom prst="rect">
            <a:avLst/>
          </a:prstGeom>
          <a:noFill/>
        </p:spPr>
        <p:txBody>
          <a:bodyPr wrap="square" anchor="t" lIns="0" rIns="0" tIns="0" bIns="0">
            <a:spAutoFit/>
          </a:bodyPr>
          <a:lstStyle/>
          <a:p>
            <a:pPr rtl="1" algn="r">
              <a:spcBef>
                <a:spcPts val="0"/>
              </a:spcBef>
              <a:spcAft>
                <a:spcPts val="0"/>
              </a:spcAft>
            </a:pPr>
            <a:r>
              <a:rPr sz="1200" b="0" i="0">
                <a:solidFill>
                  <a:srgbClr val="9B7A88"/>
                </a:solidFill>
                <a:latin typeface="Vazir"/>
                <a:cs typeface="Vazir"/>
              </a:rPr>
              <a:t>حدود ۹۰ درصد مکعب‌های فضازمانی پوشانده می‌شوند</a:t>
            </a:r>
          </a:p>
        </p:txBody>
      </p:sp>
      <p:sp>
        <p:nvSpPr>
          <p:cNvPr id="10" name="Rectangle 9"/>
          <p:cNvSpPr/>
          <p:nvPr/>
        </p:nvSpPr>
        <p:spPr>
          <a:xfrm>
            <a:off x="548640" y="2670048"/>
            <a:ext cx="7589520" cy="86868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23759" y="2779776"/>
            <a:ext cx="822960" cy="566928"/>
          </a:xfrm>
          <a:prstGeom prst="rect">
            <a:avLst/>
          </a:prstGeom>
          <a:noFill/>
        </p:spPr>
        <p:txBody>
          <a:bodyPr wrap="square" anchor="t" lIns="0" rIns="0" tIns="0" bIns="0">
            <a:spAutoFit/>
          </a:bodyPr>
          <a:lstStyle/>
          <a:p>
            <a:pPr rtl="0" algn="ctr">
              <a:spcBef>
                <a:spcPts val="0"/>
              </a:spcBef>
              <a:spcAft>
                <a:spcPts val="0"/>
              </a:spcAft>
            </a:pPr>
            <a:r>
              <a:rPr sz="2700" b="1" i="0">
                <a:solidFill>
                  <a:srgbClr val="9E3C67"/>
                </a:solidFill>
                <a:latin typeface="Vazir"/>
                <a:cs typeface="Vazir"/>
              </a:rPr>
              <a:t>2</a:t>
            </a:r>
          </a:p>
        </p:txBody>
      </p:sp>
      <p:sp>
        <p:nvSpPr>
          <p:cNvPr id="12" name="TextBox 11"/>
          <p:cNvSpPr txBox="1"/>
          <p:nvPr/>
        </p:nvSpPr>
        <p:spPr>
          <a:xfrm>
            <a:off x="914400" y="2761488"/>
            <a:ext cx="6309360" cy="292608"/>
          </a:xfrm>
          <a:prstGeom prst="rect">
            <a:avLst/>
          </a:prstGeom>
          <a:noFill/>
        </p:spPr>
        <p:txBody>
          <a:bodyPr wrap="square" anchor="t" lIns="0" rIns="0" tIns="0" bIns="0">
            <a:spAutoFit/>
          </a:bodyPr>
          <a:lstStyle/>
          <a:p>
            <a:pPr rtl="1" algn="r">
              <a:spcBef>
                <a:spcPts val="0"/>
              </a:spcBef>
              <a:spcAft>
                <a:spcPts val="0"/>
              </a:spcAft>
            </a:pPr>
            <a:r>
              <a:rPr sz="1500" b="1" i="0">
                <a:solidFill>
                  <a:srgbClr val="9E3C67"/>
                </a:solidFill>
                <a:latin typeface="Vazir"/>
                <a:cs typeface="Vazir"/>
              </a:rPr>
              <a:t>بازسازی</a:t>
            </a:r>
          </a:p>
        </p:txBody>
      </p:sp>
      <p:sp>
        <p:nvSpPr>
          <p:cNvPr id="13" name="TextBox 12"/>
          <p:cNvSpPr txBox="1"/>
          <p:nvPr/>
        </p:nvSpPr>
        <p:spPr>
          <a:xfrm>
            <a:off x="914400" y="3081528"/>
            <a:ext cx="6309360" cy="384048"/>
          </a:xfrm>
          <a:prstGeom prst="rect">
            <a:avLst/>
          </a:prstGeom>
          <a:noFill/>
        </p:spPr>
        <p:txBody>
          <a:bodyPr wrap="square" anchor="t" lIns="0" rIns="0" tIns="0" bIns="0">
            <a:spAutoFit/>
          </a:bodyPr>
          <a:lstStyle/>
          <a:p>
            <a:pPr rtl="1" algn="r">
              <a:spcBef>
                <a:spcPts val="0"/>
              </a:spcBef>
              <a:spcAft>
                <a:spcPts val="0"/>
              </a:spcAft>
            </a:pPr>
            <a:r>
              <a:rPr sz="1200" b="0" i="0">
                <a:solidFill>
                  <a:srgbClr val="9B7A88"/>
                </a:solidFill>
                <a:latin typeface="Vazir"/>
                <a:cs typeface="Vazir"/>
              </a:rPr>
              <a:t>رمزگذار فقط ۱۰ درصد باقی‌مانده را می‌بیند و رمزگشا جای خالی‌ها را حدس می‌زند</a:t>
            </a:r>
          </a:p>
        </p:txBody>
      </p:sp>
      <p:sp>
        <p:nvSpPr>
          <p:cNvPr id="14" name="Rectangle 13"/>
          <p:cNvSpPr/>
          <p:nvPr/>
        </p:nvSpPr>
        <p:spPr>
          <a:xfrm>
            <a:off x="548640" y="3694176"/>
            <a:ext cx="7589520" cy="86868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23759" y="3803904"/>
            <a:ext cx="822960" cy="566928"/>
          </a:xfrm>
          <a:prstGeom prst="rect">
            <a:avLst/>
          </a:prstGeom>
          <a:noFill/>
        </p:spPr>
        <p:txBody>
          <a:bodyPr wrap="square" anchor="t" lIns="0" rIns="0" tIns="0" bIns="0">
            <a:spAutoFit/>
          </a:bodyPr>
          <a:lstStyle/>
          <a:p>
            <a:pPr rtl="0" algn="ctr">
              <a:spcBef>
                <a:spcPts val="0"/>
              </a:spcBef>
              <a:spcAft>
                <a:spcPts val="0"/>
              </a:spcAft>
            </a:pPr>
            <a:r>
              <a:rPr sz="2700" b="1" i="0">
                <a:solidFill>
                  <a:srgbClr val="9E3C67"/>
                </a:solidFill>
                <a:latin typeface="Vazir"/>
                <a:cs typeface="Vazir"/>
              </a:rPr>
              <a:t>3</a:t>
            </a:r>
          </a:p>
        </p:txBody>
      </p:sp>
      <p:sp>
        <p:nvSpPr>
          <p:cNvPr id="16" name="TextBox 15"/>
          <p:cNvSpPr txBox="1"/>
          <p:nvPr/>
        </p:nvSpPr>
        <p:spPr>
          <a:xfrm>
            <a:off x="914400" y="3785615"/>
            <a:ext cx="6309360" cy="292608"/>
          </a:xfrm>
          <a:prstGeom prst="rect">
            <a:avLst/>
          </a:prstGeom>
          <a:noFill/>
        </p:spPr>
        <p:txBody>
          <a:bodyPr wrap="square" anchor="t" lIns="0" rIns="0" tIns="0" bIns="0">
            <a:spAutoFit/>
          </a:bodyPr>
          <a:lstStyle/>
          <a:p>
            <a:pPr rtl="1" algn="r">
              <a:spcBef>
                <a:spcPts val="0"/>
              </a:spcBef>
              <a:spcAft>
                <a:spcPts val="0"/>
              </a:spcAft>
            </a:pPr>
            <a:r>
              <a:rPr sz="1500" b="1" i="0">
                <a:solidFill>
                  <a:srgbClr val="9E3C67"/>
                </a:solidFill>
                <a:latin typeface="Vazir"/>
                <a:cs typeface="Vazir"/>
              </a:rPr>
              <a:t>بدون برچسب</a:t>
            </a:r>
          </a:p>
        </p:txBody>
      </p:sp>
      <p:sp>
        <p:nvSpPr>
          <p:cNvPr id="17" name="TextBox 16"/>
          <p:cNvSpPr txBox="1"/>
          <p:nvPr/>
        </p:nvSpPr>
        <p:spPr>
          <a:xfrm>
            <a:off x="914400" y="4105656"/>
            <a:ext cx="6309360" cy="384048"/>
          </a:xfrm>
          <a:prstGeom prst="rect">
            <a:avLst/>
          </a:prstGeom>
          <a:noFill/>
        </p:spPr>
        <p:txBody>
          <a:bodyPr wrap="square" anchor="t" lIns="0" rIns="0" tIns="0" bIns="0">
            <a:spAutoFit/>
          </a:bodyPr>
          <a:lstStyle/>
          <a:p>
            <a:pPr rtl="1" algn="r">
              <a:spcBef>
                <a:spcPts val="0"/>
              </a:spcBef>
              <a:spcAft>
                <a:spcPts val="0"/>
              </a:spcAft>
            </a:pPr>
            <a:r>
              <a:rPr sz="1200" b="0" i="0">
                <a:solidFill>
                  <a:srgbClr val="9B7A88"/>
                </a:solidFill>
                <a:latin typeface="Vazir"/>
                <a:cs typeface="Vazir"/>
              </a:rPr>
              <a:t>خود ویدیو هم سؤال است و هم جواب، پس روی حجم عظیمی از داده ممکن است</a:t>
            </a:r>
          </a:p>
        </p:txBody>
      </p:sp>
      <p:sp>
        <p:nvSpPr>
          <p:cNvPr id="18" name="Rectangle 17"/>
          <p:cNvSpPr/>
          <p:nvPr/>
        </p:nvSpPr>
        <p:spPr>
          <a:xfrm>
            <a:off x="548640" y="4718304"/>
            <a:ext cx="7589520" cy="86868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223759" y="4828032"/>
            <a:ext cx="822960" cy="566928"/>
          </a:xfrm>
          <a:prstGeom prst="rect">
            <a:avLst/>
          </a:prstGeom>
          <a:noFill/>
        </p:spPr>
        <p:txBody>
          <a:bodyPr wrap="square" anchor="t" lIns="0" rIns="0" tIns="0" bIns="0">
            <a:spAutoFit/>
          </a:bodyPr>
          <a:lstStyle/>
          <a:p>
            <a:pPr rtl="0" algn="ctr">
              <a:spcBef>
                <a:spcPts val="0"/>
              </a:spcBef>
              <a:spcAft>
                <a:spcPts val="0"/>
              </a:spcAft>
            </a:pPr>
            <a:r>
              <a:rPr sz="2700" b="1" i="0">
                <a:solidFill>
                  <a:srgbClr val="D94F8C"/>
                </a:solidFill>
                <a:latin typeface="Vazir"/>
                <a:cs typeface="Vazir"/>
              </a:rPr>
              <a:t>4</a:t>
            </a:r>
          </a:p>
        </p:txBody>
      </p:sp>
      <p:sp>
        <p:nvSpPr>
          <p:cNvPr id="20" name="TextBox 19"/>
          <p:cNvSpPr txBox="1"/>
          <p:nvPr/>
        </p:nvSpPr>
        <p:spPr>
          <a:xfrm>
            <a:off x="914400" y="4809744"/>
            <a:ext cx="6309360" cy="292608"/>
          </a:xfrm>
          <a:prstGeom prst="rect">
            <a:avLst/>
          </a:prstGeom>
          <a:noFill/>
        </p:spPr>
        <p:txBody>
          <a:bodyPr wrap="square" anchor="t" lIns="0" rIns="0" tIns="0" bIns="0">
            <a:spAutoFit/>
          </a:bodyPr>
          <a:lstStyle/>
          <a:p>
            <a:pPr rtl="1" algn="r">
              <a:spcBef>
                <a:spcPts val="0"/>
              </a:spcBef>
              <a:spcAft>
                <a:spcPts val="0"/>
              </a:spcAft>
            </a:pPr>
            <a:r>
              <a:rPr sz="1500" b="1" i="0">
                <a:solidFill>
                  <a:srgbClr val="9E3C67"/>
                </a:solidFill>
                <a:latin typeface="Vazir"/>
                <a:cs typeface="Vazir"/>
              </a:rPr>
              <a:t>دور انداختن رمزگشا</a:t>
            </a:r>
          </a:p>
        </p:txBody>
      </p:sp>
      <p:sp>
        <p:nvSpPr>
          <p:cNvPr id="21" name="TextBox 20"/>
          <p:cNvSpPr txBox="1"/>
          <p:nvPr/>
        </p:nvSpPr>
        <p:spPr>
          <a:xfrm>
            <a:off x="914400" y="5129784"/>
            <a:ext cx="6309360" cy="384048"/>
          </a:xfrm>
          <a:prstGeom prst="rect">
            <a:avLst/>
          </a:prstGeom>
          <a:noFill/>
        </p:spPr>
        <p:txBody>
          <a:bodyPr wrap="square" anchor="t" lIns="0" rIns="0" tIns="0" bIns="0">
            <a:spAutoFit/>
          </a:bodyPr>
          <a:lstStyle/>
          <a:p>
            <a:pPr rtl="1" algn="r">
              <a:spcBef>
                <a:spcPts val="0"/>
              </a:spcBef>
              <a:spcAft>
                <a:spcPts val="0"/>
              </a:spcAft>
            </a:pPr>
            <a:r>
              <a:rPr sz="1200" b="0" i="0">
                <a:solidFill>
                  <a:srgbClr val="9B7A88"/>
                </a:solidFill>
                <a:latin typeface="Vazir"/>
                <a:cs typeface="Vazir"/>
              </a:rPr>
              <a:t>پس از پیش‌آموزش تنها رمزگذار می‌ماند و روی Kinetics تنظیم می‌شود</a:t>
            </a:r>
          </a:p>
        </p:txBody>
      </p:sp>
      <p:sp>
        <p:nvSpPr>
          <p:cNvPr id="22" name="Rectangle 21"/>
          <p:cNvSpPr/>
          <p:nvPr/>
        </p:nvSpPr>
        <p:spPr>
          <a:xfrm>
            <a:off x="8412480" y="1645920"/>
            <a:ext cx="3200400" cy="402336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686800" y="1828800"/>
            <a:ext cx="2651760" cy="320040"/>
          </a:xfrm>
          <a:prstGeom prst="rect">
            <a:avLst/>
          </a:prstGeom>
          <a:noFill/>
        </p:spPr>
        <p:txBody>
          <a:bodyPr wrap="square" anchor="t" lIns="0" rIns="0" tIns="0" bIns="0">
            <a:spAutoFit/>
          </a:bodyPr>
          <a:lstStyle/>
          <a:p>
            <a:pPr rtl="1" algn="r">
              <a:spcBef>
                <a:spcPts val="0"/>
              </a:spcBef>
              <a:spcAft>
                <a:spcPts val="0"/>
              </a:spcAft>
            </a:pPr>
            <a:r>
              <a:rPr sz="1500" b="1" i="0">
                <a:solidFill>
                  <a:srgbClr val="D94F8C"/>
                </a:solidFill>
                <a:latin typeface="Vazir"/>
                <a:cs typeface="Vazir"/>
              </a:rPr>
              <a:t>تفاوت با X-CLIP</a:t>
            </a:r>
          </a:p>
        </p:txBody>
      </p:sp>
      <p:sp>
        <p:nvSpPr>
          <p:cNvPr id="24" name="TextBox 23"/>
          <p:cNvSpPr txBox="1"/>
          <p:nvPr/>
        </p:nvSpPr>
        <p:spPr>
          <a:xfrm>
            <a:off x="8686800" y="2240280"/>
            <a:ext cx="2651760" cy="3200400"/>
          </a:xfrm>
          <a:prstGeom prst="rect">
            <a:avLst/>
          </a:prstGeom>
          <a:noFill/>
        </p:spPr>
        <p:txBody>
          <a:bodyPr wrap="square" anchor="t" lIns="0" rIns="0" tIns="0" bIns="0">
            <a:spAutoFit/>
          </a:bodyPr>
          <a:lstStyle/>
          <a:p>
            <a:pPr rtl="1" algn="r">
              <a:lnSpc>
                <a:spcPts val="2000"/>
              </a:lnSpc>
              <a:spcBef>
                <a:spcPts val="0"/>
              </a:spcBef>
              <a:spcAft>
                <a:spcPts val="0"/>
              </a:spcAft>
            </a:pPr>
            <a:r>
              <a:rPr sz="1250" b="0" i="0">
                <a:solidFill>
                  <a:srgbClr val="4A2A38"/>
                </a:solidFill>
                <a:latin typeface="Vazir"/>
                <a:cs typeface="Vazir"/>
              </a:rPr>
              <a:t>X-CLIP از متن یاد گرفت.</a:t>
            </a:r>
          </a:p>
          <a:p>
            <a:pPr rtl="1" algn="r">
              <a:lnSpc>
                <a:spcPts val="2000"/>
              </a:lnSpc>
              <a:spcBef>
                <a:spcPts val="0"/>
              </a:spcBef>
              <a:spcAft>
                <a:spcPts val="0"/>
              </a:spcAft>
            </a:pPr>
            <a:r>
              <a:rPr sz="1250" b="0" i="0">
                <a:solidFill>
                  <a:srgbClr val="4A2A38"/>
                </a:solidFill>
                <a:latin typeface="Vazir"/>
                <a:cs typeface="Vazir"/>
              </a:rPr>
              <a:t/>
            </a:r>
          </a:p>
          <a:p>
            <a:pPr rtl="1" algn="r">
              <a:lnSpc>
                <a:spcPts val="2000"/>
              </a:lnSpc>
              <a:spcBef>
                <a:spcPts val="0"/>
              </a:spcBef>
              <a:spcAft>
                <a:spcPts val="0"/>
              </a:spcAft>
            </a:pPr>
            <a:r>
              <a:rPr sz="1250" b="0" i="0">
                <a:solidFill>
                  <a:srgbClr val="4A2A38"/>
                </a:solidFill>
                <a:latin typeface="Vazir"/>
                <a:cs typeface="Vazir"/>
              </a:rPr>
              <a:t>VideoMAE از خود ویدیو.</a:t>
            </a:r>
          </a:p>
          <a:p>
            <a:pPr rtl="1" algn="r">
              <a:lnSpc>
                <a:spcPts val="2000"/>
              </a:lnSpc>
              <a:spcBef>
                <a:spcPts val="0"/>
              </a:spcBef>
              <a:spcAft>
                <a:spcPts val="0"/>
              </a:spcAft>
            </a:pPr>
            <a:r>
              <a:rPr sz="1250" b="0" i="0">
                <a:solidFill>
                  <a:srgbClr val="4A2A38"/>
                </a:solidFill>
                <a:latin typeface="Vazir"/>
                <a:cs typeface="Vazir"/>
              </a:rPr>
              <a:t/>
            </a:r>
          </a:p>
          <a:p>
            <a:pPr rtl="1" algn="r">
              <a:lnSpc>
                <a:spcPts val="2000"/>
              </a:lnSpc>
              <a:spcBef>
                <a:spcPts val="0"/>
              </a:spcBef>
              <a:spcAft>
                <a:spcPts val="0"/>
              </a:spcAft>
            </a:pPr>
            <a:r>
              <a:rPr sz="1250" b="0" i="0">
                <a:solidFill>
                  <a:srgbClr val="4A2A38"/>
                </a:solidFill>
                <a:latin typeface="Vazir"/>
                <a:cs typeface="Vazir"/>
              </a:rPr>
              <a:t>پس VideoMAE اصلاً کلمه نمی‌شناسد و آن سقف ۰٫۴۴ اینجا اصلاً وجود ندارد.</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13</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مهم‌ترین تصمیم پروژه: یخ زدن رمزگذار</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مسیر دوم</a:t>
            </a:r>
          </a:p>
        </p:txBody>
      </p:sp>
      <p:sp>
        <p:nvSpPr>
          <p:cNvPr id="6" name="TextBox 5"/>
          <p:cNvSpPr txBox="1"/>
          <p:nvPr/>
        </p:nvSpPr>
        <p:spPr>
          <a:xfrm>
            <a:off x="548640" y="1627632"/>
            <a:ext cx="11064240" cy="365760"/>
          </a:xfrm>
          <a:prstGeom prst="rect">
            <a:avLst/>
          </a:prstGeom>
          <a:noFill/>
        </p:spPr>
        <p:txBody>
          <a:bodyPr wrap="square" anchor="t" lIns="0" rIns="0" tIns="0" bIns="0">
            <a:spAutoFit/>
          </a:bodyPr>
          <a:lstStyle/>
          <a:p>
            <a:pPr rtl="1" algn="r">
              <a:spcBef>
                <a:spcPts val="0"/>
              </a:spcBef>
              <a:spcAft>
                <a:spcPts val="0"/>
              </a:spcAft>
            </a:pPr>
            <a:r>
              <a:rPr sz="1400" b="0" i="0">
                <a:solidFill>
                  <a:srgbClr val="4A2A38"/>
                </a:solidFill>
                <a:latin typeface="Vazir"/>
                <a:cs typeface="Vazir"/>
              </a:rPr>
              <a:t>چون رمزگذار آموزش نمی‌بیند، خروجی‌اش ثابت است. پس محاسبه مجددش در هر دوره کار تکراری محض است.</a:t>
            </a:r>
          </a:p>
        </p:txBody>
      </p:sp>
      <p:sp>
        <p:nvSpPr>
          <p:cNvPr id="7" name="TextBox 6"/>
          <p:cNvSpPr txBox="1"/>
          <p:nvPr/>
        </p:nvSpPr>
        <p:spPr>
          <a:xfrm>
            <a:off x="8046720" y="2148840"/>
            <a:ext cx="35661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D4596B"/>
                </a:solidFill>
                <a:latin typeface="Vazir"/>
                <a:cs typeface="Vazir"/>
              </a:rPr>
              <a:t>16</a:t>
            </a:r>
          </a:p>
        </p:txBody>
      </p:sp>
      <p:sp>
        <p:nvSpPr>
          <p:cNvPr id="8" name="TextBox 7"/>
          <p:cNvSpPr txBox="1"/>
          <p:nvPr/>
        </p:nvSpPr>
        <p:spPr>
          <a:xfrm>
            <a:off x="8046720" y="2862072"/>
            <a:ext cx="35661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ساعت برای هر آزمایش — روش قدیم</a:t>
            </a:r>
          </a:p>
        </p:txBody>
      </p:sp>
      <p:sp>
        <p:nvSpPr>
          <p:cNvPr id="9" name="Left Arrow 8"/>
          <p:cNvSpPr/>
          <p:nvPr/>
        </p:nvSpPr>
        <p:spPr>
          <a:xfrm>
            <a:off x="6675120" y="2377440"/>
            <a:ext cx="1188720" cy="502920"/>
          </a:xfrm>
          <a:prstGeom prst="leftArrow">
            <a:avLst/>
          </a:prstGeom>
          <a:solidFill>
            <a:srgbClr val="C979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926080" y="2148840"/>
            <a:ext cx="35661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4E9E90"/>
                </a:solidFill>
                <a:latin typeface="Vazir"/>
                <a:cs typeface="Vazir"/>
              </a:rPr>
              <a:t>80</a:t>
            </a:r>
          </a:p>
        </p:txBody>
      </p:sp>
      <p:sp>
        <p:nvSpPr>
          <p:cNvPr id="11" name="TextBox 10"/>
          <p:cNvSpPr txBox="1"/>
          <p:nvPr/>
        </p:nvSpPr>
        <p:spPr>
          <a:xfrm>
            <a:off x="2926080" y="2862072"/>
            <a:ext cx="35661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ثانیه برای هر آزمایش — روش جدید</a:t>
            </a:r>
          </a:p>
        </p:txBody>
      </p:sp>
      <p:sp>
        <p:nvSpPr>
          <p:cNvPr id="12" name="TextBox 11"/>
          <p:cNvSpPr txBox="1"/>
          <p:nvPr/>
        </p:nvSpPr>
        <p:spPr>
          <a:xfrm>
            <a:off x="548640" y="2148840"/>
            <a:ext cx="210312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9E3C67"/>
                </a:solidFill>
                <a:latin typeface="Vazir"/>
                <a:cs typeface="Vazir"/>
              </a:rPr>
              <a:t>200</a:t>
            </a:r>
          </a:p>
        </p:txBody>
      </p:sp>
      <p:sp>
        <p:nvSpPr>
          <p:cNvPr id="13" name="TextBox 12"/>
          <p:cNvSpPr txBox="1"/>
          <p:nvPr/>
        </p:nvSpPr>
        <p:spPr>
          <a:xfrm>
            <a:off x="548640" y="2862072"/>
            <a:ext cx="210312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ارزیابی انجام‌شده</a:t>
            </a:r>
          </a:p>
        </p:txBody>
      </p:sp>
      <p:graphicFrame>
        <p:nvGraphicFramePr>
          <p:cNvPr id="14" name="Table 13"/>
          <p:cNvGraphicFramePr>
            <a:graphicFrameLocks noGrp="1"/>
          </p:cNvGraphicFramePr>
          <p:nvPr/>
        </p:nvGraphicFramePr>
        <p:xfrm>
          <a:off x="548640" y="3703320"/>
          <a:ext cx="11064240" cy="1920240"/>
        </p:xfrm>
        <a:graphic>
          <a:graphicData uri="http://schemas.openxmlformats.org/drawingml/2006/table">
            <a:tbl>
              <a:tblPr firstRow="0" bandRow="0">
                <a:tableStyleId>{5C22544A-7EE6-4342-B048-85BDC9FD1C3A}</a:tableStyleId>
              </a:tblPr>
              <a:tblGrid>
                <a:gridCol w="3383280"/>
                <a:gridCol w="3840480"/>
                <a:gridCol w="3840480"/>
              </a:tblGrid>
              <a:tr h="320040">
                <a:tc>
                  <a:txBody>
                    <a:bodyPr wrap="square"/>
                    <a:lstStyle/>
                    <a:p>
                      <a:pPr rtl="1" algn="ctr">
                        <a:spcBef>
                          <a:spcPts val="0"/>
                        </a:spcBef>
                        <a:spcAft>
                          <a:spcPts val="0"/>
                        </a:spcAft>
                      </a:pPr>
                      <a:r>
                        <a:rPr sz="1250" b="1" i="0">
                          <a:solidFill>
                            <a:srgbClr val="D94F8C"/>
                          </a:solidFill>
                          <a:latin typeface="Vazir"/>
                          <a:cs typeface="Vazir"/>
                        </a:rPr>
                        <a:t>مورد</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50" b="1" i="0">
                          <a:solidFill>
                            <a:srgbClr val="D94F8C"/>
                          </a:solidFill>
                          <a:latin typeface="Vazir"/>
                          <a:cs typeface="Vazir"/>
                        </a:rPr>
                        <a:t>روش قدیم</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50" b="1" i="0">
                          <a:solidFill>
                            <a:srgbClr val="D94F8C"/>
                          </a:solidFill>
                          <a:latin typeface="Vazir"/>
                          <a:cs typeface="Vazir"/>
                        </a:rPr>
                        <a:t>روش جدید</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320040">
                <a:tc>
                  <a:txBody>
                    <a:bodyPr wrap="square"/>
                    <a:lstStyle/>
                    <a:p>
                      <a:pPr rtl="1" algn="r">
                        <a:spcBef>
                          <a:spcPts val="0"/>
                        </a:spcBef>
                        <a:spcAft>
                          <a:spcPts val="0"/>
                        </a:spcAft>
                      </a:pPr>
                      <a:r>
                        <a:rPr sz="1250" b="0" i="0">
                          <a:solidFill>
                            <a:srgbClr val="4A2A38"/>
                          </a:solidFill>
                          <a:latin typeface="Vazir"/>
                          <a:cs typeface="Vazir"/>
                        </a:rPr>
                        <a:t>رمزگشایی ویدیو</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50" b="0" i="0">
                          <a:solidFill>
                            <a:srgbClr val="4A2A38"/>
                          </a:solidFill>
                          <a:latin typeface="Vazir"/>
                          <a:cs typeface="Vazir"/>
                        </a:rPr>
                        <a:t>هر دوره تکرار می‌شد</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50" b="0" i="0">
                          <a:solidFill>
                            <a:srgbClr val="4A2A38"/>
                          </a:solidFill>
                          <a:latin typeface="Vazir"/>
                          <a:cs typeface="Vazir"/>
                        </a:rPr>
                        <a:t>یک بار، هرگز دوباره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20040">
                <a:tc>
                  <a:txBody>
                    <a:bodyPr wrap="square"/>
                    <a:lstStyle/>
                    <a:p>
                      <a:pPr rtl="1" algn="r">
                        <a:spcBef>
                          <a:spcPts val="0"/>
                        </a:spcBef>
                        <a:spcAft>
                          <a:spcPts val="0"/>
                        </a:spcAft>
                      </a:pPr>
                      <a:r>
                        <a:rPr sz="1250" b="0" i="0">
                          <a:solidFill>
                            <a:srgbClr val="4A2A38"/>
                          </a:solidFill>
                          <a:latin typeface="Vazir"/>
                          <a:cs typeface="Vazir"/>
                        </a:rPr>
                        <a:t>اجرای رمزگذار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50" b="0" i="0">
                          <a:solidFill>
                            <a:srgbClr val="4A2A38"/>
                          </a:solidFill>
                          <a:latin typeface="Vazir"/>
                          <a:cs typeface="Vazir"/>
                        </a:rPr>
                        <a:t>هر دوره تکرار می‌شد</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50" b="0" i="0">
                          <a:solidFill>
                            <a:srgbClr val="4A2A38"/>
                          </a:solidFill>
                          <a:latin typeface="Vazir"/>
                          <a:cs typeface="Vazir"/>
                        </a:rPr>
                        <a:t>یک بار، هرگز دوباره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20040">
                <a:tc>
                  <a:txBody>
                    <a:bodyPr wrap="square"/>
                    <a:lstStyle/>
                    <a:p>
                      <a:pPr rtl="1" algn="r">
                        <a:spcBef>
                          <a:spcPts val="0"/>
                        </a:spcBef>
                        <a:spcAft>
                          <a:spcPts val="0"/>
                        </a:spcAft>
                      </a:pPr>
                      <a:r>
                        <a:rPr sz="1250" b="0" i="0">
                          <a:solidFill>
                            <a:srgbClr val="4A2A38"/>
                          </a:solidFill>
                          <a:latin typeface="Vazir"/>
                          <a:cs typeface="Vazir"/>
                        </a:rPr>
                        <a:t>حجم داده ورودی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50" b="0" i="0">
                          <a:solidFill>
                            <a:srgbClr val="4A2A38"/>
                          </a:solidFill>
                          <a:latin typeface="Vazir"/>
                          <a:cs typeface="Vazir"/>
                        </a:rPr>
                        <a:t>۷۰ گیگابایت ویدیو</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50" b="0" i="0">
                          <a:solidFill>
                            <a:srgbClr val="4A2A38"/>
                          </a:solidFill>
                          <a:latin typeface="Vazir"/>
                          <a:cs typeface="Vazir"/>
                        </a:rPr>
                        <a:t>۹۳ مگابایت عدد</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20040">
                <a:tc>
                  <a:txBody>
                    <a:bodyPr wrap="square"/>
                    <a:lstStyle/>
                    <a:p>
                      <a:pPr rtl="1" algn="r">
                        <a:spcBef>
                          <a:spcPts val="0"/>
                        </a:spcBef>
                        <a:spcAft>
                          <a:spcPts val="0"/>
                        </a:spcAft>
                      </a:pPr>
                      <a:r>
                        <a:rPr sz="1250" b="0" i="0">
                          <a:solidFill>
                            <a:srgbClr val="4A2A38"/>
                          </a:solidFill>
                          <a:latin typeface="Vazir"/>
                          <a:cs typeface="Vazir"/>
                        </a:rPr>
                        <a:t>پارامترهای آموزش‌پذیر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50" b="0" i="0">
                          <a:solidFill>
                            <a:srgbClr val="4A2A38"/>
                          </a:solidFill>
                          <a:latin typeface="Vazir"/>
                          <a:cs typeface="Vazir"/>
                        </a:rPr>
                        <a:t>حدود ۳۰۰ میلیون</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50" b="0" i="0">
                          <a:solidFill>
                            <a:srgbClr val="4A2A38"/>
                          </a:solidFill>
                          <a:latin typeface="Vazir"/>
                          <a:cs typeface="Vazir"/>
                        </a:rPr>
                        <a:t>۴٫۸ میلیون</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20040">
                <a:tc>
                  <a:txBody>
                    <a:bodyPr wrap="square"/>
                    <a:lstStyle/>
                    <a:p>
                      <a:pPr rtl="1" algn="r">
                        <a:spcBef>
                          <a:spcPts val="0"/>
                        </a:spcBef>
                        <a:spcAft>
                          <a:spcPts val="0"/>
                        </a:spcAft>
                      </a:pPr>
                      <a:r>
                        <a:rPr sz="1250" b="1" i="0">
                          <a:solidFill>
                            <a:srgbClr val="C53D7C"/>
                          </a:solidFill>
                          <a:latin typeface="Vazir"/>
                          <a:cs typeface="Vazir"/>
                        </a:rPr>
                        <a:t>زمان ۲۰۰ آزمایش</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50" b="1" i="0">
                          <a:solidFill>
                            <a:srgbClr val="C53D7C"/>
                          </a:solidFill>
                          <a:latin typeface="Vazir"/>
                          <a:cs typeface="Vazir"/>
                        </a:rPr>
                        <a:t>حدود ۱۳۳ روز</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50" b="1" i="0">
                          <a:solidFill>
                            <a:srgbClr val="C53D7C"/>
                          </a:solidFill>
                          <a:latin typeface="Vazir"/>
                          <a:cs typeface="Vazir"/>
                        </a:rPr>
                        <a:t>حدود ۴ ساعت</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bl>
          </a:graphicData>
        </a:graphic>
      </p:graphicFrame>
      <p:sp>
        <p:nvSpPr>
          <p:cNvPr id="15" name="TextBox 14"/>
          <p:cNvSpPr txBox="1"/>
          <p:nvPr/>
        </p:nvSpPr>
        <p:spPr>
          <a:xfrm>
            <a:off x="548640" y="5897880"/>
            <a:ext cx="11064240" cy="365760"/>
          </a:xfrm>
          <a:prstGeom prst="rect">
            <a:avLst/>
          </a:prstGeom>
          <a:noFill/>
        </p:spPr>
        <p:txBody>
          <a:bodyPr wrap="square" anchor="t" lIns="0" rIns="0" tIns="0" bIns="0">
            <a:spAutoFit/>
          </a:bodyPr>
          <a:lstStyle/>
          <a:p>
            <a:pPr rtl="1" algn="r">
              <a:spcBef>
                <a:spcPts val="0"/>
              </a:spcBef>
              <a:spcAft>
                <a:spcPts val="0"/>
              </a:spcAft>
            </a:pPr>
            <a:r>
              <a:rPr sz="1300" b="1" i="0">
                <a:solidFill>
                  <a:srgbClr val="D94F8C"/>
                </a:solidFill>
                <a:latin typeface="Vazir"/>
                <a:cs typeface="Vazir"/>
              </a:rPr>
              <a:t>هزینه‌ای که پرداختیم: رمزگذار هرگز به دامنه ویدیوی نظارتی تطبیق نمی‌یابد. این را صریح گزارش کرده‌ایم.</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14</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خط لوله نهایی</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مسیر دوم</a:t>
            </a:r>
          </a:p>
        </p:txBody>
      </p:sp>
      <p:sp>
        <p:nvSpPr>
          <p:cNvPr id="6" name="Rectangle 5"/>
          <p:cNvSpPr/>
          <p:nvPr/>
        </p:nvSpPr>
        <p:spPr>
          <a:xfrm>
            <a:off x="9098280" y="1737360"/>
            <a:ext cx="2560320" cy="137160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0" y="1920240"/>
            <a:ext cx="2286000" cy="320040"/>
          </a:xfrm>
          <a:prstGeom prst="rect">
            <a:avLst/>
          </a:prstGeom>
          <a:noFill/>
        </p:spPr>
        <p:txBody>
          <a:bodyPr wrap="square" anchor="t" lIns="0" rIns="0" tIns="0" bIns="0">
            <a:spAutoFit/>
          </a:bodyPr>
          <a:lstStyle/>
          <a:p>
            <a:pPr rtl="1" algn="ctr">
              <a:spcBef>
                <a:spcPts val="0"/>
              </a:spcBef>
              <a:spcAft>
                <a:spcPts val="0"/>
              </a:spcAft>
            </a:pPr>
            <a:r>
              <a:rPr sz="1400" b="1" i="0">
                <a:solidFill>
                  <a:srgbClr val="9E3C67"/>
                </a:solidFill>
                <a:latin typeface="Vazir"/>
                <a:cs typeface="Vazir"/>
              </a:rPr>
              <a:t>ویدیوی خام</a:t>
            </a:r>
          </a:p>
        </p:txBody>
      </p:sp>
      <p:sp>
        <p:nvSpPr>
          <p:cNvPr id="8" name="TextBox 7"/>
          <p:cNvSpPr txBox="1"/>
          <p:nvPr/>
        </p:nvSpPr>
        <p:spPr>
          <a:xfrm>
            <a:off x="9235440" y="2286000"/>
            <a:ext cx="2286000" cy="640080"/>
          </a:xfrm>
          <a:prstGeom prst="rect">
            <a:avLst/>
          </a:prstGeom>
          <a:noFill/>
        </p:spPr>
        <p:txBody>
          <a:bodyPr wrap="square" anchor="t" lIns="0" rIns="0" tIns="0" bIns="0">
            <a:spAutoFit/>
          </a:bodyPr>
          <a:lstStyle/>
          <a:p>
            <a:pPr rtl="1" algn="ctr">
              <a:lnSpc>
                <a:spcPts val="1700"/>
              </a:lnSpc>
              <a:spcBef>
                <a:spcPts val="0"/>
              </a:spcBef>
              <a:spcAft>
                <a:spcPts val="0"/>
              </a:spcAft>
            </a:pPr>
            <a:r>
              <a:rPr sz="1150" b="0" i="0">
                <a:solidFill>
                  <a:srgbClr val="9B7A88"/>
                </a:solidFill>
                <a:latin typeface="Vazir"/>
                <a:cs typeface="Vazir"/>
              </a:rPr>
              <a:t>۹۰۰۰ فریم</a:t>
            </a:r>
          </a:p>
          <a:p>
            <a:pPr rtl="1" algn="ctr">
              <a:lnSpc>
                <a:spcPts val="1700"/>
              </a:lnSpc>
              <a:spcBef>
                <a:spcPts val="0"/>
              </a:spcBef>
              <a:spcAft>
                <a:spcPts val="0"/>
              </a:spcAft>
            </a:pPr>
            <a:r>
              <a:rPr sz="1150" b="0" i="0">
                <a:solidFill>
                  <a:srgbClr val="9B7A88"/>
                </a:solidFill>
                <a:latin typeface="Vazir"/>
                <a:cs typeface="Vazir"/>
              </a:rPr>
              <a:t>۴۰ مگابایت</a:t>
            </a:r>
          </a:p>
        </p:txBody>
      </p:sp>
      <p:sp>
        <p:nvSpPr>
          <p:cNvPr id="9" name="Left Arrow 8"/>
          <p:cNvSpPr/>
          <p:nvPr/>
        </p:nvSpPr>
        <p:spPr>
          <a:xfrm>
            <a:off x="8842248" y="2286000"/>
            <a:ext cx="228600" cy="274320"/>
          </a:xfrm>
          <a:prstGeom prst="leftArrow">
            <a:avLst/>
          </a:prstGeom>
          <a:solidFill>
            <a:srgbClr val="C979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217919" y="1737360"/>
            <a:ext cx="2560320" cy="137160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55079" y="1920240"/>
            <a:ext cx="2286000" cy="320040"/>
          </a:xfrm>
          <a:prstGeom prst="rect">
            <a:avLst/>
          </a:prstGeom>
          <a:noFill/>
        </p:spPr>
        <p:txBody>
          <a:bodyPr wrap="square" anchor="t" lIns="0" rIns="0" tIns="0" bIns="0">
            <a:spAutoFit/>
          </a:bodyPr>
          <a:lstStyle/>
          <a:p>
            <a:pPr rtl="1" algn="ctr">
              <a:spcBef>
                <a:spcPts val="0"/>
              </a:spcBef>
              <a:spcAft>
                <a:spcPts val="0"/>
              </a:spcAft>
            </a:pPr>
            <a:r>
              <a:rPr sz="1400" b="1" i="0">
                <a:solidFill>
                  <a:srgbClr val="9E3C67"/>
                </a:solidFill>
                <a:latin typeface="Vazir"/>
                <a:cs typeface="Vazir"/>
              </a:rPr>
              <a:t>۱۶ قطعه</a:t>
            </a:r>
          </a:p>
        </p:txBody>
      </p:sp>
      <p:sp>
        <p:nvSpPr>
          <p:cNvPr id="12" name="TextBox 11"/>
          <p:cNvSpPr txBox="1"/>
          <p:nvPr/>
        </p:nvSpPr>
        <p:spPr>
          <a:xfrm>
            <a:off x="6355079" y="2286000"/>
            <a:ext cx="2286000" cy="640080"/>
          </a:xfrm>
          <a:prstGeom prst="rect">
            <a:avLst/>
          </a:prstGeom>
          <a:noFill/>
        </p:spPr>
        <p:txBody>
          <a:bodyPr wrap="square" anchor="t" lIns="0" rIns="0" tIns="0" bIns="0">
            <a:spAutoFit/>
          </a:bodyPr>
          <a:lstStyle/>
          <a:p>
            <a:pPr rtl="1" algn="ctr">
              <a:lnSpc>
                <a:spcPts val="1700"/>
              </a:lnSpc>
              <a:spcBef>
                <a:spcPts val="0"/>
              </a:spcBef>
              <a:spcAft>
                <a:spcPts val="0"/>
              </a:spcAft>
            </a:pPr>
            <a:r>
              <a:rPr sz="1150" b="0" i="0">
                <a:solidFill>
                  <a:srgbClr val="9B7A88"/>
                </a:solidFill>
                <a:latin typeface="Vazir"/>
                <a:cs typeface="Vazir"/>
              </a:rPr>
              <a:t>هر قطعه ۱۶ فریم</a:t>
            </a:r>
          </a:p>
          <a:p>
            <a:pPr rtl="1" algn="ctr">
              <a:lnSpc>
                <a:spcPts val="1700"/>
              </a:lnSpc>
              <a:spcBef>
                <a:spcPts val="0"/>
              </a:spcBef>
              <a:spcAft>
                <a:spcPts val="0"/>
              </a:spcAft>
            </a:pPr>
            <a:r>
              <a:rPr sz="1150" b="0" i="0">
                <a:solidFill>
                  <a:srgbClr val="9B7A88"/>
                </a:solidFill>
                <a:latin typeface="Vazir"/>
                <a:cs typeface="Vazir"/>
              </a:rPr>
              <a:t>۲۲۴ در ۲۲۴</a:t>
            </a:r>
          </a:p>
        </p:txBody>
      </p:sp>
      <p:sp>
        <p:nvSpPr>
          <p:cNvPr id="13" name="Left Arrow 12"/>
          <p:cNvSpPr/>
          <p:nvPr/>
        </p:nvSpPr>
        <p:spPr>
          <a:xfrm>
            <a:off x="5961887" y="2286000"/>
            <a:ext cx="228600" cy="274320"/>
          </a:xfrm>
          <a:prstGeom prst="leftArrow">
            <a:avLst/>
          </a:prstGeom>
          <a:solidFill>
            <a:srgbClr val="C979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337559" y="1737360"/>
            <a:ext cx="2560320" cy="137160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474719" y="1920240"/>
            <a:ext cx="2286000" cy="320040"/>
          </a:xfrm>
          <a:prstGeom prst="rect">
            <a:avLst/>
          </a:prstGeom>
          <a:noFill/>
        </p:spPr>
        <p:txBody>
          <a:bodyPr wrap="square" anchor="t" lIns="0" rIns="0" tIns="0" bIns="0">
            <a:spAutoFit/>
          </a:bodyPr>
          <a:lstStyle/>
          <a:p>
            <a:pPr rtl="1" algn="ctr">
              <a:spcBef>
                <a:spcPts val="0"/>
              </a:spcBef>
              <a:spcAft>
                <a:spcPts val="0"/>
              </a:spcAft>
            </a:pPr>
            <a:r>
              <a:rPr sz="1400" b="1" i="0">
                <a:solidFill>
                  <a:srgbClr val="D94F8C"/>
                </a:solidFill>
                <a:latin typeface="Vazir"/>
                <a:cs typeface="Vazir"/>
              </a:rPr>
              <a:t>رمزگذار ViT-L</a:t>
            </a:r>
          </a:p>
        </p:txBody>
      </p:sp>
      <p:sp>
        <p:nvSpPr>
          <p:cNvPr id="16" name="TextBox 15"/>
          <p:cNvSpPr txBox="1"/>
          <p:nvPr/>
        </p:nvSpPr>
        <p:spPr>
          <a:xfrm>
            <a:off x="3474719" y="2286000"/>
            <a:ext cx="2286000" cy="640080"/>
          </a:xfrm>
          <a:prstGeom prst="rect">
            <a:avLst/>
          </a:prstGeom>
          <a:noFill/>
        </p:spPr>
        <p:txBody>
          <a:bodyPr wrap="square" anchor="t" lIns="0" rIns="0" tIns="0" bIns="0">
            <a:spAutoFit/>
          </a:bodyPr>
          <a:lstStyle/>
          <a:p>
            <a:pPr rtl="1" algn="ctr">
              <a:lnSpc>
                <a:spcPts val="1700"/>
              </a:lnSpc>
              <a:spcBef>
                <a:spcPts val="0"/>
              </a:spcBef>
              <a:spcAft>
                <a:spcPts val="0"/>
              </a:spcAft>
            </a:pPr>
            <a:r>
              <a:rPr sz="1150" b="0" i="0">
                <a:solidFill>
                  <a:srgbClr val="9B7A88"/>
                </a:solidFill>
                <a:latin typeface="Vazir"/>
                <a:cs typeface="Vazir"/>
              </a:rPr>
              <a:t>منجمد</a:t>
            </a:r>
          </a:p>
          <a:p>
            <a:pPr rtl="1" algn="ctr">
              <a:lnSpc>
                <a:spcPts val="1700"/>
              </a:lnSpc>
              <a:spcBef>
                <a:spcPts val="0"/>
              </a:spcBef>
              <a:spcAft>
                <a:spcPts val="0"/>
              </a:spcAft>
            </a:pPr>
            <a:r>
              <a:rPr sz="1150" b="0" i="0">
                <a:solidFill>
                  <a:srgbClr val="9B7A88"/>
                </a:solidFill>
                <a:latin typeface="Vazir"/>
                <a:cs typeface="Vazir"/>
              </a:rPr>
              <a:t>یک بار اجرا</a:t>
            </a:r>
          </a:p>
        </p:txBody>
      </p:sp>
      <p:sp>
        <p:nvSpPr>
          <p:cNvPr id="17" name="Left Arrow 16"/>
          <p:cNvSpPr/>
          <p:nvPr/>
        </p:nvSpPr>
        <p:spPr>
          <a:xfrm>
            <a:off x="3081527" y="2286000"/>
            <a:ext cx="228600" cy="274320"/>
          </a:xfrm>
          <a:prstGeom prst="leftArrow">
            <a:avLst/>
          </a:prstGeom>
          <a:solidFill>
            <a:srgbClr val="C979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57200" y="1737360"/>
            <a:ext cx="2560320" cy="137160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94360" y="1920240"/>
            <a:ext cx="2286000" cy="320040"/>
          </a:xfrm>
          <a:prstGeom prst="rect">
            <a:avLst/>
          </a:prstGeom>
          <a:noFill/>
        </p:spPr>
        <p:txBody>
          <a:bodyPr wrap="square" anchor="t" lIns="0" rIns="0" tIns="0" bIns="0">
            <a:spAutoFit/>
          </a:bodyPr>
          <a:lstStyle/>
          <a:p>
            <a:pPr rtl="1" algn="ctr">
              <a:spcBef>
                <a:spcPts val="0"/>
              </a:spcBef>
              <a:spcAft>
                <a:spcPts val="0"/>
              </a:spcAft>
            </a:pPr>
            <a:r>
              <a:rPr sz="1400" b="1" i="0">
                <a:solidFill>
                  <a:srgbClr val="4E9E90"/>
                </a:solidFill>
                <a:latin typeface="Vazir"/>
                <a:cs typeface="Vazir"/>
              </a:rPr>
              <a:t>ویژگی ذخیره‌شده</a:t>
            </a:r>
          </a:p>
        </p:txBody>
      </p:sp>
      <p:sp>
        <p:nvSpPr>
          <p:cNvPr id="20" name="TextBox 19"/>
          <p:cNvSpPr txBox="1"/>
          <p:nvPr/>
        </p:nvSpPr>
        <p:spPr>
          <a:xfrm>
            <a:off x="594360" y="2286000"/>
            <a:ext cx="2286000" cy="640080"/>
          </a:xfrm>
          <a:prstGeom prst="rect">
            <a:avLst/>
          </a:prstGeom>
          <a:noFill/>
        </p:spPr>
        <p:txBody>
          <a:bodyPr wrap="square" anchor="t" lIns="0" rIns="0" tIns="0" bIns="0">
            <a:spAutoFit/>
          </a:bodyPr>
          <a:lstStyle/>
          <a:p>
            <a:pPr rtl="1" algn="ctr">
              <a:lnSpc>
                <a:spcPts val="1700"/>
              </a:lnSpc>
              <a:spcBef>
                <a:spcPts val="0"/>
              </a:spcBef>
              <a:spcAft>
                <a:spcPts val="0"/>
              </a:spcAft>
            </a:pPr>
            <a:r>
              <a:rPr sz="1150" b="0" i="0">
                <a:solidFill>
                  <a:srgbClr val="9B7A88"/>
                </a:solidFill>
                <a:latin typeface="Vazir"/>
                <a:cs typeface="Vazir"/>
              </a:rPr>
              <a:t>۱۶ در ۱۰۲۴</a:t>
            </a:r>
          </a:p>
          <a:p>
            <a:pPr rtl="1" algn="ctr">
              <a:lnSpc>
                <a:spcPts val="1700"/>
              </a:lnSpc>
              <a:spcBef>
                <a:spcPts val="0"/>
              </a:spcBef>
              <a:spcAft>
                <a:spcPts val="0"/>
              </a:spcAft>
            </a:pPr>
            <a:r>
              <a:rPr sz="1150" b="0" i="0">
                <a:solidFill>
                  <a:srgbClr val="9B7A88"/>
                </a:solidFill>
                <a:latin typeface="Vazir"/>
                <a:cs typeface="Vazir"/>
              </a:rPr>
              <a:t>۶۴ کیلوبایت</a:t>
            </a:r>
          </a:p>
        </p:txBody>
      </p:sp>
      <p:sp>
        <p:nvSpPr>
          <p:cNvPr id="21" name="TextBox 20"/>
          <p:cNvSpPr txBox="1"/>
          <p:nvPr/>
        </p:nvSpPr>
        <p:spPr>
          <a:xfrm>
            <a:off x="548640" y="3200400"/>
            <a:ext cx="11064240" cy="320040"/>
          </a:xfrm>
          <a:prstGeom prst="rect">
            <a:avLst/>
          </a:prstGeom>
          <a:noFill/>
        </p:spPr>
        <p:txBody>
          <a:bodyPr wrap="square" anchor="t" lIns="0" rIns="0" tIns="0" bIns="0">
            <a:spAutoFit/>
          </a:bodyPr>
          <a:lstStyle/>
          <a:p>
            <a:pPr rtl="1" algn="ctr">
              <a:spcBef>
                <a:spcPts val="0"/>
              </a:spcBef>
              <a:spcAft>
                <a:spcPts val="0"/>
              </a:spcAft>
            </a:pPr>
            <a:r>
              <a:rPr sz="1250" b="0" i="0">
                <a:solidFill>
                  <a:srgbClr val="9B7A88"/>
                </a:solidFill>
                <a:latin typeface="Vazir"/>
                <a:cs typeface="Vazir"/>
              </a:rPr>
              <a:t>مرحله اول — یک بار برای ۱۸۹۵ ویدیو، ۱۵۰ دقیقه</a:t>
            </a:r>
          </a:p>
        </p:txBody>
      </p:sp>
      <p:sp>
        <p:nvSpPr>
          <p:cNvPr id="22" name="Rectangle 21"/>
          <p:cNvSpPr/>
          <p:nvPr/>
        </p:nvSpPr>
        <p:spPr>
          <a:xfrm>
            <a:off x="9098280" y="3840480"/>
            <a:ext cx="2560320" cy="137160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235440" y="4023360"/>
            <a:ext cx="2286000" cy="320040"/>
          </a:xfrm>
          <a:prstGeom prst="rect">
            <a:avLst/>
          </a:prstGeom>
          <a:noFill/>
        </p:spPr>
        <p:txBody>
          <a:bodyPr wrap="square" anchor="t" lIns="0" rIns="0" tIns="0" bIns="0">
            <a:spAutoFit/>
          </a:bodyPr>
          <a:lstStyle/>
          <a:p>
            <a:pPr rtl="1" algn="ctr">
              <a:spcBef>
                <a:spcPts val="0"/>
              </a:spcBef>
              <a:spcAft>
                <a:spcPts val="0"/>
              </a:spcAft>
            </a:pPr>
            <a:r>
              <a:rPr sz="1400" b="1" i="0">
                <a:solidFill>
                  <a:srgbClr val="9E3C67"/>
                </a:solidFill>
                <a:latin typeface="Vazir"/>
                <a:cs typeface="Vazir"/>
              </a:rPr>
              <a:t>سر ترنسفورمر</a:t>
            </a:r>
          </a:p>
        </p:txBody>
      </p:sp>
      <p:sp>
        <p:nvSpPr>
          <p:cNvPr id="24" name="TextBox 23"/>
          <p:cNvSpPr txBox="1"/>
          <p:nvPr/>
        </p:nvSpPr>
        <p:spPr>
          <a:xfrm>
            <a:off x="9235440" y="4389120"/>
            <a:ext cx="2286000" cy="640080"/>
          </a:xfrm>
          <a:prstGeom prst="rect">
            <a:avLst/>
          </a:prstGeom>
          <a:noFill/>
        </p:spPr>
        <p:txBody>
          <a:bodyPr wrap="square" anchor="t" lIns="0" rIns="0" tIns="0" bIns="0">
            <a:spAutoFit/>
          </a:bodyPr>
          <a:lstStyle/>
          <a:p>
            <a:pPr rtl="1" algn="ctr">
              <a:lnSpc>
                <a:spcPts val="1700"/>
              </a:lnSpc>
              <a:spcBef>
                <a:spcPts val="0"/>
              </a:spcBef>
              <a:spcAft>
                <a:spcPts val="0"/>
              </a:spcAft>
            </a:pPr>
            <a:r>
              <a:rPr sz="1150" b="0" i="0">
                <a:solidFill>
                  <a:srgbClr val="9B7A88"/>
                </a:solidFill>
                <a:latin typeface="Vazir"/>
                <a:cs typeface="Vazir"/>
              </a:rPr>
              <a:t>دو لایه توجه</a:t>
            </a:r>
          </a:p>
          <a:p>
            <a:pPr rtl="1" algn="ctr">
              <a:lnSpc>
                <a:spcPts val="1700"/>
              </a:lnSpc>
              <a:spcBef>
                <a:spcPts val="0"/>
              </a:spcBef>
              <a:spcAft>
                <a:spcPts val="0"/>
              </a:spcAft>
            </a:pPr>
            <a:r>
              <a:rPr sz="1150" b="0" i="0">
                <a:solidFill>
                  <a:srgbClr val="9B7A88"/>
                </a:solidFill>
                <a:latin typeface="Vazir"/>
                <a:cs typeface="Vazir"/>
              </a:rPr>
              <a:t>روی محور زمان</a:t>
            </a:r>
          </a:p>
        </p:txBody>
      </p:sp>
      <p:sp>
        <p:nvSpPr>
          <p:cNvPr id="25" name="Left Arrow 24"/>
          <p:cNvSpPr/>
          <p:nvPr/>
        </p:nvSpPr>
        <p:spPr>
          <a:xfrm>
            <a:off x="8842248" y="4389120"/>
            <a:ext cx="228600" cy="274320"/>
          </a:xfrm>
          <a:prstGeom prst="leftArrow">
            <a:avLst/>
          </a:prstGeom>
          <a:solidFill>
            <a:srgbClr val="C979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217919" y="3840480"/>
            <a:ext cx="2560320" cy="137160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55079" y="4023360"/>
            <a:ext cx="2286000" cy="320040"/>
          </a:xfrm>
          <a:prstGeom prst="rect">
            <a:avLst/>
          </a:prstGeom>
          <a:noFill/>
        </p:spPr>
        <p:txBody>
          <a:bodyPr wrap="square" anchor="t" lIns="0" rIns="0" tIns="0" bIns="0">
            <a:spAutoFit/>
          </a:bodyPr>
          <a:lstStyle/>
          <a:p>
            <a:pPr rtl="1" algn="ctr">
              <a:spcBef>
                <a:spcPts val="0"/>
              </a:spcBef>
              <a:spcAft>
                <a:spcPts val="0"/>
              </a:spcAft>
            </a:pPr>
            <a:r>
              <a:rPr sz="1400" b="1" i="0">
                <a:solidFill>
                  <a:srgbClr val="9E3C67"/>
                </a:solidFill>
                <a:latin typeface="Vazir"/>
                <a:cs typeface="Vazir"/>
              </a:rPr>
              <a:t>نمره هر قطعه</a:t>
            </a:r>
          </a:p>
        </p:txBody>
      </p:sp>
      <p:sp>
        <p:nvSpPr>
          <p:cNvPr id="28" name="TextBox 27"/>
          <p:cNvSpPr txBox="1"/>
          <p:nvPr/>
        </p:nvSpPr>
        <p:spPr>
          <a:xfrm>
            <a:off x="6355079" y="4389120"/>
            <a:ext cx="2286000" cy="640080"/>
          </a:xfrm>
          <a:prstGeom prst="rect">
            <a:avLst/>
          </a:prstGeom>
          <a:noFill/>
        </p:spPr>
        <p:txBody>
          <a:bodyPr wrap="square" anchor="t" lIns="0" rIns="0" tIns="0" bIns="0">
            <a:spAutoFit/>
          </a:bodyPr>
          <a:lstStyle/>
          <a:p>
            <a:pPr rtl="1" algn="ctr">
              <a:lnSpc>
                <a:spcPts val="1700"/>
              </a:lnSpc>
              <a:spcBef>
                <a:spcPts val="0"/>
              </a:spcBef>
              <a:spcAft>
                <a:spcPts val="0"/>
              </a:spcAft>
            </a:pPr>
            <a:r>
              <a:rPr sz="1150" b="0" i="0">
                <a:solidFill>
                  <a:srgbClr val="9B7A88"/>
                </a:solidFill>
                <a:latin typeface="Vazir"/>
                <a:cs typeface="Vazir"/>
              </a:rPr>
              <a:t>۱۶ در ۱۴</a:t>
            </a:r>
          </a:p>
        </p:txBody>
      </p:sp>
      <p:sp>
        <p:nvSpPr>
          <p:cNvPr id="29" name="Left Arrow 28"/>
          <p:cNvSpPr/>
          <p:nvPr/>
        </p:nvSpPr>
        <p:spPr>
          <a:xfrm>
            <a:off x="5961887" y="4389120"/>
            <a:ext cx="228600" cy="274320"/>
          </a:xfrm>
          <a:prstGeom prst="leftArrow">
            <a:avLst/>
          </a:prstGeom>
          <a:solidFill>
            <a:srgbClr val="C979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337559" y="3840480"/>
            <a:ext cx="2560320" cy="137160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474719" y="4023360"/>
            <a:ext cx="2286000" cy="320040"/>
          </a:xfrm>
          <a:prstGeom prst="rect">
            <a:avLst/>
          </a:prstGeom>
          <a:noFill/>
        </p:spPr>
        <p:txBody>
          <a:bodyPr wrap="square" anchor="t" lIns="0" rIns="0" tIns="0" bIns="0">
            <a:spAutoFit/>
          </a:bodyPr>
          <a:lstStyle/>
          <a:p>
            <a:pPr rtl="1" algn="ctr">
              <a:spcBef>
                <a:spcPts val="0"/>
              </a:spcBef>
              <a:spcAft>
                <a:spcPts val="0"/>
              </a:spcAft>
            </a:pPr>
            <a:r>
              <a:rPr sz="1400" b="1" i="0">
                <a:solidFill>
                  <a:srgbClr val="D94F8C"/>
                </a:solidFill>
                <a:latin typeface="Vazir"/>
                <a:cs typeface="Vazir"/>
              </a:rPr>
              <a:t>تصمیم دومرحله‌ای</a:t>
            </a:r>
          </a:p>
        </p:txBody>
      </p:sp>
      <p:sp>
        <p:nvSpPr>
          <p:cNvPr id="32" name="TextBox 31"/>
          <p:cNvSpPr txBox="1"/>
          <p:nvPr/>
        </p:nvSpPr>
        <p:spPr>
          <a:xfrm>
            <a:off x="3474719" y="4389120"/>
            <a:ext cx="2286000" cy="640080"/>
          </a:xfrm>
          <a:prstGeom prst="rect">
            <a:avLst/>
          </a:prstGeom>
          <a:noFill/>
        </p:spPr>
        <p:txBody>
          <a:bodyPr wrap="square" anchor="t" lIns="0" rIns="0" tIns="0" bIns="0">
            <a:spAutoFit/>
          </a:bodyPr>
          <a:lstStyle/>
          <a:p>
            <a:pPr rtl="1" algn="ctr">
              <a:lnSpc>
                <a:spcPts val="1700"/>
              </a:lnSpc>
              <a:spcBef>
                <a:spcPts val="0"/>
              </a:spcBef>
              <a:spcAft>
                <a:spcPts val="0"/>
              </a:spcAft>
            </a:pPr>
            <a:r>
              <a:rPr sz="1150" b="0" i="0">
                <a:solidFill>
                  <a:srgbClr val="9B7A88"/>
                </a:solidFill>
                <a:latin typeface="Vazir"/>
                <a:cs typeface="Vazir"/>
              </a:rPr>
              <a:t>وجود، سپس نوع</a:t>
            </a:r>
          </a:p>
        </p:txBody>
      </p:sp>
      <p:sp>
        <p:nvSpPr>
          <p:cNvPr id="33" name="Left Arrow 32"/>
          <p:cNvSpPr/>
          <p:nvPr/>
        </p:nvSpPr>
        <p:spPr>
          <a:xfrm>
            <a:off x="3081527" y="4389120"/>
            <a:ext cx="228600" cy="274320"/>
          </a:xfrm>
          <a:prstGeom prst="leftArrow">
            <a:avLst/>
          </a:prstGeom>
          <a:solidFill>
            <a:srgbClr val="C979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57200" y="3840480"/>
            <a:ext cx="2560320" cy="137160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94360" y="4023360"/>
            <a:ext cx="2286000" cy="320040"/>
          </a:xfrm>
          <a:prstGeom prst="rect">
            <a:avLst/>
          </a:prstGeom>
          <a:noFill/>
        </p:spPr>
        <p:txBody>
          <a:bodyPr wrap="square" anchor="t" lIns="0" rIns="0" tIns="0" bIns="0">
            <a:spAutoFit/>
          </a:bodyPr>
          <a:lstStyle/>
          <a:p>
            <a:pPr rtl="1" algn="ctr">
              <a:spcBef>
                <a:spcPts val="0"/>
              </a:spcBef>
              <a:spcAft>
                <a:spcPts val="0"/>
              </a:spcAft>
            </a:pPr>
            <a:r>
              <a:rPr sz="1400" b="1" i="0">
                <a:solidFill>
                  <a:srgbClr val="4E9E90"/>
                </a:solidFill>
                <a:latin typeface="Vazir"/>
                <a:cs typeface="Vazir"/>
              </a:rPr>
              <a:t>برچسب نهایی</a:t>
            </a:r>
          </a:p>
        </p:txBody>
      </p:sp>
      <p:sp>
        <p:nvSpPr>
          <p:cNvPr id="36" name="TextBox 35"/>
          <p:cNvSpPr txBox="1"/>
          <p:nvPr/>
        </p:nvSpPr>
        <p:spPr>
          <a:xfrm>
            <a:off x="594360" y="4389120"/>
            <a:ext cx="2286000" cy="640080"/>
          </a:xfrm>
          <a:prstGeom prst="rect">
            <a:avLst/>
          </a:prstGeom>
          <a:noFill/>
        </p:spPr>
        <p:txBody>
          <a:bodyPr wrap="square" anchor="t" lIns="0" rIns="0" tIns="0" bIns="0">
            <a:spAutoFit/>
          </a:bodyPr>
          <a:lstStyle/>
          <a:p>
            <a:pPr rtl="1" algn="ctr">
              <a:lnSpc>
                <a:spcPts val="1700"/>
              </a:lnSpc>
              <a:spcBef>
                <a:spcPts val="0"/>
              </a:spcBef>
              <a:spcAft>
                <a:spcPts val="0"/>
              </a:spcAft>
            </a:pPr>
            <a:r>
              <a:rPr sz="1150" b="0" i="0">
                <a:solidFill>
                  <a:srgbClr val="9B7A88"/>
                </a:solidFill>
                <a:latin typeface="Vazir"/>
                <a:cs typeface="Vazir"/>
              </a:rPr>
              <a:t>یکی از ۱۴ کلاس</a:t>
            </a:r>
          </a:p>
        </p:txBody>
      </p:sp>
      <p:sp>
        <p:nvSpPr>
          <p:cNvPr id="37" name="TextBox 36"/>
          <p:cNvSpPr txBox="1"/>
          <p:nvPr/>
        </p:nvSpPr>
        <p:spPr>
          <a:xfrm>
            <a:off x="548640" y="5303520"/>
            <a:ext cx="11064240" cy="320040"/>
          </a:xfrm>
          <a:prstGeom prst="rect">
            <a:avLst/>
          </a:prstGeom>
          <a:noFill/>
        </p:spPr>
        <p:txBody>
          <a:bodyPr wrap="square" anchor="t" lIns="0" rIns="0" tIns="0" bIns="0">
            <a:spAutoFit/>
          </a:bodyPr>
          <a:lstStyle/>
          <a:p>
            <a:pPr rtl="1" algn="ctr">
              <a:spcBef>
                <a:spcPts val="0"/>
              </a:spcBef>
              <a:spcAft>
                <a:spcPts val="0"/>
              </a:spcAft>
            </a:pPr>
            <a:r>
              <a:rPr sz="1250" b="0" i="0">
                <a:solidFill>
                  <a:srgbClr val="9B7A88"/>
                </a:solidFill>
                <a:latin typeface="Vazir"/>
                <a:cs typeface="Vazir"/>
              </a:rPr>
              <a:t>مرحله دوم — هر پیکربندی، ۸۰ ثانیه</a:t>
            </a:r>
          </a:p>
        </p:txBody>
      </p:sp>
      <p:sp>
        <p:nvSpPr>
          <p:cNvPr id="38" name="TextBox 37"/>
          <p:cNvSpPr txBox="1"/>
          <p:nvPr/>
        </p:nvSpPr>
        <p:spPr>
          <a:xfrm>
            <a:off x="548640" y="5806440"/>
            <a:ext cx="11064240" cy="365760"/>
          </a:xfrm>
          <a:prstGeom prst="rect">
            <a:avLst/>
          </a:prstGeom>
          <a:noFill/>
        </p:spPr>
        <p:txBody>
          <a:bodyPr wrap="square" anchor="t" lIns="0" rIns="0" tIns="0" bIns="0">
            <a:spAutoFit/>
          </a:bodyPr>
          <a:lstStyle/>
          <a:p>
            <a:pPr rtl="1" algn="ctr">
              <a:spcBef>
                <a:spcPts val="0"/>
              </a:spcBef>
              <a:spcAft>
                <a:spcPts val="0"/>
              </a:spcAft>
            </a:pPr>
            <a:r>
              <a:rPr sz="1300" b="1" i="0">
                <a:solidFill>
                  <a:srgbClr val="D94F8C"/>
                </a:solidFill>
                <a:latin typeface="Vazir"/>
                <a:cs typeface="Vazir"/>
              </a:rPr>
              <a:t>تنها بخشی که ما آموزش دادیم، سر طبقه‌بند است: کمتر از دو درصد پارامترهای کل سیستم.</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15</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سر ترنسفورمر روی محور زمان</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مسیر دوم</a:t>
            </a:r>
          </a:p>
        </p:txBody>
      </p:sp>
      <p:sp>
        <p:nvSpPr>
          <p:cNvPr id="6" name="Rectangle 5"/>
          <p:cNvSpPr/>
          <p:nvPr/>
        </p:nvSpPr>
        <p:spPr>
          <a:xfrm>
            <a:off x="548640" y="1645920"/>
            <a:ext cx="5394960" cy="210312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828800"/>
            <a:ext cx="4754880" cy="320040"/>
          </a:xfrm>
          <a:prstGeom prst="rect">
            <a:avLst/>
          </a:prstGeom>
          <a:noFill/>
        </p:spPr>
        <p:txBody>
          <a:bodyPr wrap="square" anchor="t" lIns="0" rIns="0" tIns="0" bIns="0">
            <a:spAutoFit/>
          </a:bodyPr>
          <a:lstStyle/>
          <a:p>
            <a:pPr rtl="1" algn="r">
              <a:spcBef>
                <a:spcPts val="0"/>
              </a:spcBef>
              <a:spcAft>
                <a:spcPts val="0"/>
              </a:spcAft>
            </a:pPr>
            <a:r>
              <a:rPr sz="1600" b="1" i="0">
                <a:solidFill>
                  <a:srgbClr val="9B7A88"/>
                </a:solidFill>
                <a:latin typeface="Vazir"/>
                <a:cs typeface="Vazir"/>
              </a:rPr>
              <a:t>مشکل: قطعه تنها مبهم است</a:t>
            </a:r>
          </a:p>
        </p:txBody>
      </p:sp>
      <p:sp>
        <p:nvSpPr>
          <p:cNvPr id="8" name="TextBox 7"/>
          <p:cNvSpPr txBox="1"/>
          <p:nvPr/>
        </p:nvSpPr>
        <p:spPr>
          <a:xfrm>
            <a:off x="868680" y="2240280"/>
            <a:ext cx="4754880" cy="1280160"/>
          </a:xfrm>
          <a:prstGeom prst="rect">
            <a:avLst/>
          </a:prstGeom>
          <a:noFill/>
        </p:spPr>
        <p:txBody>
          <a:bodyPr wrap="square" anchor="t" lIns="0" rIns="0" tIns="0" bIns="0">
            <a:spAutoFit/>
          </a:bodyPr>
          <a:lstStyle/>
          <a:p>
            <a:pPr rtl="1" algn="r">
              <a:lnSpc>
                <a:spcPts val="2000"/>
              </a:lnSpc>
              <a:spcBef>
                <a:spcPts val="0"/>
              </a:spcBef>
              <a:spcAft>
                <a:spcPts val="0"/>
              </a:spcAft>
            </a:pPr>
            <a:r>
              <a:rPr sz="1300" b="0" i="0">
                <a:solidFill>
                  <a:srgbClr val="4A2A38"/>
                </a:solidFill>
                <a:latin typeface="Vazir"/>
                <a:cs typeface="Vazir"/>
              </a:rPr>
              <a:t>یک قطعه سه‌ثانیه‌ای داخل مغازه، در دزدی از مغازه و سرقت مسلحانه ظاهر یکسانی دارد. سر نقطه‌ای اطلاعات لازم را اصولاً در اختیار ندارد.</a:t>
            </a:r>
          </a:p>
        </p:txBody>
      </p:sp>
      <p:sp>
        <p:nvSpPr>
          <p:cNvPr id="9" name="Rectangle 8"/>
          <p:cNvSpPr/>
          <p:nvPr/>
        </p:nvSpPr>
        <p:spPr>
          <a:xfrm>
            <a:off x="6217920" y="1645920"/>
            <a:ext cx="5394960" cy="210312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37960" y="1828800"/>
            <a:ext cx="4754880" cy="320040"/>
          </a:xfrm>
          <a:prstGeom prst="rect">
            <a:avLst/>
          </a:prstGeom>
          <a:noFill/>
        </p:spPr>
        <p:txBody>
          <a:bodyPr wrap="square" anchor="t" lIns="0" rIns="0" tIns="0" bIns="0">
            <a:spAutoFit/>
          </a:bodyPr>
          <a:lstStyle/>
          <a:p>
            <a:pPr rtl="1" algn="r">
              <a:spcBef>
                <a:spcPts val="0"/>
              </a:spcBef>
              <a:spcAft>
                <a:spcPts val="0"/>
              </a:spcAft>
            </a:pPr>
            <a:r>
              <a:rPr sz="1600" b="1" i="0">
                <a:solidFill>
                  <a:srgbClr val="D94F8C"/>
                </a:solidFill>
                <a:latin typeface="Vazir"/>
                <a:cs typeface="Vazir"/>
              </a:rPr>
              <a:t>راه حل: خودتوجهی میان قطعه‌ها</a:t>
            </a:r>
          </a:p>
        </p:txBody>
      </p:sp>
      <p:sp>
        <p:nvSpPr>
          <p:cNvPr id="11" name="TextBox 10"/>
          <p:cNvSpPr txBox="1"/>
          <p:nvPr/>
        </p:nvSpPr>
        <p:spPr>
          <a:xfrm>
            <a:off x="6537960" y="2240280"/>
            <a:ext cx="4754880" cy="1280160"/>
          </a:xfrm>
          <a:prstGeom prst="rect">
            <a:avLst/>
          </a:prstGeom>
          <a:noFill/>
        </p:spPr>
        <p:txBody>
          <a:bodyPr wrap="square" anchor="t" lIns="0" rIns="0" tIns="0" bIns="0">
            <a:spAutoFit/>
          </a:bodyPr>
          <a:lstStyle/>
          <a:p>
            <a:pPr rtl="1" algn="r">
              <a:lnSpc>
                <a:spcPts val="2000"/>
              </a:lnSpc>
              <a:spcBef>
                <a:spcPts val="0"/>
              </a:spcBef>
              <a:spcAft>
                <a:spcPts val="0"/>
              </a:spcAft>
            </a:pPr>
            <a:r>
              <a:rPr sz="1300" b="0" i="0">
                <a:solidFill>
                  <a:srgbClr val="4A2A38"/>
                </a:solidFill>
                <a:latin typeface="Vazir"/>
                <a:cs typeface="Vazir"/>
              </a:rPr>
              <a:t>یک جدول ۱۶ در ۱۶ می‌گوید هر قطعه چقدر به هر قطعه دیگر توجه کند. بردار جدید هر قطعه، جمع وزن‌دار همه قطعه‌هاست.</a:t>
            </a:r>
          </a:p>
        </p:txBody>
      </p:sp>
      <p:sp>
        <p:nvSpPr>
          <p:cNvPr id="12" name="TextBox 11"/>
          <p:cNvSpPr txBox="1"/>
          <p:nvPr/>
        </p:nvSpPr>
        <p:spPr>
          <a:xfrm>
            <a:off x="548640" y="3977639"/>
            <a:ext cx="5394960" cy="320040"/>
          </a:xfrm>
          <a:prstGeom prst="rect">
            <a:avLst/>
          </a:prstGeom>
          <a:noFill/>
        </p:spPr>
        <p:txBody>
          <a:bodyPr wrap="square" anchor="t" lIns="0" rIns="0" tIns="0" bIns="0">
            <a:spAutoFit/>
          </a:bodyPr>
          <a:lstStyle/>
          <a:p>
            <a:pPr rtl="1" algn="r">
              <a:spcBef>
                <a:spcPts val="0"/>
              </a:spcBef>
              <a:spcAft>
                <a:spcPts val="0"/>
              </a:spcAft>
            </a:pPr>
            <a:r>
              <a:rPr sz="1600" b="1" i="0">
                <a:solidFill>
                  <a:srgbClr val="9E3C67"/>
                </a:solidFill>
                <a:latin typeface="Vazir"/>
                <a:cs typeface="Vazir"/>
              </a:rPr>
              <a:t>پیکربندی</a:t>
            </a:r>
          </a:p>
        </p:txBody>
      </p:sp>
      <p:graphicFrame>
        <p:nvGraphicFramePr>
          <p:cNvPr id="13" name="Table 12"/>
          <p:cNvGraphicFramePr>
            <a:graphicFrameLocks noGrp="1"/>
          </p:cNvGraphicFramePr>
          <p:nvPr/>
        </p:nvGraphicFramePr>
        <p:xfrm>
          <a:off x="548640" y="4389120"/>
          <a:ext cx="5394960" cy="1645920"/>
        </p:xfrm>
        <a:graphic>
          <a:graphicData uri="http://schemas.openxmlformats.org/drawingml/2006/table">
            <a:tbl>
              <a:tblPr firstRow="0" bandRow="0">
                <a:tableStyleId>{5C22544A-7EE6-4342-B048-85BDC9FD1C3A}</a:tableStyleId>
              </a:tblPr>
              <a:tblGrid>
                <a:gridCol w="3108960"/>
                <a:gridCol w="2286000"/>
              </a:tblGrid>
              <a:tr h="274320">
                <a:tc>
                  <a:txBody>
                    <a:bodyPr wrap="square"/>
                    <a:lstStyle/>
                    <a:p>
                      <a:pPr rtl="1" algn="ctr">
                        <a:spcBef>
                          <a:spcPts val="0"/>
                        </a:spcBef>
                        <a:spcAft>
                          <a:spcPts val="0"/>
                        </a:spcAft>
                      </a:pPr>
                      <a:r>
                        <a:rPr sz="1150" b="1" i="0">
                          <a:solidFill>
                            <a:srgbClr val="D94F8C"/>
                          </a:solidFill>
                          <a:latin typeface="Vazir"/>
                          <a:cs typeface="Vazir"/>
                        </a:rPr>
                        <a:t>پارامتر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50" b="1" i="0">
                          <a:solidFill>
                            <a:srgbClr val="D94F8C"/>
                          </a:solidFill>
                          <a:latin typeface="Vazir"/>
                          <a:cs typeface="Vazir"/>
                        </a:rPr>
                        <a:t>مقدار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274320">
                <a:tc>
                  <a:txBody>
                    <a:bodyPr wrap="square"/>
                    <a:lstStyle/>
                    <a:p>
                      <a:pPr rtl="1" algn="r">
                        <a:spcBef>
                          <a:spcPts val="0"/>
                        </a:spcBef>
                        <a:spcAft>
                          <a:spcPts val="0"/>
                        </a:spcAft>
                      </a:pPr>
                      <a:r>
                        <a:rPr sz="1150" b="0" i="0">
                          <a:solidFill>
                            <a:srgbClr val="4A2A38"/>
                          </a:solidFill>
                          <a:latin typeface="Vazir"/>
                          <a:cs typeface="Vazir"/>
                        </a:rPr>
                        <a:t>بعد پنهان</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50" b="0" i="0">
                          <a:solidFill>
                            <a:srgbClr val="4A2A38"/>
                          </a:solidFill>
                          <a:latin typeface="Vazir"/>
                          <a:cs typeface="Vazir"/>
                        </a:rPr>
                        <a:t>512</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74320">
                <a:tc>
                  <a:txBody>
                    <a:bodyPr wrap="square"/>
                    <a:lstStyle/>
                    <a:p>
                      <a:pPr rtl="1" algn="r">
                        <a:spcBef>
                          <a:spcPts val="0"/>
                        </a:spcBef>
                        <a:spcAft>
                          <a:spcPts val="0"/>
                        </a:spcAft>
                      </a:pPr>
                      <a:r>
                        <a:rPr sz="1150" b="0" i="0">
                          <a:solidFill>
                            <a:srgbClr val="4A2A38"/>
                          </a:solidFill>
                          <a:latin typeface="Vazir"/>
                          <a:cs typeface="Vazir"/>
                        </a:rPr>
                        <a:t>سرهای توجه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4</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74320">
                <a:tc>
                  <a:txBody>
                    <a:bodyPr wrap="square"/>
                    <a:lstStyle/>
                    <a:p>
                      <a:pPr rtl="1" algn="r">
                        <a:spcBef>
                          <a:spcPts val="0"/>
                        </a:spcBef>
                        <a:spcAft>
                          <a:spcPts val="0"/>
                        </a:spcAft>
                      </a:pPr>
                      <a:r>
                        <a:rPr sz="1150" b="0" i="0">
                          <a:solidFill>
                            <a:srgbClr val="4A2A38"/>
                          </a:solidFill>
                          <a:latin typeface="Vazir"/>
                          <a:cs typeface="Vazir"/>
                        </a:rPr>
                        <a:t>لایه‌ها</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50" b="0" i="0">
                          <a:solidFill>
                            <a:srgbClr val="4A2A38"/>
                          </a:solidFill>
                          <a:latin typeface="Vazir"/>
                          <a:cs typeface="Vazir"/>
                        </a:rPr>
                        <a:t>2</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74320">
                <a:tc>
                  <a:txBody>
                    <a:bodyPr wrap="square"/>
                    <a:lstStyle/>
                    <a:p>
                      <a:pPr rtl="1" algn="r">
                        <a:spcBef>
                          <a:spcPts val="0"/>
                        </a:spcBef>
                        <a:spcAft>
                          <a:spcPts val="0"/>
                        </a:spcAft>
                      </a:pPr>
                      <a:r>
                        <a:rPr sz="1150" b="0" i="0">
                          <a:solidFill>
                            <a:srgbClr val="4A2A38"/>
                          </a:solidFill>
                          <a:latin typeface="Vazir"/>
                          <a:cs typeface="Vazir"/>
                        </a:rPr>
                        <a:t>حذف تصادفی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0.3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74320">
                <a:tc>
                  <a:txBody>
                    <a:bodyPr wrap="square"/>
                    <a:lstStyle/>
                    <a:p>
                      <a:pPr rtl="1" algn="r">
                        <a:spcBef>
                          <a:spcPts val="0"/>
                        </a:spcBef>
                        <a:spcAft>
                          <a:spcPts val="0"/>
                        </a:spcAft>
                      </a:pPr>
                      <a:r>
                        <a:rPr sz="1150" b="0" i="0">
                          <a:solidFill>
                            <a:srgbClr val="4A2A38"/>
                          </a:solidFill>
                          <a:latin typeface="Vazir"/>
                          <a:cs typeface="Vazir"/>
                        </a:rPr>
                        <a:t>پارامترها</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50" b="0" i="0">
                          <a:solidFill>
                            <a:srgbClr val="4A2A38"/>
                          </a:solidFill>
                          <a:latin typeface="Vazir"/>
                          <a:cs typeface="Vazir"/>
                        </a:rPr>
                        <a:t>4,772,366</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bl>
          </a:graphicData>
        </a:graphic>
      </p:graphicFrame>
      <p:sp>
        <p:nvSpPr>
          <p:cNvPr id="14" name="TextBox 13"/>
          <p:cNvSpPr txBox="1"/>
          <p:nvPr/>
        </p:nvSpPr>
        <p:spPr>
          <a:xfrm>
            <a:off x="6217920" y="3977639"/>
            <a:ext cx="5394960" cy="320040"/>
          </a:xfrm>
          <a:prstGeom prst="rect">
            <a:avLst/>
          </a:prstGeom>
          <a:noFill/>
        </p:spPr>
        <p:txBody>
          <a:bodyPr wrap="square" anchor="t" lIns="0" rIns="0" tIns="0" bIns="0">
            <a:spAutoFit/>
          </a:bodyPr>
          <a:lstStyle/>
          <a:p>
            <a:pPr rtl="1" algn="r">
              <a:spcBef>
                <a:spcPts val="0"/>
              </a:spcBef>
              <a:spcAft>
                <a:spcPts val="0"/>
              </a:spcAft>
            </a:pPr>
            <a:r>
              <a:rPr sz="1600" b="1" i="0">
                <a:solidFill>
                  <a:srgbClr val="9E3C67"/>
                </a:solidFill>
                <a:latin typeface="Vazir"/>
                <a:cs typeface="Vazir"/>
              </a:rPr>
              <a:t>نتیجه</a:t>
            </a:r>
          </a:p>
        </p:txBody>
      </p:sp>
      <p:graphicFrame>
        <p:nvGraphicFramePr>
          <p:cNvPr id="15" name="Table 14"/>
          <p:cNvGraphicFramePr>
            <a:graphicFrameLocks noGrp="1"/>
          </p:cNvGraphicFramePr>
          <p:nvPr/>
        </p:nvGraphicFramePr>
        <p:xfrm>
          <a:off x="6217920" y="4389120"/>
          <a:ext cx="5394960" cy="1152144"/>
        </p:xfrm>
        <a:graphic>
          <a:graphicData uri="http://schemas.openxmlformats.org/drawingml/2006/table">
            <a:tbl>
              <a:tblPr firstRow="0" bandRow="0">
                <a:tableStyleId>{5C22544A-7EE6-4342-B048-85BDC9FD1C3A}</a:tableStyleId>
              </a:tblPr>
              <a:tblGrid>
                <a:gridCol w="2926080"/>
                <a:gridCol w="2468880"/>
              </a:tblGrid>
              <a:tr h="384048">
                <a:tc>
                  <a:txBody>
                    <a:bodyPr wrap="square"/>
                    <a:lstStyle/>
                    <a:p>
                      <a:pPr rtl="1" algn="ctr">
                        <a:spcBef>
                          <a:spcPts val="0"/>
                        </a:spcBef>
                        <a:spcAft>
                          <a:spcPts val="0"/>
                        </a:spcAft>
                      </a:pPr>
                      <a:r>
                        <a:rPr sz="1250" b="1" i="0">
                          <a:solidFill>
                            <a:srgbClr val="D94F8C"/>
                          </a:solidFill>
                          <a:latin typeface="Vazir"/>
                          <a:cs typeface="Vazir"/>
                        </a:rPr>
                        <a:t>سر طبقه‌بند</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50" b="1" i="0">
                          <a:solidFill>
                            <a:srgbClr val="D94F8C"/>
                          </a:solidFill>
                          <a:latin typeface="Vazir"/>
                          <a:cs typeface="Vazir"/>
                        </a:rPr>
                        <a:t>ماکرو F1، میانگین ۵ بذر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384048">
                <a:tc>
                  <a:txBody>
                    <a:bodyPr wrap="square"/>
                    <a:lstStyle/>
                    <a:p>
                      <a:pPr rtl="1" algn="r">
                        <a:spcBef>
                          <a:spcPts val="0"/>
                        </a:spcBef>
                        <a:spcAft>
                          <a:spcPts val="0"/>
                        </a:spcAft>
                      </a:pPr>
                      <a:r>
                        <a:rPr sz="1250" b="0" i="0">
                          <a:solidFill>
                            <a:srgbClr val="4A2A38"/>
                          </a:solidFill>
                          <a:latin typeface="Vazir"/>
                          <a:cs typeface="Vazir"/>
                        </a:rPr>
                        <a:t>سر نقطه‌ای — خط پایه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50" b="0" i="0">
                          <a:solidFill>
                            <a:srgbClr val="4A2A38"/>
                          </a:solidFill>
                          <a:latin typeface="Vazir"/>
                          <a:cs typeface="Vazir"/>
                        </a:rPr>
                        <a:t>0.3049</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84048">
                <a:tc>
                  <a:txBody>
                    <a:bodyPr wrap="square"/>
                    <a:lstStyle/>
                    <a:p>
                      <a:pPr rtl="1" algn="r">
                        <a:spcBef>
                          <a:spcPts val="0"/>
                        </a:spcBef>
                        <a:spcAft>
                          <a:spcPts val="0"/>
                        </a:spcAft>
                      </a:pPr>
                      <a:r>
                        <a:rPr sz="1250" b="1" i="0">
                          <a:solidFill>
                            <a:srgbClr val="C53D7C"/>
                          </a:solidFill>
                          <a:latin typeface="Vazir"/>
                          <a:cs typeface="Vazir"/>
                        </a:rPr>
                        <a:t>سر ترنسفورمر زمانی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50" b="1" i="0">
                          <a:solidFill>
                            <a:srgbClr val="C53D7C"/>
                          </a:solidFill>
                          <a:latin typeface="Vazir"/>
                          <a:cs typeface="Vazir"/>
                        </a:rPr>
                        <a:t>0.3480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bl>
          </a:graphicData>
        </a:graphic>
      </p:graphicFrame>
      <p:sp>
        <p:nvSpPr>
          <p:cNvPr id="16" name="TextBox 15"/>
          <p:cNvSpPr txBox="1"/>
          <p:nvPr/>
        </p:nvSpPr>
        <p:spPr>
          <a:xfrm>
            <a:off x="6217920" y="5715000"/>
            <a:ext cx="5394960" cy="640080"/>
          </a:xfrm>
          <a:prstGeom prst="rect">
            <a:avLst/>
          </a:prstGeom>
          <a:noFill/>
        </p:spPr>
        <p:txBody>
          <a:bodyPr wrap="square" anchor="t" lIns="0" rIns="0" tIns="0" bIns="0">
            <a:spAutoFit/>
          </a:bodyPr>
          <a:lstStyle/>
          <a:p>
            <a:pPr rtl="1" algn="r">
              <a:lnSpc>
                <a:spcPts val="1900"/>
              </a:lnSpc>
              <a:spcBef>
                <a:spcPts val="0"/>
              </a:spcBef>
              <a:spcAft>
                <a:spcPts val="0"/>
              </a:spcAft>
            </a:pPr>
            <a:r>
              <a:rPr sz="1200" b="0" i="0">
                <a:solidFill>
                  <a:srgbClr val="4A2A38"/>
                </a:solidFill>
                <a:latin typeface="Vazir"/>
                <a:cs typeface="Vazir"/>
              </a:rPr>
              <a:t>هر پنج بذر سر زمانی از بهترین بذر سر نقطه‌ای بالاتر بود.</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16</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ارتقای ظرفیت رمزگذار</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مسیر دوم</a:t>
            </a:r>
          </a:p>
        </p:txBody>
      </p:sp>
      <p:graphicFrame>
        <p:nvGraphicFramePr>
          <p:cNvPr id="6" name="Table 5"/>
          <p:cNvGraphicFramePr>
            <a:graphicFrameLocks noGrp="1"/>
          </p:cNvGraphicFramePr>
          <p:nvPr/>
        </p:nvGraphicFramePr>
        <p:xfrm>
          <a:off x="548640" y="1691640"/>
          <a:ext cx="6583680" cy="2560320"/>
        </p:xfrm>
        <a:graphic>
          <a:graphicData uri="http://schemas.openxmlformats.org/drawingml/2006/table">
            <a:tbl>
              <a:tblPr firstRow="0" bandRow="0">
                <a:tableStyleId>{5C22544A-7EE6-4342-B048-85BDC9FD1C3A}</a:tableStyleId>
              </a:tblPr>
              <a:tblGrid>
                <a:gridCol w="2926080"/>
                <a:gridCol w="1828800"/>
                <a:gridCol w="1828800"/>
              </a:tblGrid>
              <a:tr h="365760">
                <a:tc>
                  <a:txBody>
                    <a:bodyPr wrap="square"/>
                    <a:lstStyle/>
                    <a:p>
                      <a:pPr rtl="1" algn="ctr">
                        <a:spcBef>
                          <a:spcPts val="0"/>
                        </a:spcBef>
                        <a:spcAft>
                          <a:spcPts val="0"/>
                        </a:spcAft>
                      </a:pPr>
                      <a:r>
                        <a:rPr sz="1250" b="1" i="0">
                          <a:solidFill>
                            <a:srgbClr val="D94F8C"/>
                          </a:solidFill>
                          <a:latin typeface="Vazir"/>
                          <a:cs typeface="Vazir"/>
                        </a:rPr>
                        <a:t>مورد</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50" b="1" i="0">
                          <a:solidFill>
                            <a:srgbClr val="D94F8C"/>
                          </a:solidFill>
                          <a:latin typeface="Vazir"/>
                          <a:cs typeface="Vazir"/>
                        </a:rPr>
                        <a:t>ViT-B</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50" b="1" i="0">
                          <a:solidFill>
                            <a:srgbClr val="D94F8C"/>
                          </a:solidFill>
                          <a:latin typeface="Vazir"/>
                          <a:cs typeface="Vazir"/>
                        </a:rPr>
                        <a:t>ViT-L</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365760">
                <a:tc>
                  <a:txBody>
                    <a:bodyPr wrap="square"/>
                    <a:lstStyle/>
                    <a:p>
                      <a:pPr rtl="1" algn="r">
                        <a:spcBef>
                          <a:spcPts val="0"/>
                        </a:spcBef>
                        <a:spcAft>
                          <a:spcPts val="0"/>
                        </a:spcAft>
                      </a:pPr>
                      <a:r>
                        <a:rPr sz="1250" b="0" i="0">
                          <a:solidFill>
                            <a:srgbClr val="4A2A38"/>
                          </a:solidFill>
                          <a:latin typeface="Vazir"/>
                          <a:cs typeface="Vazir"/>
                        </a:rPr>
                        <a:t>تعداد لایه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50" b="0" i="0">
                          <a:solidFill>
                            <a:srgbClr val="4A2A38"/>
                          </a:solidFill>
                          <a:latin typeface="Vazir"/>
                          <a:cs typeface="Vazir"/>
                        </a:rPr>
                        <a:t>12</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50" b="0" i="0">
                          <a:solidFill>
                            <a:srgbClr val="4A2A38"/>
                          </a:solidFill>
                          <a:latin typeface="Vazir"/>
                          <a:cs typeface="Vazir"/>
                        </a:rPr>
                        <a:t>24</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65760">
                <a:tc>
                  <a:txBody>
                    <a:bodyPr wrap="square"/>
                    <a:lstStyle/>
                    <a:p>
                      <a:pPr rtl="1" algn="r">
                        <a:spcBef>
                          <a:spcPts val="0"/>
                        </a:spcBef>
                        <a:spcAft>
                          <a:spcPts val="0"/>
                        </a:spcAft>
                      </a:pPr>
                      <a:r>
                        <a:rPr sz="1250" b="0" i="0">
                          <a:solidFill>
                            <a:srgbClr val="4A2A38"/>
                          </a:solidFill>
                          <a:latin typeface="Vazir"/>
                          <a:cs typeface="Vazir"/>
                        </a:rPr>
                        <a:t>پهنای بردار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50" b="0" i="0">
                          <a:solidFill>
                            <a:srgbClr val="4A2A38"/>
                          </a:solidFill>
                          <a:latin typeface="Vazir"/>
                          <a:cs typeface="Vazir"/>
                        </a:rPr>
                        <a:t>768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50" b="0" i="0">
                          <a:solidFill>
                            <a:srgbClr val="4A2A38"/>
                          </a:solidFill>
                          <a:latin typeface="Vazir"/>
                          <a:cs typeface="Vazir"/>
                        </a:rPr>
                        <a:t>1024</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65760">
                <a:tc>
                  <a:txBody>
                    <a:bodyPr wrap="square"/>
                    <a:lstStyle/>
                    <a:p>
                      <a:pPr rtl="1" algn="r">
                        <a:spcBef>
                          <a:spcPts val="0"/>
                        </a:spcBef>
                        <a:spcAft>
                          <a:spcPts val="0"/>
                        </a:spcAft>
                      </a:pPr>
                      <a:r>
                        <a:rPr sz="1250" b="0" i="0">
                          <a:solidFill>
                            <a:srgbClr val="4A2A38"/>
                          </a:solidFill>
                          <a:latin typeface="Vazir"/>
                          <a:cs typeface="Vazir"/>
                        </a:rPr>
                        <a:t>پارامترها</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50" b="0" i="0">
                          <a:solidFill>
                            <a:srgbClr val="4A2A38"/>
                          </a:solidFill>
                          <a:latin typeface="Vazir"/>
                          <a:cs typeface="Vazir"/>
                        </a:rPr>
                        <a:t>≈ 87 میلیون</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50" b="0" i="0">
                          <a:solidFill>
                            <a:srgbClr val="4A2A38"/>
                          </a:solidFill>
                          <a:latin typeface="Vazir"/>
                          <a:cs typeface="Vazir"/>
                        </a:rPr>
                        <a:t>≈ 300 میلیون</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65760">
                <a:tc>
                  <a:txBody>
                    <a:bodyPr wrap="square"/>
                    <a:lstStyle/>
                    <a:p>
                      <a:pPr rtl="1" algn="r">
                        <a:spcBef>
                          <a:spcPts val="0"/>
                        </a:spcBef>
                        <a:spcAft>
                          <a:spcPts val="0"/>
                        </a:spcAft>
                      </a:pPr>
                      <a:r>
                        <a:rPr sz="1250" b="0" i="0">
                          <a:solidFill>
                            <a:srgbClr val="4A2A38"/>
                          </a:solidFill>
                          <a:latin typeface="Vazir"/>
                          <a:cs typeface="Vazir"/>
                        </a:rPr>
                        <a:t>اندازه وصله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50" b="0" i="0">
                          <a:solidFill>
                            <a:srgbClr val="4A2A38"/>
                          </a:solidFill>
                          <a:latin typeface="Vazir"/>
                          <a:cs typeface="Vazir"/>
                        </a:rPr>
                        <a:t>16 × 16</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50" b="0" i="0">
                          <a:solidFill>
                            <a:srgbClr val="4A2A38"/>
                          </a:solidFill>
                          <a:latin typeface="Vazir"/>
                          <a:cs typeface="Vazir"/>
                        </a:rPr>
                        <a:t>16 × 16</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65760">
                <a:tc>
                  <a:txBody>
                    <a:bodyPr wrap="square"/>
                    <a:lstStyle/>
                    <a:p>
                      <a:pPr rtl="1" algn="r">
                        <a:spcBef>
                          <a:spcPts val="0"/>
                        </a:spcBef>
                        <a:spcAft>
                          <a:spcPts val="0"/>
                        </a:spcAft>
                      </a:pPr>
                      <a:r>
                        <a:rPr sz="1250" b="1" i="0">
                          <a:solidFill>
                            <a:srgbClr val="C53D7C"/>
                          </a:solidFill>
                          <a:latin typeface="Vazir"/>
                          <a:cs typeface="Vazir"/>
                        </a:rPr>
                        <a:t>ماکرو F1، میانگین ۵ بذر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50" b="1" i="0">
                          <a:solidFill>
                            <a:srgbClr val="C53D7C"/>
                          </a:solidFill>
                          <a:latin typeface="Vazir"/>
                          <a:cs typeface="Vazir"/>
                        </a:rPr>
                        <a:t>0.3405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50" b="1" i="0">
                          <a:solidFill>
                            <a:srgbClr val="C53D7C"/>
                          </a:solidFill>
                          <a:latin typeface="Vazir"/>
                          <a:cs typeface="Vazir"/>
                        </a:rPr>
                        <a:t>0.3955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r h="365760">
                <a:tc>
                  <a:txBody>
                    <a:bodyPr wrap="square"/>
                    <a:lstStyle/>
                    <a:p>
                      <a:pPr rtl="1" algn="r">
                        <a:spcBef>
                          <a:spcPts val="0"/>
                        </a:spcBef>
                        <a:spcAft>
                          <a:spcPts val="0"/>
                        </a:spcAft>
                      </a:pPr>
                      <a:r>
                        <a:rPr sz="1250" b="1" i="0">
                          <a:solidFill>
                            <a:srgbClr val="C53D7C"/>
                          </a:solidFill>
                          <a:latin typeface="Vazir"/>
                          <a:cs typeface="Vazir"/>
                        </a:rPr>
                        <a:t>ماکرو F1، نتیجه گروهی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50" b="1" i="0">
                          <a:solidFill>
                            <a:srgbClr val="C53D7C"/>
                          </a:solidFill>
                          <a:latin typeface="Vazir"/>
                          <a:cs typeface="Vazir"/>
                        </a:rPr>
                        <a:t>0.3645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50" b="1" i="0">
                          <a:solidFill>
                            <a:srgbClr val="C53D7C"/>
                          </a:solidFill>
                          <a:latin typeface="Vazir"/>
                          <a:cs typeface="Vazir"/>
                        </a:rPr>
                        <a:t>0.4122</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bl>
          </a:graphicData>
        </a:graphic>
      </p:graphicFrame>
      <p:sp>
        <p:nvSpPr>
          <p:cNvPr id="7" name="Rectangle 6"/>
          <p:cNvSpPr/>
          <p:nvPr/>
        </p:nvSpPr>
        <p:spPr>
          <a:xfrm>
            <a:off x="7406640" y="1691640"/>
            <a:ext cx="4206240" cy="214884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680960" y="1874519"/>
            <a:ext cx="3657600" cy="320040"/>
          </a:xfrm>
          <a:prstGeom prst="rect">
            <a:avLst/>
          </a:prstGeom>
          <a:noFill/>
        </p:spPr>
        <p:txBody>
          <a:bodyPr wrap="square" anchor="t" lIns="0" rIns="0" tIns="0" bIns="0">
            <a:spAutoFit/>
          </a:bodyPr>
          <a:lstStyle/>
          <a:p>
            <a:pPr rtl="1" algn="r">
              <a:spcBef>
                <a:spcPts val="0"/>
              </a:spcBef>
              <a:spcAft>
                <a:spcPts val="0"/>
              </a:spcAft>
            </a:pPr>
            <a:r>
              <a:rPr sz="1500" b="1" i="0">
                <a:solidFill>
                  <a:srgbClr val="D94F8C"/>
                </a:solidFill>
                <a:latin typeface="Vazir"/>
                <a:cs typeface="Vazir"/>
              </a:rPr>
              <a:t>نکته‌ای که نباید اشتباه گفت</a:t>
            </a:r>
          </a:p>
        </p:txBody>
      </p:sp>
      <p:sp>
        <p:nvSpPr>
          <p:cNvPr id="9" name="TextBox 8"/>
          <p:cNvSpPr txBox="1"/>
          <p:nvPr/>
        </p:nvSpPr>
        <p:spPr>
          <a:xfrm>
            <a:off x="7680960" y="2286000"/>
            <a:ext cx="3657600" cy="1371600"/>
          </a:xfrm>
          <a:prstGeom prst="rect">
            <a:avLst/>
          </a:prstGeom>
          <a:noFill/>
        </p:spPr>
        <p:txBody>
          <a:bodyPr wrap="square" anchor="t" lIns="0" rIns="0" tIns="0" bIns="0">
            <a:spAutoFit/>
          </a:bodyPr>
          <a:lstStyle/>
          <a:p>
            <a:pPr rtl="1" algn="r">
              <a:lnSpc>
                <a:spcPts val="1900"/>
              </a:lnSpc>
              <a:spcBef>
                <a:spcPts val="0"/>
              </a:spcBef>
              <a:spcAft>
                <a:spcPts val="0"/>
              </a:spcAft>
            </a:pPr>
            <a:r>
              <a:rPr sz="1250" b="0" i="0">
                <a:solidFill>
                  <a:srgbClr val="4A2A38"/>
                </a:solidFill>
                <a:latin typeface="Vazir"/>
                <a:cs typeface="Vazir"/>
              </a:rPr>
              <a:t>اندازه وصله در هر دو یکسان است، پس تعداد وصله‌ها فرق نمی‌کند. بهبود از ظرفیت مدل می‌آید، نه از وضوح مکانی بیشتر.</a:t>
            </a:r>
          </a:p>
        </p:txBody>
      </p:sp>
      <p:sp>
        <p:nvSpPr>
          <p:cNvPr id="10" name="TextBox 9"/>
          <p:cNvSpPr txBox="1"/>
          <p:nvPr/>
        </p:nvSpPr>
        <p:spPr>
          <a:xfrm>
            <a:off x="548640" y="4206240"/>
            <a:ext cx="11064240" cy="365760"/>
          </a:xfrm>
          <a:prstGeom prst="rect">
            <a:avLst/>
          </a:prstGeom>
          <a:noFill/>
        </p:spPr>
        <p:txBody>
          <a:bodyPr wrap="square" anchor="t" lIns="0" rIns="0" tIns="0" bIns="0">
            <a:spAutoFit/>
          </a:bodyPr>
          <a:lstStyle/>
          <a:p>
            <a:pPr rtl="1" algn="r">
              <a:spcBef>
                <a:spcPts val="0"/>
              </a:spcBef>
              <a:spcAft>
                <a:spcPts val="0"/>
              </a:spcAft>
            </a:pPr>
            <a:r>
              <a:rPr sz="1700" b="1" i="0">
                <a:solidFill>
                  <a:srgbClr val="9E3C67"/>
                </a:solidFill>
                <a:latin typeface="Vazir"/>
                <a:cs typeface="Vazir"/>
              </a:rPr>
              <a:t>چرا این تنها بهبود قطعی پروژه است</a:t>
            </a:r>
          </a:p>
        </p:txBody>
      </p:sp>
      <p:sp>
        <p:nvSpPr>
          <p:cNvPr id="11" name="Rectangle 10"/>
          <p:cNvSpPr/>
          <p:nvPr/>
        </p:nvSpPr>
        <p:spPr>
          <a:xfrm>
            <a:off x="548640" y="4663440"/>
            <a:ext cx="3566160" cy="137160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59" y="4846320"/>
            <a:ext cx="3017520" cy="274320"/>
          </a:xfrm>
          <a:prstGeom prst="rect">
            <a:avLst/>
          </a:prstGeom>
          <a:noFill/>
        </p:spPr>
        <p:txBody>
          <a:bodyPr wrap="square" anchor="t" lIns="0" rIns="0" tIns="0" bIns="0">
            <a:spAutoFit/>
          </a:bodyPr>
          <a:lstStyle/>
          <a:p>
            <a:pPr rtl="1" algn="r">
              <a:spcBef>
                <a:spcPts val="0"/>
              </a:spcBef>
              <a:spcAft>
                <a:spcPts val="0"/>
              </a:spcAft>
            </a:pPr>
            <a:r>
              <a:rPr sz="1200" b="0" i="0">
                <a:solidFill>
                  <a:srgbClr val="9B7A88"/>
                </a:solidFill>
                <a:latin typeface="Vazir"/>
                <a:cs typeface="Vazir"/>
              </a:rPr>
              <a:t>بازه پنج بذر ViT-B</a:t>
            </a:r>
          </a:p>
        </p:txBody>
      </p:sp>
      <p:sp>
        <p:nvSpPr>
          <p:cNvPr id="13" name="TextBox 12"/>
          <p:cNvSpPr txBox="1"/>
          <p:nvPr/>
        </p:nvSpPr>
        <p:spPr>
          <a:xfrm>
            <a:off x="822959" y="5166360"/>
            <a:ext cx="3017520" cy="457200"/>
          </a:xfrm>
          <a:prstGeom prst="rect">
            <a:avLst/>
          </a:prstGeom>
          <a:noFill/>
        </p:spPr>
        <p:txBody>
          <a:bodyPr wrap="square" anchor="t" lIns="0" rIns="0" tIns="0" bIns="0">
            <a:spAutoFit/>
          </a:bodyPr>
          <a:lstStyle/>
          <a:p>
            <a:pPr rtl="0" algn="r">
              <a:spcBef>
                <a:spcPts val="0"/>
              </a:spcBef>
              <a:spcAft>
                <a:spcPts val="0"/>
              </a:spcAft>
            </a:pPr>
            <a:r>
              <a:rPr sz="2000" b="1" i="0">
                <a:solidFill>
                  <a:srgbClr val="D4596B"/>
                </a:solidFill>
                <a:latin typeface="Vazir"/>
                <a:cs typeface="Vazir"/>
              </a:rPr>
              <a:t>0.310 — 0.354</a:t>
            </a:r>
          </a:p>
        </p:txBody>
      </p:sp>
      <p:sp>
        <p:nvSpPr>
          <p:cNvPr id="14" name="Rectangle 13"/>
          <p:cNvSpPr/>
          <p:nvPr/>
        </p:nvSpPr>
        <p:spPr>
          <a:xfrm>
            <a:off x="4297680" y="4663440"/>
            <a:ext cx="3566160" cy="1371600"/>
          </a:xfrm>
          <a:prstGeom prst="rect">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2000" y="4846320"/>
            <a:ext cx="3017520" cy="274320"/>
          </a:xfrm>
          <a:prstGeom prst="rect">
            <a:avLst/>
          </a:prstGeom>
          <a:noFill/>
        </p:spPr>
        <p:txBody>
          <a:bodyPr wrap="square" anchor="t" lIns="0" rIns="0" tIns="0" bIns="0">
            <a:spAutoFit/>
          </a:bodyPr>
          <a:lstStyle/>
          <a:p>
            <a:pPr rtl="1" algn="r">
              <a:spcBef>
                <a:spcPts val="0"/>
              </a:spcBef>
              <a:spcAft>
                <a:spcPts val="0"/>
              </a:spcAft>
            </a:pPr>
            <a:r>
              <a:rPr sz="1200" b="0" i="0">
                <a:solidFill>
                  <a:srgbClr val="9B7A88"/>
                </a:solidFill>
                <a:latin typeface="Vazir"/>
                <a:cs typeface="Vazir"/>
              </a:rPr>
              <a:t>بازه پنج بذر ViT-L</a:t>
            </a:r>
          </a:p>
        </p:txBody>
      </p:sp>
      <p:sp>
        <p:nvSpPr>
          <p:cNvPr id="16" name="TextBox 15"/>
          <p:cNvSpPr txBox="1"/>
          <p:nvPr/>
        </p:nvSpPr>
        <p:spPr>
          <a:xfrm>
            <a:off x="4572000" y="5166360"/>
            <a:ext cx="3017520" cy="457200"/>
          </a:xfrm>
          <a:prstGeom prst="rect">
            <a:avLst/>
          </a:prstGeom>
          <a:noFill/>
        </p:spPr>
        <p:txBody>
          <a:bodyPr wrap="square" anchor="t" lIns="0" rIns="0" tIns="0" bIns="0">
            <a:spAutoFit/>
          </a:bodyPr>
          <a:lstStyle/>
          <a:p>
            <a:pPr rtl="0" algn="r">
              <a:spcBef>
                <a:spcPts val="0"/>
              </a:spcBef>
              <a:spcAft>
                <a:spcPts val="0"/>
              </a:spcAft>
            </a:pPr>
            <a:r>
              <a:rPr sz="2000" b="1" i="0">
                <a:solidFill>
                  <a:srgbClr val="4E9E90"/>
                </a:solidFill>
                <a:latin typeface="Vazir"/>
                <a:cs typeface="Vazir"/>
              </a:rPr>
              <a:t>0.370 — 0.423</a:t>
            </a:r>
          </a:p>
        </p:txBody>
      </p:sp>
      <p:sp>
        <p:nvSpPr>
          <p:cNvPr id="17" name="Rectangle 16"/>
          <p:cNvSpPr/>
          <p:nvPr/>
        </p:nvSpPr>
        <p:spPr>
          <a:xfrm>
            <a:off x="8046720" y="4663440"/>
            <a:ext cx="3566160" cy="137160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21040" y="4846320"/>
            <a:ext cx="3017520" cy="274320"/>
          </a:xfrm>
          <a:prstGeom prst="rect">
            <a:avLst/>
          </a:prstGeom>
          <a:noFill/>
        </p:spPr>
        <p:txBody>
          <a:bodyPr wrap="square" anchor="t" lIns="0" rIns="0" tIns="0" bIns="0">
            <a:spAutoFit/>
          </a:bodyPr>
          <a:lstStyle/>
          <a:p>
            <a:pPr rtl="1" algn="r">
              <a:spcBef>
                <a:spcPts val="0"/>
              </a:spcBef>
              <a:spcAft>
                <a:spcPts val="0"/>
              </a:spcAft>
            </a:pPr>
            <a:r>
              <a:rPr sz="1200" b="0" i="0">
                <a:solidFill>
                  <a:srgbClr val="9B7A88"/>
                </a:solidFill>
                <a:latin typeface="Vazir"/>
                <a:cs typeface="Vazir"/>
              </a:rPr>
              <a:t>آزمون من-ویتنی</a:t>
            </a:r>
          </a:p>
        </p:txBody>
      </p:sp>
      <p:sp>
        <p:nvSpPr>
          <p:cNvPr id="19" name="TextBox 18"/>
          <p:cNvSpPr txBox="1"/>
          <p:nvPr/>
        </p:nvSpPr>
        <p:spPr>
          <a:xfrm>
            <a:off x="8321040" y="5166360"/>
            <a:ext cx="3017520" cy="457200"/>
          </a:xfrm>
          <a:prstGeom prst="rect">
            <a:avLst/>
          </a:prstGeom>
          <a:noFill/>
        </p:spPr>
        <p:txBody>
          <a:bodyPr wrap="square" anchor="t" lIns="0" rIns="0" tIns="0" bIns="0">
            <a:spAutoFit/>
          </a:bodyPr>
          <a:lstStyle/>
          <a:p>
            <a:pPr rtl="0" algn="r">
              <a:spcBef>
                <a:spcPts val="0"/>
              </a:spcBef>
              <a:spcAft>
                <a:spcPts val="0"/>
              </a:spcAft>
            </a:pPr>
            <a:r>
              <a:rPr sz="2000" b="1" i="0">
                <a:solidFill>
                  <a:srgbClr val="D94F8C"/>
                </a:solidFill>
                <a:latin typeface="Vazir"/>
                <a:cs typeface="Vazir"/>
              </a:rPr>
              <a:t>p = 1 / 252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17</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آمیزش و تنظیم لاجیت</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مسیر دوم</a:t>
            </a:r>
          </a:p>
        </p:txBody>
      </p:sp>
      <p:sp>
        <p:nvSpPr>
          <p:cNvPr id="6" name="Rectangle 5"/>
          <p:cNvSpPr/>
          <p:nvPr/>
        </p:nvSpPr>
        <p:spPr>
          <a:xfrm>
            <a:off x="548640" y="1645920"/>
            <a:ext cx="5394960" cy="196596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810512"/>
            <a:ext cx="4754880" cy="320040"/>
          </a:xfrm>
          <a:prstGeom prst="rect">
            <a:avLst/>
          </a:prstGeom>
          <a:noFill/>
        </p:spPr>
        <p:txBody>
          <a:bodyPr wrap="square" anchor="t" lIns="0" rIns="0" tIns="0" bIns="0">
            <a:spAutoFit/>
          </a:bodyPr>
          <a:lstStyle/>
          <a:p>
            <a:pPr rtl="1" algn="r">
              <a:spcBef>
                <a:spcPts val="0"/>
              </a:spcBef>
              <a:spcAft>
                <a:spcPts val="0"/>
              </a:spcAft>
            </a:pPr>
            <a:r>
              <a:rPr sz="1600" b="1" i="0">
                <a:solidFill>
                  <a:srgbClr val="9E3C67"/>
                </a:solidFill>
                <a:latin typeface="Vazir"/>
                <a:cs typeface="Vazir"/>
              </a:rPr>
              <a:t>آمیزش در فضای ویژگی</a:t>
            </a:r>
          </a:p>
        </p:txBody>
      </p:sp>
      <p:sp>
        <p:nvSpPr>
          <p:cNvPr id="8" name="TextBox 7"/>
          <p:cNvSpPr txBox="1"/>
          <p:nvPr/>
        </p:nvSpPr>
        <p:spPr>
          <a:xfrm>
            <a:off x="868680" y="2212848"/>
            <a:ext cx="4754880" cy="1280160"/>
          </a:xfrm>
          <a:prstGeom prst="rect">
            <a:avLst/>
          </a:prstGeom>
          <a:noFill/>
        </p:spPr>
        <p:txBody>
          <a:bodyPr wrap="square" anchor="t" lIns="0" rIns="0" tIns="0" bIns="0">
            <a:spAutoFit/>
          </a:bodyPr>
          <a:lstStyle/>
          <a:p>
            <a:pPr rtl="1" algn="r">
              <a:lnSpc>
                <a:spcPts val="1900"/>
              </a:lnSpc>
              <a:spcBef>
                <a:spcPts val="0"/>
              </a:spcBef>
              <a:spcAft>
                <a:spcPts val="0"/>
              </a:spcAft>
            </a:pPr>
            <a:r>
              <a:rPr sz="1250" b="0" i="0">
                <a:solidFill>
                  <a:srgbClr val="4A2A38"/>
                </a:solidFill>
                <a:latin typeface="Vazir"/>
                <a:cs typeface="Vazir"/>
              </a:rPr>
              <a:t>مدل تا دوره دهم زیان آموزش را تقریباً صفر می‌کرد، یعنی حفظ می‌کرد. ترکیب محدب دو ویدیو نمونه‌هایی می‌سازد که در داده نیستند.</a:t>
            </a:r>
          </a:p>
        </p:txBody>
      </p:sp>
      <p:sp>
        <p:nvSpPr>
          <p:cNvPr id="9" name="Rectangle 8"/>
          <p:cNvSpPr/>
          <p:nvPr/>
        </p:nvSpPr>
        <p:spPr>
          <a:xfrm>
            <a:off x="6217920" y="1645920"/>
            <a:ext cx="5394960" cy="196596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37960" y="1810512"/>
            <a:ext cx="4754880" cy="320040"/>
          </a:xfrm>
          <a:prstGeom prst="rect">
            <a:avLst/>
          </a:prstGeom>
          <a:noFill/>
        </p:spPr>
        <p:txBody>
          <a:bodyPr wrap="square" anchor="t" lIns="0" rIns="0" tIns="0" bIns="0">
            <a:spAutoFit/>
          </a:bodyPr>
          <a:lstStyle/>
          <a:p>
            <a:pPr rtl="1" algn="r">
              <a:spcBef>
                <a:spcPts val="0"/>
              </a:spcBef>
              <a:spcAft>
                <a:spcPts val="0"/>
              </a:spcAft>
            </a:pPr>
            <a:r>
              <a:rPr sz="1600" b="1" i="0">
                <a:solidFill>
                  <a:srgbClr val="D94F8C"/>
                </a:solidFill>
                <a:latin typeface="Vazir"/>
                <a:cs typeface="Vazir"/>
              </a:rPr>
              <a:t>تنظیم لاجیت برای دم بلند</a:t>
            </a:r>
          </a:p>
        </p:txBody>
      </p:sp>
      <p:sp>
        <p:nvSpPr>
          <p:cNvPr id="11" name="TextBox 10"/>
          <p:cNvSpPr txBox="1"/>
          <p:nvPr/>
        </p:nvSpPr>
        <p:spPr>
          <a:xfrm>
            <a:off x="6537960" y="2212848"/>
            <a:ext cx="4754880" cy="1280160"/>
          </a:xfrm>
          <a:prstGeom prst="rect">
            <a:avLst/>
          </a:prstGeom>
          <a:noFill/>
        </p:spPr>
        <p:txBody>
          <a:bodyPr wrap="square" anchor="t" lIns="0" rIns="0" tIns="0" bIns="0">
            <a:spAutoFit/>
          </a:bodyPr>
          <a:lstStyle/>
          <a:p>
            <a:pPr rtl="1" algn="r">
              <a:lnSpc>
                <a:spcPts val="1900"/>
              </a:lnSpc>
              <a:spcBef>
                <a:spcPts val="0"/>
              </a:spcBef>
              <a:spcAft>
                <a:spcPts val="0"/>
              </a:spcAft>
            </a:pPr>
            <a:r>
              <a:rPr sz="1250" b="0" i="0">
                <a:solidFill>
                  <a:srgbClr val="4A2A38"/>
                </a:solidFill>
                <a:latin typeface="Vazir"/>
                <a:cs typeface="Vazir"/>
              </a:rPr>
              <a:t>مقداری متناسب با لگاریتم احتمال پیشین از لاجیت هر کلاس کسر می‌شود تا مرز تصمیم به سود کلاس‌های کمیاب جابه‌جا شود.</a:t>
            </a:r>
          </a:p>
        </p:txBody>
      </p:sp>
      <p:sp>
        <p:nvSpPr>
          <p:cNvPr id="12" name="Rectangle 11"/>
          <p:cNvSpPr/>
          <p:nvPr/>
        </p:nvSpPr>
        <p:spPr>
          <a:xfrm>
            <a:off x="548640" y="3794760"/>
            <a:ext cx="11064240" cy="1051560"/>
          </a:xfrm>
          <a:prstGeom prst="rect">
            <a:avLst/>
          </a:prstGeom>
          <a:solidFill>
            <a:srgbClr val="FC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3931920"/>
            <a:ext cx="10424160" cy="320040"/>
          </a:xfrm>
          <a:prstGeom prst="rect">
            <a:avLst/>
          </a:prstGeom>
          <a:noFill/>
        </p:spPr>
        <p:txBody>
          <a:bodyPr wrap="square" anchor="t" lIns="0" rIns="0" tIns="0" bIns="0">
            <a:spAutoFit/>
          </a:bodyPr>
          <a:lstStyle/>
          <a:p>
            <a:pPr rtl="1" algn="r">
              <a:spcBef>
                <a:spcPts val="0"/>
              </a:spcBef>
              <a:spcAft>
                <a:spcPts val="0"/>
              </a:spcAft>
            </a:pPr>
            <a:r>
              <a:rPr sz="1500" b="1" i="0">
                <a:solidFill>
                  <a:srgbClr val="D4596B"/>
                </a:solidFill>
                <a:latin typeface="Vazir"/>
                <a:cs typeface="Vazir"/>
              </a:rPr>
              <a:t>آزمایشی که شکست خورد و از آن یاد گرفتیم</a:t>
            </a:r>
          </a:p>
        </p:txBody>
      </p:sp>
      <p:sp>
        <p:nvSpPr>
          <p:cNvPr id="14" name="TextBox 13"/>
          <p:cNvSpPr txBox="1"/>
          <p:nvPr/>
        </p:nvSpPr>
        <p:spPr>
          <a:xfrm>
            <a:off x="868680" y="4279392"/>
            <a:ext cx="10424160" cy="502920"/>
          </a:xfrm>
          <a:prstGeom prst="rect">
            <a:avLst/>
          </a:prstGeom>
          <a:noFill/>
        </p:spPr>
        <p:txBody>
          <a:bodyPr wrap="square" anchor="t" lIns="0" rIns="0" tIns="0" bIns="0">
            <a:spAutoFit/>
          </a:bodyPr>
          <a:lstStyle/>
          <a:p>
            <a:pPr rtl="1" algn="r">
              <a:lnSpc>
                <a:spcPts val="1800"/>
              </a:lnSpc>
              <a:spcBef>
                <a:spcPts val="0"/>
              </a:spcBef>
              <a:spcAft>
                <a:spcPts val="0"/>
              </a:spcAft>
            </a:pPr>
            <a:r>
              <a:rPr sz="1200" b="0" i="0">
                <a:solidFill>
                  <a:srgbClr val="4A2A38"/>
                </a:solidFill>
                <a:latin typeface="Vazir"/>
                <a:cs typeface="Vazir"/>
              </a:rPr>
              <a:t>اعمال خام فرمول روی هر ۱۴ کلاس، صحت را از ۰٫۶۸۹۷ به ۰٫۴۷۲ انداخت: مرحله اول تصمیم خراب می‌شد. اصلاح: محدود کردن به ۱۳ کلاس ناهنجار و مرکزی کردن.</a:t>
            </a:r>
          </a:p>
        </p:txBody>
      </p:sp>
      <p:graphicFrame>
        <p:nvGraphicFramePr>
          <p:cNvPr id="15" name="Table 14"/>
          <p:cNvGraphicFramePr>
            <a:graphicFrameLocks noGrp="1"/>
          </p:cNvGraphicFramePr>
          <p:nvPr/>
        </p:nvGraphicFramePr>
        <p:xfrm>
          <a:off x="548640" y="5029200"/>
          <a:ext cx="11064240" cy="1371600"/>
        </p:xfrm>
        <a:graphic>
          <a:graphicData uri="http://schemas.openxmlformats.org/drawingml/2006/table">
            <a:tbl>
              <a:tblPr firstRow="0" bandRow="0">
                <a:tableStyleId>{5C22544A-7EE6-4342-B048-85BDC9FD1C3A}</a:tableStyleId>
              </a:tblPr>
              <a:tblGrid>
                <a:gridCol w="3931920"/>
                <a:gridCol w="1828800"/>
                <a:gridCol w="1828800"/>
                <a:gridCol w="1737360"/>
                <a:gridCol w="1737360"/>
              </a:tblGrid>
              <a:tr h="274320">
                <a:tc>
                  <a:txBody>
                    <a:bodyPr wrap="square"/>
                    <a:lstStyle/>
                    <a:p>
                      <a:pPr rtl="1" algn="ctr">
                        <a:spcBef>
                          <a:spcPts val="0"/>
                        </a:spcBef>
                        <a:spcAft>
                          <a:spcPts val="0"/>
                        </a:spcAft>
                      </a:pPr>
                      <a:r>
                        <a:rPr sz="1150" b="1" i="0">
                          <a:solidFill>
                            <a:srgbClr val="D94F8C"/>
                          </a:solidFill>
                          <a:latin typeface="Vazir"/>
                          <a:cs typeface="Vazir"/>
                        </a:rPr>
                        <a:t>پیکربندی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50" b="1" i="0">
                          <a:solidFill>
                            <a:srgbClr val="D94F8C"/>
                          </a:solidFill>
                          <a:latin typeface="Vazir"/>
                          <a:cs typeface="Vazir"/>
                        </a:rPr>
                        <a:t>میانگین بذرها</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50" b="1" i="0">
                          <a:solidFill>
                            <a:srgbClr val="D94F8C"/>
                          </a:solidFill>
                          <a:latin typeface="Vazir"/>
                          <a:cs typeface="Vazir"/>
                        </a:rPr>
                        <a:t>نتیجه گروهی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50" b="1" i="0">
                          <a:solidFill>
                            <a:srgbClr val="D94F8C"/>
                          </a:solidFill>
                          <a:latin typeface="Vazir"/>
                          <a:cs typeface="Vazir"/>
                        </a:rPr>
                        <a:t>صحت</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50" b="1" i="0">
                          <a:solidFill>
                            <a:srgbClr val="D94F8C"/>
                          </a:solidFill>
                          <a:latin typeface="Vazir"/>
                          <a:cs typeface="Vazir"/>
                        </a:rPr>
                        <a:t>صحت نوع</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274320">
                <a:tc>
                  <a:txBody>
                    <a:bodyPr wrap="square"/>
                    <a:lstStyle/>
                    <a:p>
                      <a:pPr rtl="1" algn="r">
                        <a:spcBef>
                          <a:spcPts val="0"/>
                        </a:spcBef>
                        <a:spcAft>
                          <a:spcPts val="0"/>
                        </a:spcAft>
                      </a:pPr>
                      <a:r>
                        <a:rPr sz="1150" b="0" i="0">
                          <a:solidFill>
                            <a:srgbClr val="4A2A38"/>
                          </a:solidFill>
                          <a:latin typeface="Vazir"/>
                          <a:cs typeface="Vazir"/>
                        </a:rPr>
                        <a:t>پایه ViT-L</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50" b="0" i="0">
                          <a:solidFill>
                            <a:srgbClr val="4A2A38"/>
                          </a:solidFill>
                          <a:latin typeface="Vazir"/>
                          <a:cs typeface="Vazir"/>
                        </a:rPr>
                        <a:t>0.3955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50" b="0" i="0">
                          <a:solidFill>
                            <a:srgbClr val="4A2A38"/>
                          </a:solidFill>
                          <a:latin typeface="Vazir"/>
                          <a:cs typeface="Vazir"/>
                        </a:rPr>
                        <a:t>0.4122</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50" b="0" i="0">
                          <a:solidFill>
                            <a:srgbClr val="4A2A38"/>
                          </a:solidFill>
                          <a:latin typeface="Vazir"/>
                          <a:cs typeface="Vazir"/>
                        </a:rPr>
                        <a:t>0.6897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50" b="0" i="0">
                          <a:solidFill>
                            <a:srgbClr val="4A2A38"/>
                          </a:solidFill>
                          <a:latin typeface="Vazir"/>
                          <a:cs typeface="Vazir"/>
                        </a:rPr>
                        <a:t>0.4786</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274320">
                <a:tc>
                  <a:txBody>
                    <a:bodyPr wrap="square"/>
                    <a:lstStyle/>
                    <a:p>
                      <a:pPr rtl="1" algn="r">
                        <a:spcBef>
                          <a:spcPts val="0"/>
                        </a:spcBef>
                        <a:spcAft>
                          <a:spcPts val="0"/>
                        </a:spcAft>
                      </a:pPr>
                      <a:r>
                        <a:rPr sz="1150" b="0" i="0">
                          <a:solidFill>
                            <a:srgbClr val="4A2A38"/>
                          </a:solidFill>
                          <a:latin typeface="Vazir"/>
                          <a:cs typeface="Vazir"/>
                        </a:rPr>
                        <a:t>آمیزش ۰٫۲</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0.4203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0.4161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0.6793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0.4714</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274320">
                <a:tc>
                  <a:txBody>
                    <a:bodyPr wrap="square"/>
                    <a:lstStyle/>
                    <a:p>
                      <a:pPr rtl="1" algn="r">
                        <a:spcBef>
                          <a:spcPts val="0"/>
                        </a:spcBef>
                        <a:spcAft>
                          <a:spcPts val="0"/>
                        </a:spcAft>
                      </a:pPr>
                      <a:r>
                        <a:rPr sz="1150" b="1" i="0">
                          <a:solidFill>
                            <a:srgbClr val="C53D7C"/>
                          </a:solidFill>
                          <a:latin typeface="Vazir"/>
                          <a:cs typeface="Vazir"/>
                        </a:rPr>
                        <a:t>آمیزش ۰٫۲ + تنظیم لاجیت</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50" b="1" i="0">
                          <a:solidFill>
                            <a:srgbClr val="C53D7C"/>
                          </a:solidFill>
                          <a:latin typeface="Vazir"/>
                          <a:cs typeface="Vazir"/>
                        </a:rPr>
                        <a:t>0.4147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50" b="1" i="0">
                          <a:solidFill>
                            <a:srgbClr val="C53D7C"/>
                          </a:solidFill>
                          <a:latin typeface="Vazir"/>
                          <a:cs typeface="Vazir"/>
                        </a:rPr>
                        <a:t>0.4298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50" b="1" i="0">
                          <a:solidFill>
                            <a:srgbClr val="C53D7C"/>
                          </a:solidFill>
                          <a:latin typeface="Vazir"/>
                          <a:cs typeface="Vazir"/>
                        </a:rPr>
                        <a:t>0.6897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50" b="1" i="0">
                          <a:solidFill>
                            <a:srgbClr val="C53D7C"/>
                          </a:solidFill>
                          <a:latin typeface="Vazir"/>
                          <a:cs typeface="Vazir"/>
                        </a:rPr>
                        <a:t>0.5000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r h="274320">
                <a:tc>
                  <a:txBody>
                    <a:bodyPr wrap="square"/>
                    <a:lstStyle/>
                    <a:p>
                      <a:pPr rtl="1" algn="r">
                        <a:spcBef>
                          <a:spcPts val="0"/>
                        </a:spcBef>
                        <a:spcAft>
                          <a:spcPts val="0"/>
                        </a:spcAft>
                      </a:pPr>
                      <a:r>
                        <a:rPr sz="1150" b="0" i="0">
                          <a:solidFill>
                            <a:srgbClr val="4A2A38"/>
                          </a:solidFill>
                          <a:latin typeface="Vazir"/>
                          <a:cs typeface="Vazir"/>
                        </a:rPr>
                        <a:t>آمیزش ۰٫۴ + تنظیم لاجیت</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0.4135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0.4248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0.6759</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50" b="0" i="0">
                          <a:solidFill>
                            <a:srgbClr val="4A2A38"/>
                          </a:solidFill>
                          <a:latin typeface="Vazir"/>
                          <a:cs typeface="Vazir"/>
                        </a:rPr>
                        <a:t>0.4929</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18</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مسیر بهبود، گام به گام</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مسیر دوم</a:t>
            </a:r>
          </a:p>
        </p:txBody>
      </p:sp>
      <p:sp>
        <p:nvSpPr>
          <p:cNvPr id="6" name="Rectangle 5"/>
          <p:cNvSpPr/>
          <p:nvPr/>
        </p:nvSpPr>
        <p:spPr>
          <a:xfrm>
            <a:off x="1325880" y="4116977"/>
            <a:ext cx="10287000" cy="18288"/>
          </a:xfrm>
          <a:prstGeom prst="rect">
            <a:avLst/>
          </a:prstGeom>
          <a:solidFill>
            <a:srgbClr val="F2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3988961"/>
            <a:ext cx="685800" cy="256032"/>
          </a:xfrm>
          <a:prstGeom prst="rect">
            <a:avLst/>
          </a:prstGeom>
          <a:noFill/>
        </p:spPr>
        <p:txBody>
          <a:bodyPr wrap="square" anchor="t" lIns="0" rIns="0" tIns="0" bIns="0">
            <a:spAutoFit/>
          </a:bodyPr>
          <a:lstStyle/>
          <a:p>
            <a:pPr rtl="0" algn="r">
              <a:spcBef>
                <a:spcPts val="0"/>
              </a:spcBef>
              <a:spcAft>
                <a:spcPts val="0"/>
              </a:spcAft>
            </a:pPr>
            <a:r>
              <a:rPr sz="1000" b="0" i="0">
                <a:solidFill>
                  <a:srgbClr val="9B7A88"/>
                </a:solidFill>
                <a:latin typeface="Vazir"/>
                <a:cs typeface="Vazir"/>
              </a:rPr>
              <a:t>0.30</a:t>
            </a:r>
          </a:p>
        </p:txBody>
      </p:sp>
      <p:sp>
        <p:nvSpPr>
          <p:cNvPr id="8" name="Rectangle 7"/>
          <p:cNvSpPr/>
          <p:nvPr/>
        </p:nvSpPr>
        <p:spPr>
          <a:xfrm>
            <a:off x="1325880" y="3387634"/>
            <a:ext cx="10287000" cy="18288"/>
          </a:xfrm>
          <a:prstGeom prst="rect">
            <a:avLst/>
          </a:prstGeom>
          <a:solidFill>
            <a:srgbClr val="F2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3259618"/>
            <a:ext cx="685800" cy="256032"/>
          </a:xfrm>
          <a:prstGeom prst="rect">
            <a:avLst/>
          </a:prstGeom>
          <a:noFill/>
        </p:spPr>
        <p:txBody>
          <a:bodyPr wrap="square" anchor="t" lIns="0" rIns="0" tIns="0" bIns="0">
            <a:spAutoFit/>
          </a:bodyPr>
          <a:lstStyle/>
          <a:p>
            <a:pPr rtl="0" algn="r">
              <a:spcBef>
                <a:spcPts val="0"/>
              </a:spcBef>
              <a:spcAft>
                <a:spcPts val="0"/>
              </a:spcAft>
            </a:pPr>
            <a:r>
              <a:rPr sz="1000" b="0" i="0">
                <a:solidFill>
                  <a:srgbClr val="9B7A88"/>
                </a:solidFill>
                <a:latin typeface="Vazir"/>
                <a:cs typeface="Vazir"/>
              </a:rPr>
              <a:t>0.35</a:t>
            </a:r>
          </a:p>
        </p:txBody>
      </p:sp>
      <p:sp>
        <p:nvSpPr>
          <p:cNvPr id="10" name="Rectangle 9"/>
          <p:cNvSpPr/>
          <p:nvPr/>
        </p:nvSpPr>
        <p:spPr>
          <a:xfrm>
            <a:off x="1325880" y="2658291"/>
            <a:ext cx="10287000" cy="18288"/>
          </a:xfrm>
          <a:prstGeom prst="rect">
            <a:avLst/>
          </a:prstGeom>
          <a:solidFill>
            <a:srgbClr val="F2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2530275"/>
            <a:ext cx="685800" cy="256032"/>
          </a:xfrm>
          <a:prstGeom prst="rect">
            <a:avLst/>
          </a:prstGeom>
          <a:noFill/>
        </p:spPr>
        <p:txBody>
          <a:bodyPr wrap="square" anchor="t" lIns="0" rIns="0" tIns="0" bIns="0">
            <a:spAutoFit/>
          </a:bodyPr>
          <a:lstStyle/>
          <a:p>
            <a:pPr rtl="0" algn="r">
              <a:spcBef>
                <a:spcPts val="0"/>
              </a:spcBef>
              <a:spcAft>
                <a:spcPts val="0"/>
              </a:spcAft>
            </a:pPr>
            <a:r>
              <a:rPr sz="1000" b="0" i="0">
                <a:solidFill>
                  <a:srgbClr val="9B7A88"/>
                </a:solidFill>
                <a:latin typeface="Vazir"/>
                <a:cs typeface="Vazir"/>
              </a:rPr>
              <a:t>0.40</a:t>
            </a:r>
          </a:p>
        </p:txBody>
      </p:sp>
      <p:sp>
        <p:nvSpPr>
          <p:cNvPr id="12" name="Rectangle 11"/>
          <p:cNvSpPr/>
          <p:nvPr/>
        </p:nvSpPr>
        <p:spPr>
          <a:xfrm>
            <a:off x="1325880" y="1928948"/>
            <a:ext cx="10287000" cy="18288"/>
          </a:xfrm>
          <a:prstGeom prst="rect">
            <a:avLst/>
          </a:prstGeom>
          <a:solidFill>
            <a:srgbClr val="F2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1800932"/>
            <a:ext cx="685800" cy="256032"/>
          </a:xfrm>
          <a:prstGeom prst="rect">
            <a:avLst/>
          </a:prstGeom>
          <a:noFill/>
        </p:spPr>
        <p:txBody>
          <a:bodyPr wrap="square" anchor="t" lIns="0" rIns="0" tIns="0" bIns="0">
            <a:spAutoFit/>
          </a:bodyPr>
          <a:lstStyle/>
          <a:p>
            <a:pPr rtl="0" algn="r">
              <a:spcBef>
                <a:spcPts val="0"/>
              </a:spcBef>
              <a:spcAft>
                <a:spcPts val="0"/>
              </a:spcAft>
            </a:pPr>
            <a:r>
              <a:rPr sz="1000" b="0" i="0">
                <a:solidFill>
                  <a:srgbClr val="9B7A88"/>
                </a:solidFill>
                <a:latin typeface="Vazir"/>
                <a:cs typeface="Vazir"/>
              </a:rPr>
              <a:t>0.45</a:t>
            </a:r>
          </a:p>
        </p:txBody>
      </p:sp>
      <p:sp>
        <p:nvSpPr>
          <p:cNvPr id="14" name="Rectangle 13"/>
          <p:cNvSpPr/>
          <p:nvPr/>
        </p:nvSpPr>
        <p:spPr>
          <a:xfrm>
            <a:off x="1325880" y="4846320"/>
            <a:ext cx="10287000" cy="22860"/>
          </a:xfrm>
          <a:prstGeom prst="rect">
            <a:avLst/>
          </a:prstGeom>
          <a:solidFill>
            <a:srgbClr val="E0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588769" y="4153444"/>
            <a:ext cx="1188720" cy="692875"/>
          </a:xfrm>
          <a:prstGeom prst="rect">
            <a:avLst/>
          </a:prstGeom>
          <a:solidFill>
            <a:srgbClr val="E9A8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60169" y="3842548"/>
            <a:ext cx="1645920" cy="274320"/>
          </a:xfrm>
          <a:prstGeom prst="rect">
            <a:avLst/>
          </a:prstGeom>
          <a:noFill/>
        </p:spPr>
        <p:txBody>
          <a:bodyPr wrap="square" anchor="t" lIns="0" rIns="0" tIns="0" bIns="0">
            <a:spAutoFit/>
          </a:bodyPr>
          <a:lstStyle/>
          <a:p>
            <a:pPr rtl="0" algn="ctr">
              <a:spcBef>
                <a:spcPts val="0"/>
              </a:spcBef>
              <a:spcAft>
                <a:spcPts val="0"/>
              </a:spcAft>
            </a:pPr>
            <a:r>
              <a:rPr sz="1100" b="1" i="0">
                <a:solidFill>
                  <a:srgbClr val="4A2A38"/>
                </a:solidFill>
                <a:latin typeface="Vazir"/>
                <a:cs typeface="Vazir"/>
              </a:rPr>
              <a:t>0.2975</a:t>
            </a:r>
          </a:p>
        </p:txBody>
      </p:sp>
      <p:sp>
        <p:nvSpPr>
          <p:cNvPr id="17" name="TextBox 16"/>
          <p:cNvSpPr txBox="1"/>
          <p:nvPr/>
        </p:nvSpPr>
        <p:spPr>
          <a:xfrm>
            <a:off x="1268729" y="4937759"/>
            <a:ext cx="1828800" cy="274320"/>
          </a:xfrm>
          <a:prstGeom prst="rect">
            <a:avLst/>
          </a:prstGeom>
          <a:noFill/>
        </p:spPr>
        <p:txBody>
          <a:bodyPr wrap="square" anchor="t" lIns="0" rIns="0" tIns="0" bIns="0">
            <a:spAutoFit/>
          </a:bodyPr>
          <a:lstStyle/>
          <a:p>
            <a:pPr rtl="0" algn="ctr">
              <a:spcBef>
                <a:spcPts val="0"/>
              </a:spcBef>
              <a:spcAft>
                <a:spcPts val="0"/>
              </a:spcAft>
            </a:pPr>
            <a:r>
              <a:rPr sz="1100" b="0" i="0">
                <a:solidFill>
                  <a:srgbClr val="4A2A38"/>
                </a:solidFill>
                <a:latin typeface="Vazir"/>
                <a:cs typeface="Vazir"/>
              </a:rPr>
              <a:t>MLP / ViT-B</a:t>
            </a:r>
          </a:p>
        </p:txBody>
      </p:sp>
      <p:sp>
        <p:nvSpPr>
          <p:cNvPr id="18" name="Rectangle 17"/>
          <p:cNvSpPr/>
          <p:nvPr/>
        </p:nvSpPr>
        <p:spPr>
          <a:xfrm>
            <a:off x="3303270" y="3469320"/>
            <a:ext cx="1188720" cy="1376999"/>
          </a:xfrm>
          <a:prstGeom prst="rect">
            <a:avLst/>
          </a:prstGeom>
          <a:solidFill>
            <a:srgbClr val="E9A8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074670" y="3158424"/>
            <a:ext cx="1645920" cy="274320"/>
          </a:xfrm>
          <a:prstGeom prst="rect">
            <a:avLst/>
          </a:prstGeom>
          <a:noFill/>
        </p:spPr>
        <p:txBody>
          <a:bodyPr wrap="square" anchor="t" lIns="0" rIns="0" tIns="0" bIns="0">
            <a:spAutoFit/>
          </a:bodyPr>
          <a:lstStyle/>
          <a:p>
            <a:pPr rtl="0" algn="ctr">
              <a:spcBef>
                <a:spcPts val="0"/>
              </a:spcBef>
              <a:spcAft>
                <a:spcPts val="0"/>
              </a:spcAft>
            </a:pPr>
            <a:r>
              <a:rPr sz="1100" b="1" i="0">
                <a:solidFill>
                  <a:srgbClr val="4A2A38"/>
                </a:solidFill>
                <a:latin typeface="Vazir"/>
                <a:cs typeface="Vazir"/>
              </a:rPr>
              <a:t>0.3444</a:t>
            </a:r>
          </a:p>
        </p:txBody>
      </p:sp>
      <p:sp>
        <p:nvSpPr>
          <p:cNvPr id="20" name="TextBox 19"/>
          <p:cNvSpPr txBox="1"/>
          <p:nvPr/>
        </p:nvSpPr>
        <p:spPr>
          <a:xfrm>
            <a:off x="2983230" y="4937759"/>
            <a:ext cx="1828800" cy="274320"/>
          </a:xfrm>
          <a:prstGeom prst="rect">
            <a:avLst/>
          </a:prstGeom>
          <a:noFill/>
        </p:spPr>
        <p:txBody>
          <a:bodyPr wrap="square" anchor="t" lIns="0" rIns="0" tIns="0" bIns="0">
            <a:spAutoFit/>
          </a:bodyPr>
          <a:lstStyle/>
          <a:p>
            <a:pPr rtl="0" algn="ctr">
              <a:spcBef>
                <a:spcPts val="0"/>
              </a:spcBef>
              <a:spcAft>
                <a:spcPts val="0"/>
              </a:spcAft>
            </a:pPr>
            <a:r>
              <a:rPr sz="1100" b="0" i="0">
                <a:solidFill>
                  <a:srgbClr val="4A2A38"/>
                </a:solidFill>
                <a:latin typeface="Vazir"/>
                <a:cs typeface="Vazir"/>
              </a:rPr>
              <a:t>+ Temporal</a:t>
            </a:r>
          </a:p>
        </p:txBody>
      </p:sp>
      <p:sp>
        <p:nvSpPr>
          <p:cNvPr id="21" name="Rectangle 20"/>
          <p:cNvSpPr/>
          <p:nvPr/>
        </p:nvSpPr>
        <p:spPr>
          <a:xfrm>
            <a:off x="5017770" y="3176124"/>
            <a:ext cx="1188720" cy="1670195"/>
          </a:xfrm>
          <a:prstGeom prst="rect">
            <a:avLst/>
          </a:prstGeom>
          <a:solidFill>
            <a:srgbClr val="E9A8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89170" y="2865228"/>
            <a:ext cx="1645920" cy="274320"/>
          </a:xfrm>
          <a:prstGeom prst="rect">
            <a:avLst/>
          </a:prstGeom>
          <a:noFill/>
        </p:spPr>
        <p:txBody>
          <a:bodyPr wrap="square" anchor="t" lIns="0" rIns="0" tIns="0" bIns="0">
            <a:spAutoFit/>
          </a:bodyPr>
          <a:lstStyle/>
          <a:p>
            <a:pPr rtl="0" algn="ctr">
              <a:spcBef>
                <a:spcPts val="0"/>
              </a:spcBef>
              <a:spcAft>
                <a:spcPts val="0"/>
              </a:spcAft>
            </a:pPr>
            <a:r>
              <a:rPr sz="1100" b="1" i="0">
                <a:solidFill>
                  <a:srgbClr val="4A2A38"/>
                </a:solidFill>
                <a:latin typeface="Vazir"/>
                <a:cs typeface="Vazir"/>
              </a:rPr>
              <a:t>0.3645</a:t>
            </a:r>
          </a:p>
        </p:txBody>
      </p:sp>
      <p:sp>
        <p:nvSpPr>
          <p:cNvPr id="23" name="TextBox 22"/>
          <p:cNvSpPr txBox="1"/>
          <p:nvPr/>
        </p:nvSpPr>
        <p:spPr>
          <a:xfrm>
            <a:off x="4697730" y="4937759"/>
            <a:ext cx="1828800" cy="274320"/>
          </a:xfrm>
          <a:prstGeom prst="rect">
            <a:avLst/>
          </a:prstGeom>
          <a:noFill/>
        </p:spPr>
        <p:txBody>
          <a:bodyPr wrap="square" anchor="t" lIns="0" rIns="0" tIns="0" bIns="0">
            <a:spAutoFit/>
          </a:bodyPr>
          <a:lstStyle/>
          <a:p>
            <a:pPr rtl="0" algn="ctr">
              <a:spcBef>
                <a:spcPts val="0"/>
              </a:spcBef>
              <a:spcAft>
                <a:spcPts val="0"/>
              </a:spcAft>
            </a:pPr>
            <a:r>
              <a:rPr sz="1100" b="0" i="0">
                <a:solidFill>
                  <a:srgbClr val="4A2A38"/>
                </a:solidFill>
                <a:latin typeface="Vazir"/>
                <a:cs typeface="Vazir"/>
              </a:rPr>
              <a:t>+ lr 3e-4</a:t>
            </a:r>
          </a:p>
        </p:txBody>
      </p:sp>
      <p:sp>
        <p:nvSpPr>
          <p:cNvPr id="24" name="Rectangle 23"/>
          <p:cNvSpPr/>
          <p:nvPr/>
        </p:nvSpPr>
        <p:spPr>
          <a:xfrm>
            <a:off x="6732270" y="2480331"/>
            <a:ext cx="1188720" cy="2365988"/>
          </a:xfrm>
          <a:prstGeom prst="rect">
            <a:avLst/>
          </a:prstGeom>
          <a:solidFill>
            <a:srgbClr val="D9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03670" y="2169435"/>
            <a:ext cx="1645920" cy="274320"/>
          </a:xfrm>
          <a:prstGeom prst="rect">
            <a:avLst/>
          </a:prstGeom>
          <a:noFill/>
        </p:spPr>
        <p:txBody>
          <a:bodyPr wrap="square" anchor="t" lIns="0" rIns="0" tIns="0" bIns="0">
            <a:spAutoFit/>
          </a:bodyPr>
          <a:lstStyle/>
          <a:p>
            <a:pPr rtl="0" algn="ctr">
              <a:spcBef>
                <a:spcPts val="0"/>
              </a:spcBef>
              <a:spcAft>
                <a:spcPts val="0"/>
              </a:spcAft>
            </a:pPr>
            <a:r>
              <a:rPr sz="1100" b="1" i="0">
                <a:solidFill>
                  <a:srgbClr val="4A2A38"/>
                </a:solidFill>
                <a:latin typeface="Vazir"/>
                <a:cs typeface="Vazir"/>
              </a:rPr>
              <a:t>0.4122</a:t>
            </a:r>
          </a:p>
        </p:txBody>
      </p:sp>
      <p:sp>
        <p:nvSpPr>
          <p:cNvPr id="26" name="TextBox 25"/>
          <p:cNvSpPr txBox="1"/>
          <p:nvPr/>
        </p:nvSpPr>
        <p:spPr>
          <a:xfrm>
            <a:off x="6412230" y="4937759"/>
            <a:ext cx="1828800" cy="274320"/>
          </a:xfrm>
          <a:prstGeom prst="rect">
            <a:avLst/>
          </a:prstGeom>
          <a:noFill/>
        </p:spPr>
        <p:txBody>
          <a:bodyPr wrap="square" anchor="t" lIns="0" rIns="0" tIns="0" bIns="0">
            <a:spAutoFit/>
          </a:bodyPr>
          <a:lstStyle/>
          <a:p>
            <a:pPr rtl="0" algn="ctr">
              <a:spcBef>
                <a:spcPts val="0"/>
              </a:spcBef>
              <a:spcAft>
                <a:spcPts val="0"/>
              </a:spcAft>
            </a:pPr>
            <a:r>
              <a:rPr sz="1100" b="0" i="0">
                <a:solidFill>
                  <a:srgbClr val="4A2A38"/>
                </a:solidFill>
                <a:latin typeface="Vazir"/>
                <a:cs typeface="Vazir"/>
              </a:rPr>
              <a:t>+ ViT-L</a:t>
            </a:r>
          </a:p>
        </p:txBody>
      </p:sp>
      <p:sp>
        <p:nvSpPr>
          <p:cNvPr id="27" name="Rectangle 26"/>
          <p:cNvSpPr/>
          <p:nvPr/>
        </p:nvSpPr>
        <p:spPr>
          <a:xfrm>
            <a:off x="8446769" y="2423443"/>
            <a:ext cx="1188720" cy="2422876"/>
          </a:xfrm>
          <a:prstGeom prst="rect">
            <a:avLst/>
          </a:prstGeom>
          <a:solidFill>
            <a:srgbClr val="D9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18169" y="2112547"/>
            <a:ext cx="1645920" cy="274320"/>
          </a:xfrm>
          <a:prstGeom prst="rect">
            <a:avLst/>
          </a:prstGeom>
          <a:noFill/>
        </p:spPr>
        <p:txBody>
          <a:bodyPr wrap="square" anchor="t" lIns="0" rIns="0" tIns="0" bIns="0">
            <a:spAutoFit/>
          </a:bodyPr>
          <a:lstStyle/>
          <a:p>
            <a:pPr rtl="0" algn="ctr">
              <a:spcBef>
                <a:spcPts val="0"/>
              </a:spcBef>
              <a:spcAft>
                <a:spcPts val="0"/>
              </a:spcAft>
            </a:pPr>
            <a:r>
              <a:rPr sz="1100" b="1" i="0">
                <a:solidFill>
                  <a:srgbClr val="4A2A38"/>
                </a:solidFill>
                <a:latin typeface="Vazir"/>
                <a:cs typeface="Vazir"/>
              </a:rPr>
              <a:t>0.4161</a:t>
            </a:r>
          </a:p>
        </p:txBody>
      </p:sp>
      <p:sp>
        <p:nvSpPr>
          <p:cNvPr id="29" name="TextBox 28"/>
          <p:cNvSpPr txBox="1"/>
          <p:nvPr/>
        </p:nvSpPr>
        <p:spPr>
          <a:xfrm>
            <a:off x="8126729" y="4937759"/>
            <a:ext cx="1828800" cy="274320"/>
          </a:xfrm>
          <a:prstGeom prst="rect">
            <a:avLst/>
          </a:prstGeom>
          <a:noFill/>
        </p:spPr>
        <p:txBody>
          <a:bodyPr wrap="square" anchor="t" lIns="0" rIns="0" tIns="0" bIns="0">
            <a:spAutoFit/>
          </a:bodyPr>
          <a:lstStyle/>
          <a:p>
            <a:pPr rtl="0" algn="ctr">
              <a:spcBef>
                <a:spcPts val="0"/>
              </a:spcBef>
              <a:spcAft>
                <a:spcPts val="0"/>
              </a:spcAft>
            </a:pPr>
            <a:r>
              <a:rPr sz="1100" b="0" i="0">
                <a:solidFill>
                  <a:srgbClr val="4A2A38"/>
                </a:solidFill>
                <a:latin typeface="Vazir"/>
                <a:cs typeface="Vazir"/>
              </a:rPr>
              <a:t>+ Mixup</a:t>
            </a:r>
          </a:p>
        </p:txBody>
      </p:sp>
      <p:sp>
        <p:nvSpPr>
          <p:cNvPr id="30" name="Rectangle 29"/>
          <p:cNvSpPr/>
          <p:nvPr/>
        </p:nvSpPr>
        <p:spPr>
          <a:xfrm>
            <a:off x="10161269" y="2223603"/>
            <a:ext cx="1188720" cy="2622716"/>
          </a:xfrm>
          <a:prstGeom prst="rect">
            <a:avLst/>
          </a:prstGeom>
          <a:solidFill>
            <a:srgbClr val="D9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932669" y="1912707"/>
            <a:ext cx="1645920" cy="274320"/>
          </a:xfrm>
          <a:prstGeom prst="rect">
            <a:avLst/>
          </a:prstGeom>
          <a:noFill/>
        </p:spPr>
        <p:txBody>
          <a:bodyPr wrap="square" anchor="t" lIns="0" rIns="0" tIns="0" bIns="0">
            <a:spAutoFit/>
          </a:bodyPr>
          <a:lstStyle/>
          <a:p>
            <a:pPr rtl="0" algn="ctr">
              <a:spcBef>
                <a:spcPts val="0"/>
              </a:spcBef>
              <a:spcAft>
                <a:spcPts val="0"/>
              </a:spcAft>
            </a:pPr>
            <a:r>
              <a:rPr sz="1100" b="1" i="0">
                <a:solidFill>
                  <a:srgbClr val="4A2A38"/>
                </a:solidFill>
                <a:latin typeface="Vazir"/>
                <a:cs typeface="Vazir"/>
              </a:rPr>
              <a:t>0.4298</a:t>
            </a:r>
          </a:p>
        </p:txBody>
      </p:sp>
      <p:sp>
        <p:nvSpPr>
          <p:cNvPr id="32" name="TextBox 31"/>
          <p:cNvSpPr txBox="1"/>
          <p:nvPr/>
        </p:nvSpPr>
        <p:spPr>
          <a:xfrm>
            <a:off x="9841230" y="4937759"/>
            <a:ext cx="1828800" cy="274320"/>
          </a:xfrm>
          <a:prstGeom prst="rect">
            <a:avLst/>
          </a:prstGeom>
          <a:noFill/>
        </p:spPr>
        <p:txBody>
          <a:bodyPr wrap="square" anchor="t" lIns="0" rIns="0" tIns="0" bIns="0">
            <a:spAutoFit/>
          </a:bodyPr>
          <a:lstStyle/>
          <a:p>
            <a:pPr rtl="0" algn="ctr">
              <a:spcBef>
                <a:spcPts val="0"/>
              </a:spcBef>
              <a:spcAft>
                <a:spcPts val="0"/>
              </a:spcAft>
            </a:pPr>
            <a:r>
              <a:rPr sz="1100" b="0" i="0">
                <a:solidFill>
                  <a:srgbClr val="4A2A38"/>
                </a:solidFill>
                <a:latin typeface="Vazir"/>
                <a:cs typeface="Vazir"/>
              </a:rPr>
              <a:t>+ Logit adj.</a:t>
            </a:r>
          </a:p>
        </p:txBody>
      </p:sp>
      <p:sp>
        <p:nvSpPr>
          <p:cNvPr id="33" name="TextBox 32"/>
          <p:cNvSpPr txBox="1"/>
          <p:nvPr/>
        </p:nvSpPr>
        <p:spPr>
          <a:xfrm>
            <a:off x="548640" y="5349240"/>
            <a:ext cx="35661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4E9E90"/>
                </a:solidFill>
                <a:latin typeface="Vazir"/>
                <a:cs typeface="Vazir"/>
              </a:rPr>
              <a:t>+0.1323</a:t>
            </a:r>
          </a:p>
        </p:txBody>
      </p:sp>
      <p:sp>
        <p:nvSpPr>
          <p:cNvPr id="34" name="TextBox 33"/>
          <p:cNvSpPr txBox="1"/>
          <p:nvPr/>
        </p:nvSpPr>
        <p:spPr>
          <a:xfrm>
            <a:off x="548640" y="6062472"/>
            <a:ext cx="35661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بهبود مطلق ماکرو F1</a:t>
            </a:r>
          </a:p>
        </p:txBody>
      </p:sp>
      <p:sp>
        <p:nvSpPr>
          <p:cNvPr id="35" name="TextBox 34"/>
          <p:cNvSpPr txBox="1"/>
          <p:nvPr/>
        </p:nvSpPr>
        <p:spPr>
          <a:xfrm>
            <a:off x="4297680" y="5349240"/>
            <a:ext cx="35661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4E9E90"/>
                </a:solidFill>
                <a:latin typeface="Vazir"/>
                <a:cs typeface="Vazir"/>
              </a:rPr>
              <a:t>+44%</a:t>
            </a:r>
          </a:p>
        </p:txBody>
      </p:sp>
      <p:sp>
        <p:nvSpPr>
          <p:cNvPr id="36" name="TextBox 35"/>
          <p:cNvSpPr txBox="1"/>
          <p:nvPr/>
        </p:nvSpPr>
        <p:spPr>
          <a:xfrm>
            <a:off x="4297680" y="6062472"/>
            <a:ext cx="35661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بهبود نسبی</a:t>
            </a:r>
          </a:p>
        </p:txBody>
      </p:sp>
      <p:sp>
        <p:nvSpPr>
          <p:cNvPr id="37" name="TextBox 36"/>
          <p:cNvSpPr txBox="1"/>
          <p:nvPr/>
        </p:nvSpPr>
        <p:spPr>
          <a:xfrm>
            <a:off x="8046720" y="5349240"/>
            <a:ext cx="35661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D94F8C"/>
                </a:solidFill>
                <a:latin typeface="Vazir"/>
                <a:cs typeface="Vazir"/>
              </a:rPr>
              <a:t>0.075</a:t>
            </a:r>
          </a:p>
        </p:txBody>
      </p:sp>
      <p:sp>
        <p:nvSpPr>
          <p:cNvPr id="38" name="TextBox 37"/>
          <p:cNvSpPr txBox="1"/>
          <p:nvPr/>
        </p:nvSpPr>
        <p:spPr>
          <a:xfrm>
            <a:off x="8046720" y="6062472"/>
            <a:ext cx="35661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کف نوفه این مجموعه آزمون</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19</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آزمایش‌هایی که نتیجه ندادند</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صداقت روش‌شناختی</a:t>
            </a:r>
          </a:p>
        </p:txBody>
      </p:sp>
      <p:graphicFrame>
        <p:nvGraphicFramePr>
          <p:cNvPr id="6" name="Table 5"/>
          <p:cNvGraphicFramePr>
            <a:graphicFrameLocks noGrp="1"/>
          </p:cNvGraphicFramePr>
          <p:nvPr/>
        </p:nvGraphicFramePr>
        <p:xfrm>
          <a:off x="548640" y="1691640"/>
          <a:ext cx="11064240" cy="2414016"/>
        </p:xfrm>
        <a:graphic>
          <a:graphicData uri="http://schemas.openxmlformats.org/drawingml/2006/table">
            <a:tbl>
              <a:tblPr firstRow="0" bandRow="0">
                <a:tableStyleId>{5C22544A-7EE6-4342-B048-85BDC9FD1C3A}</a:tableStyleId>
              </a:tblPr>
              <a:tblGrid>
                <a:gridCol w="5577840"/>
                <a:gridCol w="1828800"/>
                <a:gridCol w="1828800"/>
                <a:gridCol w="1828800"/>
              </a:tblGrid>
              <a:tr h="301752">
                <a:tc>
                  <a:txBody>
                    <a:bodyPr wrap="square"/>
                    <a:lstStyle/>
                    <a:p>
                      <a:pPr rtl="1" algn="ctr">
                        <a:spcBef>
                          <a:spcPts val="0"/>
                        </a:spcBef>
                        <a:spcAft>
                          <a:spcPts val="0"/>
                        </a:spcAft>
                      </a:pPr>
                      <a:r>
                        <a:rPr sz="1200" b="1" i="0">
                          <a:solidFill>
                            <a:srgbClr val="D94F8C"/>
                          </a:solidFill>
                          <a:latin typeface="Vazir"/>
                          <a:cs typeface="Vazir"/>
                        </a:rPr>
                        <a:t>آزمایش</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00" b="1" i="0">
                          <a:solidFill>
                            <a:srgbClr val="D94F8C"/>
                          </a:solidFill>
                          <a:latin typeface="Vazir"/>
                          <a:cs typeface="Vazir"/>
                        </a:rPr>
                        <a:t>نتیجه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00" b="1" i="0">
                          <a:solidFill>
                            <a:srgbClr val="D94F8C"/>
                          </a:solidFill>
                          <a:latin typeface="Vazir"/>
                          <a:cs typeface="Vazir"/>
                        </a:rPr>
                        <a:t>مرجع</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00" b="1" i="0">
                          <a:solidFill>
                            <a:srgbClr val="D94F8C"/>
                          </a:solidFill>
                          <a:latin typeface="Vazir"/>
                          <a:cs typeface="Vazir"/>
                        </a:rPr>
                        <a:t>داوری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301752">
                <a:tc>
                  <a:txBody>
                    <a:bodyPr wrap="square"/>
                    <a:lstStyle/>
                    <a:p>
                      <a:pPr rtl="1" algn="r">
                        <a:spcBef>
                          <a:spcPts val="0"/>
                        </a:spcBef>
                        <a:spcAft>
                          <a:spcPts val="0"/>
                        </a:spcAft>
                      </a:pPr>
                      <a:r>
                        <a:rPr sz="1200" b="0" i="0">
                          <a:solidFill>
                            <a:srgbClr val="4A2A38"/>
                          </a:solidFill>
                          <a:latin typeface="Vazir"/>
                          <a:cs typeface="Vazir"/>
                        </a:rPr>
                        <a:t>نمونه‌برداری سبک Kinetics با گام ۴ فریم</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0.3089</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0.3405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بدتر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01752">
                <a:tc>
                  <a:txBody>
                    <a:bodyPr wrap="square"/>
                    <a:lstStyle/>
                    <a:p>
                      <a:pPr rtl="1" algn="r">
                        <a:spcBef>
                          <a:spcPts val="0"/>
                        </a:spcBef>
                        <a:spcAft>
                          <a:spcPts val="0"/>
                        </a:spcAft>
                      </a:pPr>
                      <a:r>
                        <a:rPr sz="1200" b="0" i="0">
                          <a:solidFill>
                            <a:srgbClr val="4A2A38"/>
                          </a:solidFill>
                          <a:latin typeface="Vazir"/>
                          <a:cs typeface="Vazir"/>
                        </a:rPr>
                        <a:t>دو برابر کردن تعداد قطعه‌ها به ۳۲</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0.3875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0.3955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بدتر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01752">
                <a:tc>
                  <a:txBody>
                    <a:bodyPr wrap="square"/>
                    <a:lstStyle/>
                    <a:p>
                      <a:pPr rtl="1" algn="r">
                        <a:spcBef>
                          <a:spcPts val="0"/>
                        </a:spcBef>
                        <a:spcAft>
                          <a:spcPts val="0"/>
                        </a:spcAft>
                      </a:pPr>
                      <a:r>
                        <a:rPr sz="1200" b="0" i="0">
                          <a:solidFill>
                            <a:srgbClr val="4A2A38"/>
                          </a:solidFill>
                          <a:latin typeface="Vazir"/>
                          <a:cs typeface="Vazir"/>
                        </a:rPr>
                        <a:t>الحاق ویژگی دو رمزگذار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0.3974</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0.3955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درون نوفه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01752">
                <a:tc>
                  <a:txBody>
                    <a:bodyPr wrap="square"/>
                    <a:lstStyle/>
                    <a:p>
                      <a:pPr rtl="1" algn="r">
                        <a:spcBef>
                          <a:spcPts val="0"/>
                        </a:spcBef>
                        <a:spcAft>
                          <a:spcPts val="0"/>
                        </a:spcAft>
                      </a:pPr>
                      <a:r>
                        <a:rPr sz="1200" b="0" i="0">
                          <a:solidFill>
                            <a:srgbClr val="4A2A38"/>
                          </a:solidFill>
                          <a:latin typeface="Vazir"/>
                          <a:cs typeface="Vazir"/>
                        </a:rPr>
                        <a:t>آموزش با یک قطعه برتر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بدون بهبود</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01752">
                <a:tc>
                  <a:txBody>
                    <a:bodyPr wrap="square"/>
                    <a:lstStyle/>
                    <a:p>
                      <a:pPr rtl="1" algn="r">
                        <a:spcBef>
                          <a:spcPts val="0"/>
                        </a:spcBef>
                        <a:spcAft>
                          <a:spcPts val="0"/>
                        </a:spcAft>
                      </a:pPr>
                      <a:r>
                        <a:rPr sz="1200" b="0" i="0">
                          <a:solidFill>
                            <a:srgbClr val="4A2A38"/>
                          </a:solidFill>
                          <a:latin typeface="Vazir"/>
                          <a:cs typeface="Vazir"/>
                        </a:rPr>
                        <a:t>تنظیم لاجیت به‌تنهایی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0.4114</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0.3955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درون نوفه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01752">
                <a:tc>
                  <a:txBody>
                    <a:bodyPr wrap="square"/>
                    <a:lstStyle/>
                    <a:p>
                      <a:pPr rtl="1" algn="r">
                        <a:spcBef>
                          <a:spcPts val="0"/>
                        </a:spcBef>
                        <a:spcAft>
                          <a:spcPts val="0"/>
                        </a:spcAft>
                      </a:pPr>
                      <a:r>
                        <a:rPr sz="1200" b="0" i="0">
                          <a:solidFill>
                            <a:srgbClr val="4A2A38"/>
                          </a:solidFill>
                          <a:latin typeface="Vazir"/>
                          <a:cs typeface="Vazir"/>
                        </a:rPr>
                        <a:t>میانگین‌گیری بذرها برای ماکرو F1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بدون بهبود</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01752">
                <a:tc>
                  <a:txBody>
                    <a:bodyPr wrap="square"/>
                    <a:lstStyle/>
                    <a:p>
                      <a:pPr rtl="1" algn="r">
                        <a:spcBef>
                          <a:spcPts val="0"/>
                        </a:spcBef>
                        <a:spcAft>
                          <a:spcPts val="0"/>
                        </a:spcAft>
                      </a:pPr>
                      <a:r>
                        <a:rPr sz="1200" b="0" i="0">
                          <a:solidFill>
                            <a:srgbClr val="4A2A38"/>
                          </a:solidFill>
                          <a:latin typeface="Vazir"/>
                          <a:cs typeface="Vazir"/>
                        </a:rPr>
                        <a:t>بازنویسی توصیف‌های متنی کلاس‌ها</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0.74</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0.86</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بدتر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bl>
          </a:graphicData>
        </a:graphic>
      </p:graphicFrame>
      <p:sp>
        <p:nvSpPr>
          <p:cNvPr id="7" name="Rectangle 6"/>
          <p:cNvSpPr/>
          <p:nvPr/>
        </p:nvSpPr>
        <p:spPr>
          <a:xfrm>
            <a:off x="548640" y="4343400"/>
            <a:ext cx="11064240" cy="178308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4526280"/>
            <a:ext cx="10424160" cy="320040"/>
          </a:xfrm>
          <a:prstGeom prst="rect">
            <a:avLst/>
          </a:prstGeom>
          <a:noFill/>
        </p:spPr>
        <p:txBody>
          <a:bodyPr wrap="square" anchor="t" lIns="0" rIns="0" tIns="0" bIns="0">
            <a:spAutoFit/>
          </a:bodyPr>
          <a:lstStyle/>
          <a:p>
            <a:pPr rtl="1" algn="r">
              <a:spcBef>
                <a:spcPts val="0"/>
              </a:spcBef>
              <a:spcAft>
                <a:spcPts val="0"/>
              </a:spcAft>
            </a:pPr>
            <a:r>
              <a:rPr sz="1500" b="1" i="0">
                <a:solidFill>
                  <a:srgbClr val="D94F8C"/>
                </a:solidFill>
                <a:latin typeface="Vazir"/>
                <a:cs typeface="Vazir"/>
              </a:rPr>
              <a:t>چرا نمونه‌برداری استاندارد بدتر شد — مهم‌ترین یافته منفی</a:t>
            </a:r>
          </a:p>
        </p:txBody>
      </p:sp>
      <p:sp>
        <p:nvSpPr>
          <p:cNvPr id="9" name="TextBox 8"/>
          <p:cNvSpPr txBox="1"/>
          <p:nvPr/>
        </p:nvSpPr>
        <p:spPr>
          <a:xfrm>
            <a:off x="868680" y="4892040"/>
            <a:ext cx="10424160" cy="1143000"/>
          </a:xfrm>
          <a:prstGeom prst="rect">
            <a:avLst/>
          </a:prstGeom>
          <a:noFill/>
        </p:spPr>
        <p:txBody>
          <a:bodyPr wrap="square" anchor="t" lIns="0" rIns="0" tIns="0" bIns="0">
            <a:spAutoFit/>
          </a:bodyPr>
          <a:lstStyle/>
          <a:p>
            <a:pPr rtl="1" algn="r">
              <a:lnSpc>
                <a:spcPts val="1800"/>
              </a:lnSpc>
              <a:spcBef>
                <a:spcPts val="0"/>
              </a:spcBef>
              <a:spcAft>
                <a:spcPts val="600"/>
              </a:spcAft>
            </a:pPr>
            <a:r>
              <a:rPr sz="1200" b="0" i="0">
                <a:solidFill>
                  <a:srgbClr val="4A2A38"/>
                </a:solidFill>
                <a:latin typeface="Vazir"/>
                <a:cs typeface="Vazir"/>
              </a:rPr>
              <a:t>قطعه‌های ما کشیده بودند و با نرخ نمونه‌برداری وزن‌های پیش‌آموزش‌دیده نمی‌خواندند. اصلاح آن نتیجه را بدتر کرد: قطعه‌های کشیده کل ویدیو را می‌پوشانند، در حالی که سی‌ودو پنجره دو ثانیه‌ای تنها حدود ۲۱ درصد یک ویدیوی طولانی را لمس می‌کنند.</a:t>
            </a:r>
          </a:p>
          <a:p>
            <a:pPr rtl="1" algn="r">
              <a:lnSpc>
                <a:spcPts val="1800"/>
              </a:lnSpc>
              <a:spcBef>
                <a:spcPts val="0"/>
              </a:spcBef>
              <a:spcAft>
                <a:spcPts val="600"/>
              </a:spcAft>
            </a:pPr>
            <a:r>
              <a:rPr sz="1200" b="0" i="0">
                <a:solidFill>
                  <a:srgbClr val="4A2A38"/>
                </a:solidFill>
                <a:latin typeface="Vazir"/>
                <a:cs typeface="Vazir"/>
              </a:rPr>
              <a:t>نتیجه: پوشش بر اعتبار قطعه غلبه دارد.</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20</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چقدر از این اعداد نوفه است؟</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اعتبارسنجی آماری</a:t>
            </a:r>
          </a:p>
        </p:txBody>
      </p:sp>
      <p:sp>
        <p:nvSpPr>
          <p:cNvPr id="6" name="TextBox 5"/>
          <p:cNvSpPr txBox="1"/>
          <p:nvPr/>
        </p:nvSpPr>
        <p:spPr>
          <a:xfrm>
            <a:off x="548640" y="1627632"/>
            <a:ext cx="11064240" cy="365760"/>
          </a:xfrm>
          <a:prstGeom prst="rect">
            <a:avLst/>
          </a:prstGeom>
          <a:noFill/>
        </p:spPr>
        <p:txBody>
          <a:bodyPr wrap="square" anchor="t" lIns="0" rIns="0" tIns="0" bIns="0">
            <a:spAutoFit/>
          </a:bodyPr>
          <a:lstStyle/>
          <a:p>
            <a:pPr rtl="1" algn="r">
              <a:spcBef>
                <a:spcPts val="0"/>
              </a:spcBef>
              <a:spcAft>
                <a:spcPts val="0"/>
              </a:spcAft>
            </a:pPr>
            <a:r>
              <a:rPr sz="1400" b="0" i="0">
                <a:solidFill>
                  <a:srgbClr val="4A2A38"/>
                </a:solidFill>
                <a:latin typeface="Vazir"/>
                <a:cs typeface="Vazir"/>
              </a:rPr>
              <a:t>مجموعه آزمون با ۴۰۰۰ بار بازنمونه‌گیری خودگردان تحلیل شد تا پراکندگی مورد انتظار تخمین زده شود.</a:t>
            </a:r>
          </a:p>
        </p:txBody>
      </p:sp>
      <p:graphicFrame>
        <p:nvGraphicFramePr>
          <p:cNvPr id="7" name="Table 6"/>
          <p:cNvGraphicFramePr>
            <a:graphicFrameLocks noGrp="1"/>
          </p:cNvGraphicFramePr>
          <p:nvPr/>
        </p:nvGraphicFramePr>
        <p:xfrm>
          <a:off x="548640" y="2148840"/>
          <a:ext cx="6675120" cy="1920240"/>
        </p:xfrm>
        <a:graphic>
          <a:graphicData uri="http://schemas.openxmlformats.org/drawingml/2006/table">
            <a:tbl>
              <a:tblPr firstRow="0" bandRow="0">
                <a:tableStyleId>{5C22544A-7EE6-4342-B048-85BDC9FD1C3A}</a:tableStyleId>
              </a:tblPr>
              <a:tblGrid>
                <a:gridCol w="2011680"/>
                <a:gridCol w="1554480"/>
                <a:gridCol w="1554480"/>
                <a:gridCol w="1554480"/>
              </a:tblGrid>
              <a:tr h="384048">
                <a:tc>
                  <a:txBody>
                    <a:bodyPr wrap="square"/>
                    <a:lstStyle/>
                    <a:p>
                      <a:pPr rtl="1" algn="ctr">
                        <a:spcBef>
                          <a:spcPts val="0"/>
                        </a:spcBef>
                        <a:spcAft>
                          <a:spcPts val="0"/>
                        </a:spcAft>
                      </a:pPr>
                      <a:r>
                        <a:rPr sz="1200" b="1" i="0">
                          <a:solidFill>
                            <a:srgbClr val="D94F8C"/>
                          </a:solidFill>
                          <a:latin typeface="Vazir"/>
                          <a:cs typeface="Vazir"/>
                        </a:rPr>
                        <a:t>معیار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00" b="1" i="0">
                          <a:solidFill>
                            <a:srgbClr val="D94F8C"/>
                          </a:solidFill>
                          <a:latin typeface="Vazir"/>
                          <a:cs typeface="Vazir"/>
                        </a:rPr>
                        <a:t>مقدار نقطه‌ای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00" b="1" i="0">
                          <a:solidFill>
                            <a:srgbClr val="D94F8C"/>
                          </a:solidFill>
                          <a:latin typeface="Vazir"/>
                          <a:cs typeface="Vazir"/>
                        </a:rPr>
                        <a:t>انحراف معیار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00" b="1" i="0">
                          <a:solidFill>
                            <a:srgbClr val="D94F8C"/>
                          </a:solidFill>
                          <a:latin typeface="Vazir"/>
                          <a:cs typeface="Vazir"/>
                        </a:rPr>
                        <a:t>بازه اطمینان ۹۵ درصد</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384048">
                <a:tc>
                  <a:txBody>
                    <a:bodyPr wrap="square"/>
                    <a:lstStyle/>
                    <a:p>
                      <a:pPr rtl="1" algn="r">
                        <a:spcBef>
                          <a:spcPts val="0"/>
                        </a:spcBef>
                        <a:spcAft>
                          <a:spcPts val="0"/>
                        </a:spcAft>
                      </a:pPr>
                      <a:r>
                        <a:rPr sz="1200" b="1" i="0">
                          <a:solidFill>
                            <a:srgbClr val="C53D7C"/>
                          </a:solidFill>
                          <a:latin typeface="Vazir"/>
                          <a:cs typeface="Vazir"/>
                        </a:rPr>
                        <a:t>ماکرو F1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00" b="1" i="0">
                          <a:solidFill>
                            <a:srgbClr val="C53D7C"/>
                          </a:solidFill>
                          <a:latin typeface="Vazir"/>
                          <a:cs typeface="Vazir"/>
                        </a:rPr>
                        <a:t>0.4298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00" b="1" i="0">
                          <a:solidFill>
                            <a:srgbClr val="C53D7C"/>
                          </a:solidFill>
                          <a:latin typeface="Vazir"/>
                          <a:cs typeface="Vazir"/>
                        </a:rPr>
                        <a:t>0.037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00" b="1" i="0">
                          <a:solidFill>
                            <a:srgbClr val="C53D7C"/>
                          </a:solidFill>
                          <a:latin typeface="Vazir"/>
                          <a:cs typeface="Vazir"/>
                        </a:rPr>
                        <a:t>[0.339 , 0.503]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r h="384048">
                <a:tc>
                  <a:txBody>
                    <a:bodyPr wrap="square"/>
                    <a:lstStyle/>
                    <a:p>
                      <a:pPr rtl="1" algn="r">
                        <a:spcBef>
                          <a:spcPts val="0"/>
                        </a:spcBef>
                        <a:spcAft>
                          <a:spcPts val="0"/>
                        </a:spcAft>
                      </a:pPr>
                      <a:r>
                        <a:rPr sz="1200" b="0" i="0">
                          <a:solidFill>
                            <a:srgbClr val="4A2A38"/>
                          </a:solidFill>
                          <a:latin typeface="Vazir"/>
                          <a:cs typeface="Vazir"/>
                        </a:rPr>
                        <a:t>صحت چندکلاسه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0.6897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0.027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[0.635 , 0.745]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84048">
                <a:tc>
                  <a:txBody>
                    <a:bodyPr wrap="square"/>
                    <a:lstStyle/>
                    <a:p>
                      <a:pPr rtl="1" algn="r">
                        <a:spcBef>
                          <a:spcPts val="0"/>
                        </a:spcBef>
                        <a:spcAft>
                          <a:spcPts val="0"/>
                        </a:spcAft>
                      </a:pPr>
                      <a:r>
                        <a:rPr sz="1200" b="0" i="0">
                          <a:solidFill>
                            <a:srgbClr val="4A2A38"/>
                          </a:solidFill>
                          <a:latin typeface="Vazir"/>
                          <a:cs typeface="Vazir"/>
                        </a:rPr>
                        <a:t>صحت نوع ناهنجاری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0.5000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0.041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[0.420 , 0.585]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84048">
                <a:tc>
                  <a:txBody>
                    <a:bodyPr wrap="square"/>
                    <a:lstStyle/>
                    <a:p>
                      <a:pPr rtl="1" algn="r">
                        <a:spcBef>
                          <a:spcPts val="0"/>
                        </a:spcBef>
                        <a:spcAft>
                          <a:spcPts val="0"/>
                        </a:spcAft>
                      </a:pPr>
                      <a:r>
                        <a:rPr sz="1200" b="0" i="0">
                          <a:solidFill>
                            <a:srgbClr val="4A2A38"/>
                          </a:solidFill>
                          <a:latin typeface="Vazir"/>
                          <a:cs typeface="Vazir"/>
                        </a:rPr>
                        <a:t>AUC دودویی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0.9610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0.011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[0.938 , 0.980]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bl>
          </a:graphicData>
        </a:graphic>
      </p:graphicFrame>
      <p:sp>
        <p:nvSpPr>
          <p:cNvPr id="8" name="Rectangle 7"/>
          <p:cNvSpPr/>
          <p:nvPr/>
        </p:nvSpPr>
        <p:spPr>
          <a:xfrm>
            <a:off x="7498079" y="2148840"/>
            <a:ext cx="4114800" cy="1965960"/>
          </a:xfrm>
          <a:prstGeom prst="rect">
            <a:avLst/>
          </a:prstGeom>
          <a:solidFill>
            <a:srgbClr val="F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0" y="2313432"/>
            <a:ext cx="3566160" cy="320040"/>
          </a:xfrm>
          <a:prstGeom prst="rect">
            <a:avLst/>
          </a:prstGeom>
          <a:noFill/>
        </p:spPr>
        <p:txBody>
          <a:bodyPr wrap="square" anchor="t" lIns="0" rIns="0" tIns="0" bIns="0">
            <a:spAutoFit/>
          </a:bodyPr>
          <a:lstStyle/>
          <a:p>
            <a:pPr rtl="1" algn="r">
              <a:spcBef>
                <a:spcPts val="0"/>
              </a:spcBef>
              <a:spcAft>
                <a:spcPts val="0"/>
              </a:spcAft>
            </a:pPr>
            <a:r>
              <a:rPr sz="1600" b="1" i="0">
                <a:solidFill>
                  <a:srgbClr val="D94F8C"/>
                </a:solidFill>
                <a:latin typeface="Vazir"/>
                <a:cs typeface="Vazir"/>
              </a:rPr>
              <a:t>کف نوفه</a:t>
            </a:r>
          </a:p>
        </p:txBody>
      </p:sp>
      <p:sp>
        <p:nvSpPr>
          <p:cNvPr id="10" name="TextBox 9"/>
          <p:cNvSpPr txBox="1"/>
          <p:nvPr/>
        </p:nvSpPr>
        <p:spPr>
          <a:xfrm>
            <a:off x="7772400" y="2651760"/>
            <a:ext cx="3566160" cy="548640"/>
          </a:xfrm>
          <a:prstGeom prst="rect">
            <a:avLst/>
          </a:prstGeom>
          <a:noFill/>
        </p:spPr>
        <p:txBody>
          <a:bodyPr wrap="square" anchor="t" lIns="0" rIns="0" tIns="0" bIns="0">
            <a:spAutoFit/>
          </a:bodyPr>
          <a:lstStyle/>
          <a:p>
            <a:pPr rtl="0" algn="r">
              <a:spcBef>
                <a:spcPts val="0"/>
              </a:spcBef>
              <a:spcAft>
                <a:spcPts val="0"/>
              </a:spcAft>
            </a:pPr>
            <a:r>
              <a:rPr sz="3200" b="1" i="0">
                <a:solidFill>
                  <a:srgbClr val="D94F8C"/>
                </a:solidFill>
                <a:latin typeface="Vazir"/>
                <a:cs typeface="Vazir"/>
              </a:rPr>
              <a:t>0.075</a:t>
            </a:r>
          </a:p>
        </p:txBody>
      </p:sp>
      <p:sp>
        <p:nvSpPr>
          <p:cNvPr id="11" name="TextBox 10"/>
          <p:cNvSpPr txBox="1"/>
          <p:nvPr/>
        </p:nvSpPr>
        <p:spPr>
          <a:xfrm>
            <a:off x="7772400" y="3291840"/>
            <a:ext cx="3566160" cy="731520"/>
          </a:xfrm>
          <a:prstGeom prst="rect">
            <a:avLst/>
          </a:prstGeom>
          <a:noFill/>
        </p:spPr>
        <p:txBody>
          <a:bodyPr wrap="square" anchor="t" lIns="0" rIns="0" tIns="0" bIns="0">
            <a:spAutoFit/>
          </a:bodyPr>
          <a:lstStyle/>
          <a:p>
            <a:pPr rtl="1" algn="r">
              <a:lnSpc>
                <a:spcPts val="1800"/>
              </a:lnSpc>
              <a:spcBef>
                <a:spcPts val="0"/>
              </a:spcBef>
              <a:spcAft>
                <a:spcPts val="0"/>
              </a:spcAft>
            </a:pPr>
            <a:r>
              <a:rPr sz="1200" b="0" i="0">
                <a:solidFill>
                  <a:srgbClr val="4A2A38"/>
                </a:solidFill>
                <a:latin typeface="Vazir"/>
                <a:cs typeface="Vazir"/>
              </a:rPr>
              <a:t>اختلاف کمتر از این مقدار در ماکرو F1 روی این تقسیم از نوفه قابل تفکیک نیست.</a:t>
            </a:r>
          </a:p>
        </p:txBody>
      </p:sp>
      <p:sp>
        <p:nvSpPr>
          <p:cNvPr id="12" name="TextBox 11"/>
          <p:cNvSpPr txBox="1"/>
          <p:nvPr/>
        </p:nvSpPr>
        <p:spPr>
          <a:xfrm>
            <a:off x="548640" y="4297680"/>
            <a:ext cx="11064240" cy="365760"/>
          </a:xfrm>
          <a:prstGeom prst="rect">
            <a:avLst/>
          </a:prstGeom>
          <a:noFill/>
        </p:spPr>
        <p:txBody>
          <a:bodyPr wrap="square" anchor="t" lIns="0" rIns="0" tIns="0" bIns="0">
            <a:spAutoFit/>
          </a:bodyPr>
          <a:lstStyle/>
          <a:p>
            <a:pPr rtl="1" algn="r">
              <a:spcBef>
                <a:spcPts val="0"/>
              </a:spcBef>
              <a:spcAft>
                <a:spcPts val="0"/>
              </a:spcAft>
            </a:pPr>
            <a:r>
              <a:rPr sz="1700" b="1" i="0">
                <a:solidFill>
                  <a:srgbClr val="9E3C67"/>
                </a:solidFill>
                <a:latin typeface="Vazir"/>
                <a:cs typeface="Vazir"/>
              </a:rPr>
              <a:t>سقف تنظیم روی یک مجموعه آزمون کوچک</a:t>
            </a:r>
          </a:p>
        </p:txBody>
      </p:sp>
      <p:graphicFrame>
        <p:nvGraphicFramePr>
          <p:cNvPr id="13" name="Table 12"/>
          <p:cNvGraphicFramePr>
            <a:graphicFrameLocks noGrp="1"/>
          </p:cNvGraphicFramePr>
          <p:nvPr/>
        </p:nvGraphicFramePr>
        <p:xfrm>
          <a:off x="548640" y="4754880"/>
          <a:ext cx="4206240" cy="1207008"/>
        </p:xfrm>
        <a:graphic>
          <a:graphicData uri="http://schemas.openxmlformats.org/drawingml/2006/table">
            <a:tbl>
              <a:tblPr firstRow="0" bandRow="0">
                <a:tableStyleId>{5C22544A-7EE6-4342-B048-85BDC9FD1C3A}</a:tableStyleId>
              </a:tblPr>
              <a:tblGrid>
                <a:gridCol w="2103120"/>
                <a:gridCol w="2103120"/>
              </a:tblGrid>
              <a:tr h="301752">
                <a:tc>
                  <a:txBody>
                    <a:bodyPr wrap="square"/>
                    <a:lstStyle/>
                    <a:p>
                      <a:pPr rtl="1" algn="ctr">
                        <a:spcBef>
                          <a:spcPts val="0"/>
                        </a:spcBef>
                        <a:spcAft>
                          <a:spcPts val="0"/>
                        </a:spcAft>
                      </a:pPr>
                      <a:r>
                        <a:rPr sz="1200" b="1" i="0">
                          <a:solidFill>
                            <a:srgbClr val="D94F8C"/>
                          </a:solidFill>
                          <a:latin typeface="Vazir"/>
                          <a:cs typeface="Vazir"/>
                        </a:rPr>
                        <a:t>تعداد ارزیابی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200" b="1" i="0">
                          <a:solidFill>
                            <a:srgbClr val="D94F8C"/>
                          </a:solidFill>
                          <a:latin typeface="Vazir"/>
                          <a:cs typeface="Vazir"/>
                        </a:rPr>
                        <a:t>تورم مورد انتظار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301752">
                <a:tc>
                  <a:txBody>
                    <a:bodyPr wrap="square"/>
                    <a:lstStyle/>
                    <a:p>
                      <a:pPr rtl="1" algn="r">
                        <a:spcBef>
                          <a:spcPts val="0"/>
                        </a:spcBef>
                        <a:spcAft>
                          <a:spcPts val="0"/>
                        </a:spcAft>
                      </a:pPr>
                      <a:r>
                        <a:rPr sz="1200" b="0" i="0">
                          <a:solidFill>
                            <a:srgbClr val="4A2A38"/>
                          </a:solidFill>
                          <a:latin typeface="Vazir"/>
                          <a:cs typeface="Vazir"/>
                        </a:rPr>
                        <a:t>۸</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200" b="0" i="0">
                          <a:solidFill>
                            <a:srgbClr val="4A2A38"/>
                          </a:solidFill>
                          <a:latin typeface="Vazir"/>
                          <a:cs typeface="Vazir"/>
                        </a:rPr>
                        <a:t>+0.069</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01752">
                <a:tc>
                  <a:txBody>
                    <a:bodyPr wrap="square"/>
                    <a:lstStyle/>
                    <a:p>
                      <a:pPr rtl="1" algn="r">
                        <a:spcBef>
                          <a:spcPts val="0"/>
                        </a:spcBef>
                        <a:spcAft>
                          <a:spcPts val="0"/>
                        </a:spcAft>
                      </a:pPr>
                      <a:r>
                        <a:rPr sz="1200" b="0" i="0">
                          <a:solidFill>
                            <a:srgbClr val="4A2A38"/>
                          </a:solidFill>
                          <a:latin typeface="Vazir"/>
                          <a:cs typeface="Vazir"/>
                        </a:rPr>
                        <a:t>۵۰</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200" b="0" i="0">
                          <a:solidFill>
                            <a:srgbClr val="4A2A38"/>
                          </a:solidFill>
                          <a:latin typeface="Vazir"/>
                          <a:cs typeface="Vazir"/>
                        </a:rPr>
                        <a:t>+0.095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01752">
                <a:tc>
                  <a:txBody>
                    <a:bodyPr wrap="square"/>
                    <a:lstStyle/>
                    <a:p>
                      <a:pPr rtl="1" algn="r">
                        <a:spcBef>
                          <a:spcPts val="0"/>
                        </a:spcBef>
                        <a:spcAft>
                          <a:spcPts val="0"/>
                        </a:spcAft>
                      </a:pPr>
                      <a:r>
                        <a:rPr sz="1200" b="1" i="0">
                          <a:solidFill>
                            <a:srgbClr val="C53D7C"/>
                          </a:solidFill>
                          <a:latin typeface="Vazir"/>
                          <a:cs typeface="Vazir"/>
                        </a:rPr>
                        <a:t>۲۰۰</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200" b="1" i="0">
                          <a:solidFill>
                            <a:srgbClr val="C53D7C"/>
                          </a:solidFill>
                          <a:latin typeface="Vazir"/>
                          <a:cs typeface="Vazir"/>
                        </a:rPr>
                        <a:t>+0.111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bl>
          </a:graphicData>
        </a:graphic>
      </p:graphicFrame>
      <p:sp>
        <p:nvSpPr>
          <p:cNvPr id="14" name="Rectangle 13"/>
          <p:cNvSpPr/>
          <p:nvPr/>
        </p:nvSpPr>
        <p:spPr>
          <a:xfrm>
            <a:off x="5120640" y="4754880"/>
            <a:ext cx="6492240" cy="1325880"/>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94960" y="4937760"/>
            <a:ext cx="5943600" cy="1005840"/>
          </a:xfrm>
          <a:prstGeom prst="rect">
            <a:avLst/>
          </a:prstGeom>
          <a:noFill/>
        </p:spPr>
        <p:txBody>
          <a:bodyPr wrap="square" anchor="t" lIns="0" rIns="0" tIns="0" bIns="0">
            <a:spAutoFit/>
          </a:bodyPr>
          <a:lstStyle/>
          <a:p>
            <a:pPr rtl="1" algn="r">
              <a:lnSpc>
                <a:spcPts val="1800"/>
              </a:lnSpc>
              <a:spcBef>
                <a:spcPts val="0"/>
              </a:spcBef>
              <a:spcAft>
                <a:spcPts val="0"/>
              </a:spcAft>
            </a:pPr>
            <a:r>
              <a:rPr sz="1200" b="0" i="0">
                <a:solidFill>
                  <a:srgbClr val="4A2A38"/>
                </a:solidFill>
                <a:latin typeface="Vazir"/>
                <a:cs typeface="Vazir"/>
              </a:rPr>
              <a:t>با حدود ۲۰۰ ارزیابی روی همین تقسیم، گزارش بهترین عدد مشاهده‌شده نتیجه را بیش از اندازه خود اثر بزرگ نشان می‌دهد. همه اعداد این ارائه از پیکربندی‌هایی می‌آیند که پیش از اجرا تثبیت شده بودند.</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2011680" cy="1188720"/>
          </a:xfrm>
          <a:prstGeom prst="rect">
            <a:avLst/>
          </a:prstGeom>
          <a:noFill/>
        </p:spPr>
        <p:txBody>
          <a:bodyPr wrap="square" anchor="t" lIns="0" rIns="0" tIns="0" bIns="0">
            <a:spAutoFit/>
          </a:bodyPr>
          <a:lstStyle/>
          <a:p>
            <a:pPr rtl="0" algn="l">
              <a:spcBef>
                <a:spcPts val="0"/>
              </a:spcBef>
              <a:spcAft>
                <a:spcPts val="0"/>
              </a:spcAft>
            </a:pPr>
            <a:r>
              <a:rPr sz="5800" b="1" i="0">
                <a:solidFill>
                  <a:srgbClr val="F7E9F0"/>
                </a:solidFill>
                <a:latin typeface="Vazir"/>
                <a:cs typeface="Vazir"/>
              </a:rPr>
              <a:t>21</a:t>
            </a:r>
          </a:p>
        </p:txBody>
      </p:sp>
      <p:sp>
        <p:nvSpPr>
          <p:cNvPr id="3" name="Rectangle 2"/>
          <p:cNvSpPr/>
          <p:nvPr/>
        </p:nvSpPr>
        <p:spPr>
          <a:xfrm>
            <a:off x="4754880" y="292608"/>
            <a:ext cx="6903720" cy="1042415"/>
          </a:xfrm>
          <a:prstGeom prst="rect">
            <a:avLst/>
          </a:prstGeom>
          <a:solidFill>
            <a:srgbClr val="FC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0" y="411480"/>
            <a:ext cx="6355080" cy="502920"/>
          </a:xfrm>
          <a:prstGeom prst="rect">
            <a:avLst/>
          </a:prstGeom>
          <a:noFill/>
        </p:spPr>
        <p:txBody>
          <a:bodyPr wrap="square" anchor="t" lIns="0" rIns="0" tIns="0" bIns="0">
            <a:spAutoFit/>
          </a:bodyPr>
          <a:lstStyle/>
          <a:p>
            <a:pPr rtl="1" algn="r">
              <a:spcBef>
                <a:spcPts val="0"/>
              </a:spcBef>
              <a:spcAft>
                <a:spcPts val="0"/>
              </a:spcAft>
            </a:pPr>
            <a:r>
              <a:rPr sz="2400" b="1" i="0">
                <a:solidFill>
                  <a:srgbClr val="9E3C67"/>
                </a:solidFill>
                <a:latin typeface="Vazir"/>
                <a:cs typeface="Vazir"/>
              </a:rPr>
              <a:t>جدول کامل نتایج</a:t>
            </a:r>
          </a:p>
        </p:txBody>
      </p:sp>
      <p:sp>
        <p:nvSpPr>
          <p:cNvPr id="5" name="TextBox 4"/>
          <p:cNvSpPr txBox="1"/>
          <p:nvPr/>
        </p:nvSpPr>
        <p:spPr>
          <a:xfrm>
            <a:off x="5029200" y="950976"/>
            <a:ext cx="6355080" cy="274320"/>
          </a:xfrm>
          <a:prstGeom prst="rect">
            <a:avLst/>
          </a:prstGeom>
          <a:noFill/>
        </p:spPr>
        <p:txBody>
          <a:bodyPr wrap="square" anchor="t" lIns="0" rIns="0" tIns="0" bIns="0">
            <a:spAutoFit/>
          </a:bodyPr>
          <a:lstStyle/>
          <a:p>
            <a:pPr rtl="1" algn="r">
              <a:spcBef>
                <a:spcPts val="0"/>
              </a:spcBef>
              <a:spcAft>
                <a:spcPts val="0"/>
              </a:spcAft>
            </a:pPr>
            <a:r>
              <a:rPr sz="1150" b="1" i="0">
                <a:solidFill>
                  <a:srgbClr val="D94F8C"/>
                </a:solidFill>
                <a:latin typeface="Vazir"/>
                <a:cs typeface="Vazir"/>
              </a:rPr>
              <a:t>جمع‌بندی نتایج</a:t>
            </a:r>
          </a:p>
        </p:txBody>
      </p:sp>
      <p:graphicFrame>
        <p:nvGraphicFramePr>
          <p:cNvPr id="6" name="Table 5"/>
          <p:cNvGraphicFramePr>
            <a:graphicFrameLocks noGrp="1"/>
          </p:cNvGraphicFramePr>
          <p:nvPr/>
        </p:nvGraphicFramePr>
        <p:xfrm>
          <a:off x="548640" y="1645920"/>
          <a:ext cx="11064240" cy="3291840"/>
        </p:xfrm>
        <a:graphic>
          <a:graphicData uri="http://schemas.openxmlformats.org/drawingml/2006/table">
            <a:tbl>
              <a:tblPr firstRow="0" bandRow="0">
                <a:tableStyleId>{5C22544A-7EE6-4342-B048-85BDC9FD1C3A}</a:tableStyleId>
              </a:tblPr>
              <a:tblGrid>
                <a:gridCol w="4114800"/>
                <a:gridCol w="2011680"/>
                <a:gridCol w="1280160"/>
                <a:gridCol w="1280160"/>
                <a:gridCol w="1280160"/>
                <a:gridCol w="1097280"/>
              </a:tblGrid>
              <a:tr h="329184">
                <a:tc>
                  <a:txBody>
                    <a:bodyPr wrap="square"/>
                    <a:lstStyle/>
                    <a:p>
                      <a:pPr rtl="1" algn="ctr">
                        <a:spcBef>
                          <a:spcPts val="0"/>
                        </a:spcBef>
                        <a:spcAft>
                          <a:spcPts val="0"/>
                        </a:spcAft>
                      </a:pPr>
                      <a:r>
                        <a:rPr sz="1100" b="1" i="0">
                          <a:solidFill>
                            <a:srgbClr val="D94F8C"/>
                          </a:solidFill>
                          <a:latin typeface="Vazir"/>
                          <a:cs typeface="Vazir"/>
                        </a:rPr>
                        <a:t>پیکربندی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00" b="1" i="0">
                          <a:solidFill>
                            <a:srgbClr val="D94F8C"/>
                          </a:solidFill>
                          <a:latin typeface="Vazir"/>
                          <a:cs typeface="Vazir"/>
                        </a:rPr>
                        <a:t>رمزگذار</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00" b="1" i="0">
                          <a:solidFill>
                            <a:srgbClr val="D94F8C"/>
                          </a:solidFill>
                          <a:latin typeface="Vazir"/>
                          <a:cs typeface="Vazir"/>
                        </a:rPr>
                        <a:t>ماکرو F1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00" b="1" i="0">
                          <a:solidFill>
                            <a:srgbClr val="D94F8C"/>
                          </a:solidFill>
                          <a:latin typeface="Vazir"/>
                          <a:cs typeface="Vazir"/>
                        </a:rPr>
                        <a:t>صحت نوع</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00" b="1" i="0">
                          <a:solidFill>
                            <a:srgbClr val="D94F8C"/>
                          </a:solidFill>
                          <a:latin typeface="Vazir"/>
                          <a:cs typeface="Vazir"/>
                        </a:rPr>
                        <a:t>صحت کلی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c>
                  <a:txBody>
                    <a:bodyPr wrap="square"/>
                    <a:lstStyle/>
                    <a:p>
                      <a:pPr rtl="1" algn="ctr">
                        <a:spcBef>
                          <a:spcPts val="0"/>
                        </a:spcBef>
                        <a:spcAft>
                          <a:spcPts val="0"/>
                        </a:spcAft>
                      </a:pPr>
                      <a:r>
                        <a:rPr sz="1100" b="1" i="0">
                          <a:solidFill>
                            <a:srgbClr val="D94F8C"/>
                          </a:solidFill>
                          <a:latin typeface="Vazir"/>
                          <a:cs typeface="Vazir"/>
                        </a:rPr>
                        <a:t>AUC</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FFFFF"/>
                    </a:solidFill>
                  </a:tcPr>
                </a:tc>
              </a:tr>
              <a:tr h="329184">
                <a:tc>
                  <a:txBody>
                    <a:bodyPr wrap="square"/>
                    <a:lstStyle/>
                    <a:p>
                      <a:pPr rtl="1" algn="r">
                        <a:spcBef>
                          <a:spcPts val="0"/>
                        </a:spcBef>
                        <a:spcAft>
                          <a:spcPts val="0"/>
                        </a:spcAft>
                      </a:pPr>
                      <a:r>
                        <a:rPr sz="1100" b="0" i="0">
                          <a:solidFill>
                            <a:srgbClr val="4A2A38"/>
                          </a:solidFill>
                          <a:latin typeface="Vazir"/>
                          <a:cs typeface="Vazir"/>
                        </a:rPr>
                        <a:t>مسیر اول — اسم خام کلاس، وزن دستی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X-CLIP ViT-B/32</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0.3327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0.3716</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0.6385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0.9473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29184">
                <a:tc>
                  <a:txBody>
                    <a:bodyPr wrap="square"/>
                    <a:lstStyle/>
                    <a:p>
                      <a:pPr rtl="1" algn="r">
                        <a:spcBef>
                          <a:spcPts val="0"/>
                        </a:spcBef>
                        <a:spcAft>
                          <a:spcPts val="0"/>
                        </a:spcAft>
                      </a:pPr>
                      <a:r>
                        <a:rPr sz="1100" b="0" i="0">
                          <a:solidFill>
                            <a:srgbClr val="4A2A38"/>
                          </a:solidFill>
                          <a:latin typeface="Vazir"/>
                          <a:cs typeface="Vazir"/>
                        </a:rPr>
                        <a:t>مسیر اول — توصیف بصری + وزن معکوس</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X-CLIP ViT-B/32</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0.3713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0.4054</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0.6351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0.9637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29184">
                <a:tc>
                  <a:txBody>
                    <a:bodyPr wrap="square"/>
                    <a:lstStyle/>
                    <a:p>
                      <a:pPr rtl="1" algn="r">
                        <a:spcBef>
                          <a:spcPts val="0"/>
                        </a:spcBef>
                        <a:spcAft>
                          <a:spcPts val="0"/>
                        </a:spcAft>
                      </a:pPr>
                      <a:r>
                        <a:rPr sz="1100" b="0" i="0">
                          <a:solidFill>
                            <a:srgbClr val="4A2A38"/>
                          </a:solidFill>
                          <a:latin typeface="Vazir"/>
                          <a:cs typeface="Vazir"/>
                        </a:rPr>
                        <a:t>مسیر اول — چهار نمای زمانی در آزمون</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X-CLIP ViT-B/32</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0.3881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0.4257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0.6419</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0.9629</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29184">
                <a:tc>
                  <a:txBody>
                    <a:bodyPr wrap="square"/>
                    <a:lstStyle/>
                    <a:p>
                      <a:pPr rtl="1" algn="r">
                        <a:spcBef>
                          <a:spcPts val="0"/>
                        </a:spcBef>
                        <a:spcAft>
                          <a:spcPts val="0"/>
                        </a:spcAft>
                      </a:pPr>
                      <a:r>
                        <a:rPr sz="1100" b="0" i="0">
                          <a:solidFill>
                            <a:srgbClr val="4A2A38"/>
                          </a:solidFill>
                          <a:latin typeface="Vazir"/>
                          <a:cs typeface="Vazir"/>
                        </a:rPr>
                        <a:t>مسیر دوم — سر نقطه‌ای، خط پایه</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VideoMAE ViT-B</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0.2975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0.3860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0.5660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29184">
                <a:tc>
                  <a:txBody>
                    <a:bodyPr wrap="square"/>
                    <a:lstStyle/>
                    <a:p>
                      <a:pPr rtl="1" algn="r">
                        <a:spcBef>
                          <a:spcPts val="0"/>
                        </a:spcBef>
                        <a:spcAft>
                          <a:spcPts val="0"/>
                        </a:spcAft>
                      </a:pPr>
                      <a:r>
                        <a:rPr sz="1100" b="0" i="0">
                          <a:solidFill>
                            <a:srgbClr val="4A2A38"/>
                          </a:solidFill>
                          <a:latin typeface="Vazir"/>
                          <a:cs typeface="Vazir"/>
                        </a:rPr>
                        <a:t>مسیر دوم — سر ترنسفورمر زمانی</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VideoMAE ViT-B</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0.3444</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0.3930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0.6350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29184">
                <a:tc>
                  <a:txBody>
                    <a:bodyPr wrap="square"/>
                    <a:lstStyle/>
                    <a:p>
                      <a:pPr rtl="1" algn="r">
                        <a:spcBef>
                          <a:spcPts val="0"/>
                        </a:spcBef>
                        <a:spcAft>
                          <a:spcPts val="0"/>
                        </a:spcAft>
                      </a:pPr>
                      <a:r>
                        <a:rPr sz="1100" b="0" i="0">
                          <a:solidFill>
                            <a:srgbClr val="4A2A38"/>
                          </a:solidFill>
                          <a:latin typeface="Vazir"/>
                          <a:cs typeface="Vazir"/>
                        </a:rPr>
                        <a:t>مسیر دوم — نرخ یادگیری ۰٫۰۰۰۳</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VideoMAE ViT-B</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0.3645</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0.4210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0.6550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29184">
                <a:tc>
                  <a:txBody>
                    <a:bodyPr wrap="square"/>
                    <a:lstStyle/>
                    <a:p>
                      <a:pPr rtl="1" algn="r">
                        <a:spcBef>
                          <a:spcPts val="0"/>
                        </a:spcBef>
                        <a:spcAft>
                          <a:spcPts val="0"/>
                        </a:spcAft>
                      </a:pPr>
                      <a:r>
                        <a:rPr sz="1100" b="0" i="0">
                          <a:solidFill>
                            <a:srgbClr val="4A2A38"/>
                          </a:solidFill>
                          <a:latin typeface="Vazir"/>
                          <a:cs typeface="Vazir"/>
                        </a:rPr>
                        <a:t>مسیر دوم — ارتقا به رمزگذار بزرگ</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VideoMAE ViT-L</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0.4122</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0.4786</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0.6897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c>
                  <a:txBody>
                    <a:bodyPr wrap="square"/>
                    <a:lstStyle/>
                    <a:p>
                      <a:pPr rtl="1" algn="ctr">
                        <a:spcBef>
                          <a:spcPts val="0"/>
                        </a:spcBef>
                        <a:spcAft>
                          <a:spcPts val="0"/>
                        </a:spcAft>
                      </a:pPr>
                      <a:r>
                        <a:rPr sz="1100" b="0" i="0">
                          <a:solidFill>
                            <a:srgbClr val="4A2A38"/>
                          </a:solidFill>
                          <a:latin typeface="Vazir"/>
                          <a:cs typeface="Vazir"/>
                        </a:rPr>
                        <a: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DF4F8"/>
                    </a:solidFill>
                  </a:tcPr>
                </a:tc>
              </a:tr>
              <a:tr h="329184">
                <a:tc>
                  <a:txBody>
                    <a:bodyPr wrap="square"/>
                    <a:lstStyle/>
                    <a:p>
                      <a:pPr rtl="1" algn="r">
                        <a:spcBef>
                          <a:spcPts val="0"/>
                        </a:spcBef>
                        <a:spcAft>
                          <a:spcPts val="0"/>
                        </a:spcAft>
                      </a:pPr>
                      <a:r>
                        <a:rPr sz="1100" b="0" i="0">
                          <a:solidFill>
                            <a:srgbClr val="4A2A38"/>
                          </a:solidFill>
                          <a:latin typeface="Vazir"/>
                          <a:cs typeface="Vazir"/>
                        </a:rPr>
                        <a:t>مسیر دوم — افزودن آمیزش</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VideoMAE ViT-L</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0.4161</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0.4714</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0.6793</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c>
                  <a:txBody>
                    <a:bodyPr wrap="square"/>
                    <a:lstStyle/>
                    <a:p>
                      <a:pPr rtl="1" algn="ctr">
                        <a:spcBef>
                          <a:spcPts val="0"/>
                        </a:spcBef>
                        <a:spcAft>
                          <a:spcPts val="0"/>
                        </a:spcAft>
                      </a:pPr>
                      <a:r>
                        <a:rPr sz="1100" b="0" i="0">
                          <a:solidFill>
                            <a:srgbClr val="4A2A38"/>
                          </a:solidFill>
                          <a:latin typeface="Vazir"/>
                          <a:cs typeface="Vazir"/>
                        </a:rPr>
                        <a:t>—</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CEEF4"/>
                    </a:solidFill>
                  </a:tcPr>
                </a:tc>
              </a:tr>
              <a:tr h="329184">
                <a:tc>
                  <a:txBody>
                    <a:bodyPr wrap="square"/>
                    <a:lstStyle/>
                    <a:p>
                      <a:pPr rtl="1" algn="r">
                        <a:spcBef>
                          <a:spcPts val="0"/>
                        </a:spcBef>
                        <a:spcAft>
                          <a:spcPts val="0"/>
                        </a:spcAft>
                      </a:pPr>
                      <a:r>
                        <a:rPr sz="1100" b="1" i="0">
                          <a:solidFill>
                            <a:srgbClr val="C53D7C"/>
                          </a:solidFill>
                          <a:latin typeface="Vazir"/>
                          <a:cs typeface="Vazir"/>
                        </a:rPr>
                        <a:t>مسیر دوم — آمیزش + تنظیم لاجیت</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00" b="1" i="0">
                          <a:solidFill>
                            <a:srgbClr val="C53D7C"/>
                          </a:solidFill>
                          <a:latin typeface="Vazir"/>
                          <a:cs typeface="Vazir"/>
                        </a:rPr>
                        <a:t>VideoMAE ViT-L</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00" b="1" i="0">
                          <a:solidFill>
                            <a:srgbClr val="C53D7C"/>
                          </a:solidFill>
                          <a:latin typeface="Vazir"/>
                          <a:cs typeface="Vazir"/>
                        </a:rPr>
                        <a:t>0.4298</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00" b="1" i="0">
                          <a:solidFill>
                            <a:srgbClr val="C53D7C"/>
                          </a:solidFill>
                          <a:latin typeface="Vazir"/>
                          <a:cs typeface="Vazir"/>
                        </a:rPr>
                        <a:t>0.5000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00" b="1" i="0">
                          <a:solidFill>
                            <a:srgbClr val="C53D7C"/>
                          </a:solidFill>
                          <a:latin typeface="Vazir"/>
                          <a:cs typeface="Vazir"/>
                        </a:rPr>
                        <a:t>0.6897</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c>
                  <a:txBody>
                    <a:bodyPr wrap="square"/>
                    <a:lstStyle/>
                    <a:p>
                      <a:pPr rtl="1" algn="ctr">
                        <a:spcBef>
                          <a:spcPts val="0"/>
                        </a:spcBef>
                        <a:spcAft>
                          <a:spcPts val="0"/>
                        </a:spcAft>
                      </a:pPr>
                      <a:r>
                        <a:rPr sz="1100" b="1" i="0">
                          <a:solidFill>
                            <a:srgbClr val="C53D7C"/>
                          </a:solidFill>
                          <a:latin typeface="Vazir"/>
                          <a:cs typeface="Vazir"/>
                        </a:rPr>
                        <a:t>0.9610</a:t>
                      </a:r>
                    </a:p>
                  </a:txBody>
                  <a:tcPr marL="36576" marR="36576" marT="18288" marB="18288" anchor="ctr">
                    <a:lnL w="6350" cap="flat" cmpd="sng" algn="ctr">
                      <a:noFill/>
                    </a:lnL>
                    <a:lnR w="6350" cap="flat" cmpd="sng" algn="ctr">
                      <a:noFill/>
                    </a:lnR>
                    <a:lnT w="6350" cap="flat" cmpd="sng" algn="ctr">
                      <a:solidFill>
                        <a:srgbClr val="EFD8E4"/>
                      </a:solidFill>
                    </a:lnT>
                    <a:lnB w="6350" cap="flat" cmpd="sng" algn="ctr">
                      <a:solidFill>
                        <a:srgbClr val="EFD8E4"/>
                      </a:solidFill>
                    </a:lnB>
                    <a:solidFill>
                      <a:srgbClr val="F7D9E7"/>
                    </a:solidFill>
                  </a:tcPr>
                </a:tc>
              </a:tr>
            </a:tbl>
          </a:graphicData>
        </a:graphic>
      </p:graphicFrame>
      <p:sp>
        <p:nvSpPr>
          <p:cNvPr id="7" name="TextBox 6"/>
          <p:cNvSpPr txBox="1"/>
          <p:nvPr/>
        </p:nvSpPr>
        <p:spPr>
          <a:xfrm>
            <a:off x="548640" y="5285232"/>
            <a:ext cx="11064240" cy="457200"/>
          </a:xfrm>
          <a:prstGeom prst="rect">
            <a:avLst/>
          </a:prstGeom>
          <a:noFill/>
        </p:spPr>
        <p:txBody>
          <a:bodyPr wrap="square" anchor="t" lIns="0" rIns="0" tIns="0" bIns="0">
            <a:spAutoFit/>
          </a:bodyPr>
          <a:lstStyle/>
          <a:p>
            <a:pPr rtl="1" algn="r">
              <a:lnSpc>
                <a:spcPts val="1700"/>
              </a:lnSpc>
              <a:spcBef>
                <a:spcPts val="0"/>
              </a:spcBef>
              <a:spcAft>
                <a:spcPts val="0"/>
              </a:spcAft>
            </a:pPr>
            <a:r>
              <a:rPr sz="1150" b="0" i="0">
                <a:solidFill>
                  <a:srgbClr val="9B7A88"/>
                </a:solidFill>
                <a:latin typeface="Vazir"/>
                <a:cs typeface="Vazir"/>
              </a:rPr>
              <a:t>مسیر اول روی تقسیمی با ۲۹۶ ویدیوی آزمون و مسیر دوم روی تقسیم استاندارد با ۲۹۰ ویدیو اجرا شده‌اند.</a:t>
            </a:r>
          </a:p>
        </p:txBody>
      </p:sp>
      <p:sp>
        <p:nvSpPr>
          <p:cNvPr id="8" name="TextBox 7"/>
          <p:cNvSpPr txBox="1"/>
          <p:nvPr/>
        </p:nvSpPr>
        <p:spPr>
          <a:xfrm>
            <a:off x="548640" y="5760720"/>
            <a:ext cx="35661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D94F8C"/>
                </a:solidFill>
                <a:latin typeface="Vazir"/>
                <a:cs typeface="Vazir"/>
              </a:rPr>
              <a:t>0.4298</a:t>
            </a:r>
          </a:p>
        </p:txBody>
      </p:sp>
      <p:sp>
        <p:nvSpPr>
          <p:cNvPr id="9" name="TextBox 8"/>
          <p:cNvSpPr txBox="1"/>
          <p:nvPr/>
        </p:nvSpPr>
        <p:spPr>
          <a:xfrm>
            <a:off x="548640" y="6473952"/>
            <a:ext cx="35661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ماکرو F1 نهایی</a:t>
            </a:r>
          </a:p>
        </p:txBody>
      </p:sp>
      <p:sp>
        <p:nvSpPr>
          <p:cNvPr id="10" name="TextBox 9"/>
          <p:cNvSpPr txBox="1"/>
          <p:nvPr/>
        </p:nvSpPr>
        <p:spPr>
          <a:xfrm>
            <a:off x="4297680" y="5760720"/>
            <a:ext cx="35661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9E3C67"/>
                </a:solidFill>
                <a:latin typeface="Vazir"/>
                <a:cs typeface="Vazir"/>
              </a:rPr>
              <a:t>0.5000</a:t>
            </a:r>
          </a:p>
        </p:txBody>
      </p:sp>
      <p:sp>
        <p:nvSpPr>
          <p:cNvPr id="11" name="TextBox 10"/>
          <p:cNvSpPr txBox="1"/>
          <p:nvPr/>
        </p:nvSpPr>
        <p:spPr>
          <a:xfrm>
            <a:off x="4297680" y="6473952"/>
            <a:ext cx="35661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صحت نوع ناهنجاری</a:t>
            </a:r>
          </a:p>
        </p:txBody>
      </p:sp>
      <p:sp>
        <p:nvSpPr>
          <p:cNvPr id="12" name="TextBox 11"/>
          <p:cNvSpPr txBox="1"/>
          <p:nvPr/>
        </p:nvSpPr>
        <p:spPr>
          <a:xfrm>
            <a:off x="8046720" y="5760720"/>
            <a:ext cx="3566160" cy="731520"/>
          </a:xfrm>
          <a:prstGeom prst="rect">
            <a:avLst/>
          </a:prstGeom>
          <a:noFill/>
        </p:spPr>
        <p:txBody>
          <a:bodyPr wrap="square" anchor="t" lIns="0" rIns="0" tIns="0" bIns="0">
            <a:spAutoFit/>
          </a:bodyPr>
          <a:lstStyle/>
          <a:p>
            <a:pPr rtl="0" algn="ctr">
              <a:spcBef>
                <a:spcPts val="0"/>
              </a:spcBef>
              <a:spcAft>
                <a:spcPts val="0"/>
              </a:spcAft>
            </a:pPr>
            <a:r>
              <a:rPr sz="3800" b="1" i="0">
                <a:solidFill>
                  <a:srgbClr val="9E3C67"/>
                </a:solidFill>
                <a:latin typeface="Vazir"/>
                <a:cs typeface="Vazir"/>
              </a:rPr>
              <a:t>0.6897</a:t>
            </a:r>
          </a:p>
        </p:txBody>
      </p:sp>
      <p:sp>
        <p:nvSpPr>
          <p:cNvPr id="13" name="TextBox 12"/>
          <p:cNvSpPr txBox="1"/>
          <p:nvPr/>
        </p:nvSpPr>
        <p:spPr>
          <a:xfrm>
            <a:off x="8046720" y="6473952"/>
            <a:ext cx="3566160" cy="457200"/>
          </a:xfrm>
          <a:prstGeom prst="rect">
            <a:avLst/>
          </a:prstGeom>
          <a:noFill/>
        </p:spPr>
        <p:txBody>
          <a:bodyPr wrap="square" anchor="t" lIns="0" rIns="0" tIns="0" bIns="0">
            <a:spAutoFit/>
          </a:bodyPr>
          <a:lstStyle/>
          <a:p>
            <a:pPr rtl="1" algn="ctr">
              <a:spcBef>
                <a:spcPts val="0"/>
              </a:spcBef>
              <a:spcAft>
                <a:spcPts val="0"/>
              </a:spcAft>
            </a:pPr>
            <a:r>
              <a:rPr sz="1200" b="0" i="0">
                <a:solidFill>
                  <a:srgbClr val="9B7A88"/>
                </a:solidFill>
                <a:latin typeface="Vazir"/>
                <a:cs typeface="Vazir"/>
              </a:rPr>
              <a:t>صحت چندکلاسه</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326880" y="-1280160"/>
            <a:ext cx="4572000" cy="4572000"/>
          </a:xfrm>
          <a:prstGeom prst="ellipse">
            <a:avLst/>
          </a:prstGeom>
          <a:solidFill>
            <a:srgbClr val="F9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02920"/>
            <a:ext cx="10881360" cy="640080"/>
          </a:xfrm>
          <a:prstGeom prst="rect">
            <a:avLst/>
          </a:prstGeom>
          <a:noFill/>
        </p:spPr>
        <p:txBody>
          <a:bodyPr wrap="square" anchor="t" lIns="0" rIns="0" tIns="0" bIns="0">
            <a:spAutoFit/>
          </a:bodyPr>
          <a:lstStyle/>
          <a:p>
            <a:pPr rtl="1" algn="r">
              <a:spcBef>
                <a:spcPts val="0"/>
              </a:spcBef>
              <a:spcAft>
                <a:spcPts val="0"/>
              </a:spcAft>
            </a:pPr>
            <a:r>
              <a:rPr sz="2900" b="1" i="0">
                <a:solidFill>
                  <a:srgbClr val="9E3C67"/>
                </a:solidFill>
                <a:latin typeface="Vazir"/>
                <a:cs typeface="Vazir"/>
              </a:rPr>
              <a:t>جمع‌بندی و کارهای آینده</a:t>
            </a:r>
          </a:p>
        </p:txBody>
      </p:sp>
      <p:sp>
        <p:nvSpPr>
          <p:cNvPr id="4" name="Rounded Rectangle 3"/>
          <p:cNvSpPr/>
          <p:nvPr/>
        </p:nvSpPr>
        <p:spPr>
          <a:xfrm>
            <a:off x="640080" y="1600200"/>
            <a:ext cx="10881360" cy="868680"/>
          </a:xfrm>
          <a:prstGeom prst="roundRect">
            <a:avLst/>
          </a:prstGeom>
          <a:solidFill>
            <a:srgbClr val="F9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92640" y="1746504"/>
            <a:ext cx="1645920" cy="365760"/>
          </a:xfrm>
          <a:prstGeom prst="rect">
            <a:avLst/>
          </a:prstGeom>
          <a:noFill/>
        </p:spPr>
        <p:txBody>
          <a:bodyPr wrap="square" anchor="t" lIns="0" rIns="0" tIns="0" bIns="0">
            <a:spAutoFit/>
          </a:bodyPr>
          <a:lstStyle/>
          <a:p>
            <a:pPr rtl="1" algn="r">
              <a:spcBef>
                <a:spcPts val="0"/>
              </a:spcBef>
              <a:spcAft>
                <a:spcPts val="0"/>
              </a:spcAft>
            </a:pPr>
            <a:r>
              <a:rPr sz="1500" b="1" i="0">
                <a:solidFill>
                  <a:srgbClr val="3E8478"/>
                </a:solidFill>
                <a:latin typeface="Vazir"/>
                <a:cs typeface="Vazir"/>
              </a:rPr>
              <a:t>دستاورد</a:t>
            </a:r>
          </a:p>
        </p:txBody>
      </p:sp>
      <p:sp>
        <p:nvSpPr>
          <p:cNvPr id="6" name="TextBox 5"/>
          <p:cNvSpPr txBox="1"/>
          <p:nvPr/>
        </p:nvSpPr>
        <p:spPr>
          <a:xfrm>
            <a:off x="914400" y="1783080"/>
            <a:ext cx="8595360" cy="685800"/>
          </a:xfrm>
          <a:prstGeom prst="rect">
            <a:avLst/>
          </a:prstGeom>
          <a:noFill/>
        </p:spPr>
        <p:txBody>
          <a:bodyPr wrap="square" anchor="t" lIns="0" rIns="0" tIns="0" bIns="0">
            <a:spAutoFit/>
          </a:bodyPr>
          <a:lstStyle/>
          <a:p>
            <a:pPr rtl="1" algn="r">
              <a:lnSpc>
                <a:spcPts val="2000"/>
              </a:lnSpc>
              <a:spcBef>
                <a:spcPts val="0"/>
              </a:spcBef>
              <a:spcAft>
                <a:spcPts val="0"/>
              </a:spcAft>
            </a:pPr>
            <a:r>
              <a:rPr sz="1300" b="0" i="0">
                <a:solidFill>
                  <a:srgbClr val="9E3C67"/>
                </a:solidFill>
                <a:latin typeface="Vazir"/>
                <a:cs typeface="Vazir"/>
              </a:rPr>
              <a:t>اصلاح سه اشکال بنیادی، بازطراحی معماری با رمزگذار منجمد، سر ترنسفورمر زمانی، و پروتکل ارزیابی با کف نوفه</a:t>
            </a:r>
          </a:p>
        </p:txBody>
      </p:sp>
      <p:sp>
        <p:nvSpPr>
          <p:cNvPr id="7" name="Rounded Rectangle 6"/>
          <p:cNvSpPr/>
          <p:nvPr/>
        </p:nvSpPr>
        <p:spPr>
          <a:xfrm>
            <a:off x="640080" y="2743200"/>
            <a:ext cx="10881360" cy="868680"/>
          </a:xfrm>
          <a:prstGeom prst="roundRect">
            <a:avLst/>
          </a:prstGeom>
          <a:solidFill>
            <a:srgbClr val="F9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92640" y="2889504"/>
            <a:ext cx="1645920" cy="365760"/>
          </a:xfrm>
          <a:prstGeom prst="rect">
            <a:avLst/>
          </a:prstGeom>
          <a:noFill/>
        </p:spPr>
        <p:txBody>
          <a:bodyPr wrap="square" anchor="t" lIns="0" rIns="0" tIns="0" bIns="0">
            <a:spAutoFit/>
          </a:bodyPr>
          <a:lstStyle/>
          <a:p>
            <a:pPr rtl="1" algn="r">
              <a:spcBef>
                <a:spcPts val="0"/>
              </a:spcBef>
              <a:spcAft>
                <a:spcPts val="0"/>
              </a:spcAft>
            </a:pPr>
            <a:r>
              <a:rPr sz="1500" b="1" i="0">
                <a:solidFill>
                  <a:srgbClr val="C53D7C"/>
                </a:solidFill>
                <a:latin typeface="Vazir"/>
                <a:cs typeface="Vazir"/>
              </a:rPr>
              <a:t>محدودیت</a:t>
            </a:r>
          </a:p>
        </p:txBody>
      </p:sp>
      <p:sp>
        <p:nvSpPr>
          <p:cNvPr id="9" name="TextBox 8"/>
          <p:cNvSpPr txBox="1"/>
          <p:nvPr/>
        </p:nvSpPr>
        <p:spPr>
          <a:xfrm>
            <a:off x="914400" y="2926080"/>
            <a:ext cx="8595360" cy="685800"/>
          </a:xfrm>
          <a:prstGeom prst="rect">
            <a:avLst/>
          </a:prstGeom>
          <a:noFill/>
        </p:spPr>
        <p:txBody>
          <a:bodyPr wrap="square" anchor="t" lIns="0" rIns="0" tIns="0" bIns="0">
            <a:spAutoFit/>
          </a:bodyPr>
          <a:lstStyle/>
          <a:p>
            <a:pPr rtl="1" algn="r">
              <a:lnSpc>
                <a:spcPts val="2000"/>
              </a:lnSpc>
              <a:spcBef>
                <a:spcPts val="0"/>
              </a:spcBef>
              <a:spcAft>
                <a:spcPts val="0"/>
              </a:spcAft>
            </a:pPr>
            <a:r>
              <a:rPr sz="1300" b="0" i="0">
                <a:solidFill>
                  <a:srgbClr val="9E3C67"/>
                </a:solidFill>
                <a:latin typeface="Vazir"/>
                <a:cs typeface="Vazir"/>
              </a:rPr>
              <a:t>رمزگذار به دامنه نظارتی تطبیق نمی‌یابد؛ مجموعه آزمون کوچک است و بازه‌های اطمینان پهن</a:t>
            </a:r>
          </a:p>
        </p:txBody>
      </p:sp>
      <p:sp>
        <p:nvSpPr>
          <p:cNvPr id="10" name="Rounded Rectangle 9"/>
          <p:cNvSpPr/>
          <p:nvPr/>
        </p:nvSpPr>
        <p:spPr>
          <a:xfrm>
            <a:off x="640080" y="3886200"/>
            <a:ext cx="10881360" cy="868680"/>
          </a:xfrm>
          <a:prstGeom prst="roundRect">
            <a:avLst/>
          </a:prstGeom>
          <a:solidFill>
            <a:srgbClr val="F9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692640" y="4032504"/>
            <a:ext cx="1645920" cy="365760"/>
          </a:xfrm>
          <a:prstGeom prst="rect">
            <a:avLst/>
          </a:prstGeom>
          <a:noFill/>
        </p:spPr>
        <p:txBody>
          <a:bodyPr wrap="square" anchor="t" lIns="0" rIns="0" tIns="0" bIns="0">
            <a:spAutoFit/>
          </a:bodyPr>
          <a:lstStyle/>
          <a:p>
            <a:pPr rtl="1" algn="r">
              <a:spcBef>
                <a:spcPts val="0"/>
              </a:spcBef>
              <a:spcAft>
                <a:spcPts val="0"/>
              </a:spcAft>
            </a:pPr>
            <a:r>
              <a:rPr sz="1500" b="1" i="0">
                <a:solidFill>
                  <a:srgbClr val="C9799F"/>
                </a:solidFill>
                <a:latin typeface="Vazir"/>
                <a:cs typeface="Vazir"/>
              </a:rPr>
              <a:t>کار آینده</a:t>
            </a:r>
          </a:p>
        </p:txBody>
      </p:sp>
      <p:sp>
        <p:nvSpPr>
          <p:cNvPr id="12" name="TextBox 11"/>
          <p:cNvSpPr txBox="1"/>
          <p:nvPr/>
        </p:nvSpPr>
        <p:spPr>
          <a:xfrm>
            <a:off x="914400" y="4069080"/>
            <a:ext cx="8595360" cy="685800"/>
          </a:xfrm>
          <a:prstGeom prst="rect">
            <a:avLst/>
          </a:prstGeom>
          <a:noFill/>
        </p:spPr>
        <p:txBody>
          <a:bodyPr wrap="square" anchor="t" lIns="0" rIns="0" tIns="0" bIns="0">
            <a:spAutoFit/>
          </a:bodyPr>
          <a:lstStyle/>
          <a:p>
            <a:pPr rtl="1" algn="r">
              <a:lnSpc>
                <a:spcPts val="2000"/>
              </a:lnSpc>
              <a:spcBef>
                <a:spcPts val="0"/>
              </a:spcBef>
              <a:spcAft>
                <a:spcPts val="0"/>
              </a:spcAft>
            </a:pPr>
            <a:r>
              <a:rPr sz="1300" b="0" i="0">
                <a:solidFill>
                  <a:srgbClr val="9E3C67"/>
                </a:solidFill>
                <a:latin typeface="Vazir"/>
                <a:cs typeface="Vazir"/>
              </a:rPr>
              <a:t>افزایش وضوح مکانی برای خوشه دزدی، تنظیم دقیق رمزگذار روی داده نظارتی، و تقسیم داده با سهم بزرگ‌تر برای آزمون</a:t>
            </a:r>
          </a:p>
        </p:txBody>
      </p:sp>
      <p:sp>
        <p:nvSpPr>
          <p:cNvPr id="13" name="Rounded Rectangle 12"/>
          <p:cNvSpPr/>
          <p:nvPr/>
        </p:nvSpPr>
        <p:spPr>
          <a:xfrm>
            <a:off x="640080" y="5212080"/>
            <a:ext cx="10881360" cy="1005840"/>
          </a:xfrm>
          <a:prstGeom prst="roundRect">
            <a:avLst/>
          </a:prstGeom>
          <a:solidFill>
            <a:srgbClr val="D9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5413248"/>
            <a:ext cx="10332720" cy="640080"/>
          </a:xfrm>
          <a:prstGeom prst="rect">
            <a:avLst/>
          </a:prstGeom>
          <a:noFill/>
        </p:spPr>
        <p:txBody>
          <a:bodyPr wrap="square" anchor="t" lIns="0" rIns="0" tIns="0" bIns="0">
            <a:spAutoFit/>
          </a:bodyPr>
          <a:lstStyle/>
          <a:p>
            <a:pPr rtl="1" algn="r">
              <a:lnSpc>
                <a:spcPts val="2100"/>
              </a:lnSpc>
              <a:spcBef>
                <a:spcPts val="0"/>
              </a:spcBef>
              <a:spcAft>
                <a:spcPts val="0"/>
              </a:spcAft>
            </a:pPr>
            <a:r>
              <a:rPr sz="1400" b="1" i="0">
                <a:solidFill>
                  <a:srgbClr val="FFFFFF"/>
                </a:solidFill>
                <a:latin typeface="Vazir"/>
                <a:cs typeface="Vazir"/>
              </a:rPr>
              <a:t>بیشترین اثر را نه یک ایده الگوریتمی، بلکه کاهش هزینه هر آزمایش داشت؛ و کمّی کردن نوفه پیش از تفسیر، از ادعاهایی جلوگیری کرد که داده پشتیبان آن‌ها نبود.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