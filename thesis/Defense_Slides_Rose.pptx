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پروژه تبدیل یک سامانه تشخیص ناهنجاری دودویی به سامانه چهارده‌کلاسه است. عدد نهایی ماکرو F1 برابر 0.4298 در برابر خط پایه 0.2975.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بیشتر پژوهش‌ها مسئله را دودویی تعریف می‌کنند. ما یک گام جلوتر رفتیم.</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نامتوازنی هم آموزش را دشوار می‌کند و هم ارزیابی را نوفه‌آلود.</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توزیع استاندارد UCF-Crime است و جمعش دقیقا 1610 می‌شود.</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ستون سوم از گزارش آزمایش‌ها بازسازی شده و ستون دوم توزیع استاندارد است. هر دو با جمع کل می‌خوانند.</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نظارت ضعیف یک معامله است: داده بیشتر با کیفیت برچسب کمتر.</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مسیر اول روی کد UMIL بنا شد. ماکرو F1 از 0.3327 به 0.3881 رسید.</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در X-CLIP وزن‌های طبقه‌بند از متن ساخته می‌شوند. همان جایی که بعدا سقف پیدا شد.</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سه اصلاح مقدم بر هر ایده جدیدی بود. بدون آن‌ها هیچ اندازه‌گیری قابل اعتماد نبود.</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مدل درست کار می‌کرد و مرحله تجمیع نتیجه را نابود می‌کرد.</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با وجود ۹ پیش‌بینی هنوز هیچ‌کدام درست نبود. مشکل دوم بصری بود، نه وزنی.</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اصطلاحات حقوقی انتزاعی در فضای زبانی خوشه می‌شوند؛ توصیف آنچه دوربین می‌بیند نه.</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مسیر اول به 0.3881 رسید. دو دیوار ماند: هزینه آزمایش و ماهیت مکانی خطای خوشه دزدی.</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مسیر دوم از صفر نوشته شد. ماکرو F1 از 0.2975 به 0.4298 رسید.</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پوشاندن لوله‌ای است: اگر جایی پوشانده شود، در همه فریم‌ها پوشانده می‌شود، تا مدل از فریم بغلی کپی نکند.</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تصمیم خودش نتیجه را بهتر نکرد. اجازه داد بقیه چیزها را پیدا کنیم.</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ویدیوی ۴۰ مگابایتی به آرایه ۶۴ کیلوبایتی تبدیل می‌شود.</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تغییر از تحلیل خطا آمد، نه از جستجوی ابرپارامتر.</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دو بازه هیچ همپوشانی ندارند. بدترین بذر ViT-L از بهترین بذر ViT-B بالاتر است.</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ترکیب روی هر سه معیار بهترین یا هم‌ارز بهترین است. سه ترکیب مقایسه شد، پس تورم انتخاب حدود ۰٫۰۵ است.</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دو گام از شش گام بیشترین سهم را داشتند: توجه زمانی و ارتقای رمزگذار. هر دو از تحلیل خطا آمدند.</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گزارش نتایج منفی بخشی از نتیجه است، نه حاشیه آن.</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تحلیل تفسیر کل پروژه را عوض کرد. ارتقای رمزگذار از کف نوفه عبور می‌کند؛ بقیه بهبودها با احتیاط گزارش می‌شوند.</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عدد قابل دفاع نهایی 0.4298 با بودجه ثابت و بدون انتخاب روی مجموعه آزمون است.</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سوال‌های محتمل: چرا رمزگذار را تنظیم دقیق نکردید، چرا عدد از مقالات پیشرفته پایین‌تر است، و از کجا معلوم آستانه روی تست تنظیم نشده.</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20B18"/>
        </a:solidFill>
        <a:effectLst/>
      </p:bgPr>
    </p:bg>
    <p:spTree>
      <p:nvGrpSpPr>
        <p:cNvPr id="1" name=""/>
        <p:cNvGrpSpPr/>
        <p:nvPr/>
      </p:nvGrpSpPr>
      <p:grpSpPr/>
      <p:sp>
        <p:nvSpPr>
          <p:cNvPr id="2" name="Oval 1"/>
          <p:cNvSpPr/>
          <p:nvPr/>
        </p:nvSpPr>
        <p:spPr>
          <a:xfrm>
            <a:off x="8503920" y="-1463040"/>
            <a:ext cx="5669280" cy="5669280"/>
          </a:xfrm>
          <a:prstGeom prst="ellipse">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966960" y="3291840"/>
            <a:ext cx="3291840" cy="3291840"/>
          </a:xfrm>
          <a:prstGeom prst="ellipse">
            <a:avLst/>
          </a:prstGeom>
          <a:solidFill>
            <a:srgbClr val="6B27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31520" y="1371600"/>
            <a:ext cx="7680960" cy="365760"/>
          </a:xfrm>
          <a:prstGeom prst="rect">
            <a:avLst/>
          </a:prstGeom>
          <a:noFill/>
        </p:spPr>
        <p:txBody>
          <a:bodyPr wrap="square" anchor="t" lIns="0" rIns="0" tIns="0" bIns="0">
            <a:spAutoFit/>
          </a:bodyPr>
          <a:lstStyle/>
          <a:p>
            <a:pPr rtl="1" algn="r">
              <a:spcBef>
                <a:spcPts val="0"/>
              </a:spcBef>
              <a:spcAft>
                <a:spcPts val="0"/>
              </a:spcAft>
            </a:pPr>
            <a:r>
              <a:rPr sz="1400" b="1" i="0">
                <a:solidFill>
                  <a:srgbClr val="FF6FA5"/>
                </a:solidFill>
                <a:latin typeface="Arial"/>
                <a:cs typeface="Arial"/>
              </a:rPr>
              <a:t>پایان‌نامه کارشناسی مهندسی کامپیوتر</a:t>
            </a:r>
          </a:p>
        </p:txBody>
      </p:sp>
      <p:sp>
        <p:nvSpPr>
          <p:cNvPr id="5" name="TextBox 4"/>
          <p:cNvSpPr txBox="1"/>
          <p:nvPr/>
        </p:nvSpPr>
        <p:spPr>
          <a:xfrm>
            <a:off x="731520" y="1874519"/>
            <a:ext cx="7680960" cy="1737360"/>
          </a:xfrm>
          <a:prstGeom prst="rect">
            <a:avLst/>
          </a:prstGeom>
          <a:noFill/>
        </p:spPr>
        <p:txBody>
          <a:bodyPr wrap="square" anchor="t" lIns="0" rIns="0" tIns="0" bIns="0">
            <a:spAutoFit/>
          </a:bodyPr>
          <a:lstStyle/>
          <a:p>
            <a:pPr rtl="1" algn="r">
              <a:lnSpc>
                <a:spcPts val="4600"/>
              </a:lnSpc>
              <a:spcBef>
                <a:spcPts val="0"/>
              </a:spcBef>
              <a:spcAft>
                <a:spcPts val="0"/>
              </a:spcAft>
            </a:pPr>
            <a:r>
              <a:rPr sz="3800" b="1" i="0">
                <a:solidFill>
                  <a:srgbClr val="FFFFFF"/>
                </a:solidFill>
                <a:latin typeface="Arial"/>
                <a:cs typeface="Arial"/>
              </a:rPr>
              <a:t>تشخیص نوع ناهنجاری</a:t>
            </a:r>
          </a:p>
          <a:p>
            <a:pPr rtl="1" algn="r">
              <a:lnSpc>
                <a:spcPts val="4600"/>
              </a:lnSpc>
              <a:spcBef>
                <a:spcPts val="0"/>
              </a:spcBef>
              <a:spcAft>
                <a:spcPts val="0"/>
              </a:spcAft>
            </a:pPr>
            <a:r>
              <a:rPr sz="3800" b="1" i="0">
                <a:solidFill>
                  <a:srgbClr val="FFFFFF"/>
                </a:solidFill>
                <a:latin typeface="Arial"/>
                <a:cs typeface="Arial"/>
              </a:rPr>
              <a:t>در ویدیوهای نظارتی</a:t>
            </a:r>
          </a:p>
        </p:txBody>
      </p:sp>
      <p:sp>
        <p:nvSpPr>
          <p:cNvPr id="6" name="TextBox 5"/>
          <p:cNvSpPr txBox="1"/>
          <p:nvPr/>
        </p:nvSpPr>
        <p:spPr>
          <a:xfrm>
            <a:off x="731520" y="3794760"/>
            <a:ext cx="7680960" cy="457200"/>
          </a:xfrm>
          <a:prstGeom prst="rect">
            <a:avLst/>
          </a:prstGeom>
          <a:noFill/>
        </p:spPr>
        <p:txBody>
          <a:bodyPr wrap="square" anchor="t" lIns="0" rIns="0" tIns="0" bIns="0">
            <a:spAutoFit/>
          </a:bodyPr>
          <a:lstStyle/>
          <a:p>
            <a:pPr rtl="1" algn="r">
              <a:spcBef>
                <a:spcPts val="0"/>
              </a:spcBef>
              <a:spcAft>
                <a:spcPts val="0"/>
              </a:spcAft>
            </a:pPr>
            <a:r>
              <a:rPr sz="1600" b="0" i="0">
                <a:solidFill>
                  <a:srgbClr val="F6CFDE"/>
                </a:solidFill>
                <a:latin typeface="Arial"/>
                <a:cs typeface="Arial"/>
              </a:rPr>
              <a:t>یادگیری چندنمونه‌ای ضعیف‌نظارت با ستون فقرات ترنسفورمر ویدیویی</a:t>
            </a:r>
          </a:p>
        </p:txBody>
      </p:sp>
      <p:sp>
        <p:nvSpPr>
          <p:cNvPr id="7" name="TextBox 6"/>
          <p:cNvSpPr txBox="1"/>
          <p:nvPr/>
        </p:nvSpPr>
        <p:spPr>
          <a:xfrm>
            <a:off x="731520" y="4709160"/>
            <a:ext cx="274320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F6CFDE"/>
                </a:solidFill>
                <a:latin typeface="Arial"/>
                <a:cs typeface="Arial"/>
              </a:rPr>
              <a:t>ماکرو F1 نهایی</a:t>
            </a:r>
          </a:p>
        </p:txBody>
      </p:sp>
      <p:sp>
        <p:nvSpPr>
          <p:cNvPr id="8" name="TextBox 7"/>
          <p:cNvSpPr txBox="1"/>
          <p:nvPr/>
        </p:nvSpPr>
        <p:spPr>
          <a:xfrm>
            <a:off x="731520" y="4983480"/>
            <a:ext cx="2743200" cy="731520"/>
          </a:xfrm>
          <a:prstGeom prst="rect">
            <a:avLst/>
          </a:prstGeom>
          <a:noFill/>
        </p:spPr>
        <p:txBody>
          <a:bodyPr wrap="square" anchor="t" lIns="0" rIns="0" tIns="0" bIns="0">
            <a:spAutoFit/>
          </a:bodyPr>
          <a:lstStyle/>
          <a:p>
            <a:pPr rtl="0" algn="l">
              <a:spcBef>
                <a:spcPts val="0"/>
              </a:spcBef>
              <a:spcAft>
                <a:spcPts val="0"/>
              </a:spcAft>
            </a:pPr>
            <a:r>
              <a:rPr sz="4000" b="1" i="0">
                <a:solidFill>
                  <a:srgbClr val="FF6FA5"/>
                </a:solidFill>
                <a:latin typeface="Arial"/>
                <a:cs typeface="Arial"/>
              </a:rPr>
              <a:t>0.4298</a:t>
            </a:r>
          </a:p>
        </p:txBody>
      </p:sp>
      <p:sp>
        <p:nvSpPr>
          <p:cNvPr id="9" name="TextBox 8"/>
          <p:cNvSpPr txBox="1"/>
          <p:nvPr/>
        </p:nvSpPr>
        <p:spPr>
          <a:xfrm>
            <a:off x="3657600" y="5230368"/>
            <a:ext cx="2926080" cy="365760"/>
          </a:xfrm>
          <a:prstGeom prst="rect">
            <a:avLst/>
          </a:prstGeom>
          <a:noFill/>
        </p:spPr>
        <p:txBody>
          <a:bodyPr wrap="square" anchor="t" lIns="0" rIns="0" tIns="0" bIns="0">
            <a:spAutoFit/>
          </a:bodyPr>
          <a:lstStyle/>
          <a:p>
            <a:pPr rtl="1" algn="r">
              <a:spcBef>
                <a:spcPts val="0"/>
              </a:spcBef>
              <a:spcAft>
                <a:spcPts val="0"/>
              </a:spcAft>
            </a:pPr>
            <a:r>
              <a:rPr sz="1300" b="0" i="0">
                <a:solidFill>
                  <a:srgbClr val="F6CFDE"/>
                </a:solidFill>
                <a:latin typeface="Arial"/>
                <a:cs typeface="Arial"/>
              </a:rPr>
              <a:t>از خط پایه 0.2975</a:t>
            </a:r>
          </a:p>
        </p:txBody>
      </p:sp>
      <p:sp>
        <p:nvSpPr>
          <p:cNvPr id="10" name="TextBox 9"/>
          <p:cNvSpPr txBox="1"/>
          <p:nvPr/>
        </p:nvSpPr>
        <p:spPr>
          <a:xfrm>
            <a:off x="731520" y="6035040"/>
            <a:ext cx="7680960" cy="320040"/>
          </a:xfrm>
          <a:prstGeom prst="rect">
            <a:avLst/>
          </a:prstGeom>
          <a:noFill/>
        </p:spPr>
        <p:txBody>
          <a:bodyPr wrap="square" anchor="t" lIns="0" rIns="0" tIns="0" bIns="0">
            <a:spAutoFit/>
          </a:bodyPr>
          <a:lstStyle/>
          <a:p>
            <a:pPr rtl="1" algn="r">
              <a:spcBef>
                <a:spcPts val="0"/>
              </a:spcBef>
              <a:spcAft>
                <a:spcPts val="0"/>
              </a:spcAft>
            </a:pPr>
            <a:r>
              <a:rPr sz="1200" b="0" i="0">
                <a:solidFill>
                  <a:srgbClr val="9C7186"/>
                </a:solidFill>
                <a:latin typeface="Arial"/>
                <a:cs typeface="Arial"/>
              </a:rPr>
              <a:t>دانشگاه صنعتی همدان  ·  گروه مهندسی کامپیوتر</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FBEEF4"/>
                </a:solidFill>
                <a:latin typeface="Arial"/>
                <a:cs typeface="Arial"/>
              </a:rPr>
              <a:t>صورت مسئله</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FF6FA5"/>
                </a:solidFill>
                <a:latin typeface="Arial"/>
                <a:cs typeface="Arial"/>
              </a:rPr>
              <a:t>فصل اول</a:t>
            </a:r>
          </a:p>
        </p:txBody>
      </p:sp>
      <p:sp>
        <p:nvSpPr>
          <p:cNvPr id="4" name="Rounded Rectangle 3"/>
          <p:cNvSpPr/>
          <p:nvPr/>
        </p:nvSpPr>
        <p:spPr>
          <a:xfrm>
            <a:off x="548640" y="1600200"/>
            <a:ext cx="5394960" cy="1920240"/>
          </a:xfrm>
          <a:prstGeom prst="round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7830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B58FA2"/>
                </a:solidFill>
                <a:latin typeface="Arial"/>
                <a:cs typeface="Arial"/>
              </a:rPr>
              <a:t>مسئله متداول: تشخیص ناهنجاری</a:t>
            </a:r>
          </a:p>
        </p:txBody>
      </p:sp>
      <p:sp>
        <p:nvSpPr>
          <p:cNvPr id="6" name="TextBox 5"/>
          <p:cNvSpPr txBox="1"/>
          <p:nvPr/>
        </p:nvSpPr>
        <p:spPr>
          <a:xfrm>
            <a:off x="868680" y="2240280"/>
            <a:ext cx="4754880" cy="914400"/>
          </a:xfrm>
          <a:prstGeom prst="rect">
            <a:avLst/>
          </a:prstGeom>
          <a:noFill/>
        </p:spPr>
        <p:txBody>
          <a:bodyPr wrap="square" anchor="t" lIns="0" rIns="0" tIns="0" bIns="0">
            <a:spAutoFit/>
          </a:bodyPr>
          <a:lstStyle/>
          <a:p>
            <a:pPr rtl="1" algn="r">
              <a:lnSpc>
                <a:spcPts val="2400"/>
              </a:lnSpc>
              <a:spcBef>
                <a:spcPts val="0"/>
              </a:spcBef>
              <a:spcAft>
                <a:spcPts val="0"/>
              </a:spcAft>
            </a:pPr>
            <a:r>
              <a:rPr sz="1500" b="0" i="0">
                <a:solidFill>
                  <a:srgbClr val="F0DCE6"/>
                </a:solidFill>
                <a:latin typeface="Arial"/>
                <a:cs typeface="Arial"/>
              </a:rPr>
              <a:t>آیا این ویدیو ناهنجار است؟</a:t>
            </a:r>
          </a:p>
          <a:p>
            <a:pPr rtl="1" algn="r">
              <a:lnSpc>
                <a:spcPts val="2400"/>
              </a:lnSpc>
              <a:spcBef>
                <a:spcPts val="0"/>
              </a:spcBef>
              <a:spcAft>
                <a:spcPts val="0"/>
              </a:spcAft>
            </a:pPr>
            <a:r>
              <a:rPr sz="1500" b="0" i="0">
                <a:solidFill>
                  <a:srgbClr val="F0DCE6"/>
                </a:solidFill>
                <a:latin typeface="Arial"/>
                <a:cs typeface="Arial"/>
              </a:rPr>
              <a:t>جواب: بله یا خیر</a:t>
            </a:r>
          </a:p>
        </p:txBody>
      </p:sp>
      <p:sp>
        <p:nvSpPr>
          <p:cNvPr id="7" name="Rounded Rectangle 6"/>
          <p:cNvSpPr/>
          <p:nvPr/>
        </p:nvSpPr>
        <p:spPr>
          <a:xfrm>
            <a:off x="6217920" y="1600200"/>
            <a:ext cx="5394960" cy="1920240"/>
          </a:xfrm>
          <a:prstGeom prst="round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537960" y="17830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FF6FA5"/>
                </a:solidFill>
                <a:latin typeface="Arial"/>
                <a:cs typeface="Arial"/>
              </a:rPr>
              <a:t>مسئله ما: تشخیص نوع ناهنجاری</a:t>
            </a:r>
          </a:p>
        </p:txBody>
      </p:sp>
      <p:sp>
        <p:nvSpPr>
          <p:cNvPr id="9" name="TextBox 8"/>
          <p:cNvSpPr txBox="1"/>
          <p:nvPr/>
        </p:nvSpPr>
        <p:spPr>
          <a:xfrm>
            <a:off x="6537960" y="2240280"/>
            <a:ext cx="4754880" cy="914400"/>
          </a:xfrm>
          <a:prstGeom prst="rect">
            <a:avLst/>
          </a:prstGeom>
          <a:noFill/>
        </p:spPr>
        <p:txBody>
          <a:bodyPr wrap="square" anchor="t" lIns="0" rIns="0" tIns="0" bIns="0">
            <a:spAutoFit/>
          </a:bodyPr>
          <a:lstStyle/>
          <a:p>
            <a:pPr rtl="1" algn="r">
              <a:lnSpc>
                <a:spcPts val="2400"/>
              </a:lnSpc>
              <a:spcBef>
                <a:spcPts val="0"/>
              </a:spcBef>
              <a:spcAft>
                <a:spcPts val="0"/>
              </a:spcAft>
            </a:pPr>
            <a:r>
              <a:rPr sz="1500" b="0" i="0">
                <a:solidFill>
                  <a:srgbClr val="F0DCE6"/>
                </a:solidFill>
                <a:latin typeface="Arial"/>
                <a:cs typeface="Arial"/>
              </a:rPr>
              <a:t>کدام نوع ناهنجاری رخ داده؟</a:t>
            </a:r>
          </a:p>
          <a:p>
            <a:pPr rtl="1" algn="r">
              <a:lnSpc>
                <a:spcPts val="2400"/>
              </a:lnSpc>
              <a:spcBef>
                <a:spcPts val="0"/>
              </a:spcBef>
              <a:spcAft>
                <a:spcPts val="0"/>
              </a:spcAft>
            </a:pPr>
            <a:r>
              <a:rPr sz="1500" b="0" i="0">
                <a:solidFill>
                  <a:srgbClr val="F0DCE6"/>
                </a:solidFill>
                <a:latin typeface="Arial"/>
                <a:cs typeface="Arial"/>
              </a:rPr>
              <a:t>جواب: یکی از ۱۴ کلاس</a:t>
            </a:r>
          </a:p>
        </p:txBody>
      </p:sp>
      <p:sp>
        <p:nvSpPr>
          <p:cNvPr id="10" name="TextBox 9"/>
          <p:cNvSpPr txBox="1"/>
          <p:nvPr/>
        </p:nvSpPr>
        <p:spPr>
          <a:xfrm>
            <a:off x="548640" y="3794760"/>
            <a:ext cx="11064240" cy="365760"/>
          </a:xfrm>
          <a:prstGeom prst="rect">
            <a:avLst/>
          </a:prstGeom>
          <a:noFill/>
        </p:spPr>
        <p:txBody>
          <a:bodyPr wrap="square" anchor="t" lIns="0" rIns="0" tIns="0" bIns="0">
            <a:spAutoFit/>
          </a:bodyPr>
          <a:lstStyle/>
          <a:p>
            <a:pPr rtl="1" algn="r">
              <a:spcBef>
                <a:spcPts val="0"/>
              </a:spcBef>
              <a:spcAft>
                <a:spcPts val="0"/>
              </a:spcAft>
            </a:pPr>
            <a:r>
              <a:rPr sz="1800" b="1" i="0">
                <a:solidFill>
                  <a:srgbClr val="FBEEF4"/>
                </a:solidFill>
                <a:latin typeface="Arial"/>
                <a:cs typeface="Arial"/>
              </a:rPr>
              <a:t>چرا این تفاوت مهم است</a:t>
            </a:r>
          </a:p>
        </p:txBody>
      </p:sp>
      <p:sp>
        <p:nvSpPr>
          <p:cNvPr id="11" name="TextBox 10"/>
          <p:cNvSpPr txBox="1"/>
          <p:nvPr/>
        </p:nvSpPr>
        <p:spPr>
          <a:xfrm>
            <a:off x="548640" y="4251960"/>
            <a:ext cx="11064240" cy="1426464"/>
          </a:xfrm>
          <a:prstGeom prst="rect">
            <a:avLst/>
          </a:prstGeom>
          <a:noFill/>
        </p:spPr>
        <p:txBody>
          <a:bodyPr wrap="square" anchor="t" lIns="0" rIns="0" tIns="0" bIns="0">
            <a:spAutoFit/>
          </a:bodyPr>
          <a:lstStyle/>
          <a:p>
            <a:pPr rtl="1" algn="r">
              <a:lnSpc>
                <a:spcPts val="1900"/>
              </a:lnSpc>
              <a:spcBef>
                <a:spcPts val="0"/>
              </a:spcBef>
              <a:spcAft>
                <a:spcPts val="700"/>
              </a:spcAft>
            </a:pPr>
            <a:r>
              <a:rPr sz="1400" b="0" i="0">
                <a:solidFill>
                  <a:srgbClr val="F0DCE6"/>
                </a:solidFill>
                <a:latin typeface="Arial"/>
                <a:cs typeface="Arial"/>
              </a:rPr>
              <a:t>●  پاسخ عملیاتی به تصادف رانندگی، آمبولانس است؛ به سرقت مسلحانه، نیروی مسلح.</a:t>
            </a:r>
          </a:p>
          <a:p>
            <a:pPr rtl="1" algn="r">
              <a:lnSpc>
                <a:spcPts val="1900"/>
              </a:lnSpc>
              <a:spcBef>
                <a:spcPts val="0"/>
              </a:spcBef>
              <a:spcAft>
                <a:spcPts val="700"/>
              </a:spcAft>
            </a:pPr>
            <a:r>
              <a:rPr sz="1400" b="0" i="0">
                <a:solidFill>
                  <a:srgbClr val="F0DCE6"/>
                </a:solidFill>
                <a:latin typeface="Arial"/>
                <a:cs typeface="Arial"/>
              </a:rPr>
              <a:t>●  یک هشدار خام «ناهنجاری رخ داد» برای اپراتور قابل اقدام نیست.</a:t>
            </a:r>
          </a:p>
          <a:p>
            <a:pPr rtl="1" algn="r">
              <a:lnSpc>
                <a:spcPts val="1900"/>
              </a:lnSpc>
              <a:spcBef>
                <a:spcPts val="0"/>
              </a:spcBef>
              <a:spcAft>
                <a:spcPts val="700"/>
              </a:spcAft>
            </a:pPr>
            <a:r>
              <a:rPr sz="1400" b="0" i="0">
                <a:solidFill>
                  <a:srgbClr val="F0DCE6"/>
                </a:solidFill>
                <a:latin typeface="Arial"/>
                <a:cs typeface="Arial"/>
              </a:rPr>
              <a:t>●  از نظر دشواری، مسئله چهارده‌کلاسه با نسخه دودویی قابل مقایسه نیست.</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FBEEF4"/>
                </a:solidFill>
                <a:latin typeface="Arial"/>
                <a:cs typeface="Arial"/>
              </a:rPr>
              <a:t>مجموعه داده UCF-Crime</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FF6FA5"/>
                </a:solidFill>
                <a:latin typeface="Arial"/>
                <a:cs typeface="Arial"/>
              </a:rPr>
              <a:t>داده</a:t>
            </a:r>
          </a:p>
        </p:txBody>
      </p:sp>
      <p:sp>
        <p:nvSpPr>
          <p:cNvPr id="4" name="TextBox 3"/>
          <p:cNvSpPr txBox="1"/>
          <p:nvPr/>
        </p:nvSpPr>
        <p:spPr>
          <a:xfrm>
            <a:off x="548640" y="164592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FBEEF4"/>
                </a:solidFill>
                <a:latin typeface="Arial"/>
                <a:cs typeface="Arial"/>
              </a:rPr>
              <a:t>1900</a:t>
            </a:r>
          </a:p>
        </p:txBody>
      </p:sp>
      <p:sp>
        <p:nvSpPr>
          <p:cNvPr id="5" name="TextBox 4"/>
          <p:cNvSpPr txBox="1"/>
          <p:nvPr/>
        </p:nvSpPr>
        <p:spPr>
          <a:xfrm>
            <a:off x="548640" y="235915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B58FA2"/>
                </a:solidFill>
                <a:latin typeface="Arial"/>
                <a:cs typeface="Arial"/>
              </a:rPr>
              <a:t>کل ویدیوها</a:t>
            </a:r>
          </a:p>
        </p:txBody>
      </p:sp>
      <p:sp>
        <p:nvSpPr>
          <p:cNvPr id="6" name="TextBox 5"/>
          <p:cNvSpPr txBox="1"/>
          <p:nvPr/>
        </p:nvSpPr>
        <p:spPr>
          <a:xfrm>
            <a:off x="3383280" y="164592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FBEEF4"/>
                </a:solidFill>
                <a:latin typeface="Arial"/>
                <a:cs typeface="Arial"/>
              </a:rPr>
              <a:t>14</a:t>
            </a:r>
          </a:p>
        </p:txBody>
      </p:sp>
      <p:sp>
        <p:nvSpPr>
          <p:cNvPr id="7" name="TextBox 6"/>
          <p:cNvSpPr txBox="1"/>
          <p:nvPr/>
        </p:nvSpPr>
        <p:spPr>
          <a:xfrm>
            <a:off x="3383280" y="235915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B58FA2"/>
                </a:solidFill>
                <a:latin typeface="Arial"/>
                <a:cs typeface="Arial"/>
              </a:rPr>
              <a:t>کلاس</a:t>
            </a:r>
          </a:p>
        </p:txBody>
      </p:sp>
      <p:sp>
        <p:nvSpPr>
          <p:cNvPr id="8" name="TextBox 7"/>
          <p:cNvSpPr txBox="1"/>
          <p:nvPr/>
        </p:nvSpPr>
        <p:spPr>
          <a:xfrm>
            <a:off x="6217920" y="164592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7FD8C0"/>
                </a:solidFill>
                <a:latin typeface="Arial"/>
                <a:cs typeface="Arial"/>
              </a:rPr>
              <a:t>1895</a:t>
            </a:r>
          </a:p>
        </p:txBody>
      </p:sp>
      <p:sp>
        <p:nvSpPr>
          <p:cNvPr id="9" name="TextBox 8"/>
          <p:cNvSpPr txBox="1"/>
          <p:nvPr/>
        </p:nvSpPr>
        <p:spPr>
          <a:xfrm>
            <a:off x="6217920" y="235915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B58FA2"/>
                </a:solidFill>
                <a:latin typeface="Arial"/>
                <a:cs typeface="Arial"/>
              </a:rPr>
              <a:t>رمزگشایی موفق</a:t>
            </a:r>
          </a:p>
        </p:txBody>
      </p:sp>
      <p:sp>
        <p:nvSpPr>
          <p:cNvPr id="10" name="TextBox 9"/>
          <p:cNvSpPr txBox="1"/>
          <p:nvPr/>
        </p:nvSpPr>
        <p:spPr>
          <a:xfrm>
            <a:off x="9052560" y="164592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FF8A80"/>
                </a:solidFill>
                <a:latin typeface="Arial"/>
                <a:cs typeface="Arial"/>
              </a:rPr>
              <a:t>5</a:t>
            </a:r>
          </a:p>
        </p:txBody>
      </p:sp>
      <p:sp>
        <p:nvSpPr>
          <p:cNvPr id="11" name="TextBox 10"/>
          <p:cNvSpPr txBox="1"/>
          <p:nvPr/>
        </p:nvSpPr>
        <p:spPr>
          <a:xfrm>
            <a:off x="9052560" y="235915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B58FA2"/>
                </a:solidFill>
                <a:latin typeface="Arial"/>
                <a:cs typeface="Arial"/>
              </a:rPr>
              <a:t>فایل خراب</a:t>
            </a:r>
          </a:p>
        </p:txBody>
      </p:sp>
      <p:sp>
        <p:nvSpPr>
          <p:cNvPr id="12" name="Rounded Rectangle 11"/>
          <p:cNvSpPr/>
          <p:nvPr/>
        </p:nvSpPr>
        <p:spPr>
          <a:xfrm>
            <a:off x="548640" y="3200400"/>
            <a:ext cx="5394960" cy="2834640"/>
          </a:xfrm>
          <a:prstGeom prst="round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68680" y="33832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FBEEF4"/>
                </a:solidFill>
                <a:latin typeface="Arial"/>
                <a:cs typeface="Arial"/>
              </a:rPr>
              <a:t>ویژگی‌های داده</a:t>
            </a:r>
          </a:p>
        </p:txBody>
      </p:sp>
      <p:sp>
        <p:nvSpPr>
          <p:cNvPr id="14" name="TextBox 13"/>
          <p:cNvSpPr txBox="1"/>
          <p:nvPr/>
        </p:nvSpPr>
        <p:spPr>
          <a:xfrm>
            <a:off x="868680" y="3840480"/>
            <a:ext cx="4754880" cy="1810512"/>
          </a:xfrm>
          <a:prstGeom prst="rect">
            <a:avLst/>
          </a:prstGeom>
          <a:noFill/>
        </p:spPr>
        <p:txBody>
          <a:bodyPr wrap="square" anchor="t" lIns="0" rIns="0" tIns="0" bIns="0">
            <a:spAutoFit/>
          </a:bodyPr>
          <a:lstStyle/>
          <a:p>
            <a:pPr rtl="1" algn="r">
              <a:lnSpc>
                <a:spcPts val="1900"/>
              </a:lnSpc>
              <a:spcBef>
                <a:spcPts val="0"/>
              </a:spcBef>
              <a:spcAft>
                <a:spcPts val="700"/>
              </a:spcAft>
            </a:pPr>
            <a:r>
              <a:rPr sz="1300" b="0" i="0">
                <a:solidFill>
                  <a:srgbClr val="F0DCE6"/>
                </a:solidFill>
                <a:latin typeface="Arial"/>
                <a:cs typeface="Arial"/>
              </a:rPr>
              <a:t>●  ویدیوی واقعی دوربین مداربسته، نه صحنه‌پردازی</a:t>
            </a:r>
          </a:p>
          <a:p>
            <a:pPr rtl="1" algn="r">
              <a:lnSpc>
                <a:spcPts val="1900"/>
              </a:lnSpc>
              <a:spcBef>
                <a:spcPts val="0"/>
              </a:spcBef>
              <a:spcAft>
                <a:spcPts val="700"/>
              </a:spcAft>
            </a:pPr>
            <a:r>
              <a:rPr sz="1300" b="0" i="0">
                <a:solidFill>
                  <a:srgbClr val="F0DCE6"/>
                </a:solidFill>
                <a:latin typeface="Arial"/>
                <a:cs typeface="Arial"/>
              </a:rPr>
              <a:t>●  وضوح پایین، نور ضعیف، زاویه نامناسب</a:t>
            </a:r>
          </a:p>
          <a:p>
            <a:pPr rtl="1" algn="r">
              <a:lnSpc>
                <a:spcPts val="1900"/>
              </a:lnSpc>
              <a:spcBef>
                <a:spcPts val="0"/>
              </a:spcBef>
              <a:spcAft>
                <a:spcPts val="700"/>
              </a:spcAft>
            </a:pPr>
            <a:r>
              <a:rPr sz="1300" b="0" i="0">
                <a:solidFill>
                  <a:srgbClr val="F0DCE6"/>
                </a:solidFill>
                <a:latin typeface="Arial"/>
                <a:cs typeface="Arial"/>
              </a:rPr>
              <a:t>●  مدت‌زمان از چند ثانیه تا چند دقیقه</a:t>
            </a:r>
          </a:p>
          <a:p>
            <a:pPr rtl="1" algn="r">
              <a:lnSpc>
                <a:spcPts val="1900"/>
              </a:lnSpc>
              <a:spcBef>
                <a:spcPts val="0"/>
              </a:spcBef>
              <a:spcAft>
                <a:spcPts val="700"/>
              </a:spcAft>
            </a:pPr>
            <a:r>
              <a:rPr sz="1300" b="0" i="0">
                <a:solidFill>
                  <a:srgbClr val="F0DCE6"/>
                </a:solidFill>
                <a:latin typeface="Arial"/>
                <a:cs typeface="Arial"/>
              </a:rPr>
              <a:t>●  برچسب فقط در سطح کل ویدیو</a:t>
            </a:r>
          </a:p>
        </p:txBody>
      </p:sp>
      <p:sp>
        <p:nvSpPr>
          <p:cNvPr id="15" name="Rounded Rectangle 14"/>
          <p:cNvSpPr/>
          <p:nvPr/>
        </p:nvSpPr>
        <p:spPr>
          <a:xfrm>
            <a:off x="6217920" y="3200400"/>
            <a:ext cx="5394960" cy="2834640"/>
          </a:xfrm>
          <a:prstGeom prst="round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537960" y="33832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FF6FA5"/>
                </a:solidFill>
                <a:latin typeface="Arial"/>
                <a:cs typeface="Arial"/>
              </a:rPr>
              <a:t>چالش اصلی: نامتوازنی شدید</a:t>
            </a:r>
          </a:p>
        </p:txBody>
      </p:sp>
      <p:sp>
        <p:nvSpPr>
          <p:cNvPr id="17" name="TextBox 16"/>
          <p:cNvSpPr txBox="1"/>
          <p:nvPr/>
        </p:nvSpPr>
        <p:spPr>
          <a:xfrm>
            <a:off x="6537960" y="3840480"/>
            <a:ext cx="4754880" cy="1810512"/>
          </a:xfrm>
          <a:prstGeom prst="rect">
            <a:avLst/>
          </a:prstGeom>
          <a:noFill/>
        </p:spPr>
        <p:txBody>
          <a:bodyPr wrap="square" anchor="t" lIns="0" rIns="0" tIns="0" bIns="0">
            <a:spAutoFit/>
          </a:bodyPr>
          <a:lstStyle/>
          <a:p>
            <a:pPr rtl="1" algn="r">
              <a:lnSpc>
                <a:spcPts val="1900"/>
              </a:lnSpc>
              <a:spcBef>
                <a:spcPts val="0"/>
              </a:spcBef>
              <a:spcAft>
                <a:spcPts val="700"/>
              </a:spcAft>
            </a:pPr>
            <a:r>
              <a:rPr sz="1300" b="0" i="0">
                <a:solidFill>
                  <a:srgbClr val="F0DCE6"/>
                </a:solidFill>
                <a:latin typeface="Arial"/>
                <a:cs typeface="Arial"/>
              </a:rPr>
              <a:t>●  کلاس عادی حدود نیمی از داده آموزش است</a:t>
            </a:r>
          </a:p>
          <a:p>
            <a:pPr rtl="1" algn="r">
              <a:lnSpc>
                <a:spcPts val="1900"/>
              </a:lnSpc>
              <a:spcBef>
                <a:spcPts val="0"/>
              </a:spcBef>
              <a:spcAft>
                <a:spcPts val="700"/>
              </a:spcAft>
            </a:pPr>
            <a:r>
              <a:rPr sz="1300" b="0" i="0">
                <a:solidFill>
                  <a:srgbClr val="F0DCE6"/>
                </a:solidFill>
                <a:latin typeface="Arial"/>
                <a:cs typeface="Arial"/>
              </a:rPr>
              <a:t>●  کلاس تیراندازی کمتر از دو درصد</a:t>
            </a:r>
          </a:p>
          <a:p>
            <a:pPr rtl="1" algn="r">
              <a:lnSpc>
                <a:spcPts val="1900"/>
              </a:lnSpc>
              <a:spcBef>
                <a:spcPts val="0"/>
              </a:spcBef>
              <a:spcAft>
                <a:spcPts val="700"/>
              </a:spcAft>
            </a:pPr>
            <a:r>
              <a:rPr sz="1300" b="0" i="0">
                <a:solidFill>
                  <a:srgbClr val="F0DCE6"/>
                </a:solidFill>
                <a:latin typeface="Arial"/>
                <a:cs typeface="Arial"/>
              </a:rPr>
              <a:t>●  در آزمون، هفت کلاس پنج ویدیو یا کمتر دارند</a:t>
            </a:r>
          </a:p>
          <a:p>
            <a:pPr rtl="1" algn="r">
              <a:lnSpc>
                <a:spcPts val="1900"/>
              </a:lnSpc>
              <a:spcBef>
                <a:spcPts val="0"/>
              </a:spcBef>
              <a:spcAft>
                <a:spcPts val="700"/>
              </a:spcAft>
            </a:pPr>
            <a:r>
              <a:rPr sz="1300" b="0" i="0">
                <a:solidFill>
                  <a:srgbClr val="F0DCE6"/>
                </a:solidFill>
                <a:latin typeface="Arial"/>
                <a:cs typeface="Arial"/>
              </a:rPr>
              <a:t>●  کلاس Assault تنها سه ویدیوی آزمون دارد</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FBEEF4"/>
                </a:solidFill>
                <a:latin typeface="Arial"/>
                <a:cs typeface="Arial"/>
              </a:rPr>
              <a:t>تعداد ویدیو در هر کلاس — مجموعه آموزش</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FF6FA5"/>
                </a:solidFill>
                <a:latin typeface="Arial"/>
                <a:cs typeface="Arial"/>
              </a:rPr>
              <a:t>تقسیم داده</a:t>
            </a:r>
          </a:p>
        </p:txBody>
      </p:sp>
      <p:graphicFrame>
        <p:nvGraphicFramePr>
          <p:cNvPr id="4" name="Table 3"/>
          <p:cNvGraphicFramePr>
            <a:graphicFrameLocks noGrp="1"/>
          </p:cNvGraphicFramePr>
          <p:nvPr/>
        </p:nvGraphicFramePr>
        <p:xfrm>
          <a:off x="548640" y="1600200"/>
          <a:ext cx="5394959" cy="2487168"/>
        </p:xfrm>
        <a:graphic>
          <a:graphicData uri="http://schemas.openxmlformats.org/drawingml/2006/table">
            <a:tbl>
              <a:tblPr firstRow="0" bandRow="0">
                <a:tableStyleId>{5C22544A-7EE6-4342-B048-85BDC9FD1C3A}</a:tableStyleId>
              </a:tblPr>
              <a:tblGrid>
                <a:gridCol w="3749039"/>
                <a:gridCol w="1645920"/>
              </a:tblGrid>
              <a:tr h="310896">
                <a:tc>
                  <a:txBody>
                    <a:bodyPr wrap="square"/>
                    <a:lstStyle/>
                    <a:p>
                      <a:pPr rtl="1" algn="ctr">
                        <a:spcBef>
                          <a:spcPts val="0"/>
                        </a:spcBef>
                        <a:spcAft>
                          <a:spcPts val="0"/>
                        </a:spcAft>
                      </a:pPr>
                      <a:r>
                        <a:rPr sz="1200" b="1" i="0">
                          <a:solidFill>
                            <a:srgbClr val="FF6FA5"/>
                          </a:solidFill>
                          <a:latin typeface="Arial"/>
                          <a:cs typeface="Arial"/>
                        </a:rPr>
                        <a:t>کلاس</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00" b="1" i="0">
                          <a:solidFill>
                            <a:srgbClr val="FF6FA5"/>
                          </a:solidFill>
                          <a:latin typeface="Arial"/>
                          <a:cs typeface="Arial"/>
                        </a:rPr>
                        <a:t>تعداد ویدیو</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r>
              <a:tr h="310896">
                <a:tc>
                  <a:txBody>
                    <a:bodyPr wrap="square"/>
                    <a:lstStyle/>
                    <a:p>
                      <a:pPr rtl="1" algn="r">
                        <a:spcBef>
                          <a:spcPts val="0"/>
                        </a:spcBef>
                        <a:spcAft>
                          <a:spcPts val="0"/>
                        </a:spcAft>
                      </a:pPr>
                      <a:r>
                        <a:rPr sz="1200" b="0" i="0">
                          <a:solidFill>
                            <a:srgbClr val="F0DCE6"/>
                          </a:solidFill>
                          <a:latin typeface="Arial"/>
                          <a:cs typeface="Arial"/>
                        </a:rPr>
                        <a:t>Normal — عادی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800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10896">
                <a:tc>
                  <a:txBody>
                    <a:bodyPr wrap="square"/>
                    <a:lstStyle/>
                    <a:p>
                      <a:pPr rtl="1" algn="r">
                        <a:spcBef>
                          <a:spcPts val="0"/>
                        </a:spcBef>
                        <a:spcAft>
                          <a:spcPts val="0"/>
                        </a:spcAft>
                      </a:pPr>
                      <a:r>
                        <a:rPr sz="1200" b="0" i="0">
                          <a:solidFill>
                            <a:srgbClr val="F0DCE6"/>
                          </a:solidFill>
                          <a:latin typeface="Arial"/>
                          <a:cs typeface="Arial"/>
                        </a:rPr>
                        <a:t>Robbery — سرقت</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145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10896">
                <a:tc>
                  <a:txBody>
                    <a:bodyPr wrap="square"/>
                    <a:lstStyle/>
                    <a:p>
                      <a:pPr rtl="1" algn="r">
                        <a:spcBef>
                          <a:spcPts val="0"/>
                        </a:spcBef>
                        <a:spcAft>
                          <a:spcPts val="0"/>
                        </a:spcAft>
                      </a:pPr>
                      <a:r>
                        <a:rPr sz="1200" b="0" i="0">
                          <a:solidFill>
                            <a:srgbClr val="F0DCE6"/>
                          </a:solidFill>
                          <a:latin typeface="Arial"/>
                          <a:cs typeface="Arial"/>
                        </a:rPr>
                        <a:t>RoadAccidents — تصادف</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127</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10896">
                <a:tc>
                  <a:txBody>
                    <a:bodyPr wrap="square"/>
                    <a:lstStyle/>
                    <a:p>
                      <a:pPr rtl="1" algn="r">
                        <a:spcBef>
                          <a:spcPts val="0"/>
                        </a:spcBef>
                        <a:spcAft>
                          <a:spcPts val="0"/>
                        </a:spcAft>
                      </a:pPr>
                      <a:r>
                        <a:rPr sz="1200" b="0" i="0">
                          <a:solidFill>
                            <a:srgbClr val="F0DCE6"/>
                          </a:solidFill>
                          <a:latin typeface="Arial"/>
                          <a:cs typeface="Arial"/>
                        </a:rPr>
                        <a:t>Stealing — دزدی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95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10896">
                <a:tc>
                  <a:txBody>
                    <a:bodyPr wrap="square"/>
                    <a:lstStyle/>
                    <a:p>
                      <a:pPr rtl="1" algn="r">
                        <a:spcBef>
                          <a:spcPts val="0"/>
                        </a:spcBef>
                        <a:spcAft>
                          <a:spcPts val="0"/>
                        </a:spcAft>
                      </a:pPr>
                      <a:r>
                        <a:rPr sz="1200" b="0" i="0">
                          <a:solidFill>
                            <a:srgbClr val="F0DCE6"/>
                          </a:solidFill>
                          <a:latin typeface="Arial"/>
                          <a:cs typeface="Arial"/>
                        </a:rPr>
                        <a:t>Burglary — سرقت از منزل</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87</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10896">
                <a:tc>
                  <a:txBody>
                    <a:bodyPr wrap="square"/>
                    <a:lstStyle/>
                    <a:p>
                      <a:pPr rtl="1" algn="r">
                        <a:spcBef>
                          <a:spcPts val="0"/>
                        </a:spcBef>
                        <a:spcAft>
                          <a:spcPts val="0"/>
                        </a:spcAft>
                      </a:pPr>
                      <a:r>
                        <a:rPr sz="1200" b="0" i="0">
                          <a:solidFill>
                            <a:srgbClr val="F0DCE6"/>
                          </a:solidFill>
                          <a:latin typeface="Arial"/>
                          <a:cs typeface="Arial"/>
                        </a:rPr>
                        <a:t>Abuse — سوءاستفاده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48</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10896">
                <a:tc>
                  <a:txBody>
                    <a:bodyPr wrap="square"/>
                    <a:lstStyle/>
                    <a:p>
                      <a:pPr rtl="1" algn="r">
                        <a:spcBef>
                          <a:spcPts val="0"/>
                        </a:spcBef>
                        <a:spcAft>
                          <a:spcPts val="0"/>
                        </a:spcAft>
                      </a:pPr>
                      <a:r>
                        <a:rPr sz="1200" b="0" i="0">
                          <a:solidFill>
                            <a:srgbClr val="F0DCE6"/>
                          </a:solidFill>
                          <a:latin typeface="Arial"/>
                          <a:cs typeface="Arial"/>
                        </a:rPr>
                        <a:t>Assault — تعرض</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47</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bl>
          </a:graphicData>
        </a:graphic>
      </p:graphicFrame>
      <p:graphicFrame>
        <p:nvGraphicFramePr>
          <p:cNvPr id="5" name="Table 4"/>
          <p:cNvGraphicFramePr>
            <a:graphicFrameLocks noGrp="1"/>
          </p:cNvGraphicFramePr>
          <p:nvPr/>
        </p:nvGraphicFramePr>
        <p:xfrm>
          <a:off x="6217920" y="1600200"/>
          <a:ext cx="5394959" cy="2487168"/>
        </p:xfrm>
        <a:graphic>
          <a:graphicData uri="http://schemas.openxmlformats.org/drawingml/2006/table">
            <a:tbl>
              <a:tblPr firstRow="0" bandRow="0">
                <a:tableStyleId>{5C22544A-7EE6-4342-B048-85BDC9FD1C3A}</a:tableStyleId>
              </a:tblPr>
              <a:tblGrid>
                <a:gridCol w="3749039"/>
                <a:gridCol w="1645920"/>
              </a:tblGrid>
              <a:tr h="310896">
                <a:tc>
                  <a:txBody>
                    <a:bodyPr wrap="square"/>
                    <a:lstStyle/>
                    <a:p>
                      <a:pPr rtl="1" algn="ctr">
                        <a:spcBef>
                          <a:spcPts val="0"/>
                        </a:spcBef>
                        <a:spcAft>
                          <a:spcPts val="0"/>
                        </a:spcAft>
                      </a:pPr>
                      <a:r>
                        <a:rPr sz="1200" b="1" i="0">
                          <a:solidFill>
                            <a:srgbClr val="FF6FA5"/>
                          </a:solidFill>
                          <a:latin typeface="Arial"/>
                          <a:cs typeface="Arial"/>
                        </a:rPr>
                        <a:t>کلاس</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00" b="1" i="0">
                          <a:solidFill>
                            <a:srgbClr val="FF6FA5"/>
                          </a:solidFill>
                          <a:latin typeface="Arial"/>
                          <a:cs typeface="Arial"/>
                        </a:rPr>
                        <a:t>تعداد ویدیو</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r>
              <a:tr h="310896">
                <a:tc>
                  <a:txBody>
                    <a:bodyPr wrap="square"/>
                    <a:lstStyle/>
                    <a:p>
                      <a:pPr rtl="1" algn="r">
                        <a:spcBef>
                          <a:spcPts val="0"/>
                        </a:spcBef>
                        <a:spcAft>
                          <a:spcPts val="0"/>
                        </a:spcAft>
                      </a:pPr>
                      <a:r>
                        <a:rPr sz="1200" b="0" i="0">
                          <a:solidFill>
                            <a:srgbClr val="F0DCE6"/>
                          </a:solidFill>
                          <a:latin typeface="Arial"/>
                          <a:cs typeface="Arial"/>
                        </a:rPr>
                        <a:t>Arrest — بازداشت</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45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10896">
                <a:tc>
                  <a:txBody>
                    <a:bodyPr wrap="square"/>
                    <a:lstStyle/>
                    <a:p>
                      <a:pPr rtl="1" algn="r">
                        <a:spcBef>
                          <a:spcPts val="0"/>
                        </a:spcBef>
                        <a:spcAft>
                          <a:spcPts val="0"/>
                        </a:spcAft>
                      </a:pPr>
                      <a:r>
                        <a:rPr sz="1200" b="0" i="0">
                          <a:solidFill>
                            <a:srgbClr val="F0DCE6"/>
                          </a:solidFill>
                          <a:latin typeface="Arial"/>
                          <a:cs typeface="Arial"/>
                        </a:rPr>
                        <a:t>Fighting — درگیری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45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10896">
                <a:tc>
                  <a:txBody>
                    <a:bodyPr wrap="square"/>
                    <a:lstStyle/>
                    <a:p>
                      <a:pPr rtl="1" algn="r">
                        <a:spcBef>
                          <a:spcPts val="0"/>
                        </a:spcBef>
                        <a:spcAft>
                          <a:spcPts val="0"/>
                        </a:spcAft>
                      </a:pPr>
                      <a:r>
                        <a:rPr sz="1200" b="0" i="0">
                          <a:solidFill>
                            <a:srgbClr val="F0DCE6"/>
                          </a:solidFill>
                          <a:latin typeface="Arial"/>
                          <a:cs typeface="Arial"/>
                        </a:rPr>
                        <a:t>Vandalism — تخریب</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45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10896">
                <a:tc>
                  <a:txBody>
                    <a:bodyPr wrap="square"/>
                    <a:lstStyle/>
                    <a:p>
                      <a:pPr rtl="1" algn="r">
                        <a:spcBef>
                          <a:spcPts val="0"/>
                        </a:spcBef>
                        <a:spcAft>
                          <a:spcPts val="0"/>
                        </a:spcAft>
                      </a:pPr>
                      <a:r>
                        <a:rPr sz="1200" b="0" i="0">
                          <a:solidFill>
                            <a:srgbClr val="F0DCE6"/>
                          </a:solidFill>
                          <a:latin typeface="Arial"/>
                          <a:cs typeface="Arial"/>
                        </a:rPr>
                        <a:t>Arson — آتش‌افروزی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41</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10896">
                <a:tc>
                  <a:txBody>
                    <a:bodyPr wrap="square"/>
                    <a:lstStyle/>
                    <a:p>
                      <a:pPr rtl="1" algn="r">
                        <a:spcBef>
                          <a:spcPts val="0"/>
                        </a:spcBef>
                        <a:spcAft>
                          <a:spcPts val="0"/>
                        </a:spcAft>
                      </a:pPr>
                      <a:r>
                        <a:rPr sz="1200" b="0" i="0">
                          <a:solidFill>
                            <a:srgbClr val="F0DCE6"/>
                          </a:solidFill>
                          <a:latin typeface="Arial"/>
                          <a:cs typeface="Arial"/>
                        </a:rPr>
                        <a:t>Explosion — انفجار</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29</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10896">
                <a:tc>
                  <a:txBody>
                    <a:bodyPr wrap="square"/>
                    <a:lstStyle/>
                    <a:p>
                      <a:pPr rtl="1" algn="r">
                        <a:spcBef>
                          <a:spcPts val="0"/>
                        </a:spcBef>
                        <a:spcAft>
                          <a:spcPts val="0"/>
                        </a:spcAft>
                      </a:pPr>
                      <a:r>
                        <a:rPr sz="1200" b="0" i="0">
                          <a:solidFill>
                            <a:srgbClr val="F0DCE6"/>
                          </a:solidFill>
                          <a:latin typeface="Arial"/>
                          <a:cs typeface="Arial"/>
                        </a:rPr>
                        <a:t>Shoplifting — دزدی از مغازه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29</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10896">
                <a:tc>
                  <a:txBody>
                    <a:bodyPr wrap="square"/>
                    <a:lstStyle/>
                    <a:p>
                      <a:pPr rtl="1" algn="r">
                        <a:spcBef>
                          <a:spcPts val="0"/>
                        </a:spcBef>
                        <a:spcAft>
                          <a:spcPts val="0"/>
                        </a:spcAft>
                      </a:pPr>
                      <a:r>
                        <a:rPr sz="1200" b="0" i="0">
                          <a:solidFill>
                            <a:srgbClr val="F0DCE6"/>
                          </a:solidFill>
                          <a:latin typeface="Arial"/>
                          <a:cs typeface="Arial"/>
                        </a:rPr>
                        <a:t>Shooting — تیراندازی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27</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bl>
          </a:graphicData>
        </a:graphic>
      </p:graphicFrame>
      <p:sp>
        <p:nvSpPr>
          <p:cNvPr id="6" name="Rounded Rectangle 5"/>
          <p:cNvSpPr/>
          <p:nvPr/>
        </p:nvSpPr>
        <p:spPr>
          <a:xfrm>
            <a:off x="548640" y="4709160"/>
            <a:ext cx="11064240" cy="1371600"/>
          </a:xfrm>
          <a:prstGeom prst="round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68680" y="4892040"/>
            <a:ext cx="10424160" cy="365760"/>
          </a:xfrm>
          <a:prstGeom prst="rect">
            <a:avLst/>
          </a:prstGeom>
          <a:noFill/>
        </p:spPr>
        <p:txBody>
          <a:bodyPr wrap="square" anchor="t" lIns="0" rIns="0" tIns="0" bIns="0">
            <a:spAutoFit/>
          </a:bodyPr>
          <a:lstStyle/>
          <a:p>
            <a:pPr rtl="1" algn="r">
              <a:spcBef>
                <a:spcPts val="0"/>
              </a:spcBef>
              <a:spcAft>
                <a:spcPts val="0"/>
              </a:spcAft>
            </a:pPr>
            <a:r>
              <a:rPr sz="1600" b="1" i="0">
                <a:solidFill>
                  <a:srgbClr val="FBEEF4"/>
                </a:solidFill>
                <a:latin typeface="Arial"/>
                <a:cs typeface="Arial"/>
              </a:rPr>
              <a:t>جمع: ۱۶۱۰ ویدیوی آموزش  ·  ۸۰۰ عادی و ۸۱۰ ناهنجار</a:t>
            </a:r>
          </a:p>
        </p:txBody>
      </p:sp>
      <p:sp>
        <p:nvSpPr>
          <p:cNvPr id="8" name="TextBox 7"/>
          <p:cNvSpPr txBox="1"/>
          <p:nvPr/>
        </p:nvSpPr>
        <p:spPr>
          <a:xfrm>
            <a:off x="868680" y="5303520"/>
            <a:ext cx="10424160" cy="64008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F0DCE6"/>
                </a:solidFill>
                <a:latin typeface="Arial"/>
                <a:cs typeface="Arial"/>
              </a:rPr>
              <a:t>نسبت کلاس عادی به کمیاب‌ترین کلاس حدود ۳۰ به ۱ است. همین نسبت است که وزن‌دهی معکوس فراوانی را ضروری می‌کند.</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FBEEF4"/>
                </a:solidFill>
                <a:latin typeface="Arial"/>
                <a:cs typeface="Arial"/>
              </a:rPr>
              <a:t>تعداد ویدیو در هر کلاس — مجموعه آزمون</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FF6FA5"/>
                </a:solidFill>
                <a:latin typeface="Arial"/>
                <a:cs typeface="Arial"/>
              </a:rPr>
              <a:t>تقسیم داده</a:t>
            </a:r>
          </a:p>
        </p:txBody>
      </p:sp>
      <p:graphicFrame>
        <p:nvGraphicFramePr>
          <p:cNvPr id="4" name="Table 3"/>
          <p:cNvGraphicFramePr>
            <a:graphicFrameLocks noGrp="1"/>
          </p:cNvGraphicFramePr>
          <p:nvPr/>
        </p:nvGraphicFramePr>
        <p:xfrm>
          <a:off x="548640" y="1572768"/>
          <a:ext cx="6766560" cy="3703320"/>
        </p:xfrm>
        <a:graphic>
          <a:graphicData uri="http://schemas.openxmlformats.org/drawingml/2006/table">
            <a:tbl>
              <a:tblPr firstRow="0" bandRow="0">
                <a:tableStyleId>{5C22544A-7EE6-4342-B048-85BDC9FD1C3A}</a:tableStyleId>
              </a:tblPr>
              <a:tblGrid>
                <a:gridCol w="3291840"/>
                <a:gridCol w="1737360"/>
                <a:gridCol w="1737360"/>
              </a:tblGrid>
              <a:tr h="246888">
                <a:tc>
                  <a:txBody>
                    <a:bodyPr wrap="square"/>
                    <a:lstStyle/>
                    <a:p>
                      <a:pPr rtl="1" algn="ctr">
                        <a:spcBef>
                          <a:spcPts val="0"/>
                        </a:spcBef>
                        <a:spcAft>
                          <a:spcPts val="0"/>
                        </a:spcAft>
                      </a:pPr>
                      <a:r>
                        <a:rPr sz="1100" b="1" i="0">
                          <a:solidFill>
                            <a:srgbClr val="FF6FA5"/>
                          </a:solidFill>
                          <a:latin typeface="Arial"/>
                          <a:cs typeface="Arial"/>
                        </a:rPr>
                        <a:t>کلاس</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100" b="1" i="0">
                          <a:solidFill>
                            <a:srgbClr val="FF6FA5"/>
                          </a:solidFill>
                          <a:latin typeface="Arial"/>
                          <a:cs typeface="Arial"/>
                        </a:rPr>
                        <a:t>تقسیم استاندارد</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100" b="1" i="0">
                          <a:solidFill>
                            <a:srgbClr val="FF6FA5"/>
                          </a:solidFill>
                          <a:latin typeface="Arial"/>
                          <a:cs typeface="Arial"/>
                        </a:rPr>
                        <a:t>تقسیم مسیر اول</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r>
              <a:tr h="246888">
                <a:tc>
                  <a:txBody>
                    <a:bodyPr wrap="square"/>
                    <a:lstStyle/>
                    <a:p>
                      <a:pPr rtl="1" algn="r">
                        <a:spcBef>
                          <a:spcPts val="0"/>
                        </a:spcBef>
                        <a:spcAft>
                          <a:spcPts val="0"/>
                        </a:spcAft>
                      </a:pPr>
                      <a:r>
                        <a:rPr sz="1100" b="0" i="0">
                          <a:solidFill>
                            <a:srgbClr val="F0DCE6"/>
                          </a:solidFill>
                          <a:latin typeface="Arial"/>
                          <a:cs typeface="Arial"/>
                        </a:rPr>
                        <a:t>Normal — عادی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150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148</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246888">
                <a:tc>
                  <a:txBody>
                    <a:bodyPr wrap="square"/>
                    <a:lstStyle/>
                    <a:p>
                      <a:pPr rtl="1" algn="r">
                        <a:spcBef>
                          <a:spcPts val="0"/>
                        </a:spcBef>
                        <a:spcAft>
                          <a:spcPts val="0"/>
                        </a:spcAft>
                      </a:pPr>
                      <a:r>
                        <a:rPr sz="1100" b="0" i="0">
                          <a:solidFill>
                            <a:srgbClr val="F0DCE6"/>
                          </a:solidFill>
                          <a:latin typeface="Arial"/>
                          <a:cs typeface="Arial"/>
                        </a:rPr>
                        <a:t>RoadAccidents — تصادف رانندگی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23</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23</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246888">
                <a:tc>
                  <a:txBody>
                    <a:bodyPr wrap="square"/>
                    <a:lstStyle/>
                    <a:p>
                      <a:pPr rtl="1" algn="r">
                        <a:spcBef>
                          <a:spcPts val="0"/>
                        </a:spcBef>
                        <a:spcAft>
                          <a:spcPts val="0"/>
                        </a:spcAft>
                      </a:pPr>
                      <a:r>
                        <a:rPr sz="1100" b="0" i="0">
                          <a:solidFill>
                            <a:srgbClr val="F0DCE6"/>
                          </a:solidFill>
                          <a:latin typeface="Arial"/>
                          <a:cs typeface="Arial"/>
                        </a:rPr>
                        <a:t>Shooting — تیراندازی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23</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8</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246888">
                <a:tc>
                  <a:txBody>
                    <a:bodyPr wrap="square"/>
                    <a:lstStyle/>
                    <a:p>
                      <a:pPr rtl="1" algn="r">
                        <a:spcBef>
                          <a:spcPts val="0"/>
                        </a:spcBef>
                        <a:spcAft>
                          <a:spcPts val="0"/>
                        </a:spcAft>
                      </a:pPr>
                      <a:r>
                        <a:rPr sz="1100" b="0" i="0">
                          <a:solidFill>
                            <a:srgbClr val="F0DCE6"/>
                          </a:solidFill>
                          <a:latin typeface="Arial"/>
                          <a:cs typeface="Arial"/>
                        </a:rPr>
                        <a:t>Explosion — انفجار</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21</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8</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246888">
                <a:tc>
                  <a:txBody>
                    <a:bodyPr wrap="square"/>
                    <a:lstStyle/>
                    <a:p>
                      <a:pPr rtl="1" algn="r">
                        <a:spcBef>
                          <a:spcPts val="0"/>
                        </a:spcBef>
                        <a:spcAft>
                          <a:spcPts val="0"/>
                        </a:spcAft>
                      </a:pPr>
                      <a:r>
                        <a:rPr sz="1100" b="0" i="0">
                          <a:solidFill>
                            <a:srgbClr val="F0DCE6"/>
                          </a:solidFill>
                          <a:latin typeface="Arial"/>
                          <a:cs typeface="Arial"/>
                        </a:rPr>
                        <a:t>Shoplifting — دزدی از مغازه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21</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8</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246888">
                <a:tc>
                  <a:txBody>
                    <a:bodyPr wrap="square"/>
                    <a:lstStyle/>
                    <a:p>
                      <a:pPr rtl="1" algn="r">
                        <a:spcBef>
                          <a:spcPts val="0"/>
                        </a:spcBef>
                        <a:spcAft>
                          <a:spcPts val="0"/>
                        </a:spcAft>
                      </a:pPr>
                      <a:r>
                        <a:rPr sz="1100" b="0" i="0">
                          <a:solidFill>
                            <a:srgbClr val="F0DCE6"/>
                          </a:solidFill>
                          <a:latin typeface="Arial"/>
                          <a:cs typeface="Arial"/>
                        </a:rPr>
                        <a:t>Burglary — سرقت از منزل</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13</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15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246888">
                <a:tc>
                  <a:txBody>
                    <a:bodyPr wrap="square"/>
                    <a:lstStyle/>
                    <a:p>
                      <a:pPr rtl="1" algn="r">
                        <a:spcBef>
                          <a:spcPts val="0"/>
                        </a:spcBef>
                        <a:spcAft>
                          <a:spcPts val="0"/>
                        </a:spcAft>
                      </a:pPr>
                      <a:r>
                        <a:rPr sz="1100" b="0" i="0">
                          <a:solidFill>
                            <a:srgbClr val="F0DCE6"/>
                          </a:solidFill>
                          <a:latin typeface="Arial"/>
                          <a:cs typeface="Arial"/>
                        </a:rPr>
                        <a:t>Arson — آتش‌افروزی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9</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8</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246888">
                <a:tc>
                  <a:txBody>
                    <a:bodyPr wrap="square"/>
                    <a:lstStyle/>
                    <a:p>
                      <a:pPr rtl="1" algn="r">
                        <a:spcBef>
                          <a:spcPts val="0"/>
                        </a:spcBef>
                        <a:spcAft>
                          <a:spcPts val="0"/>
                        </a:spcAft>
                      </a:pPr>
                      <a:r>
                        <a:rPr sz="1100" b="1" i="0">
                          <a:solidFill>
                            <a:srgbClr val="FFA0C4"/>
                          </a:solidFill>
                          <a:latin typeface="Arial"/>
                          <a:cs typeface="Arial"/>
                        </a:rPr>
                        <a:t>Arrest — بازداشت</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00" b="1" i="0">
                          <a:solidFill>
                            <a:srgbClr val="FFA0C4"/>
                          </a:solidFill>
                          <a:latin typeface="Arial"/>
                          <a:cs typeface="Arial"/>
                        </a:rPr>
                        <a:t>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00" b="1" i="0">
                          <a:solidFill>
                            <a:srgbClr val="FFA0C4"/>
                          </a:solidFill>
                          <a:latin typeface="Arial"/>
                          <a:cs typeface="Arial"/>
                        </a:rPr>
                        <a:t>8</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r>
              <a:tr h="246888">
                <a:tc>
                  <a:txBody>
                    <a:bodyPr wrap="square"/>
                    <a:lstStyle/>
                    <a:p>
                      <a:pPr rtl="1" algn="r">
                        <a:spcBef>
                          <a:spcPts val="0"/>
                        </a:spcBef>
                        <a:spcAft>
                          <a:spcPts val="0"/>
                        </a:spcAft>
                      </a:pPr>
                      <a:r>
                        <a:rPr sz="1100" b="1" i="0">
                          <a:solidFill>
                            <a:srgbClr val="FFA0C4"/>
                          </a:solidFill>
                          <a:latin typeface="Arial"/>
                          <a:cs typeface="Arial"/>
                        </a:rPr>
                        <a:t>Fighting — درگیری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00" b="1" i="0">
                          <a:solidFill>
                            <a:srgbClr val="FFA0C4"/>
                          </a:solidFill>
                          <a:latin typeface="Arial"/>
                          <a:cs typeface="Arial"/>
                        </a:rPr>
                        <a:t>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00" b="1" i="0">
                          <a:solidFill>
                            <a:srgbClr val="FFA0C4"/>
                          </a:solidFill>
                          <a:latin typeface="Arial"/>
                          <a:cs typeface="Arial"/>
                        </a:rPr>
                        <a:t>8</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r>
              <a:tr h="246888">
                <a:tc>
                  <a:txBody>
                    <a:bodyPr wrap="square"/>
                    <a:lstStyle/>
                    <a:p>
                      <a:pPr rtl="1" algn="r">
                        <a:spcBef>
                          <a:spcPts val="0"/>
                        </a:spcBef>
                        <a:spcAft>
                          <a:spcPts val="0"/>
                        </a:spcAft>
                      </a:pPr>
                      <a:r>
                        <a:rPr sz="1100" b="1" i="0">
                          <a:solidFill>
                            <a:srgbClr val="FFA0C4"/>
                          </a:solidFill>
                          <a:latin typeface="Arial"/>
                          <a:cs typeface="Arial"/>
                        </a:rPr>
                        <a:t>Robbery — سرقت</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00" b="1" i="0">
                          <a:solidFill>
                            <a:srgbClr val="FFA0C4"/>
                          </a:solidFill>
                          <a:latin typeface="Arial"/>
                          <a:cs typeface="Arial"/>
                        </a:rPr>
                        <a:t>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00" b="1" i="0">
                          <a:solidFill>
                            <a:srgbClr val="FFA0C4"/>
                          </a:solidFill>
                          <a:latin typeface="Arial"/>
                          <a:cs typeface="Arial"/>
                        </a:rPr>
                        <a:t>23</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r>
              <a:tr h="246888">
                <a:tc>
                  <a:txBody>
                    <a:bodyPr wrap="square"/>
                    <a:lstStyle/>
                    <a:p>
                      <a:pPr rtl="1" algn="r">
                        <a:spcBef>
                          <a:spcPts val="0"/>
                        </a:spcBef>
                        <a:spcAft>
                          <a:spcPts val="0"/>
                        </a:spcAft>
                      </a:pPr>
                      <a:r>
                        <a:rPr sz="1100" b="1" i="0">
                          <a:solidFill>
                            <a:srgbClr val="FFA0C4"/>
                          </a:solidFill>
                          <a:latin typeface="Arial"/>
                          <a:cs typeface="Arial"/>
                        </a:rPr>
                        <a:t>Stealing — دزدی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00" b="1" i="0">
                          <a:solidFill>
                            <a:srgbClr val="FFA0C4"/>
                          </a:solidFill>
                          <a:latin typeface="Arial"/>
                          <a:cs typeface="Arial"/>
                        </a:rPr>
                        <a:t>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00" b="1" i="0">
                          <a:solidFill>
                            <a:srgbClr val="FFA0C4"/>
                          </a:solidFill>
                          <a:latin typeface="Arial"/>
                          <a:cs typeface="Arial"/>
                        </a:rPr>
                        <a:t>15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r>
              <a:tr h="246888">
                <a:tc>
                  <a:txBody>
                    <a:bodyPr wrap="square"/>
                    <a:lstStyle/>
                    <a:p>
                      <a:pPr rtl="1" algn="r">
                        <a:spcBef>
                          <a:spcPts val="0"/>
                        </a:spcBef>
                        <a:spcAft>
                          <a:spcPts val="0"/>
                        </a:spcAft>
                      </a:pPr>
                      <a:r>
                        <a:rPr sz="1100" b="1" i="0">
                          <a:solidFill>
                            <a:srgbClr val="FFA0C4"/>
                          </a:solidFill>
                          <a:latin typeface="Arial"/>
                          <a:cs typeface="Arial"/>
                        </a:rPr>
                        <a:t>Vandalism — تخریب اموال</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00" b="1" i="0">
                          <a:solidFill>
                            <a:srgbClr val="FFA0C4"/>
                          </a:solidFill>
                          <a:latin typeface="Arial"/>
                          <a:cs typeface="Arial"/>
                        </a:rPr>
                        <a:t>4</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00" b="1" i="0">
                          <a:solidFill>
                            <a:srgbClr val="FFA0C4"/>
                          </a:solidFill>
                          <a:latin typeface="Arial"/>
                          <a:cs typeface="Arial"/>
                        </a:rPr>
                        <a:t>8</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r>
              <a:tr h="246888">
                <a:tc>
                  <a:txBody>
                    <a:bodyPr wrap="square"/>
                    <a:lstStyle/>
                    <a:p>
                      <a:pPr rtl="1" algn="r">
                        <a:spcBef>
                          <a:spcPts val="0"/>
                        </a:spcBef>
                        <a:spcAft>
                          <a:spcPts val="0"/>
                        </a:spcAft>
                      </a:pPr>
                      <a:r>
                        <a:rPr sz="1100" b="1" i="0">
                          <a:solidFill>
                            <a:srgbClr val="FFA0C4"/>
                          </a:solidFill>
                          <a:latin typeface="Arial"/>
                          <a:cs typeface="Arial"/>
                        </a:rPr>
                        <a:t>Abuse — سوءاستفاده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00" b="1" i="0">
                          <a:solidFill>
                            <a:srgbClr val="FFA0C4"/>
                          </a:solidFill>
                          <a:latin typeface="Arial"/>
                          <a:cs typeface="Arial"/>
                        </a:rPr>
                        <a:t>3</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00" b="1" i="0">
                          <a:solidFill>
                            <a:srgbClr val="FFA0C4"/>
                          </a:solidFill>
                          <a:latin typeface="Arial"/>
                          <a:cs typeface="Arial"/>
                        </a:rPr>
                        <a:t>8</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r>
              <a:tr h="246888">
                <a:tc>
                  <a:txBody>
                    <a:bodyPr wrap="square"/>
                    <a:lstStyle/>
                    <a:p>
                      <a:pPr rtl="1" algn="r">
                        <a:spcBef>
                          <a:spcPts val="0"/>
                        </a:spcBef>
                        <a:spcAft>
                          <a:spcPts val="0"/>
                        </a:spcAft>
                      </a:pPr>
                      <a:r>
                        <a:rPr sz="1100" b="1" i="0">
                          <a:solidFill>
                            <a:srgbClr val="FFA0C4"/>
                          </a:solidFill>
                          <a:latin typeface="Arial"/>
                          <a:cs typeface="Arial"/>
                        </a:rPr>
                        <a:t>Assault — تعرض</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00" b="1" i="0">
                          <a:solidFill>
                            <a:srgbClr val="FFA0C4"/>
                          </a:solidFill>
                          <a:latin typeface="Arial"/>
                          <a:cs typeface="Arial"/>
                        </a:rPr>
                        <a:t>3</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00" b="1" i="0">
                          <a:solidFill>
                            <a:srgbClr val="FFA0C4"/>
                          </a:solidFill>
                          <a:latin typeface="Arial"/>
                          <a:cs typeface="Arial"/>
                        </a:rPr>
                        <a:t>8</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r>
            </a:tbl>
          </a:graphicData>
        </a:graphic>
      </p:graphicFrame>
      <p:sp>
        <p:nvSpPr>
          <p:cNvPr id="5" name="TextBox 4"/>
          <p:cNvSpPr txBox="1"/>
          <p:nvPr/>
        </p:nvSpPr>
        <p:spPr>
          <a:xfrm>
            <a:off x="548640" y="5358384"/>
            <a:ext cx="6766560" cy="365760"/>
          </a:xfrm>
          <a:prstGeom prst="rect">
            <a:avLst/>
          </a:prstGeom>
          <a:noFill/>
        </p:spPr>
        <p:txBody>
          <a:bodyPr wrap="square" anchor="t" lIns="0" rIns="0" tIns="0" bIns="0">
            <a:spAutoFit/>
          </a:bodyPr>
          <a:lstStyle/>
          <a:p>
            <a:pPr rtl="1" algn="r">
              <a:lnSpc>
                <a:spcPts val="1600"/>
              </a:lnSpc>
              <a:spcBef>
                <a:spcPts val="0"/>
              </a:spcBef>
              <a:spcAft>
                <a:spcPts val="0"/>
              </a:spcAft>
            </a:pPr>
            <a:r>
              <a:rPr sz="1100" b="0" i="0">
                <a:solidFill>
                  <a:srgbClr val="B58FA2"/>
                </a:solidFill>
                <a:latin typeface="Arial"/>
                <a:cs typeface="Arial"/>
              </a:rPr>
              <a:t>جمع ستون دوم ۲۹۰ و جمع ستون سوم ۲۹۶ است. ردیف‌های پررنگ، هفت کلاسی هستند که پنج ویدیوی آزمون یا کمتر دارند.</a:t>
            </a:r>
          </a:p>
        </p:txBody>
      </p:sp>
      <p:sp>
        <p:nvSpPr>
          <p:cNvPr id="6" name="Rounded Rectangle 5"/>
          <p:cNvSpPr/>
          <p:nvPr/>
        </p:nvSpPr>
        <p:spPr>
          <a:xfrm>
            <a:off x="7589520" y="1572768"/>
            <a:ext cx="4023360" cy="1783080"/>
          </a:xfrm>
          <a:prstGeom prst="round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863840" y="1737360"/>
            <a:ext cx="347472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FF6FA5"/>
                </a:solidFill>
                <a:latin typeface="Arial"/>
                <a:cs typeface="Arial"/>
              </a:rPr>
              <a:t>دو تقسیم متفاوت</a:t>
            </a:r>
          </a:p>
        </p:txBody>
      </p:sp>
      <p:sp>
        <p:nvSpPr>
          <p:cNvPr id="8" name="TextBox 7"/>
          <p:cNvSpPr txBox="1"/>
          <p:nvPr/>
        </p:nvSpPr>
        <p:spPr>
          <a:xfrm>
            <a:off x="7863840" y="2103120"/>
            <a:ext cx="3474720" cy="1143000"/>
          </a:xfrm>
          <a:prstGeom prst="rect">
            <a:avLst/>
          </a:prstGeom>
          <a:noFill/>
        </p:spPr>
        <p:txBody>
          <a:bodyPr wrap="square" anchor="t" lIns="0" rIns="0" tIns="0" bIns="0">
            <a:spAutoFit/>
          </a:bodyPr>
          <a:lstStyle/>
          <a:p>
            <a:pPr rtl="1" algn="r">
              <a:lnSpc>
                <a:spcPts val="1800"/>
              </a:lnSpc>
              <a:spcBef>
                <a:spcPts val="0"/>
              </a:spcBef>
              <a:spcAft>
                <a:spcPts val="0"/>
              </a:spcAft>
            </a:pPr>
            <a:r>
              <a:rPr sz="1150" b="0" i="0">
                <a:solidFill>
                  <a:srgbClr val="F0DCE6"/>
                </a:solidFill>
                <a:latin typeface="Arial"/>
                <a:cs typeface="Arial"/>
              </a:rPr>
              <a:t>مسیر X-CLIP روی تقسیمی با ۲۹۶ ویدیوی آزمون اجرا شد و مسیر VideoMAE روی تقسیم استاندارد با ۲۹۰ ویدیو.</a:t>
            </a:r>
          </a:p>
        </p:txBody>
      </p:sp>
      <p:sp>
        <p:nvSpPr>
          <p:cNvPr id="9" name="Rounded Rectangle 8"/>
          <p:cNvSpPr/>
          <p:nvPr/>
        </p:nvSpPr>
        <p:spPr>
          <a:xfrm>
            <a:off x="7589520" y="3520440"/>
            <a:ext cx="4023360" cy="1691640"/>
          </a:xfrm>
          <a:prstGeom prst="round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863840" y="3685032"/>
            <a:ext cx="347472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FBEEF4"/>
                </a:solidFill>
                <a:latin typeface="Arial"/>
                <a:cs typeface="Arial"/>
              </a:rPr>
              <a:t>چرا ارزیابی نوفه‌آلود است</a:t>
            </a:r>
          </a:p>
        </p:txBody>
      </p:sp>
      <p:sp>
        <p:nvSpPr>
          <p:cNvPr id="11" name="TextBox 10"/>
          <p:cNvSpPr txBox="1"/>
          <p:nvPr/>
        </p:nvSpPr>
        <p:spPr>
          <a:xfrm>
            <a:off x="7863840" y="4050791"/>
            <a:ext cx="3474720" cy="1097280"/>
          </a:xfrm>
          <a:prstGeom prst="rect">
            <a:avLst/>
          </a:prstGeom>
          <a:noFill/>
        </p:spPr>
        <p:txBody>
          <a:bodyPr wrap="square" anchor="t" lIns="0" rIns="0" tIns="0" bIns="0">
            <a:spAutoFit/>
          </a:bodyPr>
          <a:lstStyle/>
          <a:p>
            <a:pPr rtl="1" algn="r">
              <a:lnSpc>
                <a:spcPts val="1800"/>
              </a:lnSpc>
              <a:spcBef>
                <a:spcPts val="0"/>
              </a:spcBef>
              <a:spcAft>
                <a:spcPts val="0"/>
              </a:spcAft>
            </a:pPr>
            <a:r>
              <a:rPr sz="1150" b="0" i="0">
                <a:solidFill>
                  <a:srgbClr val="F0DCE6"/>
                </a:solidFill>
                <a:latin typeface="Arial"/>
                <a:cs typeface="Arial"/>
              </a:rPr>
              <a:t>کلاس Assault تنها سه ویدیوی آزمون دارد. یک ویدیو یعنی یک‌سوم یادآوری آن کلاس، و ماکرو F1 به هر ۱۴ کلاس وزن یکسان می‌دهد.</a:t>
            </a:r>
          </a:p>
        </p:txBody>
      </p:sp>
      <p:sp>
        <p:nvSpPr>
          <p:cNvPr id="12" name="Rounded Rectangle 11"/>
          <p:cNvSpPr/>
          <p:nvPr/>
        </p:nvSpPr>
        <p:spPr>
          <a:xfrm>
            <a:off x="7589520" y="5394960"/>
            <a:ext cx="4023360" cy="960120"/>
          </a:xfrm>
          <a:prstGeom prst="roundRect">
            <a:avLst/>
          </a:prstGeom>
          <a:solidFill>
            <a:srgbClr val="4A1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863840" y="5559552"/>
            <a:ext cx="3474720" cy="685800"/>
          </a:xfrm>
          <a:prstGeom prst="rect">
            <a:avLst/>
          </a:prstGeom>
          <a:noFill/>
        </p:spPr>
        <p:txBody>
          <a:bodyPr wrap="square" anchor="t" lIns="0" rIns="0" tIns="0" bIns="0">
            <a:spAutoFit/>
          </a:bodyPr>
          <a:lstStyle/>
          <a:p>
            <a:pPr rtl="1" algn="r">
              <a:lnSpc>
                <a:spcPts val="1700"/>
              </a:lnSpc>
              <a:spcBef>
                <a:spcPts val="0"/>
              </a:spcBef>
              <a:spcAft>
                <a:spcPts val="0"/>
              </a:spcAft>
            </a:pPr>
            <a:r>
              <a:rPr sz="1100" b="0" i="0">
                <a:solidFill>
                  <a:srgbClr val="FF8A80"/>
                </a:solidFill>
                <a:latin typeface="Arial"/>
                <a:cs typeface="Arial"/>
              </a:rPr>
              <a:t>پیش از ارائه این اعداد را با فایل تقسیم خودتان بسنجید.</a:t>
            </a:r>
          </a:p>
        </p:txBody>
      </p:sp>
      <p:sp>
        <p:nvSpPr>
          <p:cNvPr id="14" name="TextBox 13"/>
          <p:cNvSpPr txBox="1"/>
          <p:nvPr/>
        </p:nvSpPr>
        <p:spPr>
          <a:xfrm>
            <a:off x="548640" y="5669280"/>
            <a:ext cx="21945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FBEEF4"/>
                </a:solidFill>
                <a:latin typeface="Arial"/>
                <a:cs typeface="Arial"/>
              </a:rPr>
              <a:t>290</a:t>
            </a:r>
          </a:p>
        </p:txBody>
      </p:sp>
      <p:sp>
        <p:nvSpPr>
          <p:cNvPr id="15" name="TextBox 14"/>
          <p:cNvSpPr txBox="1"/>
          <p:nvPr/>
        </p:nvSpPr>
        <p:spPr>
          <a:xfrm>
            <a:off x="548640" y="6382512"/>
            <a:ext cx="21945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B58FA2"/>
                </a:solidFill>
                <a:latin typeface="Arial"/>
                <a:cs typeface="Arial"/>
              </a:rPr>
              <a:t>کل مجموعه آزمون</a:t>
            </a:r>
          </a:p>
        </p:txBody>
      </p:sp>
      <p:sp>
        <p:nvSpPr>
          <p:cNvPr id="16" name="TextBox 15"/>
          <p:cNvSpPr txBox="1"/>
          <p:nvPr/>
        </p:nvSpPr>
        <p:spPr>
          <a:xfrm>
            <a:off x="2834640" y="5669280"/>
            <a:ext cx="21945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FBEEF4"/>
                </a:solidFill>
                <a:latin typeface="Arial"/>
                <a:cs typeface="Arial"/>
              </a:rPr>
              <a:t>1610</a:t>
            </a:r>
          </a:p>
        </p:txBody>
      </p:sp>
      <p:sp>
        <p:nvSpPr>
          <p:cNvPr id="17" name="TextBox 16"/>
          <p:cNvSpPr txBox="1"/>
          <p:nvPr/>
        </p:nvSpPr>
        <p:spPr>
          <a:xfrm>
            <a:off x="2834640" y="6382512"/>
            <a:ext cx="21945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B58FA2"/>
                </a:solidFill>
                <a:latin typeface="Arial"/>
                <a:cs typeface="Arial"/>
              </a:rPr>
              <a:t>کل مجموعه آموزش</a:t>
            </a:r>
          </a:p>
        </p:txBody>
      </p:sp>
      <p:sp>
        <p:nvSpPr>
          <p:cNvPr id="18" name="TextBox 17"/>
          <p:cNvSpPr txBox="1"/>
          <p:nvPr/>
        </p:nvSpPr>
        <p:spPr>
          <a:xfrm>
            <a:off x="5120640" y="5669280"/>
            <a:ext cx="21945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7FD8C0"/>
                </a:solidFill>
                <a:latin typeface="Arial"/>
                <a:cs typeface="Arial"/>
              </a:rPr>
              <a:t>0%</a:t>
            </a:r>
          </a:p>
        </p:txBody>
      </p:sp>
      <p:sp>
        <p:nvSpPr>
          <p:cNvPr id="19" name="TextBox 18"/>
          <p:cNvSpPr txBox="1"/>
          <p:nvPr/>
        </p:nvSpPr>
        <p:spPr>
          <a:xfrm>
            <a:off x="5120640" y="6382512"/>
            <a:ext cx="21945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B58FA2"/>
                </a:solidFill>
                <a:latin typeface="Arial"/>
                <a:cs typeface="Arial"/>
              </a:rPr>
              <a:t>همپوشانی دو مجموعه</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FBEEF4"/>
                </a:solidFill>
                <a:latin typeface="Arial"/>
                <a:cs typeface="Arial"/>
              </a:rPr>
              <a:t>نظارت ضعیف و یادگیری چندنمونه‌ای</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FF6FA5"/>
                </a:solidFill>
                <a:latin typeface="Arial"/>
                <a:cs typeface="Arial"/>
              </a:rPr>
              <a:t>چارچوب</a:t>
            </a:r>
          </a:p>
        </p:txBody>
      </p:sp>
      <p:graphicFrame>
        <p:nvGraphicFramePr>
          <p:cNvPr id="4" name="Table 3"/>
          <p:cNvGraphicFramePr>
            <a:graphicFrameLocks noGrp="1"/>
          </p:cNvGraphicFramePr>
          <p:nvPr/>
        </p:nvGraphicFramePr>
        <p:xfrm>
          <a:off x="548640" y="1645920"/>
          <a:ext cx="5669280" cy="1463040"/>
        </p:xfrm>
        <a:graphic>
          <a:graphicData uri="http://schemas.openxmlformats.org/drawingml/2006/table">
            <a:tbl>
              <a:tblPr firstRow="0" bandRow="0">
                <a:tableStyleId>{5C22544A-7EE6-4342-B048-85BDC9FD1C3A}</a:tableStyleId>
              </a:tblPr>
              <a:tblGrid>
                <a:gridCol w="1737360"/>
                <a:gridCol w="2651760"/>
                <a:gridCol w="1280160"/>
              </a:tblGrid>
              <a:tr h="365760">
                <a:tc>
                  <a:txBody>
                    <a:bodyPr wrap="square"/>
                    <a:lstStyle/>
                    <a:p>
                      <a:pPr rtl="1" algn="ctr">
                        <a:spcBef>
                          <a:spcPts val="0"/>
                        </a:spcBef>
                        <a:spcAft>
                          <a:spcPts val="0"/>
                        </a:spcAft>
                      </a:pPr>
                      <a:r>
                        <a:rPr sz="1200" b="1" i="0">
                          <a:solidFill>
                            <a:srgbClr val="FF6FA5"/>
                          </a:solidFill>
                          <a:latin typeface="Arial"/>
                          <a:cs typeface="Arial"/>
                        </a:rPr>
                        <a:t>سطح نظارت</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00" b="1" i="0">
                          <a:solidFill>
                            <a:srgbClr val="FF6FA5"/>
                          </a:solidFill>
                          <a:latin typeface="Arial"/>
                          <a:cs typeface="Arial"/>
                        </a:rPr>
                        <a:t>برچسب چیست</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00" b="1" i="0">
                          <a:solidFill>
                            <a:srgbClr val="FF6FA5"/>
                          </a:solidFill>
                          <a:latin typeface="Arial"/>
                          <a:cs typeface="Arial"/>
                        </a:rPr>
                        <a:t>هزینه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r>
              <a:tr h="365760">
                <a:tc>
                  <a:txBody>
                    <a:bodyPr wrap="square"/>
                    <a:lstStyle/>
                    <a:p>
                      <a:pPr rtl="1" algn="r">
                        <a:spcBef>
                          <a:spcPts val="0"/>
                        </a:spcBef>
                        <a:spcAft>
                          <a:spcPts val="0"/>
                        </a:spcAft>
                      </a:pPr>
                      <a:r>
                        <a:rPr sz="1200" b="0" i="0">
                          <a:solidFill>
                            <a:srgbClr val="F0DCE6"/>
                          </a:solidFill>
                          <a:latin typeface="Arial"/>
                          <a:cs typeface="Arial"/>
                        </a:rPr>
                        <a:t>نظارت کامل</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هر فریم برچسب دارد</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بسیار پرهزینه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65760">
                <a:tc>
                  <a:txBody>
                    <a:bodyPr wrap="square"/>
                    <a:lstStyle/>
                    <a:p>
                      <a:pPr rtl="1" algn="r">
                        <a:spcBef>
                          <a:spcPts val="0"/>
                        </a:spcBef>
                        <a:spcAft>
                          <a:spcPts val="0"/>
                        </a:spcAft>
                      </a:pPr>
                      <a:r>
                        <a:rPr sz="1200" b="1" i="0">
                          <a:solidFill>
                            <a:srgbClr val="FFA0C4"/>
                          </a:solidFill>
                          <a:latin typeface="Arial"/>
                          <a:cs typeface="Arial"/>
                        </a:rPr>
                        <a:t>نظارت ضعیف</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200" b="1" i="0">
                          <a:solidFill>
                            <a:srgbClr val="FFA0C4"/>
                          </a:solidFill>
                          <a:latin typeface="Arial"/>
                          <a:cs typeface="Arial"/>
                        </a:rPr>
                        <a:t>فقط کل ویدیو برچسب دارد</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200" b="1" i="0">
                          <a:solidFill>
                            <a:srgbClr val="FFA0C4"/>
                          </a:solidFill>
                          <a:latin typeface="Arial"/>
                          <a:cs typeface="Arial"/>
                        </a:rPr>
                        <a:t>کم‌هزینه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r>
              <a:tr h="365760">
                <a:tc>
                  <a:txBody>
                    <a:bodyPr wrap="square"/>
                    <a:lstStyle/>
                    <a:p>
                      <a:pPr rtl="1" algn="r">
                        <a:spcBef>
                          <a:spcPts val="0"/>
                        </a:spcBef>
                        <a:spcAft>
                          <a:spcPts val="0"/>
                        </a:spcAft>
                      </a:pPr>
                      <a:r>
                        <a:rPr sz="1200" b="0" i="0">
                          <a:solidFill>
                            <a:srgbClr val="F0DCE6"/>
                          </a:solidFill>
                          <a:latin typeface="Arial"/>
                          <a:cs typeface="Arial"/>
                        </a:rPr>
                        <a:t>بدون نظارت</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هیچ برچسبی نیست</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رایگان</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bl>
          </a:graphicData>
        </a:graphic>
      </p:graphicFrame>
      <p:sp>
        <p:nvSpPr>
          <p:cNvPr id="5" name="Rounded Rectangle 4"/>
          <p:cNvSpPr/>
          <p:nvPr/>
        </p:nvSpPr>
        <p:spPr>
          <a:xfrm>
            <a:off x="6492240" y="1645920"/>
            <a:ext cx="5120640" cy="1828800"/>
          </a:xfrm>
          <a:prstGeom prst="round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766560" y="1810512"/>
            <a:ext cx="457200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FF6FA5"/>
                </a:solidFill>
                <a:latin typeface="Arial"/>
                <a:cs typeface="Arial"/>
              </a:rPr>
              <a:t>مسئله ما</a:t>
            </a:r>
          </a:p>
        </p:txBody>
      </p:sp>
      <p:sp>
        <p:nvSpPr>
          <p:cNvPr id="7" name="TextBox 6"/>
          <p:cNvSpPr txBox="1"/>
          <p:nvPr/>
        </p:nvSpPr>
        <p:spPr>
          <a:xfrm>
            <a:off x="6766560" y="2194560"/>
            <a:ext cx="4572000" cy="109728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F0DCE6"/>
                </a:solidFill>
                <a:latin typeface="Arial"/>
                <a:cs typeface="Arial"/>
              </a:rPr>
              <a:t>در یک ویدیوی سه‌دقیقه‌ای، سرقت شاید ۱۵ ثانیه باشد. بیش از ۹۰ درصد آنچه مدل می‌بیند، با وجود برچسب «سرقت»، عادی است.</a:t>
            </a:r>
          </a:p>
        </p:txBody>
      </p:sp>
      <p:sp>
        <p:nvSpPr>
          <p:cNvPr id="8" name="TextBox 7"/>
          <p:cNvSpPr txBox="1"/>
          <p:nvPr/>
        </p:nvSpPr>
        <p:spPr>
          <a:xfrm>
            <a:off x="548640" y="3794760"/>
            <a:ext cx="11064240" cy="365760"/>
          </a:xfrm>
          <a:prstGeom prst="rect">
            <a:avLst/>
          </a:prstGeom>
          <a:noFill/>
        </p:spPr>
        <p:txBody>
          <a:bodyPr wrap="square" anchor="t" lIns="0" rIns="0" tIns="0" bIns="0">
            <a:spAutoFit/>
          </a:bodyPr>
          <a:lstStyle/>
          <a:p>
            <a:pPr rtl="1" algn="r">
              <a:spcBef>
                <a:spcPts val="0"/>
              </a:spcBef>
              <a:spcAft>
                <a:spcPts val="0"/>
              </a:spcAft>
            </a:pPr>
            <a:r>
              <a:rPr sz="1800" b="1" i="0">
                <a:solidFill>
                  <a:srgbClr val="FBEEF4"/>
                </a:solidFill>
                <a:latin typeface="Arial"/>
                <a:cs typeface="Arial"/>
              </a:rPr>
              <a:t>راه حل: هر ویدیو یک کیف، هر قطعه یک نمونه</a:t>
            </a:r>
          </a:p>
        </p:txBody>
      </p:sp>
      <p:sp>
        <p:nvSpPr>
          <p:cNvPr id="9" name="Rounded Rectangle 8"/>
          <p:cNvSpPr/>
          <p:nvPr/>
        </p:nvSpPr>
        <p:spPr>
          <a:xfrm>
            <a:off x="9052560" y="4343400"/>
            <a:ext cx="2606040" cy="1508760"/>
          </a:xfrm>
          <a:prstGeom prst="round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789920" y="4434840"/>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F6CFDE"/>
                </a:solidFill>
                <a:latin typeface="Arial"/>
                <a:cs typeface="Arial"/>
              </a:rPr>
              <a:t>1</a:t>
            </a:r>
          </a:p>
        </p:txBody>
      </p:sp>
      <p:sp>
        <p:nvSpPr>
          <p:cNvPr id="11" name="TextBox 10"/>
          <p:cNvSpPr txBox="1"/>
          <p:nvPr/>
        </p:nvSpPr>
        <p:spPr>
          <a:xfrm>
            <a:off x="9235440" y="5074920"/>
            <a:ext cx="2240280" cy="731520"/>
          </a:xfrm>
          <a:prstGeom prst="rect">
            <a:avLst/>
          </a:prstGeom>
          <a:noFill/>
        </p:spPr>
        <p:txBody>
          <a:bodyPr wrap="square" anchor="t" lIns="0" rIns="0" tIns="0" bIns="0">
            <a:spAutoFit/>
          </a:bodyPr>
          <a:lstStyle/>
          <a:p>
            <a:pPr rtl="1" algn="r">
              <a:lnSpc>
                <a:spcPts val="1800"/>
              </a:lnSpc>
              <a:spcBef>
                <a:spcPts val="0"/>
              </a:spcBef>
              <a:spcAft>
                <a:spcPts val="0"/>
              </a:spcAft>
            </a:pPr>
            <a:r>
              <a:rPr sz="1250" b="0" i="0">
                <a:solidFill>
                  <a:srgbClr val="F0DCE6"/>
                </a:solidFill>
                <a:latin typeface="Arial"/>
                <a:cs typeface="Arial"/>
              </a:rPr>
              <a:t>ویدیو به ۱۶ قطعه شکسته می‌شود</a:t>
            </a:r>
          </a:p>
        </p:txBody>
      </p:sp>
      <p:sp>
        <p:nvSpPr>
          <p:cNvPr id="12" name="Rounded Rectangle 11"/>
          <p:cNvSpPr/>
          <p:nvPr/>
        </p:nvSpPr>
        <p:spPr>
          <a:xfrm>
            <a:off x="6217920" y="4343400"/>
            <a:ext cx="2606040" cy="1508760"/>
          </a:xfrm>
          <a:prstGeom prst="round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955280" y="4434840"/>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F6CFDE"/>
                </a:solidFill>
                <a:latin typeface="Arial"/>
                <a:cs typeface="Arial"/>
              </a:rPr>
              <a:t>2</a:t>
            </a:r>
          </a:p>
        </p:txBody>
      </p:sp>
      <p:sp>
        <p:nvSpPr>
          <p:cNvPr id="14" name="TextBox 13"/>
          <p:cNvSpPr txBox="1"/>
          <p:nvPr/>
        </p:nvSpPr>
        <p:spPr>
          <a:xfrm>
            <a:off x="6400800" y="5074920"/>
            <a:ext cx="2240280" cy="731520"/>
          </a:xfrm>
          <a:prstGeom prst="rect">
            <a:avLst/>
          </a:prstGeom>
          <a:noFill/>
        </p:spPr>
        <p:txBody>
          <a:bodyPr wrap="square" anchor="t" lIns="0" rIns="0" tIns="0" bIns="0">
            <a:spAutoFit/>
          </a:bodyPr>
          <a:lstStyle/>
          <a:p>
            <a:pPr rtl="1" algn="r">
              <a:lnSpc>
                <a:spcPts val="1800"/>
              </a:lnSpc>
              <a:spcBef>
                <a:spcPts val="0"/>
              </a:spcBef>
              <a:spcAft>
                <a:spcPts val="0"/>
              </a:spcAft>
            </a:pPr>
            <a:r>
              <a:rPr sz="1250" b="0" i="0">
                <a:solidFill>
                  <a:srgbClr val="F0DCE6"/>
                </a:solidFill>
                <a:latin typeface="Arial"/>
                <a:cs typeface="Arial"/>
              </a:rPr>
              <a:t>مدل به هر قطعه نمره می‌دهد</a:t>
            </a:r>
          </a:p>
        </p:txBody>
      </p:sp>
      <p:sp>
        <p:nvSpPr>
          <p:cNvPr id="15" name="Rounded Rectangle 14"/>
          <p:cNvSpPr/>
          <p:nvPr/>
        </p:nvSpPr>
        <p:spPr>
          <a:xfrm>
            <a:off x="3383280" y="4343400"/>
            <a:ext cx="2606040" cy="1508760"/>
          </a:xfrm>
          <a:prstGeom prst="round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20640" y="4434840"/>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F6CFDE"/>
                </a:solidFill>
                <a:latin typeface="Arial"/>
                <a:cs typeface="Arial"/>
              </a:rPr>
              <a:t>3</a:t>
            </a:r>
          </a:p>
        </p:txBody>
      </p:sp>
      <p:sp>
        <p:nvSpPr>
          <p:cNvPr id="17" name="TextBox 16"/>
          <p:cNvSpPr txBox="1"/>
          <p:nvPr/>
        </p:nvSpPr>
        <p:spPr>
          <a:xfrm>
            <a:off x="3566160" y="5074920"/>
            <a:ext cx="2240280" cy="731520"/>
          </a:xfrm>
          <a:prstGeom prst="rect">
            <a:avLst/>
          </a:prstGeom>
          <a:noFill/>
        </p:spPr>
        <p:txBody>
          <a:bodyPr wrap="square" anchor="t" lIns="0" rIns="0" tIns="0" bIns="0">
            <a:spAutoFit/>
          </a:bodyPr>
          <a:lstStyle/>
          <a:p>
            <a:pPr rtl="1" algn="r">
              <a:lnSpc>
                <a:spcPts val="1800"/>
              </a:lnSpc>
              <a:spcBef>
                <a:spcPts val="0"/>
              </a:spcBef>
              <a:spcAft>
                <a:spcPts val="0"/>
              </a:spcAft>
            </a:pPr>
            <a:r>
              <a:rPr sz="1250" b="0" i="0">
                <a:solidFill>
                  <a:srgbClr val="F0DCE6"/>
                </a:solidFill>
                <a:latin typeface="Arial"/>
                <a:cs typeface="Arial"/>
              </a:rPr>
              <a:t>مشکوک‌ترین قطعه‌ها انتخاب می‌شوند</a:t>
            </a:r>
          </a:p>
        </p:txBody>
      </p:sp>
      <p:sp>
        <p:nvSpPr>
          <p:cNvPr id="18" name="Rounded Rectangle 17"/>
          <p:cNvSpPr/>
          <p:nvPr/>
        </p:nvSpPr>
        <p:spPr>
          <a:xfrm>
            <a:off x="548639" y="4343400"/>
            <a:ext cx="2606040" cy="1508760"/>
          </a:xfrm>
          <a:prstGeom prst="round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2285999" y="4434840"/>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FFA0C4"/>
                </a:solidFill>
                <a:latin typeface="Arial"/>
                <a:cs typeface="Arial"/>
              </a:rPr>
              <a:t>4</a:t>
            </a:r>
          </a:p>
        </p:txBody>
      </p:sp>
      <p:sp>
        <p:nvSpPr>
          <p:cNvPr id="20" name="TextBox 19"/>
          <p:cNvSpPr txBox="1"/>
          <p:nvPr/>
        </p:nvSpPr>
        <p:spPr>
          <a:xfrm>
            <a:off x="731519" y="5074920"/>
            <a:ext cx="2240280" cy="731520"/>
          </a:xfrm>
          <a:prstGeom prst="rect">
            <a:avLst/>
          </a:prstGeom>
          <a:noFill/>
        </p:spPr>
        <p:txBody>
          <a:bodyPr wrap="square" anchor="t" lIns="0" rIns="0" tIns="0" bIns="0">
            <a:spAutoFit/>
          </a:bodyPr>
          <a:lstStyle/>
          <a:p>
            <a:pPr rtl="1" algn="r">
              <a:lnSpc>
                <a:spcPts val="1800"/>
              </a:lnSpc>
              <a:spcBef>
                <a:spcPts val="0"/>
              </a:spcBef>
              <a:spcAft>
                <a:spcPts val="0"/>
              </a:spcAft>
            </a:pPr>
            <a:r>
              <a:rPr sz="1250" b="0" i="0">
                <a:solidFill>
                  <a:srgbClr val="F0DCE6"/>
                </a:solidFill>
                <a:latin typeface="Arial"/>
                <a:cs typeface="Arial"/>
              </a:rPr>
              <a:t>فرض: همان‌ها برچسب کیف را حمل می‌کنند</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20B18"/>
        </a:solidFill>
        <a:effectLst/>
      </p:bgPr>
    </p:bg>
    <p:spTree>
      <p:nvGrpSpPr>
        <p:cNvPr id="1" name=""/>
        <p:cNvGrpSpPr/>
        <p:nvPr/>
      </p:nvGrpSpPr>
      <p:grpSpPr/>
      <p:sp>
        <p:nvSpPr>
          <p:cNvPr id="2" name="Oval 1"/>
          <p:cNvSpPr/>
          <p:nvPr/>
        </p:nvSpPr>
        <p:spPr>
          <a:xfrm>
            <a:off x="-1645920" y="-1371600"/>
            <a:ext cx="5120640" cy="5120640"/>
          </a:xfrm>
          <a:prstGeom prst="ellipse">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4572000" y="2194560"/>
            <a:ext cx="6858000" cy="548640"/>
          </a:xfrm>
          <a:prstGeom prst="rect">
            <a:avLst/>
          </a:prstGeom>
          <a:noFill/>
        </p:spPr>
        <p:txBody>
          <a:bodyPr wrap="square" anchor="t" lIns="0" rIns="0" tIns="0" bIns="0">
            <a:spAutoFit/>
          </a:bodyPr>
          <a:lstStyle/>
          <a:p>
            <a:pPr rtl="1" algn="r">
              <a:spcBef>
                <a:spcPts val="0"/>
              </a:spcBef>
              <a:spcAft>
                <a:spcPts val="0"/>
              </a:spcAft>
            </a:pPr>
            <a:r>
              <a:rPr sz="1800" b="1" i="0">
                <a:solidFill>
                  <a:srgbClr val="FF6FA5"/>
                </a:solidFill>
                <a:latin typeface="Arial"/>
                <a:cs typeface="Arial"/>
              </a:rPr>
              <a:t>مسیر اول</a:t>
            </a:r>
          </a:p>
        </p:txBody>
      </p:sp>
      <p:sp>
        <p:nvSpPr>
          <p:cNvPr id="4" name="TextBox 3"/>
          <p:cNvSpPr txBox="1"/>
          <p:nvPr/>
        </p:nvSpPr>
        <p:spPr>
          <a:xfrm>
            <a:off x="4572000" y="2743200"/>
            <a:ext cx="6858000" cy="1097280"/>
          </a:xfrm>
          <a:prstGeom prst="rect">
            <a:avLst/>
          </a:prstGeom>
          <a:noFill/>
        </p:spPr>
        <p:txBody>
          <a:bodyPr wrap="square" anchor="t" lIns="0" rIns="0" tIns="0" bIns="0">
            <a:spAutoFit/>
          </a:bodyPr>
          <a:lstStyle/>
          <a:p>
            <a:pPr rtl="0" algn="r">
              <a:spcBef>
                <a:spcPts val="0"/>
              </a:spcBef>
              <a:spcAft>
                <a:spcPts val="0"/>
              </a:spcAft>
            </a:pPr>
            <a:r>
              <a:rPr sz="5800" b="1" i="0">
                <a:solidFill>
                  <a:srgbClr val="FFFFFF"/>
                </a:solidFill>
                <a:latin typeface="Arial"/>
                <a:cs typeface="Arial"/>
              </a:rPr>
              <a:t>X-CLIP</a:t>
            </a:r>
          </a:p>
        </p:txBody>
      </p:sp>
      <p:sp>
        <p:nvSpPr>
          <p:cNvPr id="5" name="TextBox 4"/>
          <p:cNvSpPr txBox="1"/>
          <p:nvPr/>
        </p:nvSpPr>
        <p:spPr>
          <a:xfrm>
            <a:off x="4572000" y="3931920"/>
            <a:ext cx="6858000" cy="457200"/>
          </a:xfrm>
          <a:prstGeom prst="rect">
            <a:avLst/>
          </a:prstGeom>
          <a:noFill/>
        </p:spPr>
        <p:txBody>
          <a:bodyPr wrap="square" anchor="t" lIns="0" rIns="0" tIns="0" bIns="0">
            <a:spAutoFit/>
          </a:bodyPr>
          <a:lstStyle/>
          <a:p>
            <a:pPr rtl="1" algn="r">
              <a:spcBef>
                <a:spcPts val="0"/>
              </a:spcBef>
              <a:spcAft>
                <a:spcPts val="0"/>
              </a:spcAft>
            </a:pPr>
            <a:r>
              <a:rPr sz="1700" b="0" i="0">
                <a:solidFill>
                  <a:srgbClr val="F6CFDE"/>
                </a:solidFill>
                <a:latin typeface="Arial"/>
                <a:cs typeface="Arial"/>
              </a:rPr>
              <a:t>تبدیل کد UMIL از دودویی به چهارده‌کلاسه</a:t>
            </a:r>
          </a:p>
        </p:txBody>
      </p:sp>
      <p:sp>
        <p:nvSpPr>
          <p:cNvPr id="6" name="TextBox 5"/>
          <p:cNvSpPr txBox="1"/>
          <p:nvPr/>
        </p:nvSpPr>
        <p:spPr>
          <a:xfrm>
            <a:off x="4572000" y="4663440"/>
            <a:ext cx="6858000" cy="640080"/>
          </a:xfrm>
          <a:prstGeom prst="rect">
            <a:avLst/>
          </a:prstGeom>
          <a:noFill/>
        </p:spPr>
        <p:txBody>
          <a:bodyPr wrap="square" anchor="t" lIns="0" rIns="0" tIns="0" bIns="0">
            <a:spAutoFit/>
          </a:bodyPr>
          <a:lstStyle/>
          <a:p>
            <a:pPr rtl="0" algn="r">
              <a:spcBef>
                <a:spcPts val="0"/>
              </a:spcBef>
              <a:spcAft>
                <a:spcPts val="0"/>
              </a:spcAft>
            </a:pPr>
            <a:r>
              <a:rPr sz="2600" b="1" i="0">
                <a:solidFill>
                  <a:srgbClr val="FF6FA5"/>
                </a:solidFill>
                <a:latin typeface="Arial"/>
                <a:cs typeface="Arial"/>
              </a:rPr>
              <a:t>0.3327  ←  0.3881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FBEEF4"/>
                </a:solidFill>
                <a:latin typeface="Arial"/>
                <a:cs typeface="Arial"/>
              </a:rPr>
              <a:t>X-CLIP چطور کار می‌کند</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FF6FA5"/>
                </a:solidFill>
                <a:latin typeface="Arial"/>
                <a:cs typeface="Arial"/>
              </a:rPr>
              <a:t>مسیر اول</a:t>
            </a:r>
          </a:p>
        </p:txBody>
      </p:sp>
      <p:sp>
        <p:nvSpPr>
          <p:cNvPr id="4" name="Rounded Rectangle 3"/>
          <p:cNvSpPr/>
          <p:nvPr/>
        </p:nvSpPr>
        <p:spPr>
          <a:xfrm>
            <a:off x="548640" y="1600200"/>
            <a:ext cx="11064240" cy="960120"/>
          </a:xfrm>
          <a:prstGeom prst="round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98480" y="1755648"/>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F6CFDE"/>
                </a:solidFill>
                <a:latin typeface="Arial"/>
                <a:cs typeface="Arial"/>
              </a:rPr>
              <a:t>1</a:t>
            </a:r>
          </a:p>
        </p:txBody>
      </p:sp>
      <p:sp>
        <p:nvSpPr>
          <p:cNvPr id="6" name="TextBox 5"/>
          <p:cNvSpPr txBox="1"/>
          <p:nvPr/>
        </p:nvSpPr>
        <p:spPr>
          <a:xfrm>
            <a:off x="914400" y="1728216"/>
            <a:ext cx="9692640" cy="320040"/>
          </a:xfrm>
          <a:prstGeom prst="rect">
            <a:avLst/>
          </a:prstGeom>
          <a:noFill/>
        </p:spPr>
        <p:txBody>
          <a:bodyPr wrap="square" anchor="t" lIns="0" rIns="0" tIns="0" bIns="0">
            <a:spAutoFit/>
          </a:bodyPr>
          <a:lstStyle/>
          <a:p>
            <a:pPr rtl="1" algn="r">
              <a:spcBef>
                <a:spcPts val="0"/>
              </a:spcBef>
              <a:spcAft>
                <a:spcPts val="0"/>
              </a:spcAft>
            </a:pPr>
            <a:r>
              <a:rPr sz="1550" b="1" i="0">
                <a:solidFill>
                  <a:srgbClr val="FBEEF4"/>
                </a:solidFill>
                <a:latin typeface="Arial"/>
                <a:cs typeface="Arial"/>
              </a:rPr>
              <a:t>CLIP روی جفت عکس و متن آموزش دیده</a:t>
            </a:r>
          </a:p>
        </p:txBody>
      </p:sp>
      <p:sp>
        <p:nvSpPr>
          <p:cNvPr id="7" name="TextBox 6"/>
          <p:cNvSpPr txBox="1"/>
          <p:nvPr/>
        </p:nvSpPr>
        <p:spPr>
          <a:xfrm>
            <a:off x="914400" y="2075688"/>
            <a:ext cx="969264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B58FA2"/>
                </a:solidFill>
                <a:latin typeface="Arial"/>
                <a:cs typeface="Arial"/>
              </a:rPr>
              <a:t>عکس و توضیحش در یک فضای مشترک نزدیک هم می‌افتند</a:t>
            </a:r>
          </a:p>
        </p:txBody>
      </p:sp>
      <p:sp>
        <p:nvSpPr>
          <p:cNvPr id="8" name="Rounded Rectangle 7"/>
          <p:cNvSpPr/>
          <p:nvPr/>
        </p:nvSpPr>
        <p:spPr>
          <a:xfrm>
            <a:off x="548640" y="2715768"/>
            <a:ext cx="11064240" cy="960120"/>
          </a:xfrm>
          <a:prstGeom prst="round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698480" y="2871215"/>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F6CFDE"/>
                </a:solidFill>
                <a:latin typeface="Arial"/>
                <a:cs typeface="Arial"/>
              </a:rPr>
              <a:t>2</a:t>
            </a:r>
          </a:p>
        </p:txBody>
      </p:sp>
      <p:sp>
        <p:nvSpPr>
          <p:cNvPr id="10" name="TextBox 9"/>
          <p:cNvSpPr txBox="1"/>
          <p:nvPr/>
        </p:nvSpPr>
        <p:spPr>
          <a:xfrm>
            <a:off x="914400" y="2843784"/>
            <a:ext cx="9692640" cy="320040"/>
          </a:xfrm>
          <a:prstGeom prst="rect">
            <a:avLst/>
          </a:prstGeom>
          <a:noFill/>
        </p:spPr>
        <p:txBody>
          <a:bodyPr wrap="square" anchor="t" lIns="0" rIns="0" tIns="0" bIns="0">
            <a:spAutoFit/>
          </a:bodyPr>
          <a:lstStyle/>
          <a:p>
            <a:pPr rtl="1" algn="r">
              <a:spcBef>
                <a:spcPts val="0"/>
              </a:spcBef>
              <a:spcAft>
                <a:spcPts val="0"/>
              </a:spcAft>
            </a:pPr>
            <a:r>
              <a:rPr sz="1550" b="1" i="0">
                <a:solidFill>
                  <a:srgbClr val="FBEEF4"/>
                </a:solidFill>
                <a:latin typeface="Arial"/>
                <a:cs typeface="Arial"/>
              </a:rPr>
              <a:t>طبقه‌بندی بدون آموزش</a:t>
            </a:r>
          </a:p>
        </p:txBody>
      </p:sp>
      <p:sp>
        <p:nvSpPr>
          <p:cNvPr id="11" name="TextBox 10"/>
          <p:cNvSpPr txBox="1"/>
          <p:nvPr/>
        </p:nvSpPr>
        <p:spPr>
          <a:xfrm>
            <a:off x="914400" y="3191256"/>
            <a:ext cx="969264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B58FA2"/>
                </a:solidFill>
                <a:latin typeface="Arial"/>
                <a:cs typeface="Arial"/>
              </a:rPr>
              <a:t>اسم هر کلاس به بردار تبدیل می‌شود و نزدیک‌ترین برنده است</a:t>
            </a:r>
          </a:p>
        </p:txBody>
      </p:sp>
      <p:sp>
        <p:nvSpPr>
          <p:cNvPr id="12" name="Rounded Rectangle 11"/>
          <p:cNvSpPr/>
          <p:nvPr/>
        </p:nvSpPr>
        <p:spPr>
          <a:xfrm>
            <a:off x="548640" y="3831335"/>
            <a:ext cx="11064240" cy="960120"/>
          </a:xfrm>
          <a:prstGeom prst="round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698480" y="3986783"/>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F6CFDE"/>
                </a:solidFill>
                <a:latin typeface="Arial"/>
                <a:cs typeface="Arial"/>
              </a:rPr>
              <a:t>3</a:t>
            </a:r>
          </a:p>
        </p:txBody>
      </p:sp>
      <p:sp>
        <p:nvSpPr>
          <p:cNvPr id="14" name="TextBox 13"/>
          <p:cNvSpPr txBox="1"/>
          <p:nvPr/>
        </p:nvSpPr>
        <p:spPr>
          <a:xfrm>
            <a:off x="914400" y="3959351"/>
            <a:ext cx="9692640" cy="320040"/>
          </a:xfrm>
          <a:prstGeom prst="rect">
            <a:avLst/>
          </a:prstGeom>
          <a:noFill/>
        </p:spPr>
        <p:txBody>
          <a:bodyPr wrap="square" anchor="t" lIns="0" rIns="0" tIns="0" bIns="0">
            <a:spAutoFit/>
          </a:bodyPr>
          <a:lstStyle/>
          <a:p>
            <a:pPr rtl="1" algn="r">
              <a:spcBef>
                <a:spcPts val="0"/>
              </a:spcBef>
              <a:spcAft>
                <a:spcPts val="0"/>
              </a:spcAft>
            </a:pPr>
            <a:r>
              <a:rPr sz="1550" b="1" i="0">
                <a:solidFill>
                  <a:srgbClr val="FBEEF4"/>
                </a:solidFill>
                <a:latin typeface="Arial"/>
                <a:cs typeface="Arial"/>
              </a:rPr>
              <a:t>X-CLIP بخش زمانی اضافه می‌کند</a:t>
            </a:r>
          </a:p>
        </p:txBody>
      </p:sp>
      <p:sp>
        <p:nvSpPr>
          <p:cNvPr id="15" name="TextBox 14"/>
          <p:cNvSpPr txBox="1"/>
          <p:nvPr/>
        </p:nvSpPr>
        <p:spPr>
          <a:xfrm>
            <a:off x="914400" y="4306823"/>
            <a:ext cx="969264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B58FA2"/>
                </a:solidFill>
                <a:latin typeface="Arial"/>
                <a:cs typeface="Arial"/>
              </a:rPr>
              <a:t>حالا ورودی ویدیو است، نه یک عکس تنها</a:t>
            </a:r>
          </a:p>
        </p:txBody>
      </p:sp>
      <p:sp>
        <p:nvSpPr>
          <p:cNvPr id="16" name="Rounded Rectangle 15"/>
          <p:cNvSpPr/>
          <p:nvPr/>
        </p:nvSpPr>
        <p:spPr>
          <a:xfrm>
            <a:off x="548640" y="4946904"/>
            <a:ext cx="11064240" cy="960120"/>
          </a:xfrm>
          <a:prstGeom prst="round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698480" y="5102352"/>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FFA0C4"/>
                </a:solidFill>
                <a:latin typeface="Arial"/>
                <a:cs typeface="Arial"/>
              </a:rPr>
              <a:t>4</a:t>
            </a:r>
          </a:p>
        </p:txBody>
      </p:sp>
      <p:sp>
        <p:nvSpPr>
          <p:cNvPr id="18" name="TextBox 17"/>
          <p:cNvSpPr txBox="1"/>
          <p:nvPr/>
        </p:nvSpPr>
        <p:spPr>
          <a:xfrm>
            <a:off x="914400" y="5074920"/>
            <a:ext cx="9692640" cy="320040"/>
          </a:xfrm>
          <a:prstGeom prst="rect">
            <a:avLst/>
          </a:prstGeom>
          <a:noFill/>
        </p:spPr>
        <p:txBody>
          <a:bodyPr wrap="square" anchor="t" lIns="0" rIns="0" tIns="0" bIns="0">
            <a:spAutoFit/>
          </a:bodyPr>
          <a:lstStyle/>
          <a:p>
            <a:pPr rtl="1" algn="r">
              <a:spcBef>
                <a:spcPts val="0"/>
              </a:spcBef>
              <a:spcAft>
                <a:spcPts val="0"/>
              </a:spcAft>
            </a:pPr>
            <a:r>
              <a:rPr sz="1550" b="1" i="0">
                <a:solidFill>
                  <a:srgbClr val="FBEEF4"/>
                </a:solidFill>
                <a:latin typeface="Arial"/>
                <a:cs typeface="Arial"/>
              </a:rPr>
              <a:t>در پروژه ما</a:t>
            </a:r>
          </a:p>
        </p:txBody>
      </p:sp>
      <p:sp>
        <p:nvSpPr>
          <p:cNvPr id="19" name="TextBox 18"/>
          <p:cNvSpPr txBox="1"/>
          <p:nvPr/>
        </p:nvSpPr>
        <p:spPr>
          <a:xfrm>
            <a:off x="914400" y="5422392"/>
            <a:ext cx="969264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B58FA2"/>
                </a:solidFill>
                <a:latin typeface="Arial"/>
                <a:cs typeface="Arial"/>
              </a:rPr>
              <a:t>بردار ویدیو با ۱۴ بردار متنی مقایسه می‌شود</a:t>
            </a:r>
          </a:p>
        </p:txBody>
      </p:sp>
      <p:sp>
        <p:nvSpPr>
          <p:cNvPr id="20" name="TextBox 19"/>
          <p:cNvSpPr txBox="1"/>
          <p:nvPr/>
        </p:nvSpPr>
        <p:spPr>
          <a:xfrm>
            <a:off x="548640" y="6080760"/>
            <a:ext cx="11064240" cy="365760"/>
          </a:xfrm>
          <a:prstGeom prst="rect">
            <a:avLst/>
          </a:prstGeom>
          <a:noFill/>
        </p:spPr>
        <p:txBody>
          <a:bodyPr wrap="square" anchor="t" lIns="0" rIns="0" tIns="0" bIns="0">
            <a:spAutoFit/>
          </a:bodyPr>
          <a:lstStyle/>
          <a:p>
            <a:pPr rtl="1" algn="r">
              <a:spcBef>
                <a:spcPts val="0"/>
              </a:spcBef>
              <a:spcAft>
                <a:spcPts val="0"/>
              </a:spcAft>
            </a:pPr>
            <a:r>
              <a:rPr sz="1300" b="1" i="0">
                <a:solidFill>
                  <a:srgbClr val="FF6FA5"/>
                </a:solidFill>
                <a:latin typeface="Arial"/>
                <a:cs typeface="Arial"/>
              </a:rPr>
              <a:t>آن ۱۴ بردار متنی نقش وزن‌های طبقه‌بند را بازی می‌کنند و هرگز آموزش نمی‌بینند.</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FBEEF4"/>
                </a:solidFill>
                <a:latin typeface="Arial"/>
                <a:cs typeface="Arial"/>
              </a:rPr>
              <a:t>سه اشکال بنیادی که پیدا و اصلاح شد</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FF6FA5"/>
                </a:solidFill>
                <a:latin typeface="Arial"/>
                <a:cs typeface="Arial"/>
              </a:rPr>
              <a:t>مسیر اول</a:t>
            </a:r>
          </a:p>
        </p:txBody>
      </p:sp>
      <p:sp>
        <p:nvSpPr>
          <p:cNvPr id="4" name="Rounded Rectangle 3"/>
          <p:cNvSpPr/>
          <p:nvPr/>
        </p:nvSpPr>
        <p:spPr>
          <a:xfrm>
            <a:off x="8092440" y="1645920"/>
            <a:ext cx="3520440" cy="4069080"/>
          </a:xfrm>
          <a:prstGeom prst="round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98480" y="1783079"/>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FF8A80"/>
                </a:solidFill>
                <a:latin typeface="Arial"/>
                <a:cs typeface="Arial"/>
              </a:rPr>
              <a:t>1</a:t>
            </a:r>
          </a:p>
        </p:txBody>
      </p:sp>
      <p:sp>
        <p:nvSpPr>
          <p:cNvPr id="6" name="TextBox 5"/>
          <p:cNvSpPr txBox="1"/>
          <p:nvPr/>
        </p:nvSpPr>
        <p:spPr>
          <a:xfrm>
            <a:off x="8321040" y="2514600"/>
            <a:ext cx="3063240" cy="685800"/>
          </a:xfrm>
          <a:prstGeom prst="rect">
            <a:avLst/>
          </a:prstGeom>
          <a:noFill/>
        </p:spPr>
        <p:txBody>
          <a:bodyPr wrap="square" anchor="t" lIns="0" rIns="0" tIns="0" bIns="0">
            <a:spAutoFit/>
          </a:bodyPr>
          <a:lstStyle/>
          <a:p>
            <a:pPr rtl="1" algn="r">
              <a:lnSpc>
                <a:spcPts val="2100"/>
              </a:lnSpc>
              <a:spcBef>
                <a:spcPts val="0"/>
              </a:spcBef>
              <a:spcAft>
                <a:spcPts val="0"/>
              </a:spcAft>
            </a:pPr>
            <a:r>
              <a:rPr sz="1500" b="1" i="0">
                <a:solidFill>
                  <a:srgbClr val="FBEEF4"/>
                </a:solidFill>
                <a:latin typeface="Arial"/>
                <a:cs typeface="Arial"/>
              </a:rPr>
              <a:t>میانگین‌گیری در ارزیابی</a:t>
            </a:r>
          </a:p>
        </p:txBody>
      </p:sp>
      <p:sp>
        <p:nvSpPr>
          <p:cNvPr id="7" name="TextBox 6"/>
          <p:cNvSpPr txBox="1"/>
          <p:nvPr/>
        </p:nvSpPr>
        <p:spPr>
          <a:xfrm>
            <a:off x="8321040" y="3200400"/>
            <a:ext cx="3063240" cy="164592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F0DCE6"/>
                </a:solidFill>
                <a:latin typeface="Arial"/>
                <a:cs typeface="Arial"/>
              </a:rPr>
              <a:t>احتمال هر ۱۶ قطعه میانگین گرفته می‌شد. در ویدیوی ناهنجار، قطعه‌های عادی شواهد را خفه می‌کردند و تقریباً همه چیز عادی پیش‌بینی می‌شد.</a:t>
            </a:r>
          </a:p>
        </p:txBody>
      </p:sp>
      <p:sp>
        <p:nvSpPr>
          <p:cNvPr id="8" name="TextBox 7"/>
          <p:cNvSpPr txBox="1"/>
          <p:nvPr/>
        </p:nvSpPr>
        <p:spPr>
          <a:xfrm>
            <a:off x="8321040" y="4937760"/>
            <a:ext cx="3063240" cy="640080"/>
          </a:xfrm>
          <a:prstGeom prst="rect">
            <a:avLst/>
          </a:prstGeom>
          <a:noFill/>
        </p:spPr>
        <p:txBody>
          <a:bodyPr wrap="square" anchor="t" lIns="0" rIns="0" tIns="0" bIns="0">
            <a:spAutoFit/>
          </a:bodyPr>
          <a:lstStyle/>
          <a:p>
            <a:pPr rtl="1" algn="r">
              <a:lnSpc>
                <a:spcPts val="1800"/>
              </a:lnSpc>
              <a:spcBef>
                <a:spcPts val="0"/>
              </a:spcBef>
              <a:spcAft>
                <a:spcPts val="0"/>
              </a:spcAft>
            </a:pPr>
            <a:r>
              <a:rPr sz="1200" b="1" i="0">
                <a:solidFill>
                  <a:srgbClr val="7FD8C0"/>
                </a:solidFill>
                <a:latin typeface="Arial"/>
                <a:cs typeface="Arial"/>
              </a:rPr>
              <a:t>اصلاح: تصمیم دومرحله‌ای با بیشینه</a:t>
            </a:r>
          </a:p>
        </p:txBody>
      </p:sp>
      <p:sp>
        <p:nvSpPr>
          <p:cNvPr id="9" name="Rounded Rectangle 8"/>
          <p:cNvSpPr/>
          <p:nvPr/>
        </p:nvSpPr>
        <p:spPr>
          <a:xfrm>
            <a:off x="4315968" y="1645920"/>
            <a:ext cx="3520440" cy="4069080"/>
          </a:xfrm>
          <a:prstGeom prst="round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22007" y="1783079"/>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FF8A80"/>
                </a:solidFill>
                <a:latin typeface="Arial"/>
                <a:cs typeface="Arial"/>
              </a:rPr>
              <a:t>2</a:t>
            </a:r>
          </a:p>
        </p:txBody>
      </p:sp>
      <p:sp>
        <p:nvSpPr>
          <p:cNvPr id="11" name="TextBox 10"/>
          <p:cNvSpPr txBox="1"/>
          <p:nvPr/>
        </p:nvSpPr>
        <p:spPr>
          <a:xfrm>
            <a:off x="4544568" y="2514600"/>
            <a:ext cx="3063240" cy="685800"/>
          </a:xfrm>
          <a:prstGeom prst="rect">
            <a:avLst/>
          </a:prstGeom>
          <a:noFill/>
        </p:spPr>
        <p:txBody>
          <a:bodyPr wrap="square" anchor="t" lIns="0" rIns="0" tIns="0" bIns="0">
            <a:spAutoFit/>
          </a:bodyPr>
          <a:lstStyle/>
          <a:p>
            <a:pPr rtl="1" algn="r">
              <a:lnSpc>
                <a:spcPts val="2100"/>
              </a:lnSpc>
              <a:spcBef>
                <a:spcPts val="0"/>
              </a:spcBef>
              <a:spcAft>
                <a:spcPts val="0"/>
              </a:spcAft>
            </a:pPr>
            <a:r>
              <a:rPr sz="1500" b="1" i="0">
                <a:solidFill>
                  <a:srgbClr val="FBEEF4"/>
                </a:solidFill>
                <a:latin typeface="Arial"/>
                <a:cs typeface="Arial"/>
              </a:rPr>
              <a:t>فایل نمرات کهنه</a:t>
            </a:r>
          </a:p>
        </p:txBody>
      </p:sp>
      <p:sp>
        <p:nvSpPr>
          <p:cNvPr id="12" name="TextBox 11"/>
          <p:cNvSpPr txBox="1"/>
          <p:nvPr/>
        </p:nvSpPr>
        <p:spPr>
          <a:xfrm>
            <a:off x="4544568" y="3200400"/>
            <a:ext cx="3063240" cy="164592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F0DCE6"/>
                </a:solidFill>
                <a:latin typeface="Arial"/>
                <a:cs typeface="Arial"/>
              </a:rPr>
              <a:t>کد هر فایل نمرات موجود را بازاستفاده می‌کرد. در یک گزارش، ۲۸۸ ویدیو از ۲۹۸ کنار گذاشته شده و عدد روی ده ویدیو حساب شده بود.</a:t>
            </a:r>
          </a:p>
        </p:txBody>
      </p:sp>
      <p:sp>
        <p:nvSpPr>
          <p:cNvPr id="13" name="TextBox 12"/>
          <p:cNvSpPr txBox="1"/>
          <p:nvPr/>
        </p:nvSpPr>
        <p:spPr>
          <a:xfrm>
            <a:off x="4544568" y="4937760"/>
            <a:ext cx="3063240" cy="640080"/>
          </a:xfrm>
          <a:prstGeom prst="rect">
            <a:avLst/>
          </a:prstGeom>
          <a:noFill/>
        </p:spPr>
        <p:txBody>
          <a:bodyPr wrap="square" anchor="t" lIns="0" rIns="0" tIns="0" bIns="0">
            <a:spAutoFit/>
          </a:bodyPr>
          <a:lstStyle/>
          <a:p>
            <a:pPr rtl="1" algn="r">
              <a:lnSpc>
                <a:spcPts val="1800"/>
              </a:lnSpc>
              <a:spcBef>
                <a:spcPts val="0"/>
              </a:spcBef>
              <a:spcAft>
                <a:spcPts val="0"/>
              </a:spcAft>
            </a:pPr>
            <a:r>
              <a:rPr sz="1200" b="1" i="0">
                <a:solidFill>
                  <a:srgbClr val="7FD8C0"/>
                </a:solidFill>
                <a:latin typeface="Arial"/>
                <a:cs typeface="Arial"/>
              </a:rPr>
              <a:t>اصلاح: بازمحاسبه پیش‌فرض</a:t>
            </a:r>
          </a:p>
        </p:txBody>
      </p:sp>
      <p:sp>
        <p:nvSpPr>
          <p:cNvPr id="14" name="Rounded Rectangle 13"/>
          <p:cNvSpPr/>
          <p:nvPr/>
        </p:nvSpPr>
        <p:spPr>
          <a:xfrm>
            <a:off x="539495" y="1645920"/>
            <a:ext cx="3520440" cy="4069080"/>
          </a:xfrm>
          <a:prstGeom prst="round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145535" y="1783079"/>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FF8A80"/>
                </a:solidFill>
                <a:latin typeface="Arial"/>
                <a:cs typeface="Arial"/>
              </a:rPr>
              <a:t>3</a:t>
            </a:r>
          </a:p>
        </p:txBody>
      </p:sp>
      <p:sp>
        <p:nvSpPr>
          <p:cNvPr id="16" name="TextBox 15"/>
          <p:cNvSpPr txBox="1"/>
          <p:nvPr/>
        </p:nvSpPr>
        <p:spPr>
          <a:xfrm>
            <a:off x="768095" y="2514600"/>
            <a:ext cx="3063240" cy="685800"/>
          </a:xfrm>
          <a:prstGeom prst="rect">
            <a:avLst/>
          </a:prstGeom>
          <a:noFill/>
        </p:spPr>
        <p:txBody>
          <a:bodyPr wrap="square" anchor="t" lIns="0" rIns="0" tIns="0" bIns="0">
            <a:spAutoFit/>
          </a:bodyPr>
          <a:lstStyle/>
          <a:p>
            <a:pPr rtl="1" algn="r">
              <a:lnSpc>
                <a:spcPts val="2100"/>
              </a:lnSpc>
              <a:spcBef>
                <a:spcPts val="0"/>
              </a:spcBef>
              <a:spcAft>
                <a:spcPts val="0"/>
              </a:spcAft>
            </a:pPr>
            <a:r>
              <a:rPr sz="1500" b="1" i="0">
                <a:solidFill>
                  <a:srgbClr val="FBEEF4"/>
                </a:solidFill>
                <a:latin typeface="Arial"/>
                <a:cs typeface="Arial"/>
              </a:rPr>
              <a:t>انتخاب قطعه برتر به تفکیک کلاس</a:t>
            </a:r>
          </a:p>
        </p:txBody>
      </p:sp>
      <p:sp>
        <p:nvSpPr>
          <p:cNvPr id="17" name="TextBox 16"/>
          <p:cNvSpPr txBox="1"/>
          <p:nvPr/>
        </p:nvSpPr>
        <p:spPr>
          <a:xfrm>
            <a:off x="768095" y="3200400"/>
            <a:ext cx="3063240" cy="164592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F0DCE6"/>
                </a:solidFill>
                <a:latin typeface="Arial"/>
                <a:cs typeface="Arial"/>
              </a:rPr>
              <a:t>کانال عادی از عادی‌ترین قطعه‌های یک ویدیوی سرقت ساخته می‌شد. نویز برچسب سیستماتیک وارد آموزش می‌شد.</a:t>
            </a:r>
          </a:p>
        </p:txBody>
      </p:sp>
      <p:sp>
        <p:nvSpPr>
          <p:cNvPr id="18" name="TextBox 17"/>
          <p:cNvSpPr txBox="1"/>
          <p:nvPr/>
        </p:nvSpPr>
        <p:spPr>
          <a:xfrm>
            <a:off x="768095" y="4937760"/>
            <a:ext cx="3063240" cy="640080"/>
          </a:xfrm>
          <a:prstGeom prst="rect">
            <a:avLst/>
          </a:prstGeom>
          <a:noFill/>
        </p:spPr>
        <p:txBody>
          <a:bodyPr wrap="square" anchor="t" lIns="0" rIns="0" tIns="0" bIns="0">
            <a:spAutoFit/>
          </a:bodyPr>
          <a:lstStyle/>
          <a:p>
            <a:pPr rtl="1" algn="r">
              <a:lnSpc>
                <a:spcPts val="1800"/>
              </a:lnSpc>
              <a:spcBef>
                <a:spcPts val="0"/>
              </a:spcBef>
              <a:spcAft>
                <a:spcPts val="0"/>
              </a:spcAft>
            </a:pPr>
            <a:r>
              <a:rPr sz="1200" b="1" i="0">
                <a:solidFill>
                  <a:srgbClr val="7FD8C0"/>
                </a:solidFill>
                <a:latin typeface="Arial"/>
                <a:cs typeface="Arial"/>
              </a:rPr>
              <a:t>اصلاح: یک رتبه‌بندی برای همه کلاس‌ها</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FBEEF4"/>
                </a:solidFill>
                <a:latin typeface="Arial"/>
                <a:cs typeface="Arial"/>
              </a:rPr>
              <a:t>تصمیم دومرحله‌ای</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FF6FA5"/>
                </a:solidFill>
                <a:latin typeface="Arial"/>
                <a:cs typeface="Arial"/>
              </a:rPr>
              <a:t>مسیر اول</a:t>
            </a:r>
          </a:p>
        </p:txBody>
      </p:sp>
      <p:sp>
        <p:nvSpPr>
          <p:cNvPr id="4" name="Rounded Rectangle 3"/>
          <p:cNvSpPr/>
          <p:nvPr/>
        </p:nvSpPr>
        <p:spPr>
          <a:xfrm>
            <a:off x="548640" y="1600200"/>
            <a:ext cx="5394960" cy="2286000"/>
          </a:xfrm>
          <a:prstGeom prst="round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7830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FF6FA5"/>
                </a:solidFill>
                <a:latin typeface="Arial"/>
                <a:cs typeface="Arial"/>
              </a:rPr>
              <a:t>مرحله اول: آیا ناهنجار است؟</a:t>
            </a:r>
          </a:p>
        </p:txBody>
      </p:sp>
      <p:sp>
        <p:nvSpPr>
          <p:cNvPr id="6" name="TextBox 5"/>
          <p:cNvSpPr txBox="1"/>
          <p:nvPr/>
        </p:nvSpPr>
        <p:spPr>
          <a:xfrm>
            <a:off x="868680" y="2194560"/>
            <a:ext cx="4754880" cy="73152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F0DCE6"/>
                </a:solidFill>
                <a:latin typeface="Arial"/>
                <a:cs typeface="Arial"/>
              </a:rPr>
              <a:t>بیشینه روی ۱۶ قطعه از مقدار «۱ منهای احتمال عادی»، در مقایسه با آستانه ۰٫۵</a:t>
            </a:r>
          </a:p>
        </p:txBody>
      </p:sp>
      <p:sp>
        <p:nvSpPr>
          <p:cNvPr id="7" name="TextBox 6"/>
          <p:cNvSpPr txBox="1"/>
          <p:nvPr/>
        </p:nvSpPr>
        <p:spPr>
          <a:xfrm>
            <a:off x="868680" y="2926080"/>
            <a:ext cx="4754880" cy="77724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B58FA2"/>
                </a:solidFill>
                <a:latin typeface="Arial"/>
                <a:cs typeface="Arial"/>
              </a:rPr>
              <a:t>چرا بیشینه و نه میانگین: یک قطعه مشکوک کافی است، چون رویداد فقط چند ثانیه است</a:t>
            </a:r>
          </a:p>
        </p:txBody>
      </p:sp>
      <p:sp>
        <p:nvSpPr>
          <p:cNvPr id="8" name="Rounded Rectangle 7"/>
          <p:cNvSpPr/>
          <p:nvPr/>
        </p:nvSpPr>
        <p:spPr>
          <a:xfrm>
            <a:off x="6217920" y="1600200"/>
            <a:ext cx="5394960" cy="2286000"/>
          </a:xfrm>
          <a:prstGeom prst="round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537960" y="17830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FBEEF4"/>
                </a:solidFill>
                <a:latin typeface="Arial"/>
                <a:cs typeface="Arial"/>
              </a:rPr>
              <a:t>مرحله دوم: کدام نوع؟</a:t>
            </a:r>
          </a:p>
        </p:txBody>
      </p:sp>
      <p:sp>
        <p:nvSpPr>
          <p:cNvPr id="10" name="TextBox 9"/>
          <p:cNvSpPr txBox="1"/>
          <p:nvPr/>
        </p:nvSpPr>
        <p:spPr>
          <a:xfrm>
            <a:off x="6537960" y="2194560"/>
            <a:ext cx="4754880" cy="73152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F0DCE6"/>
                </a:solidFill>
                <a:latin typeface="Arial"/>
                <a:cs typeface="Arial"/>
              </a:rPr>
              <a:t>رأی‌گیری میانگین چهار قطعه برتر، تنها میان ۱۳ کلاس ناهنجار</a:t>
            </a:r>
          </a:p>
        </p:txBody>
      </p:sp>
      <p:sp>
        <p:nvSpPr>
          <p:cNvPr id="11" name="TextBox 10"/>
          <p:cNvSpPr txBox="1"/>
          <p:nvPr/>
        </p:nvSpPr>
        <p:spPr>
          <a:xfrm>
            <a:off x="6537960" y="2926080"/>
            <a:ext cx="4754880" cy="77724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B58FA2"/>
                </a:solidFill>
                <a:latin typeface="Arial"/>
                <a:cs typeface="Arial"/>
              </a:rPr>
              <a:t>کلاس عادی در این مرحله اصلاً وارد رقابت نمی‌شود</a:t>
            </a:r>
          </a:p>
        </p:txBody>
      </p:sp>
      <p:sp>
        <p:nvSpPr>
          <p:cNvPr id="12" name="TextBox 11"/>
          <p:cNvSpPr txBox="1"/>
          <p:nvPr/>
        </p:nvSpPr>
        <p:spPr>
          <a:xfrm>
            <a:off x="548640" y="4114800"/>
            <a:ext cx="11064240" cy="365760"/>
          </a:xfrm>
          <a:prstGeom prst="rect">
            <a:avLst/>
          </a:prstGeom>
          <a:noFill/>
        </p:spPr>
        <p:txBody>
          <a:bodyPr wrap="square" anchor="t" lIns="0" rIns="0" tIns="0" bIns="0">
            <a:spAutoFit/>
          </a:bodyPr>
          <a:lstStyle/>
          <a:p>
            <a:pPr rtl="1" algn="r">
              <a:spcBef>
                <a:spcPts val="0"/>
              </a:spcBef>
              <a:spcAft>
                <a:spcPts val="0"/>
              </a:spcAft>
            </a:pPr>
            <a:r>
              <a:rPr sz="1600" b="1" i="0">
                <a:solidFill>
                  <a:srgbClr val="FBEEF4"/>
                </a:solidFill>
                <a:latin typeface="Arial"/>
                <a:cs typeface="Arial"/>
              </a:rPr>
              <a:t>مثال عددی: ویدیوی سرقت، رویداد در قطعه‌های ۴ و ۵</a:t>
            </a:r>
          </a:p>
        </p:txBody>
      </p:sp>
      <p:graphicFrame>
        <p:nvGraphicFramePr>
          <p:cNvPr id="13" name="Table 12"/>
          <p:cNvGraphicFramePr>
            <a:graphicFrameLocks noGrp="1"/>
          </p:cNvGraphicFramePr>
          <p:nvPr/>
        </p:nvGraphicFramePr>
        <p:xfrm>
          <a:off x="548640" y="4572000"/>
          <a:ext cx="11064240" cy="1152144"/>
        </p:xfrm>
        <a:graphic>
          <a:graphicData uri="http://schemas.openxmlformats.org/drawingml/2006/table">
            <a:tbl>
              <a:tblPr firstRow="0" bandRow="0">
                <a:tableStyleId>{5C22544A-7EE6-4342-B048-85BDC9FD1C3A}</a:tableStyleId>
              </a:tblPr>
              <a:tblGrid>
                <a:gridCol w="3474720"/>
                <a:gridCol w="2103120"/>
                <a:gridCol w="2743200"/>
                <a:gridCol w="2743200"/>
              </a:tblGrid>
              <a:tr h="384048">
                <a:tc>
                  <a:txBody>
                    <a:bodyPr wrap="square"/>
                    <a:lstStyle/>
                    <a:p>
                      <a:pPr rtl="1" algn="ctr">
                        <a:spcBef>
                          <a:spcPts val="0"/>
                        </a:spcBef>
                        <a:spcAft>
                          <a:spcPts val="0"/>
                        </a:spcAft>
                      </a:pPr>
                      <a:r>
                        <a:rPr sz="1300" b="1" i="0">
                          <a:solidFill>
                            <a:srgbClr val="FF6FA5"/>
                          </a:solidFill>
                          <a:latin typeface="Arial"/>
                          <a:cs typeface="Arial"/>
                        </a:rPr>
                        <a:t>روش</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300" b="1" i="0">
                          <a:solidFill>
                            <a:srgbClr val="FF6FA5"/>
                          </a:solidFill>
                          <a:latin typeface="Arial"/>
                          <a:cs typeface="Arial"/>
                        </a:rPr>
                        <a:t>نمره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300" b="1" i="0">
                          <a:solidFill>
                            <a:srgbClr val="FF6FA5"/>
                          </a:solidFill>
                          <a:latin typeface="Arial"/>
                          <a:cs typeface="Arial"/>
                        </a:rPr>
                        <a:t>در برابر آستانه ۰٫۵</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300" b="1" i="0">
                          <a:solidFill>
                            <a:srgbClr val="FF6FA5"/>
                          </a:solidFill>
                          <a:latin typeface="Arial"/>
                          <a:cs typeface="Arial"/>
                        </a:rPr>
                        <a:t>تصمیم</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r>
              <a:tr h="384048">
                <a:tc>
                  <a:txBody>
                    <a:bodyPr wrap="square"/>
                    <a:lstStyle/>
                    <a:p>
                      <a:pPr rtl="1" algn="r">
                        <a:spcBef>
                          <a:spcPts val="0"/>
                        </a:spcBef>
                        <a:spcAft>
                          <a:spcPts val="0"/>
                        </a:spcAft>
                      </a:pPr>
                      <a:r>
                        <a:rPr sz="1300" b="0" i="0">
                          <a:solidFill>
                            <a:srgbClr val="F0DCE6"/>
                          </a:solidFill>
                          <a:latin typeface="Arial"/>
                          <a:cs typeface="Arial"/>
                        </a:rPr>
                        <a:t>میانگین‌گیری روی ۸ قطعه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300" b="0" i="0">
                          <a:solidFill>
                            <a:srgbClr val="F0DCE6"/>
                          </a:solidFill>
                          <a:latin typeface="Arial"/>
                          <a:cs typeface="Arial"/>
                        </a:rPr>
                        <a:t>0.26</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300" b="0" i="0">
                          <a:solidFill>
                            <a:srgbClr val="F0DCE6"/>
                          </a:solidFill>
                          <a:latin typeface="Arial"/>
                          <a:cs typeface="Arial"/>
                        </a:rPr>
                        <a:t>زیر آستانه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300" b="0" i="0">
                          <a:solidFill>
                            <a:srgbClr val="F0DCE6"/>
                          </a:solidFill>
                          <a:latin typeface="Arial"/>
                          <a:cs typeface="Arial"/>
                        </a:rPr>
                        <a:t>عادی — غلط</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84048">
                <a:tc>
                  <a:txBody>
                    <a:bodyPr wrap="square"/>
                    <a:lstStyle/>
                    <a:p>
                      <a:pPr rtl="1" algn="r">
                        <a:spcBef>
                          <a:spcPts val="0"/>
                        </a:spcBef>
                        <a:spcAft>
                          <a:spcPts val="0"/>
                        </a:spcAft>
                      </a:pPr>
                      <a:r>
                        <a:rPr sz="1300" b="1" i="0">
                          <a:solidFill>
                            <a:srgbClr val="FFA0C4"/>
                          </a:solidFill>
                          <a:latin typeface="Arial"/>
                          <a:cs typeface="Arial"/>
                        </a:rPr>
                        <a:t>بیشینه روی همان ۸ قطعه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300" b="1" i="0">
                          <a:solidFill>
                            <a:srgbClr val="FFA0C4"/>
                          </a:solidFill>
                          <a:latin typeface="Arial"/>
                          <a:cs typeface="Arial"/>
                        </a:rPr>
                        <a:t>0.85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300" b="1" i="0">
                          <a:solidFill>
                            <a:srgbClr val="FFA0C4"/>
                          </a:solidFill>
                          <a:latin typeface="Arial"/>
                          <a:cs typeface="Arial"/>
                        </a:rPr>
                        <a:t>بالای آستانه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300" b="1" i="0">
                          <a:solidFill>
                            <a:srgbClr val="FFA0C4"/>
                          </a:solidFill>
                          <a:latin typeface="Arial"/>
                          <a:cs typeface="Arial"/>
                        </a:rPr>
                        <a:t>ناهنجار — درست</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FBEEF4"/>
                </a:solidFill>
                <a:latin typeface="Arial"/>
                <a:cs typeface="Arial"/>
              </a:rPr>
              <a:t>کلاسی که مدل یاد گرفت هرگز نگوید</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FF6FA5"/>
                </a:solidFill>
                <a:latin typeface="Arial"/>
                <a:cs typeface="Arial"/>
              </a:rPr>
              <a:t>مسیر اول</a:t>
            </a:r>
          </a:p>
        </p:txBody>
      </p:sp>
      <p:sp>
        <p:nvSpPr>
          <p:cNvPr id="4" name="TextBox 3"/>
          <p:cNvSpPr txBox="1"/>
          <p:nvPr/>
        </p:nvSpPr>
        <p:spPr>
          <a:xfrm>
            <a:off x="548640" y="1645920"/>
            <a:ext cx="11064240" cy="365760"/>
          </a:xfrm>
          <a:prstGeom prst="rect">
            <a:avLst/>
          </a:prstGeom>
          <a:noFill/>
        </p:spPr>
        <p:txBody>
          <a:bodyPr wrap="square" anchor="t" lIns="0" rIns="0" tIns="0" bIns="0">
            <a:spAutoFit/>
          </a:bodyPr>
          <a:lstStyle/>
          <a:p>
            <a:pPr rtl="1" algn="r">
              <a:spcBef>
                <a:spcPts val="0"/>
              </a:spcBef>
              <a:spcAft>
                <a:spcPts val="0"/>
              </a:spcAft>
            </a:pPr>
            <a:r>
              <a:rPr sz="1400" b="0" i="0">
                <a:solidFill>
                  <a:srgbClr val="F0DCE6"/>
                </a:solidFill>
                <a:latin typeface="Arial"/>
                <a:cs typeface="Arial"/>
              </a:rPr>
              <a:t>به‌جای شمردن پیش‌بینی‌های درست، شمردیم مدل هر کلاس را چند بار پیش‌بینی می‌کند.</a:t>
            </a:r>
          </a:p>
        </p:txBody>
      </p:sp>
      <p:graphicFrame>
        <p:nvGraphicFramePr>
          <p:cNvPr id="5" name="Table 4"/>
          <p:cNvGraphicFramePr>
            <a:graphicFrameLocks noGrp="1"/>
          </p:cNvGraphicFramePr>
          <p:nvPr/>
        </p:nvGraphicFramePr>
        <p:xfrm>
          <a:off x="548640" y="2148840"/>
          <a:ext cx="6675120" cy="2194560"/>
        </p:xfrm>
        <a:graphic>
          <a:graphicData uri="http://schemas.openxmlformats.org/drawingml/2006/table">
            <a:tbl>
              <a:tblPr firstRow="0" bandRow="0">
                <a:tableStyleId>{5C22544A-7EE6-4342-B048-85BDC9FD1C3A}</a:tableStyleId>
              </a:tblPr>
              <a:tblGrid>
                <a:gridCol w="2560320"/>
                <a:gridCol w="1371600"/>
                <a:gridCol w="1737360"/>
                <a:gridCol w="1005840"/>
              </a:tblGrid>
              <a:tr h="365760">
                <a:tc>
                  <a:txBody>
                    <a:bodyPr wrap="square"/>
                    <a:lstStyle/>
                    <a:p>
                      <a:pPr rtl="1" algn="ctr">
                        <a:spcBef>
                          <a:spcPts val="0"/>
                        </a:spcBef>
                        <a:spcAft>
                          <a:spcPts val="0"/>
                        </a:spcAft>
                      </a:pPr>
                      <a:r>
                        <a:rPr sz="1200" b="1" i="0">
                          <a:solidFill>
                            <a:srgbClr val="FF6FA5"/>
                          </a:solidFill>
                          <a:latin typeface="Arial"/>
                          <a:cs typeface="Arial"/>
                        </a:rPr>
                        <a:t>کلاس</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00" b="1" i="0">
                          <a:solidFill>
                            <a:srgbClr val="FF6FA5"/>
                          </a:solidFill>
                          <a:latin typeface="Arial"/>
                          <a:cs typeface="Arial"/>
                        </a:rPr>
                        <a:t>ویدیوی واقعی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00" b="1" i="0">
                          <a:solidFill>
                            <a:srgbClr val="FF6FA5"/>
                          </a:solidFill>
                          <a:latin typeface="Arial"/>
                          <a:cs typeface="Arial"/>
                        </a:rPr>
                        <a:t>چند بار پیش‌بینی شد</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00" b="1" i="0">
                          <a:solidFill>
                            <a:srgbClr val="FF6FA5"/>
                          </a:solidFill>
                          <a:latin typeface="Arial"/>
                          <a:cs typeface="Arial"/>
                        </a:rPr>
                        <a:t>نسبت</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r>
              <a:tr h="365760">
                <a:tc>
                  <a:txBody>
                    <a:bodyPr wrap="square"/>
                    <a:lstStyle/>
                    <a:p>
                      <a:pPr rtl="1" algn="r">
                        <a:spcBef>
                          <a:spcPts val="0"/>
                        </a:spcBef>
                        <a:spcAft>
                          <a:spcPts val="0"/>
                        </a:spcAft>
                      </a:pPr>
                      <a:r>
                        <a:rPr sz="1200" b="1" i="0">
                          <a:solidFill>
                            <a:srgbClr val="FFA0C4"/>
                          </a:solidFill>
                          <a:latin typeface="Arial"/>
                          <a:cs typeface="Arial"/>
                        </a:rPr>
                        <a:t>Fighting — درگیری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200" b="1" i="0">
                          <a:solidFill>
                            <a:srgbClr val="FFA0C4"/>
                          </a:solidFill>
                          <a:latin typeface="Arial"/>
                          <a:cs typeface="Arial"/>
                        </a:rPr>
                        <a:t>8</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200" b="1" i="0">
                          <a:solidFill>
                            <a:srgbClr val="FFA0C4"/>
                          </a:solidFill>
                          <a:latin typeface="Arial"/>
                          <a:cs typeface="Arial"/>
                        </a:rPr>
                        <a:t>2</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200" b="1" i="0">
                          <a:solidFill>
                            <a:srgbClr val="FFA0C4"/>
                          </a:solidFill>
                          <a:latin typeface="Arial"/>
                          <a:cs typeface="Arial"/>
                        </a:rPr>
                        <a:t>0.25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r>
              <a:tr h="365760">
                <a:tc>
                  <a:txBody>
                    <a:bodyPr wrap="square"/>
                    <a:lstStyle/>
                    <a:p>
                      <a:pPr rtl="1" algn="r">
                        <a:spcBef>
                          <a:spcPts val="0"/>
                        </a:spcBef>
                        <a:spcAft>
                          <a:spcPts val="0"/>
                        </a:spcAft>
                      </a:pPr>
                      <a:r>
                        <a:rPr sz="1200" b="0" i="0">
                          <a:solidFill>
                            <a:srgbClr val="F0DCE6"/>
                          </a:solidFill>
                          <a:latin typeface="Arial"/>
                          <a:cs typeface="Arial"/>
                        </a:rPr>
                        <a:t>Assault — تعرض</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8</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3</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0.38</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65760">
                <a:tc>
                  <a:txBody>
                    <a:bodyPr wrap="square"/>
                    <a:lstStyle/>
                    <a:p>
                      <a:pPr rtl="1" algn="r">
                        <a:spcBef>
                          <a:spcPts val="0"/>
                        </a:spcBef>
                        <a:spcAft>
                          <a:spcPts val="0"/>
                        </a:spcAft>
                      </a:pPr>
                      <a:r>
                        <a:rPr sz="1200" b="0" i="0">
                          <a:solidFill>
                            <a:srgbClr val="F0DCE6"/>
                          </a:solidFill>
                          <a:latin typeface="Arial"/>
                          <a:cs typeface="Arial"/>
                        </a:rPr>
                        <a:t>Vandalism — تخریب</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8</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0.62</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65760">
                <a:tc>
                  <a:txBody>
                    <a:bodyPr wrap="square"/>
                    <a:lstStyle/>
                    <a:p>
                      <a:pPr rtl="1" algn="r">
                        <a:spcBef>
                          <a:spcPts val="0"/>
                        </a:spcBef>
                        <a:spcAft>
                          <a:spcPts val="0"/>
                        </a:spcAft>
                      </a:pPr>
                      <a:r>
                        <a:rPr sz="1200" b="0" i="0">
                          <a:solidFill>
                            <a:srgbClr val="F0DCE6"/>
                          </a:solidFill>
                          <a:latin typeface="Arial"/>
                          <a:cs typeface="Arial"/>
                        </a:rPr>
                        <a:t>Stealing — دزدی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15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20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1.33</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65760">
                <a:tc>
                  <a:txBody>
                    <a:bodyPr wrap="square"/>
                    <a:lstStyle/>
                    <a:p>
                      <a:pPr rtl="1" algn="r">
                        <a:spcBef>
                          <a:spcPts val="0"/>
                        </a:spcBef>
                        <a:spcAft>
                          <a:spcPts val="0"/>
                        </a:spcAft>
                      </a:pPr>
                      <a:r>
                        <a:rPr sz="1200" b="0" i="0">
                          <a:solidFill>
                            <a:srgbClr val="F0DCE6"/>
                          </a:solidFill>
                          <a:latin typeface="Arial"/>
                          <a:cs typeface="Arial"/>
                        </a:rPr>
                        <a:t>RoadAccidents — تصادف</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23</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39</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1.70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bl>
          </a:graphicData>
        </a:graphic>
      </p:graphicFrame>
      <p:sp>
        <p:nvSpPr>
          <p:cNvPr id="6" name="Rounded Rectangle 5"/>
          <p:cNvSpPr/>
          <p:nvPr/>
        </p:nvSpPr>
        <p:spPr>
          <a:xfrm>
            <a:off x="7498079" y="2148840"/>
            <a:ext cx="4114800" cy="1874519"/>
          </a:xfrm>
          <a:prstGeom prst="round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0" y="2313432"/>
            <a:ext cx="356616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FF6FA5"/>
                </a:solidFill>
                <a:latin typeface="Arial"/>
                <a:cs typeface="Arial"/>
              </a:rPr>
              <a:t>تشخیص</a:t>
            </a:r>
          </a:p>
        </p:txBody>
      </p:sp>
      <p:sp>
        <p:nvSpPr>
          <p:cNvPr id="8" name="TextBox 7"/>
          <p:cNvSpPr txBox="1"/>
          <p:nvPr/>
        </p:nvSpPr>
        <p:spPr>
          <a:xfrm>
            <a:off x="7772400" y="2697480"/>
            <a:ext cx="3566160" cy="118872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F0DCE6"/>
                </a:solidFill>
                <a:latin typeface="Arial"/>
                <a:cs typeface="Arial"/>
              </a:rPr>
              <a:t>مدل روی درگیری شکست نخورده بود. یاد گرفته بود هرگز نگوید درگیری، چون گفتنش شرط‌بندی بدی بود.</a:t>
            </a:r>
          </a:p>
        </p:txBody>
      </p:sp>
      <p:sp>
        <p:nvSpPr>
          <p:cNvPr id="9" name="TextBox 8"/>
          <p:cNvSpPr txBox="1"/>
          <p:nvPr/>
        </p:nvSpPr>
        <p:spPr>
          <a:xfrm>
            <a:off x="548640" y="4206240"/>
            <a:ext cx="1106424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FBEEF4"/>
                </a:solidFill>
                <a:latin typeface="Arial"/>
                <a:cs typeface="Arial"/>
              </a:rPr>
              <a:t>علت ریشه‌ای</a:t>
            </a:r>
          </a:p>
        </p:txBody>
      </p:sp>
      <p:sp>
        <p:nvSpPr>
          <p:cNvPr id="10" name="TextBox 9"/>
          <p:cNvSpPr txBox="1"/>
          <p:nvPr/>
        </p:nvSpPr>
        <p:spPr>
          <a:xfrm>
            <a:off x="548640" y="4663440"/>
            <a:ext cx="11064240" cy="1426464"/>
          </a:xfrm>
          <a:prstGeom prst="rect">
            <a:avLst/>
          </a:prstGeom>
          <a:noFill/>
        </p:spPr>
        <p:txBody>
          <a:bodyPr wrap="square" anchor="t" lIns="0" rIns="0" tIns="0" bIns="0">
            <a:spAutoFit/>
          </a:bodyPr>
          <a:lstStyle/>
          <a:p>
            <a:pPr rtl="1" algn="r">
              <a:lnSpc>
                <a:spcPts val="1900"/>
              </a:lnSpc>
              <a:spcBef>
                <a:spcPts val="0"/>
              </a:spcBef>
              <a:spcAft>
                <a:spcPts val="700"/>
              </a:spcAft>
            </a:pPr>
            <a:r>
              <a:rPr sz="1300" b="0" i="0">
                <a:solidFill>
                  <a:srgbClr val="F0DCE6"/>
                </a:solidFill>
                <a:latin typeface="Arial"/>
                <a:cs typeface="Arial"/>
              </a:rPr>
              <a:t>●  تابع وزن‌دهی کلاس در کد وجود داشت ولی هیچ‌جا صدا زده نمی‌شد.</a:t>
            </a:r>
          </a:p>
          <a:p>
            <a:pPr rtl="1" algn="r">
              <a:lnSpc>
                <a:spcPts val="1900"/>
              </a:lnSpc>
              <a:spcBef>
                <a:spcPts val="0"/>
              </a:spcBef>
              <a:spcAft>
                <a:spcPts val="700"/>
              </a:spcAft>
            </a:pPr>
            <a:r>
              <a:rPr sz="1300" b="0" i="0">
                <a:solidFill>
                  <a:srgbClr val="F0DCE6"/>
                </a:solidFill>
                <a:latin typeface="Arial"/>
                <a:cs typeface="Arial"/>
              </a:rPr>
              <a:t>●  وزن‌ها همه‌جا ۱٫۰ بودند؛ کلاس عادی حدود ۱۹ برابر کلاس درگیری گرادیان تولید می‌کرد.</a:t>
            </a:r>
          </a:p>
          <a:p>
            <a:pPr rtl="1" algn="r">
              <a:lnSpc>
                <a:spcPts val="1900"/>
              </a:lnSpc>
              <a:spcBef>
                <a:spcPts val="0"/>
              </a:spcBef>
              <a:spcAft>
                <a:spcPts val="700"/>
              </a:spcAft>
            </a:pPr>
            <a:r>
              <a:rPr sz="1300" b="0" i="0">
                <a:solidFill>
                  <a:srgbClr val="F0DCE6"/>
                </a:solidFill>
                <a:latin typeface="Arial"/>
                <a:cs typeface="Arial"/>
              </a:rPr>
              <a:t>●  با وزن‌دهی معکوس فراوانی آن نسبت به ۳٫۶ رسید و درگیری ۹ بار پیش‌بینی شد به‌جای ۲ بار.</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FBEEF4"/>
                </a:solidFill>
                <a:latin typeface="Arial"/>
                <a:cs typeface="Arial"/>
              </a:rPr>
              <a:t>محدودیت بنیادی: هندسه فضای متنی</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FF6FA5"/>
                </a:solidFill>
                <a:latin typeface="Arial"/>
                <a:cs typeface="Arial"/>
              </a:rPr>
              <a:t>مسیر اول</a:t>
            </a:r>
          </a:p>
        </p:txBody>
      </p:sp>
      <p:sp>
        <p:nvSpPr>
          <p:cNvPr id="4" name="TextBox 3"/>
          <p:cNvSpPr txBox="1"/>
          <p:nvPr/>
        </p:nvSpPr>
        <p:spPr>
          <a:xfrm>
            <a:off x="548640" y="1627632"/>
            <a:ext cx="11064240" cy="365760"/>
          </a:xfrm>
          <a:prstGeom prst="rect">
            <a:avLst/>
          </a:prstGeom>
          <a:noFill/>
        </p:spPr>
        <p:txBody>
          <a:bodyPr wrap="square" anchor="t" lIns="0" rIns="0" tIns="0" bIns="0">
            <a:spAutoFit/>
          </a:bodyPr>
          <a:lstStyle/>
          <a:p>
            <a:pPr rtl="1" algn="r">
              <a:spcBef>
                <a:spcPts val="0"/>
              </a:spcBef>
              <a:spcAft>
                <a:spcPts val="0"/>
              </a:spcAft>
            </a:pPr>
            <a:r>
              <a:rPr sz="1400" b="0" i="0">
                <a:solidFill>
                  <a:srgbClr val="F0DCE6"/>
                </a:solidFill>
                <a:latin typeface="Arial"/>
                <a:cs typeface="Arial"/>
              </a:rPr>
              <a:t>اسم خام کلاس‌ها در فضای زبانی CLIP تقریباً هم‌راستا هستند و سقفی مستقل از کیفیت تصویری تحمیل می‌کنند.</a:t>
            </a:r>
          </a:p>
        </p:txBody>
      </p:sp>
      <p:graphicFrame>
        <p:nvGraphicFramePr>
          <p:cNvPr id="5" name="Table 4"/>
          <p:cNvGraphicFramePr>
            <a:graphicFrameLocks noGrp="1"/>
          </p:cNvGraphicFramePr>
          <p:nvPr/>
        </p:nvGraphicFramePr>
        <p:xfrm>
          <a:off x="548640" y="2148840"/>
          <a:ext cx="5029200" cy="1920240"/>
        </p:xfrm>
        <a:graphic>
          <a:graphicData uri="http://schemas.openxmlformats.org/drawingml/2006/table">
            <a:tbl>
              <a:tblPr firstRow="0" bandRow="0">
                <a:tableStyleId>{5C22544A-7EE6-4342-B048-85BDC9FD1C3A}</a:tableStyleId>
              </a:tblPr>
              <a:tblGrid>
                <a:gridCol w="3200400"/>
                <a:gridCol w="1828800"/>
              </a:tblGrid>
              <a:tr h="384048">
                <a:tc>
                  <a:txBody>
                    <a:bodyPr wrap="square"/>
                    <a:lstStyle/>
                    <a:p>
                      <a:pPr rtl="1" algn="ctr">
                        <a:spcBef>
                          <a:spcPts val="0"/>
                        </a:spcBef>
                        <a:spcAft>
                          <a:spcPts val="0"/>
                        </a:spcAft>
                      </a:pPr>
                      <a:r>
                        <a:rPr sz="1300" b="1" i="0">
                          <a:solidFill>
                            <a:srgbClr val="FF6FA5"/>
                          </a:solidFill>
                          <a:latin typeface="Arial"/>
                          <a:cs typeface="Arial"/>
                        </a:rPr>
                        <a:t>جفت کلاس</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300" b="1" i="0">
                          <a:solidFill>
                            <a:srgbClr val="FF6FA5"/>
                          </a:solidFill>
                          <a:latin typeface="Arial"/>
                          <a:cs typeface="Arial"/>
                        </a:rPr>
                        <a:t>شباهت کسینوسی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r>
              <a:tr h="384048">
                <a:tc>
                  <a:txBody>
                    <a:bodyPr wrap="square"/>
                    <a:lstStyle/>
                    <a:p>
                      <a:pPr rtl="1" algn="r">
                        <a:spcBef>
                          <a:spcPts val="0"/>
                        </a:spcBef>
                        <a:spcAft>
                          <a:spcPts val="0"/>
                        </a:spcAft>
                      </a:pPr>
                      <a:r>
                        <a:rPr sz="1300" b="0" i="0">
                          <a:solidFill>
                            <a:srgbClr val="F0DCE6"/>
                          </a:solidFill>
                          <a:latin typeface="Arial"/>
                          <a:cs typeface="Arial"/>
                        </a:rPr>
                        <a:t>Abuse  /  Stealing</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300" b="0" i="0">
                          <a:solidFill>
                            <a:srgbClr val="F0DCE6"/>
                          </a:solidFill>
                          <a:latin typeface="Arial"/>
                          <a:cs typeface="Arial"/>
                        </a:rPr>
                        <a:t>0.91</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84048">
                <a:tc>
                  <a:txBody>
                    <a:bodyPr wrap="square"/>
                    <a:lstStyle/>
                    <a:p>
                      <a:pPr rtl="1" algn="r">
                        <a:spcBef>
                          <a:spcPts val="0"/>
                        </a:spcBef>
                        <a:spcAft>
                          <a:spcPts val="0"/>
                        </a:spcAft>
                      </a:pPr>
                      <a:r>
                        <a:rPr sz="1300" b="0" i="0">
                          <a:solidFill>
                            <a:srgbClr val="F0DCE6"/>
                          </a:solidFill>
                          <a:latin typeface="Arial"/>
                          <a:cs typeface="Arial"/>
                        </a:rPr>
                        <a:t>Assault  /  Arrest</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300" b="0" i="0">
                          <a:solidFill>
                            <a:srgbClr val="F0DCE6"/>
                          </a:solidFill>
                          <a:latin typeface="Arial"/>
                          <a:cs typeface="Arial"/>
                        </a:rPr>
                        <a:t>0.91</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84048">
                <a:tc>
                  <a:txBody>
                    <a:bodyPr wrap="square"/>
                    <a:lstStyle/>
                    <a:p>
                      <a:pPr rtl="1" algn="r">
                        <a:spcBef>
                          <a:spcPts val="0"/>
                        </a:spcBef>
                        <a:spcAft>
                          <a:spcPts val="0"/>
                        </a:spcAft>
                      </a:pPr>
                      <a:r>
                        <a:rPr sz="1300" b="0" i="0">
                          <a:solidFill>
                            <a:srgbClr val="F0DCE6"/>
                          </a:solidFill>
                          <a:latin typeface="Arial"/>
                          <a:cs typeface="Arial"/>
                        </a:rPr>
                        <a:t>Fighting  /  Shooting</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300" b="0" i="0">
                          <a:solidFill>
                            <a:srgbClr val="F0DCE6"/>
                          </a:solidFill>
                          <a:latin typeface="Arial"/>
                          <a:cs typeface="Arial"/>
                        </a:rPr>
                        <a:t>0.90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84048">
                <a:tc>
                  <a:txBody>
                    <a:bodyPr wrap="square"/>
                    <a:lstStyle/>
                    <a:p>
                      <a:pPr rtl="1" algn="r">
                        <a:spcBef>
                          <a:spcPts val="0"/>
                        </a:spcBef>
                        <a:spcAft>
                          <a:spcPts val="0"/>
                        </a:spcAft>
                      </a:pPr>
                      <a:r>
                        <a:rPr sz="1300" b="1" i="0">
                          <a:solidFill>
                            <a:srgbClr val="FFA0C4"/>
                          </a:solidFill>
                          <a:latin typeface="Arial"/>
                          <a:cs typeface="Arial"/>
                        </a:rPr>
                        <a:t>میانگین همه جفت‌ها</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300" b="1" i="0">
                          <a:solidFill>
                            <a:srgbClr val="FFA0C4"/>
                          </a:solidFill>
                          <a:latin typeface="Arial"/>
                          <a:cs typeface="Arial"/>
                        </a:rPr>
                        <a:t>0.83</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r>
            </a:tbl>
          </a:graphicData>
        </a:graphic>
      </p:graphicFrame>
      <p:sp>
        <p:nvSpPr>
          <p:cNvPr id="6" name="Rounded Rectangle 5"/>
          <p:cNvSpPr/>
          <p:nvPr/>
        </p:nvSpPr>
        <p:spPr>
          <a:xfrm>
            <a:off x="5852160" y="2148840"/>
            <a:ext cx="5760720" cy="1874519"/>
          </a:xfrm>
          <a:prstGeom prst="round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126480" y="2313432"/>
            <a:ext cx="52120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FF6FA5"/>
                </a:solidFill>
                <a:latin typeface="Arial"/>
                <a:cs typeface="Arial"/>
              </a:rPr>
              <a:t>آزمایش تعیین‌کننده</a:t>
            </a:r>
          </a:p>
        </p:txBody>
      </p:sp>
      <p:sp>
        <p:nvSpPr>
          <p:cNvPr id="8" name="TextBox 7"/>
          <p:cNvSpPr txBox="1"/>
          <p:nvPr/>
        </p:nvSpPr>
        <p:spPr>
          <a:xfrm>
            <a:off x="6126480" y="2697480"/>
            <a:ext cx="5212080" cy="118872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F0DCE6"/>
                </a:solidFill>
                <a:latin typeface="Arial"/>
                <a:cs typeface="Arial"/>
              </a:rPr>
              <a:t>فرض کنید بخش تصویری کاملاً بی‌نقص باشد، یعنی بردار ویدیو دقیقاً برابر بردار کلاس خودش. در این حالت آرمانی، احتمال کلاس درست تنها ۰٫۴۴ درمی‌آید.</a:t>
            </a:r>
          </a:p>
        </p:txBody>
      </p:sp>
      <p:sp>
        <p:nvSpPr>
          <p:cNvPr id="9" name="TextBox 8"/>
          <p:cNvSpPr txBox="1"/>
          <p:nvPr/>
        </p:nvSpPr>
        <p:spPr>
          <a:xfrm>
            <a:off x="548640" y="4206240"/>
            <a:ext cx="1106424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FBEEF4"/>
                </a:solidFill>
                <a:latin typeface="Arial"/>
                <a:cs typeface="Arial"/>
              </a:rPr>
              <a:t>راه حل: توصیف بصری به‌جای اسم حقوقی</a:t>
            </a:r>
          </a:p>
        </p:txBody>
      </p:sp>
      <p:sp>
        <p:nvSpPr>
          <p:cNvPr id="10" name="Rounded Rectangle 9"/>
          <p:cNvSpPr/>
          <p:nvPr/>
        </p:nvSpPr>
        <p:spPr>
          <a:xfrm>
            <a:off x="548640" y="4663440"/>
            <a:ext cx="5486400" cy="1280160"/>
          </a:xfrm>
          <a:prstGeom prst="round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22960" y="4800600"/>
            <a:ext cx="493776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B58FA2"/>
                </a:solidFill>
                <a:latin typeface="Arial"/>
                <a:cs typeface="Arial"/>
              </a:rPr>
              <a:t>پیش از تغییر</a:t>
            </a:r>
          </a:p>
        </p:txBody>
      </p:sp>
      <p:sp>
        <p:nvSpPr>
          <p:cNvPr id="12" name="TextBox 11"/>
          <p:cNvSpPr txBox="1"/>
          <p:nvPr/>
        </p:nvSpPr>
        <p:spPr>
          <a:xfrm>
            <a:off x="822960" y="5120640"/>
            <a:ext cx="4937760" cy="365760"/>
          </a:xfrm>
          <a:prstGeom prst="rect">
            <a:avLst/>
          </a:prstGeom>
          <a:noFill/>
        </p:spPr>
        <p:txBody>
          <a:bodyPr wrap="square" anchor="t" lIns="0" rIns="0" tIns="0" bIns="0">
            <a:spAutoFit/>
          </a:bodyPr>
          <a:lstStyle/>
          <a:p>
            <a:pPr rtl="0" algn="r">
              <a:spcBef>
                <a:spcPts val="0"/>
              </a:spcBef>
              <a:spcAft>
                <a:spcPts val="0"/>
              </a:spcAft>
            </a:pPr>
            <a:r>
              <a:rPr sz="1600" b="1" i="0">
                <a:solidFill>
                  <a:srgbClr val="FF8A80"/>
                </a:solidFill>
                <a:latin typeface="Arial"/>
                <a:cs typeface="Arial"/>
              </a:rPr>
              <a:t>"Burglary"</a:t>
            </a:r>
          </a:p>
        </p:txBody>
      </p:sp>
      <p:sp>
        <p:nvSpPr>
          <p:cNvPr id="13" name="TextBox 12"/>
          <p:cNvSpPr txBox="1"/>
          <p:nvPr/>
        </p:nvSpPr>
        <p:spPr>
          <a:xfrm>
            <a:off x="822960" y="5532120"/>
            <a:ext cx="493776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F0DCE6"/>
                </a:solidFill>
                <a:latin typeface="Arial"/>
                <a:cs typeface="Arial"/>
              </a:rPr>
              <a:t>سقف اندازه‌گیری‌شده: 0.44</a:t>
            </a:r>
          </a:p>
        </p:txBody>
      </p:sp>
      <p:sp>
        <p:nvSpPr>
          <p:cNvPr id="14" name="Rounded Rectangle 13"/>
          <p:cNvSpPr/>
          <p:nvPr/>
        </p:nvSpPr>
        <p:spPr>
          <a:xfrm>
            <a:off x="6309360" y="4663440"/>
            <a:ext cx="5303520" cy="1280160"/>
          </a:xfrm>
          <a:prstGeom prst="roundRect">
            <a:avLst/>
          </a:prstGeom>
          <a:solidFill>
            <a:srgbClr val="1F3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583680" y="4800600"/>
            <a:ext cx="475488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B58FA2"/>
                </a:solidFill>
                <a:latin typeface="Arial"/>
                <a:cs typeface="Arial"/>
              </a:rPr>
              <a:t>پس از تغییر</a:t>
            </a:r>
          </a:p>
        </p:txBody>
      </p:sp>
      <p:sp>
        <p:nvSpPr>
          <p:cNvPr id="16" name="TextBox 15"/>
          <p:cNvSpPr txBox="1"/>
          <p:nvPr/>
        </p:nvSpPr>
        <p:spPr>
          <a:xfrm>
            <a:off x="6583680" y="5120640"/>
            <a:ext cx="4754880" cy="365760"/>
          </a:xfrm>
          <a:prstGeom prst="rect">
            <a:avLst/>
          </a:prstGeom>
          <a:noFill/>
        </p:spPr>
        <p:txBody>
          <a:bodyPr wrap="square" anchor="t" lIns="0" rIns="0" tIns="0" bIns="0">
            <a:spAutoFit/>
          </a:bodyPr>
          <a:lstStyle/>
          <a:p>
            <a:pPr rtl="0" algn="r">
              <a:spcBef>
                <a:spcPts val="0"/>
              </a:spcBef>
              <a:spcAft>
                <a:spcPts val="0"/>
              </a:spcAft>
            </a:pPr>
            <a:r>
              <a:rPr sz="1150" b="1" i="0">
                <a:solidFill>
                  <a:srgbClr val="7FD8C0"/>
                </a:solidFill>
                <a:latin typeface="Arial"/>
                <a:cs typeface="Arial"/>
              </a:rPr>
              <a:t>"a burglar climbing through a broken window"</a:t>
            </a:r>
          </a:p>
        </p:txBody>
      </p:sp>
      <p:sp>
        <p:nvSpPr>
          <p:cNvPr id="17" name="TextBox 16"/>
          <p:cNvSpPr txBox="1"/>
          <p:nvPr/>
        </p:nvSpPr>
        <p:spPr>
          <a:xfrm>
            <a:off x="6583680" y="5532120"/>
            <a:ext cx="475488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F0DCE6"/>
                </a:solidFill>
                <a:latin typeface="Arial"/>
                <a:cs typeface="Arial"/>
              </a:rPr>
              <a:t>سقف اندازه‌گیری‌شده: 0.86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FBEEF4"/>
                </a:solidFill>
                <a:latin typeface="Arial"/>
                <a:cs typeface="Arial"/>
              </a:rPr>
              <a:t>نتایج مسیر اول</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FF6FA5"/>
                </a:solidFill>
                <a:latin typeface="Arial"/>
                <a:cs typeface="Arial"/>
              </a:rPr>
              <a:t>مسیر اول</a:t>
            </a:r>
          </a:p>
        </p:txBody>
      </p:sp>
      <p:graphicFrame>
        <p:nvGraphicFramePr>
          <p:cNvPr id="4" name="Table 3"/>
          <p:cNvGraphicFramePr>
            <a:graphicFrameLocks noGrp="1"/>
          </p:cNvGraphicFramePr>
          <p:nvPr/>
        </p:nvGraphicFramePr>
        <p:xfrm>
          <a:off x="548640" y="1691640"/>
          <a:ext cx="11064240" cy="1609344"/>
        </p:xfrm>
        <a:graphic>
          <a:graphicData uri="http://schemas.openxmlformats.org/drawingml/2006/table">
            <a:tbl>
              <a:tblPr firstRow="0" bandRow="0">
                <a:tableStyleId>{5C22544A-7EE6-4342-B048-85BDC9FD1C3A}</a:tableStyleId>
              </a:tblPr>
              <a:tblGrid>
                <a:gridCol w="4480560"/>
                <a:gridCol w="1645920"/>
                <a:gridCol w="1645920"/>
                <a:gridCol w="1645920"/>
                <a:gridCol w="1645920"/>
              </a:tblGrid>
              <a:tr h="402336">
                <a:tc>
                  <a:txBody>
                    <a:bodyPr wrap="square"/>
                    <a:lstStyle/>
                    <a:p>
                      <a:pPr rtl="1" algn="ctr">
                        <a:spcBef>
                          <a:spcPts val="0"/>
                        </a:spcBef>
                        <a:spcAft>
                          <a:spcPts val="0"/>
                        </a:spcAft>
                      </a:pPr>
                      <a:r>
                        <a:rPr sz="1250" b="1" i="0">
                          <a:solidFill>
                            <a:srgbClr val="FF6FA5"/>
                          </a:solidFill>
                          <a:latin typeface="Arial"/>
                          <a:cs typeface="Arial"/>
                        </a:rPr>
                        <a:t>پیکربندی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50" b="1" i="0">
                          <a:solidFill>
                            <a:srgbClr val="FF6FA5"/>
                          </a:solidFill>
                          <a:latin typeface="Arial"/>
                          <a:cs typeface="Arial"/>
                        </a:rPr>
                        <a:t>AUC دودویی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50" b="1" i="0">
                          <a:solidFill>
                            <a:srgbClr val="FF6FA5"/>
                          </a:solidFill>
                          <a:latin typeface="Arial"/>
                          <a:cs typeface="Arial"/>
                        </a:rPr>
                        <a:t>ماکرو F1</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50" b="1" i="0">
                          <a:solidFill>
                            <a:srgbClr val="FF6FA5"/>
                          </a:solidFill>
                          <a:latin typeface="Arial"/>
                          <a:cs typeface="Arial"/>
                        </a:rPr>
                        <a:t>صحت نوع</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50" b="1" i="0">
                          <a:solidFill>
                            <a:srgbClr val="FF6FA5"/>
                          </a:solidFill>
                          <a:latin typeface="Arial"/>
                          <a:cs typeface="Arial"/>
                        </a:rPr>
                        <a:t>صحت کلی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r>
              <a:tr h="402336">
                <a:tc>
                  <a:txBody>
                    <a:bodyPr wrap="square"/>
                    <a:lstStyle/>
                    <a:p>
                      <a:pPr rtl="1" algn="r">
                        <a:spcBef>
                          <a:spcPts val="0"/>
                        </a:spcBef>
                        <a:spcAft>
                          <a:spcPts val="0"/>
                        </a:spcAft>
                      </a:pPr>
                      <a:r>
                        <a:rPr sz="1250" b="0" i="0">
                          <a:solidFill>
                            <a:srgbClr val="F0DCE6"/>
                          </a:solidFill>
                          <a:latin typeface="Arial"/>
                          <a:cs typeface="Arial"/>
                        </a:rPr>
                        <a:t>اجرای پایه — اسم خام، وزن دستی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50" b="0" i="0">
                          <a:solidFill>
                            <a:srgbClr val="F0DCE6"/>
                          </a:solidFill>
                          <a:latin typeface="Arial"/>
                          <a:cs typeface="Arial"/>
                        </a:rPr>
                        <a:t>0.9473</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50" b="0" i="0">
                          <a:solidFill>
                            <a:srgbClr val="F0DCE6"/>
                          </a:solidFill>
                          <a:latin typeface="Arial"/>
                          <a:cs typeface="Arial"/>
                        </a:rPr>
                        <a:t>0.3327</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50" b="0" i="0">
                          <a:solidFill>
                            <a:srgbClr val="F0DCE6"/>
                          </a:solidFill>
                          <a:latin typeface="Arial"/>
                          <a:cs typeface="Arial"/>
                        </a:rPr>
                        <a:t>0.3716</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50" b="0" i="0">
                          <a:solidFill>
                            <a:srgbClr val="F0DCE6"/>
                          </a:solidFill>
                          <a:latin typeface="Arial"/>
                          <a:cs typeface="Arial"/>
                        </a:rPr>
                        <a:t>0.6385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402336">
                <a:tc>
                  <a:txBody>
                    <a:bodyPr wrap="square"/>
                    <a:lstStyle/>
                    <a:p>
                      <a:pPr rtl="1" algn="r">
                        <a:spcBef>
                          <a:spcPts val="0"/>
                        </a:spcBef>
                        <a:spcAft>
                          <a:spcPts val="0"/>
                        </a:spcAft>
                      </a:pPr>
                      <a:r>
                        <a:rPr sz="1250" b="0" i="0">
                          <a:solidFill>
                            <a:srgbClr val="F0DCE6"/>
                          </a:solidFill>
                          <a:latin typeface="Arial"/>
                          <a:cs typeface="Arial"/>
                        </a:rPr>
                        <a:t>توصیف بصری + وزن معکوس فراوانی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50" b="0" i="0">
                          <a:solidFill>
                            <a:srgbClr val="F0DCE6"/>
                          </a:solidFill>
                          <a:latin typeface="Arial"/>
                          <a:cs typeface="Arial"/>
                        </a:rPr>
                        <a:t>0.9637</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50" b="0" i="0">
                          <a:solidFill>
                            <a:srgbClr val="F0DCE6"/>
                          </a:solidFill>
                          <a:latin typeface="Arial"/>
                          <a:cs typeface="Arial"/>
                        </a:rPr>
                        <a:t>0.3713</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50" b="0" i="0">
                          <a:solidFill>
                            <a:srgbClr val="F0DCE6"/>
                          </a:solidFill>
                          <a:latin typeface="Arial"/>
                          <a:cs typeface="Arial"/>
                        </a:rPr>
                        <a:t>0.4054</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50" b="0" i="0">
                          <a:solidFill>
                            <a:srgbClr val="F0DCE6"/>
                          </a:solidFill>
                          <a:latin typeface="Arial"/>
                          <a:cs typeface="Arial"/>
                        </a:rPr>
                        <a:t>0.6351</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402336">
                <a:tc>
                  <a:txBody>
                    <a:bodyPr wrap="square"/>
                    <a:lstStyle/>
                    <a:p>
                      <a:pPr rtl="1" algn="r">
                        <a:spcBef>
                          <a:spcPts val="0"/>
                        </a:spcBef>
                        <a:spcAft>
                          <a:spcPts val="0"/>
                        </a:spcAft>
                      </a:pPr>
                      <a:r>
                        <a:rPr sz="1250" b="1" i="0">
                          <a:solidFill>
                            <a:srgbClr val="FFA0C4"/>
                          </a:solidFill>
                          <a:latin typeface="Arial"/>
                          <a:cs typeface="Arial"/>
                        </a:rPr>
                        <a:t>افزودن چهار نمای زمانی در آزمون</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250" b="1" i="0">
                          <a:solidFill>
                            <a:srgbClr val="FFA0C4"/>
                          </a:solidFill>
                          <a:latin typeface="Arial"/>
                          <a:cs typeface="Arial"/>
                        </a:rPr>
                        <a:t>0.9629</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250" b="1" i="0">
                          <a:solidFill>
                            <a:srgbClr val="FFA0C4"/>
                          </a:solidFill>
                          <a:latin typeface="Arial"/>
                          <a:cs typeface="Arial"/>
                        </a:rPr>
                        <a:t>0.3881</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250" b="1" i="0">
                          <a:solidFill>
                            <a:srgbClr val="FFA0C4"/>
                          </a:solidFill>
                          <a:latin typeface="Arial"/>
                          <a:cs typeface="Arial"/>
                        </a:rPr>
                        <a:t>0.4257</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250" b="1" i="0">
                          <a:solidFill>
                            <a:srgbClr val="FFA0C4"/>
                          </a:solidFill>
                          <a:latin typeface="Arial"/>
                          <a:cs typeface="Arial"/>
                        </a:rPr>
                        <a:t>0.6419</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r>
            </a:tbl>
          </a:graphicData>
        </a:graphic>
      </p:graphicFrame>
      <p:sp>
        <p:nvSpPr>
          <p:cNvPr id="5" name="TextBox 4"/>
          <p:cNvSpPr txBox="1"/>
          <p:nvPr/>
        </p:nvSpPr>
        <p:spPr>
          <a:xfrm>
            <a:off x="548640" y="3611880"/>
            <a:ext cx="5486400" cy="365760"/>
          </a:xfrm>
          <a:prstGeom prst="rect">
            <a:avLst/>
          </a:prstGeom>
          <a:noFill/>
        </p:spPr>
        <p:txBody>
          <a:bodyPr wrap="square" anchor="t" lIns="0" rIns="0" tIns="0" bIns="0">
            <a:spAutoFit/>
          </a:bodyPr>
          <a:lstStyle/>
          <a:p>
            <a:pPr rtl="1" algn="r">
              <a:spcBef>
                <a:spcPts val="0"/>
              </a:spcBef>
              <a:spcAft>
                <a:spcPts val="0"/>
              </a:spcAft>
            </a:pPr>
            <a:r>
              <a:rPr sz="1600" b="1" i="0">
                <a:solidFill>
                  <a:srgbClr val="FBEEF4"/>
                </a:solidFill>
                <a:latin typeface="Arial"/>
                <a:cs typeface="Arial"/>
              </a:rPr>
              <a:t>کلاس‌هایی که از مرگ برگشتند</a:t>
            </a:r>
          </a:p>
        </p:txBody>
      </p:sp>
      <p:graphicFrame>
        <p:nvGraphicFramePr>
          <p:cNvPr id="6" name="Table 5"/>
          <p:cNvGraphicFramePr>
            <a:graphicFrameLocks noGrp="1"/>
          </p:cNvGraphicFramePr>
          <p:nvPr/>
        </p:nvGraphicFramePr>
        <p:xfrm>
          <a:off x="548640" y="4069080"/>
          <a:ext cx="5486400" cy="1645920"/>
        </p:xfrm>
        <a:graphic>
          <a:graphicData uri="http://schemas.openxmlformats.org/drawingml/2006/table">
            <a:tbl>
              <a:tblPr firstRow="0" bandRow="0">
                <a:tableStyleId>{5C22544A-7EE6-4342-B048-85BDC9FD1C3A}</a:tableStyleId>
              </a:tblPr>
              <a:tblGrid>
                <a:gridCol w="2194560"/>
                <a:gridCol w="1645920"/>
                <a:gridCol w="1645920"/>
              </a:tblGrid>
              <a:tr h="329184">
                <a:tc>
                  <a:txBody>
                    <a:bodyPr wrap="square"/>
                    <a:lstStyle/>
                    <a:p>
                      <a:pPr rtl="1" algn="ctr">
                        <a:spcBef>
                          <a:spcPts val="0"/>
                        </a:spcBef>
                        <a:spcAft>
                          <a:spcPts val="0"/>
                        </a:spcAft>
                      </a:pPr>
                      <a:r>
                        <a:rPr sz="1150" b="1" i="0">
                          <a:solidFill>
                            <a:srgbClr val="FF6FA5"/>
                          </a:solidFill>
                          <a:latin typeface="Arial"/>
                          <a:cs typeface="Arial"/>
                        </a:rPr>
                        <a:t>کلاس</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150" b="1" i="0">
                          <a:solidFill>
                            <a:srgbClr val="FF6FA5"/>
                          </a:solidFill>
                          <a:latin typeface="Arial"/>
                          <a:cs typeface="Arial"/>
                        </a:rPr>
                        <a:t>F1 پیش از تغییر</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150" b="1" i="0">
                          <a:solidFill>
                            <a:srgbClr val="FF6FA5"/>
                          </a:solidFill>
                          <a:latin typeface="Arial"/>
                          <a:cs typeface="Arial"/>
                        </a:rPr>
                        <a:t>F1 پس از تغییر</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r>
              <a:tr h="329184">
                <a:tc>
                  <a:txBody>
                    <a:bodyPr wrap="square"/>
                    <a:lstStyle/>
                    <a:p>
                      <a:pPr rtl="1" algn="r">
                        <a:spcBef>
                          <a:spcPts val="0"/>
                        </a:spcBef>
                        <a:spcAft>
                          <a:spcPts val="0"/>
                        </a:spcAft>
                      </a:pPr>
                      <a:r>
                        <a:rPr sz="1150" b="0" i="0">
                          <a:solidFill>
                            <a:srgbClr val="F0DCE6"/>
                          </a:solidFill>
                          <a:latin typeface="Arial"/>
                          <a:cs typeface="Arial"/>
                        </a:rPr>
                        <a:t>Arrest — بازداشت</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50" b="0" i="0">
                          <a:solidFill>
                            <a:srgbClr val="F0DCE6"/>
                          </a:solidFill>
                          <a:latin typeface="Arial"/>
                          <a:cs typeface="Arial"/>
                        </a:rPr>
                        <a:t>0.000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50" b="0" i="0">
                          <a:solidFill>
                            <a:srgbClr val="F0DCE6"/>
                          </a:solidFill>
                          <a:latin typeface="Arial"/>
                          <a:cs typeface="Arial"/>
                        </a:rPr>
                        <a:t>0.556</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29184">
                <a:tc>
                  <a:txBody>
                    <a:bodyPr wrap="square"/>
                    <a:lstStyle/>
                    <a:p>
                      <a:pPr rtl="1" algn="r">
                        <a:spcBef>
                          <a:spcPts val="0"/>
                        </a:spcBef>
                        <a:spcAft>
                          <a:spcPts val="0"/>
                        </a:spcAft>
                      </a:pPr>
                      <a:r>
                        <a:rPr sz="1150" b="0" i="0">
                          <a:solidFill>
                            <a:srgbClr val="F0DCE6"/>
                          </a:solidFill>
                          <a:latin typeface="Arial"/>
                          <a:cs typeface="Arial"/>
                        </a:rPr>
                        <a:t>Abuse — سوءاستفاده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50" b="0" i="0">
                          <a:solidFill>
                            <a:srgbClr val="F0DCE6"/>
                          </a:solidFill>
                          <a:latin typeface="Arial"/>
                          <a:cs typeface="Arial"/>
                        </a:rPr>
                        <a:t>0.462</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50" b="0" i="0">
                          <a:solidFill>
                            <a:srgbClr val="F0DCE6"/>
                          </a:solidFill>
                          <a:latin typeface="Arial"/>
                          <a:cs typeface="Arial"/>
                        </a:rPr>
                        <a:t>0.714</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29184">
                <a:tc>
                  <a:txBody>
                    <a:bodyPr wrap="square"/>
                    <a:lstStyle/>
                    <a:p>
                      <a:pPr rtl="1" algn="r">
                        <a:spcBef>
                          <a:spcPts val="0"/>
                        </a:spcBef>
                        <a:spcAft>
                          <a:spcPts val="0"/>
                        </a:spcAft>
                      </a:pPr>
                      <a:r>
                        <a:rPr sz="1150" b="0" i="0">
                          <a:solidFill>
                            <a:srgbClr val="F0DCE6"/>
                          </a:solidFill>
                          <a:latin typeface="Arial"/>
                          <a:cs typeface="Arial"/>
                        </a:rPr>
                        <a:t>Stealing — دزدی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50" b="0" i="0">
                          <a:solidFill>
                            <a:srgbClr val="F0DCE6"/>
                          </a:solidFill>
                          <a:latin typeface="Arial"/>
                          <a:cs typeface="Arial"/>
                        </a:rPr>
                        <a:t>0.200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50" b="0" i="0">
                          <a:solidFill>
                            <a:srgbClr val="F0DCE6"/>
                          </a:solidFill>
                          <a:latin typeface="Arial"/>
                          <a:cs typeface="Arial"/>
                        </a:rPr>
                        <a:t>0.350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29184">
                <a:tc>
                  <a:txBody>
                    <a:bodyPr wrap="square"/>
                    <a:lstStyle/>
                    <a:p>
                      <a:pPr rtl="1" algn="r">
                        <a:spcBef>
                          <a:spcPts val="0"/>
                        </a:spcBef>
                        <a:spcAft>
                          <a:spcPts val="0"/>
                        </a:spcAft>
                      </a:pPr>
                      <a:r>
                        <a:rPr sz="1150" b="0" i="0">
                          <a:solidFill>
                            <a:srgbClr val="F0DCE6"/>
                          </a:solidFill>
                          <a:latin typeface="Arial"/>
                          <a:cs typeface="Arial"/>
                        </a:rPr>
                        <a:t>Vandalism — تخریب</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50" b="0" i="0">
                          <a:solidFill>
                            <a:srgbClr val="F0DCE6"/>
                          </a:solidFill>
                          <a:latin typeface="Arial"/>
                          <a:cs typeface="Arial"/>
                        </a:rPr>
                        <a:t>0.000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50" b="0" i="0">
                          <a:solidFill>
                            <a:srgbClr val="F0DCE6"/>
                          </a:solidFill>
                          <a:latin typeface="Arial"/>
                          <a:cs typeface="Arial"/>
                        </a:rPr>
                        <a:t>0.167</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bl>
          </a:graphicData>
        </a:graphic>
      </p:graphicFrame>
      <p:sp>
        <p:nvSpPr>
          <p:cNvPr id="7" name="Rounded Rectangle 6"/>
          <p:cNvSpPr/>
          <p:nvPr/>
        </p:nvSpPr>
        <p:spPr>
          <a:xfrm>
            <a:off x="6400800" y="3611880"/>
            <a:ext cx="5212080" cy="2331720"/>
          </a:xfrm>
          <a:prstGeom prst="round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675120" y="3794760"/>
            <a:ext cx="466344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FF6FA5"/>
                </a:solidFill>
                <a:latin typeface="Arial"/>
                <a:cs typeface="Arial"/>
              </a:rPr>
              <a:t>چرا از این مسیر فاصله گرفتیم</a:t>
            </a:r>
          </a:p>
        </p:txBody>
      </p:sp>
      <p:sp>
        <p:nvSpPr>
          <p:cNvPr id="9" name="TextBox 8"/>
          <p:cNvSpPr txBox="1"/>
          <p:nvPr/>
        </p:nvSpPr>
        <p:spPr>
          <a:xfrm>
            <a:off x="6675120" y="4206240"/>
            <a:ext cx="4663440" cy="1426464"/>
          </a:xfrm>
          <a:prstGeom prst="rect">
            <a:avLst/>
          </a:prstGeom>
          <a:noFill/>
        </p:spPr>
        <p:txBody>
          <a:bodyPr wrap="square" anchor="t" lIns="0" rIns="0" tIns="0" bIns="0">
            <a:spAutoFit/>
          </a:bodyPr>
          <a:lstStyle/>
          <a:p>
            <a:pPr rtl="1" algn="r">
              <a:lnSpc>
                <a:spcPts val="1900"/>
              </a:lnSpc>
              <a:spcBef>
                <a:spcPts val="0"/>
              </a:spcBef>
              <a:spcAft>
                <a:spcPts val="700"/>
              </a:spcAft>
            </a:pPr>
            <a:r>
              <a:rPr sz="1200" b="0" i="0">
                <a:solidFill>
                  <a:srgbClr val="F0DCE6"/>
                </a:solidFill>
                <a:latin typeface="Arial"/>
                <a:cs typeface="Arial"/>
              </a:rPr>
              <a:t>●  هر پیکربندی حدود ۱۶ ساعت طول می‌کشید</a:t>
            </a:r>
          </a:p>
          <a:p>
            <a:pPr rtl="1" algn="r">
              <a:lnSpc>
                <a:spcPts val="1900"/>
              </a:lnSpc>
              <a:spcBef>
                <a:spcPts val="0"/>
              </a:spcBef>
              <a:spcAft>
                <a:spcPts val="700"/>
              </a:spcAft>
            </a:pPr>
            <a:r>
              <a:rPr sz="1200" b="0" i="0">
                <a:solidFill>
                  <a:srgbClr val="F0DCE6"/>
                </a:solidFill>
                <a:latin typeface="Arial"/>
                <a:cs typeface="Arial"/>
              </a:rPr>
              <a:t>●  با این هزینه، آزمون سیستماتیک فرضیه‌ها ناممکن بود</a:t>
            </a:r>
          </a:p>
          <a:p>
            <a:pPr rtl="1" algn="r">
              <a:lnSpc>
                <a:spcPts val="1900"/>
              </a:lnSpc>
              <a:spcBef>
                <a:spcPts val="0"/>
              </a:spcBef>
              <a:spcAft>
                <a:spcPts val="700"/>
              </a:spcAft>
            </a:pPr>
            <a:r>
              <a:rPr sz="1200" b="0" i="0">
                <a:solidFill>
                  <a:srgbClr val="F0DCE6"/>
                </a:solidFill>
                <a:latin typeface="Arial"/>
                <a:cs typeface="Arial"/>
              </a:rPr>
              <a:t>●  خطای باقی‌مانده در خوشه دزدی بود و ماهیتش مکانی بود، نه زمانی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20B18"/>
        </a:solidFill>
        <a:effectLst/>
      </p:bgPr>
    </p:bg>
    <p:spTree>
      <p:nvGrpSpPr>
        <p:cNvPr id="1" name=""/>
        <p:cNvGrpSpPr/>
        <p:nvPr/>
      </p:nvGrpSpPr>
      <p:grpSpPr/>
      <p:sp>
        <p:nvSpPr>
          <p:cNvPr id="2" name="Oval 1"/>
          <p:cNvSpPr/>
          <p:nvPr/>
        </p:nvSpPr>
        <p:spPr>
          <a:xfrm>
            <a:off x="-1645920" y="-1371600"/>
            <a:ext cx="5120640" cy="5120640"/>
          </a:xfrm>
          <a:prstGeom prst="ellipse">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4572000" y="2194560"/>
            <a:ext cx="6858000" cy="548640"/>
          </a:xfrm>
          <a:prstGeom prst="rect">
            <a:avLst/>
          </a:prstGeom>
          <a:noFill/>
        </p:spPr>
        <p:txBody>
          <a:bodyPr wrap="square" anchor="t" lIns="0" rIns="0" tIns="0" bIns="0">
            <a:spAutoFit/>
          </a:bodyPr>
          <a:lstStyle/>
          <a:p>
            <a:pPr rtl="1" algn="r">
              <a:spcBef>
                <a:spcPts val="0"/>
              </a:spcBef>
              <a:spcAft>
                <a:spcPts val="0"/>
              </a:spcAft>
            </a:pPr>
            <a:r>
              <a:rPr sz="1800" b="1" i="0">
                <a:solidFill>
                  <a:srgbClr val="FF6FA5"/>
                </a:solidFill>
                <a:latin typeface="Arial"/>
                <a:cs typeface="Arial"/>
              </a:rPr>
              <a:t>مسیر دوم</a:t>
            </a:r>
          </a:p>
        </p:txBody>
      </p:sp>
      <p:sp>
        <p:nvSpPr>
          <p:cNvPr id="4" name="TextBox 3"/>
          <p:cNvSpPr txBox="1"/>
          <p:nvPr/>
        </p:nvSpPr>
        <p:spPr>
          <a:xfrm>
            <a:off x="4572000" y="2743200"/>
            <a:ext cx="6858000" cy="1097280"/>
          </a:xfrm>
          <a:prstGeom prst="rect">
            <a:avLst/>
          </a:prstGeom>
          <a:noFill/>
        </p:spPr>
        <p:txBody>
          <a:bodyPr wrap="square" anchor="t" lIns="0" rIns="0" tIns="0" bIns="0">
            <a:spAutoFit/>
          </a:bodyPr>
          <a:lstStyle/>
          <a:p>
            <a:pPr rtl="0" algn="r">
              <a:spcBef>
                <a:spcPts val="0"/>
              </a:spcBef>
              <a:spcAft>
                <a:spcPts val="0"/>
              </a:spcAft>
            </a:pPr>
            <a:r>
              <a:rPr sz="5800" b="1" i="0">
                <a:solidFill>
                  <a:srgbClr val="FFFFFF"/>
                </a:solidFill>
                <a:latin typeface="Arial"/>
                <a:cs typeface="Arial"/>
              </a:rPr>
              <a:t>VideoMAE</a:t>
            </a:r>
          </a:p>
        </p:txBody>
      </p:sp>
      <p:sp>
        <p:nvSpPr>
          <p:cNvPr id="5" name="TextBox 4"/>
          <p:cNvSpPr txBox="1"/>
          <p:nvPr/>
        </p:nvSpPr>
        <p:spPr>
          <a:xfrm>
            <a:off x="4572000" y="3931920"/>
            <a:ext cx="6858000" cy="457200"/>
          </a:xfrm>
          <a:prstGeom prst="rect">
            <a:avLst/>
          </a:prstGeom>
          <a:noFill/>
        </p:spPr>
        <p:txBody>
          <a:bodyPr wrap="square" anchor="t" lIns="0" rIns="0" tIns="0" bIns="0">
            <a:spAutoFit/>
          </a:bodyPr>
          <a:lstStyle/>
          <a:p>
            <a:pPr rtl="1" algn="r">
              <a:spcBef>
                <a:spcPts val="0"/>
              </a:spcBef>
              <a:spcAft>
                <a:spcPts val="0"/>
              </a:spcAft>
            </a:pPr>
            <a:r>
              <a:rPr sz="1700" b="0" i="0">
                <a:solidFill>
                  <a:srgbClr val="F6CFDE"/>
                </a:solidFill>
                <a:latin typeface="Arial"/>
                <a:cs typeface="Arial"/>
              </a:rPr>
              <a:t>رمزگذار منجمد و ویژگی‌های ذخیره‌شده</a:t>
            </a:r>
          </a:p>
        </p:txBody>
      </p:sp>
      <p:sp>
        <p:nvSpPr>
          <p:cNvPr id="6" name="TextBox 5"/>
          <p:cNvSpPr txBox="1"/>
          <p:nvPr/>
        </p:nvSpPr>
        <p:spPr>
          <a:xfrm>
            <a:off x="4572000" y="4663440"/>
            <a:ext cx="6858000" cy="640080"/>
          </a:xfrm>
          <a:prstGeom prst="rect">
            <a:avLst/>
          </a:prstGeom>
          <a:noFill/>
        </p:spPr>
        <p:txBody>
          <a:bodyPr wrap="square" anchor="t" lIns="0" rIns="0" tIns="0" bIns="0">
            <a:spAutoFit/>
          </a:bodyPr>
          <a:lstStyle/>
          <a:p>
            <a:pPr rtl="0" algn="r">
              <a:spcBef>
                <a:spcPts val="0"/>
              </a:spcBef>
              <a:spcAft>
                <a:spcPts val="0"/>
              </a:spcAft>
            </a:pPr>
            <a:r>
              <a:rPr sz="2600" b="1" i="0">
                <a:solidFill>
                  <a:srgbClr val="FF6FA5"/>
                </a:solidFill>
                <a:latin typeface="Arial"/>
                <a:cs typeface="Arial"/>
              </a:rPr>
              <a:t>0.2975  ←  0.4298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FBEEF4"/>
                </a:solidFill>
                <a:latin typeface="Arial"/>
                <a:cs typeface="Arial"/>
              </a:rPr>
              <a:t>VideoMAE چطور یاد گرفت</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FF6FA5"/>
                </a:solidFill>
                <a:latin typeface="Arial"/>
                <a:cs typeface="Arial"/>
              </a:rPr>
              <a:t>مسیر دوم</a:t>
            </a:r>
          </a:p>
        </p:txBody>
      </p:sp>
      <p:sp>
        <p:nvSpPr>
          <p:cNvPr id="4" name="Rounded Rectangle 3"/>
          <p:cNvSpPr/>
          <p:nvPr/>
        </p:nvSpPr>
        <p:spPr>
          <a:xfrm>
            <a:off x="548640" y="1645920"/>
            <a:ext cx="7589520" cy="868680"/>
          </a:xfrm>
          <a:prstGeom prst="round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223759" y="1755648"/>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F6CFDE"/>
                </a:solidFill>
                <a:latin typeface="Arial"/>
                <a:cs typeface="Arial"/>
              </a:rPr>
              <a:t>1</a:t>
            </a:r>
          </a:p>
        </p:txBody>
      </p:sp>
      <p:sp>
        <p:nvSpPr>
          <p:cNvPr id="6" name="TextBox 5"/>
          <p:cNvSpPr txBox="1"/>
          <p:nvPr/>
        </p:nvSpPr>
        <p:spPr>
          <a:xfrm>
            <a:off x="914400" y="1737360"/>
            <a:ext cx="6309360" cy="292608"/>
          </a:xfrm>
          <a:prstGeom prst="rect">
            <a:avLst/>
          </a:prstGeom>
          <a:noFill/>
        </p:spPr>
        <p:txBody>
          <a:bodyPr wrap="square" anchor="t" lIns="0" rIns="0" tIns="0" bIns="0">
            <a:spAutoFit/>
          </a:bodyPr>
          <a:lstStyle/>
          <a:p>
            <a:pPr rtl="1" algn="r">
              <a:spcBef>
                <a:spcPts val="0"/>
              </a:spcBef>
              <a:spcAft>
                <a:spcPts val="0"/>
              </a:spcAft>
            </a:pPr>
            <a:r>
              <a:rPr sz="1500" b="1" i="0">
                <a:solidFill>
                  <a:srgbClr val="FBEEF4"/>
                </a:solidFill>
                <a:latin typeface="Arial"/>
                <a:cs typeface="Arial"/>
              </a:rPr>
              <a:t>پوشاندن</a:t>
            </a:r>
          </a:p>
        </p:txBody>
      </p:sp>
      <p:sp>
        <p:nvSpPr>
          <p:cNvPr id="7" name="TextBox 6"/>
          <p:cNvSpPr txBox="1"/>
          <p:nvPr/>
        </p:nvSpPr>
        <p:spPr>
          <a:xfrm>
            <a:off x="914400" y="2057400"/>
            <a:ext cx="6309360" cy="384048"/>
          </a:xfrm>
          <a:prstGeom prst="rect">
            <a:avLst/>
          </a:prstGeom>
          <a:noFill/>
        </p:spPr>
        <p:txBody>
          <a:bodyPr wrap="square" anchor="t" lIns="0" rIns="0" tIns="0" bIns="0">
            <a:spAutoFit/>
          </a:bodyPr>
          <a:lstStyle/>
          <a:p>
            <a:pPr rtl="1" algn="r">
              <a:spcBef>
                <a:spcPts val="0"/>
              </a:spcBef>
              <a:spcAft>
                <a:spcPts val="0"/>
              </a:spcAft>
            </a:pPr>
            <a:r>
              <a:rPr sz="1200" b="0" i="0">
                <a:solidFill>
                  <a:srgbClr val="B58FA2"/>
                </a:solidFill>
                <a:latin typeface="Arial"/>
                <a:cs typeface="Arial"/>
              </a:rPr>
              <a:t>حدود ۹۰ درصد مکعب‌های فضازمانی پوشانده می‌شوند</a:t>
            </a:r>
          </a:p>
        </p:txBody>
      </p:sp>
      <p:sp>
        <p:nvSpPr>
          <p:cNvPr id="8" name="Rounded Rectangle 7"/>
          <p:cNvSpPr/>
          <p:nvPr/>
        </p:nvSpPr>
        <p:spPr>
          <a:xfrm>
            <a:off x="548640" y="2670048"/>
            <a:ext cx="7589520" cy="868680"/>
          </a:xfrm>
          <a:prstGeom prst="round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223759" y="2779776"/>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F6CFDE"/>
                </a:solidFill>
                <a:latin typeface="Arial"/>
                <a:cs typeface="Arial"/>
              </a:rPr>
              <a:t>2</a:t>
            </a:r>
          </a:p>
        </p:txBody>
      </p:sp>
      <p:sp>
        <p:nvSpPr>
          <p:cNvPr id="10" name="TextBox 9"/>
          <p:cNvSpPr txBox="1"/>
          <p:nvPr/>
        </p:nvSpPr>
        <p:spPr>
          <a:xfrm>
            <a:off x="914400" y="2761488"/>
            <a:ext cx="6309360" cy="292608"/>
          </a:xfrm>
          <a:prstGeom prst="rect">
            <a:avLst/>
          </a:prstGeom>
          <a:noFill/>
        </p:spPr>
        <p:txBody>
          <a:bodyPr wrap="square" anchor="t" lIns="0" rIns="0" tIns="0" bIns="0">
            <a:spAutoFit/>
          </a:bodyPr>
          <a:lstStyle/>
          <a:p>
            <a:pPr rtl="1" algn="r">
              <a:spcBef>
                <a:spcPts val="0"/>
              </a:spcBef>
              <a:spcAft>
                <a:spcPts val="0"/>
              </a:spcAft>
            </a:pPr>
            <a:r>
              <a:rPr sz="1500" b="1" i="0">
                <a:solidFill>
                  <a:srgbClr val="FBEEF4"/>
                </a:solidFill>
                <a:latin typeface="Arial"/>
                <a:cs typeface="Arial"/>
              </a:rPr>
              <a:t>بازسازی</a:t>
            </a:r>
          </a:p>
        </p:txBody>
      </p:sp>
      <p:sp>
        <p:nvSpPr>
          <p:cNvPr id="11" name="TextBox 10"/>
          <p:cNvSpPr txBox="1"/>
          <p:nvPr/>
        </p:nvSpPr>
        <p:spPr>
          <a:xfrm>
            <a:off x="914400" y="3081528"/>
            <a:ext cx="6309360" cy="384048"/>
          </a:xfrm>
          <a:prstGeom prst="rect">
            <a:avLst/>
          </a:prstGeom>
          <a:noFill/>
        </p:spPr>
        <p:txBody>
          <a:bodyPr wrap="square" anchor="t" lIns="0" rIns="0" tIns="0" bIns="0">
            <a:spAutoFit/>
          </a:bodyPr>
          <a:lstStyle/>
          <a:p>
            <a:pPr rtl="1" algn="r">
              <a:spcBef>
                <a:spcPts val="0"/>
              </a:spcBef>
              <a:spcAft>
                <a:spcPts val="0"/>
              </a:spcAft>
            </a:pPr>
            <a:r>
              <a:rPr sz="1200" b="0" i="0">
                <a:solidFill>
                  <a:srgbClr val="B58FA2"/>
                </a:solidFill>
                <a:latin typeface="Arial"/>
                <a:cs typeface="Arial"/>
              </a:rPr>
              <a:t>رمزگذار فقط ۱۰ درصد باقی‌مانده را می‌بیند و رمزگشا جای خالی‌ها را حدس می‌زند</a:t>
            </a:r>
          </a:p>
        </p:txBody>
      </p:sp>
      <p:sp>
        <p:nvSpPr>
          <p:cNvPr id="12" name="Rounded Rectangle 11"/>
          <p:cNvSpPr/>
          <p:nvPr/>
        </p:nvSpPr>
        <p:spPr>
          <a:xfrm>
            <a:off x="548640" y="3694176"/>
            <a:ext cx="7589520" cy="868680"/>
          </a:xfrm>
          <a:prstGeom prst="round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223759" y="3803904"/>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F6CFDE"/>
                </a:solidFill>
                <a:latin typeface="Arial"/>
                <a:cs typeface="Arial"/>
              </a:rPr>
              <a:t>3</a:t>
            </a:r>
          </a:p>
        </p:txBody>
      </p:sp>
      <p:sp>
        <p:nvSpPr>
          <p:cNvPr id="14" name="TextBox 13"/>
          <p:cNvSpPr txBox="1"/>
          <p:nvPr/>
        </p:nvSpPr>
        <p:spPr>
          <a:xfrm>
            <a:off x="914400" y="3785615"/>
            <a:ext cx="6309360" cy="292608"/>
          </a:xfrm>
          <a:prstGeom prst="rect">
            <a:avLst/>
          </a:prstGeom>
          <a:noFill/>
        </p:spPr>
        <p:txBody>
          <a:bodyPr wrap="square" anchor="t" lIns="0" rIns="0" tIns="0" bIns="0">
            <a:spAutoFit/>
          </a:bodyPr>
          <a:lstStyle/>
          <a:p>
            <a:pPr rtl="1" algn="r">
              <a:spcBef>
                <a:spcPts val="0"/>
              </a:spcBef>
              <a:spcAft>
                <a:spcPts val="0"/>
              </a:spcAft>
            </a:pPr>
            <a:r>
              <a:rPr sz="1500" b="1" i="0">
                <a:solidFill>
                  <a:srgbClr val="FBEEF4"/>
                </a:solidFill>
                <a:latin typeface="Arial"/>
                <a:cs typeface="Arial"/>
              </a:rPr>
              <a:t>بدون برچسب</a:t>
            </a:r>
          </a:p>
        </p:txBody>
      </p:sp>
      <p:sp>
        <p:nvSpPr>
          <p:cNvPr id="15" name="TextBox 14"/>
          <p:cNvSpPr txBox="1"/>
          <p:nvPr/>
        </p:nvSpPr>
        <p:spPr>
          <a:xfrm>
            <a:off x="914400" y="4105656"/>
            <a:ext cx="6309360" cy="384048"/>
          </a:xfrm>
          <a:prstGeom prst="rect">
            <a:avLst/>
          </a:prstGeom>
          <a:noFill/>
        </p:spPr>
        <p:txBody>
          <a:bodyPr wrap="square" anchor="t" lIns="0" rIns="0" tIns="0" bIns="0">
            <a:spAutoFit/>
          </a:bodyPr>
          <a:lstStyle/>
          <a:p>
            <a:pPr rtl="1" algn="r">
              <a:spcBef>
                <a:spcPts val="0"/>
              </a:spcBef>
              <a:spcAft>
                <a:spcPts val="0"/>
              </a:spcAft>
            </a:pPr>
            <a:r>
              <a:rPr sz="1200" b="0" i="0">
                <a:solidFill>
                  <a:srgbClr val="B58FA2"/>
                </a:solidFill>
                <a:latin typeface="Arial"/>
                <a:cs typeface="Arial"/>
              </a:rPr>
              <a:t>خود ویدیو هم سؤال است و هم جواب، پس روی حجم عظیمی از داده ممکن است</a:t>
            </a:r>
          </a:p>
        </p:txBody>
      </p:sp>
      <p:sp>
        <p:nvSpPr>
          <p:cNvPr id="16" name="Rounded Rectangle 15"/>
          <p:cNvSpPr/>
          <p:nvPr/>
        </p:nvSpPr>
        <p:spPr>
          <a:xfrm>
            <a:off x="548640" y="4718304"/>
            <a:ext cx="7589520" cy="868680"/>
          </a:xfrm>
          <a:prstGeom prst="round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223759" y="4828032"/>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FFA0C4"/>
                </a:solidFill>
                <a:latin typeface="Arial"/>
                <a:cs typeface="Arial"/>
              </a:rPr>
              <a:t>4</a:t>
            </a:r>
          </a:p>
        </p:txBody>
      </p:sp>
      <p:sp>
        <p:nvSpPr>
          <p:cNvPr id="18" name="TextBox 17"/>
          <p:cNvSpPr txBox="1"/>
          <p:nvPr/>
        </p:nvSpPr>
        <p:spPr>
          <a:xfrm>
            <a:off x="914400" y="4809744"/>
            <a:ext cx="6309360" cy="292608"/>
          </a:xfrm>
          <a:prstGeom prst="rect">
            <a:avLst/>
          </a:prstGeom>
          <a:noFill/>
        </p:spPr>
        <p:txBody>
          <a:bodyPr wrap="square" anchor="t" lIns="0" rIns="0" tIns="0" bIns="0">
            <a:spAutoFit/>
          </a:bodyPr>
          <a:lstStyle/>
          <a:p>
            <a:pPr rtl="1" algn="r">
              <a:spcBef>
                <a:spcPts val="0"/>
              </a:spcBef>
              <a:spcAft>
                <a:spcPts val="0"/>
              </a:spcAft>
            </a:pPr>
            <a:r>
              <a:rPr sz="1500" b="1" i="0">
                <a:solidFill>
                  <a:srgbClr val="FBEEF4"/>
                </a:solidFill>
                <a:latin typeface="Arial"/>
                <a:cs typeface="Arial"/>
              </a:rPr>
              <a:t>دور انداختن رمزگشا</a:t>
            </a:r>
          </a:p>
        </p:txBody>
      </p:sp>
      <p:sp>
        <p:nvSpPr>
          <p:cNvPr id="19" name="TextBox 18"/>
          <p:cNvSpPr txBox="1"/>
          <p:nvPr/>
        </p:nvSpPr>
        <p:spPr>
          <a:xfrm>
            <a:off x="914400" y="5129784"/>
            <a:ext cx="6309360" cy="384048"/>
          </a:xfrm>
          <a:prstGeom prst="rect">
            <a:avLst/>
          </a:prstGeom>
          <a:noFill/>
        </p:spPr>
        <p:txBody>
          <a:bodyPr wrap="square" anchor="t" lIns="0" rIns="0" tIns="0" bIns="0">
            <a:spAutoFit/>
          </a:bodyPr>
          <a:lstStyle/>
          <a:p>
            <a:pPr rtl="1" algn="r">
              <a:spcBef>
                <a:spcPts val="0"/>
              </a:spcBef>
              <a:spcAft>
                <a:spcPts val="0"/>
              </a:spcAft>
            </a:pPr>
            <a:r>
              <a:rPr sz="1200" b="0" i="0">
                <a:solidFill>
                  <a:srgbClr val="B58FA2"/>
                </a:solidFill>
                <a:latin typeface="Arial"/>
                <a:cs typeface="Arial"/>
              </a:rPr>
              <a:t>پس از پیش‌آموزش تنها رمزگذار می‌ماند و روی Kinetics تنظیم می‌شود</a:t>
            </a:r>
          </a:p>
        </p:txBody>
      </p:sp>
      <p:sp>
        <p:nvSpPr>
          <p:cNvPr id="20" name="Rounded Rectangle 19"/>
          <p:cNvSpPr/>
          <p:nvPr/>
        </p:nvSpPr>
        <p:spPr>
          <a:xfrm>
            <a:off x="8412480" y="1645920"/>
            <a:ext cx="3200400" cy="4023360"/>
          </a:xfrm>
          <a:prstGeom prst="round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686800" y="1828800"/>
            <a:ext cx="265176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FF6FA5"/>
                </a:solidFill>
                <a:latin typeface="Arial"/>
                <a:cs typeface="Arial"/>
              </a:rPr>
              <a:t>تفاوت با X-CLIP</a:t>
            </a:r>
          </a:p>
        </p:txBody>
      </p:sp>
      <p:sp>
        <p:nvSpPr>
          <p:cNvPr id="22" name="TextBox 21"/>
          <p:cNvSpPr txBox="1"/>
          <p:nvPr/>
        </p:nvSpPr>
        <p:spPr>
          <a:xfrm>
            <a:off x="8686800" y="2240280"/>
            <a:ext cx="2651760" cy="3200400"/>
          </a:xfrm>
          <a:prstGeom prst="rect">
            <a:avLst/>
          </a:prstGeom>
          <a:noFill/>
        </p:spPr>
        <p:txBody>
          <a:bodyPr wrap="square" anchor="t" lIns="0" rIns="0" tIns="0" bIns="0">
            <a:spAutoFit/>
          </a:bodyPr>
          <a:lstStyle/>
          <a:p>
            <a:pPr rtl="1" algn="r">
              <a:lnSpc>
                <a:spcPts val="2000"/>
              </a:lnSpc>
              <a:spcBef>
                <a:spcPts val="0"/>
              </a:spcBef>
              <a:spcAft>
                <a:spcPts val="0"/>
              </a:spcAft>
            </a:pPr>
            <a:r>
              <a:rPr sz="1250" b="0" i="0">
                <a:solidFill>
                  <a:srgbClr val="F0DCE6"/>
                </a:solidFill>
                <a:latin typeface="Arial"/>
                <a:cs typeface="Arial"/>
              </a:rPr>
              <a:t>X-CLIP از متن یاد گرفت.</a:t>
            </a:r>
          </a:p>
          <a:p>
            <a:pPr rtl="1" algn="r">
              <a:lnSpc>
                <a:spcPts val="2000"/>
              </a:lnSpc>
              <a:spcBef>
                <a:spcPts val="0"/>
              </a:spcBef>
              <a:spcAft>
                <a:spcPts val="0"/>
              </a:spcAft>
            </a:pPr>
            <a:r>
              <a:rPr sz="1250" b="0" i="0">
                <a:solidFill>
                  <a:srgbClr val="F0DCE6"/>
                </a:solidFill>
                <a:latin typeface="Arial"/>
                <a:cs typeface="Arial"/>
              </a:rPr>
              <a:t/>
            </a:r>
          </a:p>
          <a:p>
            <a:pPr rtl="1" algn="r">
              <a:lnSpc>
                <a:spcPts val="2000"/>
              </a:lnSpc>
              <a:spcBef>
                <a:spcPts val="0"/>
              </a:spcBef>
              <a:spcAft>
                <a:spcPts val="0"/>
              </a:spcAft>
            </a:pPr>
            <a:r>
              <a:rPr sz="1250" b="0" i="0">
                <a:solidFill>
                  <a:srgbClr val="F0DCE6"/>
                </a:solidFill>
                <a:latin typeface="Arial"/>
                <a:cs typeface="Arial"/>
              </a:rPr>
              <a:t>VideoMAE از خود ویدیو.</a:t>
            </a:r>
          </a:p>
          <a:p>
            <a:pPr rtl="1" algn="r">
              <a:lnSpc>
                <a:spcPts val="2000"/>
              </a:lnSpc>
              <a:spcBef>
                <a:spcPts val="0"/>
              </a:spcBef>
              <a:spcAft>
                <a:spcPts val="0"/>
              </a:spcAft>
            </a:pPr>
            <a:r>
              <a:rPr sz="1250" b="0" i="0">
                <a:solidFill>
                  <a:srgbClr val="F0DCE6"/>
                </a:solidFill>
                <a:latin typeface="Arial"/>
                <a:cs typeface="Arial"/>
              </a:rPr>
              <a:t/>
            </a:r>
          </a:p>
          <a:p>
            <a:pPr rtl="1" algn="r">
              <a:lnSpc>
                <a:spcPts val="2000"/>
              </a:lnSpc>
              <a:spcBef>
                <a:spcPts val="0"/>
              </a:spcBef>
              <a:spcAft>
                <a:spcPts val="0"/>
              </a:spcAft>
            </a:pPr>
            <a:r>
              <a:rPr sz="1250" b="0" i="0">
                <a:solidFill>
                  <a:srgbClr val="F0DCE6"/>
                </a:solidFill>
                <a:latin typeface="Arial"/>
                <a:cs typeface="Arial"/>
              </a:rPr>
              <a:t>پس VideoMAE اصلاً کلمه نمی‌شناسد و آن سقف ۰٫۴۴ اینجا اصلاً وجود ندارد.</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FBEEF4"/>
                </a:solidFill>
                <a:latin typeface="Arial"/>
                <a:cs typeface="Arial"/>
              </a:rPr>
              <a:t>مهم‌ترین تصمیم پروژه: یخ زدن رمزگذار</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FF6FA5"/>
                </a:solidFill>
                <a:latin typeface="Arial"/>
                <a:cs typeface="Arial"/>
              </a:rPr>
              <a:t>مسیر دوم</a:t>
            </a:r>
          </a:p>
        </p:txBody>
      </p:sp>
      <p:sp>
        <p:nvSpPr>
          <p:cNvPr id="4" name="TextBox 3"/>
          <p:cNvSpPr txBox="1"/>
          <p:nvPr/>
        </p:nvSpPr>
        <p:spPr>
          <a:xfrm>
            <a:off x="548640" y="1627632"/>
            <a:ext cx="11064240" cy="365760"/>
          </a:xfrm>
          <a:prstGeom prst="rect">
            <a:avLst/>
          </a:prstGeom>
          <a:noFill/>
        </p:spPr>
        <p:txBody>
          <a:bodyPr wrap="square" anchor="t" lIns="0" rIns="0" tIns="0" bIns="0">
            <a:spAutoFit/>
          </a:bodyPr>
          <a:lstStyle/>
          <a:p>
            <a:pPr rtl="1" algn="r">
              <a:spcBef>
                <a:spcPts val="0"/>
              </a:spcBef>
              <a:spcAft>
                <a:spcPts val="0"/>
              </a:spcAft>
            </a:pPr>
            <a:r>
              <a:rPr sz="1400" b="0" i="0">
                <a:solidFill>
                  <a:srgbClr val="F0DCE6"/>
                </a:solidFill>
                <a:latin typeface="Arial"/>
                <a:cs typeface="Arial"/>
              </a:rPr>
              <a:t>چون رمزگذار آموزش نمی‌بیند، خروجی‌اش ثابت است. پس محاسبه مجددش در هر دوره کار تکراری محض است.</a:t>
            </a:r>
          </a:p>
        </p:txBody>
      </p:sp>
      <p:sp>
        <p:nvSpPr>
          <p:cNvPr id="5" name="TextBox 4"/>
          <p:cNvSpPr txBox="1"/>
          <p:nvPr/>
        </p:nvSpPr>
        <p:spPr>
          <a:xfrm>
            <a:off x="8046720" y="21488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FF8A80"/>
                </a:solidFill>
                <a:latin typeface="Arial"/>
                <a:cs typeface="Arial"/>
              </a:rPr>
              <a:t>16</a:t>
            </a:r>
          </a:p>
        </p:txBody>
      </p:sp>
      <p:sp>
        <p:nvSpPr>
          <p:cNvPr id="6" name="TextBox 5"/>
          <p:cNvSpPr txBox="1"/>
          <p:nvPr/>
        </p:nvSpPr>
        <p:spPr>
          <a:xfrm>
            <a:off x="8046720" y="28620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B58FA2"/>
                </a:solidFill>
                <a:latin typeface="Arial"/>
                <a:cs typeface="Arial"/>
              </a:rPr>
              <a:t>ساعت برای هر آزمایش — روش قدیم</a:t>
            </a:r>
          </a:p>
        </p:txBody>
      </p:sp>
      <p:sp>
        <p:nvSpPr>
          <p:cNvPr id="7" name="Left Arrow 6"/>
          <p:cNvSpPr/>
          <p:nvPr/>
        </p:nvSpPr>
        <p:spPr>
          <a:xfrm>
            <a:off x="6675120" y="2377440"/>
            <a:ext cx="1188720" cy="502920"/>
          </a:xfrm>
          <a:prstGeom prst="leftArrow">
            <a:avLst/>
          </a:prstGeom>
          <a:solidFill>
            <a:srgbClr val="F6C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926080" y="21488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7FD8C0"/>
                </a:solidFill>
                <a:latin typeface="Arial"/>
                <a:cs typeface="Arial"/>
              </a:rPr>
              <a:t>80</a:t>
            </a:r>
          </a:p>
        </p:txBody>
      </p:sp>
      <p:sp>
        <p:nvSpPr>
          <p:cNvPr id="9" name="TextBox 8"/>
          <p:cNvSpPr txBox="1"/>
          <p:nvPr/>
        </p:nvSpPr>
        <p:spPr>
          <a:xfrm>
            <a:off x="2926080" y="28620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B58FA2"/>
                </a:solidFill>
                <a:latin typeface="Arial"/>
                <a:cs typeface="Arial"/>
              </a:rPr>
              <a:t>ثانیه برای هر آزمایش — روش جدید</a:t>
            </a:r>
          </a:p>
        </p:txBody>
      </p:sp>
      <p:sp>
        <p:nvSpPr>
          <p:cNvPr id="10" name="TextBox 9"/>
          <p:cNvSpPr txBox="1"/>
          <p:nvPr/>
        </p:nvSpPr>
        <p:spPr>
          <a:xfrm>
            <a:off x="548640" y="2148840"/>
            <a:ext cx="210312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FBEEF4"/>
                </a:solidFill>
                <a:latin typeface="Arial"/>
                <a:cs typeface="Arial"/>
              </a:rPr>
              <a:t>200</a:t>
            </a:r>
          </a:p>
        </p:txBody>
      </p:sp>
      <p:sp>
        <p:nvSpPr>
          <p:cNvPr id="11" name="TextBox 10"/>
          <p:cNvSpPr txBox="1"/>
          <p:nvPr/>
        </p:nvSpPr>
        <p:spPr>
          <a:xfrm>
            <a:off x="548640" y="2862072"/>
            <a:ext cx="210312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B58FA2"/>
                </a:solidFill>
                <a:latin typeface="Arial"/>
                <a:cs typeface="Arial"/>
              </a:rPr>
              <a:t>ارزیابی انجام‌شده</a:t>
            </a:r>
          </a:p>
        </p:txBody>
      </p:sp>
      <p:graphicFrame>
        <p:nvGraphicFramePr>
          <p:cNvPr id="12" name="Table 11"/>
          <p:cNvGraphicFramePr>
            <a:graphicFrameLocks noGrp="1"/>
          </p:cNvGraphicFramePr>
          <p:nvPr/>
        </p:nvGraphicFramePr>
        <p:xfrm>
          <a:off x="548640" y="3703320"/>
          <a:ext cx="11064240" cy="1920240"/>
        </p:xfrm>
        <a:graphic>
          <a:graphicData uri="http://schemas.openxmlformats.org/drawingml/2006/table">
            <a:tbl>
              <a:tblPr firstRow="0" bandRow="0">
                <a:tableStyleId>{5C22544A-7EE6-4342-B048-85BDC9FD1C3A}</a:tableStyleId>
              </a:tblPr>
              <a:tblGrid>
                <a:gridCol w="3383280"/>
                <a:gridCol w="3840480"/>
                <a:gridCol w="3840480"/>
              </a:tblGrid>
              <a:tr h="320040">
                <a:tc>
                  <a:txBody>
                    <a:bodyPr wrap="square"/>
                    <a:lstStyle/>
                    <a:p>
                      <a:pPr rtl="1" algn="ctr">
                        <a:spcBef>
                          <a:spcPts val="0"/>
                        </a:spcBef>
                        <a:spcAft>
                          <a:spcPts val="0"/>
                        </a:spcAft>
                      </a:pPr>
                      <a:r>
                        <a:rPr sz="1250" b="1" i="0">
                          <a:solidFill>
                            <a:srgbClr val="FF6FA5"/>
                          </a:solidFill>
                          <a:latin typeface="Arial"/>
                          <a:cs typeface="Arial"/>
                        </a:rPr>
                        <a:t>مورد</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50" b="1" i="0">
                          <a:solidFill>
                            <a:srgbClr val="FF6FA5"/>
                          </a:solidFill>
                          <a:latin typeface="Arial"/>
                          <a:cs typeface="Arial"/>
                        </a:rPr>
                        <a:t>روش قدیم</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50" b="1" i="0">
                          <a:solidFill>
                            <a:srgbClr val="FF6FA5"/>
                          </a:solidFill>
                          <a:latin typeface="Arial"/>
                          <a:cs typeface="Arial"/>
                        </a:rPr>
                        <a:t>روش جدید</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r>
              <a:tr h="320040">
                <a:tc>
                  <a:txBody>
                    <a:bodyPr wrap="square"/>
                    <a:lstStyle/>
                    <a:p>
                      <a:pPr rtl="1" algn="r">
                        <a:spcBef>
                          <a:spcPts val="0"/>
                        </a:spcBef>
                        <a:spcAft>
                          <a:spcPts val="0"/>
                        </a:spcAft>
                      </a:pPr>
                      <a:r>
                        <a:rPr sz="1250" b="0" i="0">
                          <a:solidFill>
                            <a:srgbClr val="F0DCE6"/>
                          </a:solidFill>
                          <a:latin typeface="Arial"/>
                          <a:cs typeface="Arial"/>
                        </a:rPr>
                        <a:t>رمزگشایی ویدیو</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50" b="0" i="0">
                          <a:solidFill>
                            <a:srgbClr val="F0DCE6"/>
                          </a:solidFill>
                          <a:latin typeface="Arial"/>
                          <a:cs typeface="Arial"/>
                        </a:rPr>
                        <a:t>هر دوره تکرار می‌شد</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50" b="0" i="0">
                          <a:solidFill>
                            <a:srgbClr val="F0DCE6"/>
                          </a:solidFill>
                          <a:latin typeface="Arial"/>
                          <a:cs typeface="Arial"/>
                        </a:rPr>
                        <a:t>یک بار، هرگز دوباره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20040">
                <a:tc>
                  <a:txBody>
                    <a:bodyPr wrap="square"/>
                    <a:lstStyle/>
                    <a:p>
                      <a:pPr rtl="1" algn="r">
                        <a:spcBef>
                          <a:spcPts val="0"/>
                        </a:spcBef>
                        <a:spcAft>
                          <a:spcPts val="0"/>
                        </a:spcAft>
                      </a:pPr>
                      <a:r>
                        <a:rPr sz="1250" b="0" i="0">
                          <a:solidFill>
                            <a:srgbClr val="F0DCE6"/>
                          </a:solidFill>
                          <a:latin typeface="Arial"/>
                          <a:cs typeface="Arial"/>
                        </a:rPr>
                        <a:t>اجرای رمزگذار</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50" b="0" i="0">
                          <a:solidFill>
                            <a:srgbClr val="F0DCE6"/>
                          </a:solidFill>
                          <a:latin typeface="Arial"/>
                          <a:cs typeface="Arial"/>
                        </a:rPr>
                        <a:t>هر دوره تکرار می‌شد</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50" b="0" i="0">
                          <a:solidFill>
                            <a:srgbClr val="F0DCE6"/>
                          </a:solidFill>
                          <a:latin typeface="Arial"/>
                          <a:cs typeface="Arial"/>
                        </a:rPr>
                        <a:t>یک بار، هرگز دوباره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20040">
                <a:tc>
                  <a:txBody>
                    <a:bodyPr wrap="square"/>
                    <a:lstStyle/>
                    <a:p>
                      <a:pPr rtl="1" algn="r">
                        <a:spcBef>
                          <a:spcPts val="0"/>
                        </a:spcBef>
                        <a:spcAft>
                          <a:spcPts val="0"/>
                        </a:spcAft>
                      </a:pPr>
                      <a:r>
                        <a:rPr sz="1250" b="0" i="0">
                          <a:solidFill>
                            <a:srgbClr val="F0DCE6"/>
                          </a:solidFill>
                          <a:latin typeface="Arial"/>
                          <a:cs typeface="Arial"/>
                        </a:rPr>
                        <a:t>حجم داده ورودی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50" b="0" i="0">
                          <a:solidFill>
                            <a:srgbClr val="F0DCE6"/>
                          </a:solidFill>
                          <a:latin typeface="Arial"/>
                          <a:cs typeface="Arial"/>
                        </a:rPr>
                        <a:t>۷۰ گیگابایت ویدیو</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50" b="0" i="0">
                          <a:solidFill>
                            <a:srgbClr val="F0DCE6"/>
                          </a:solidFill>
                          <a:latin typeface="Arial"/>
                          <a:cs typeface="Arial"/>
                        </a:rPr>
                        <a:t>۹۳ مگابایت عدد</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20040">
                <a:tc>
                  <a:txBody>
                    <a:bodyPr wrap="square"/>
                    <a:lstStyle/>
                    <a:p>
                      <a:pPr rtl="1" algn="r">
                        <a:spcBef>
                          <a:spcPts val="0"/>
                        </a:spcBef>
                        <a:spcAft>
                          <a:spcPts val="0"/>
                        </a:spcAft>
                      </a:pPr>
                      <a:r>
                        <a:rPr sz="1250" b="0" i="0">
                          <a:solidFill>
                            <a:srgbClr val="F0DCE6"/>
                          </a:solidFill>
                          <a:latin typeface="Arial"/>
                          <a:cs typeface="Arial"/>
                        </a:rPr>
                        <a:t>پارامترهای آموزش‌پذیر</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50" b="0" i="0">
                          <a:solidFill>
                            <a:srgbClr val="F0DCE6"/>
                          </a:solidFill>
                          <a:latin typeface="Arial"/>
                          <a:cs typeface="Arial"/>
                        </a:rPr>
                        <a:t>حدود ۳۰۰ میلیون</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50" b="0" i="0">
                          <a:solidFill>
                            <a:srgbClr val="F0DCE6"/>
                          </a:solidFill>
                          <a:latin typeface="Arial"/>
                          <a:cs typeface="Arial"/>
                        </a:rPr>
                        <a:t>۴٫۸ میلیون</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20040">
                <a:tc>
                  <a:txBody>
                    <a:bodyPr wrap="square"/>
                    <a:lstStyle/>
                    <a:p>
                      <a:pPr rtl="1" algn="r">
                        <a:spcBef>
                          <a:spcPts val="0"/>
                        </a:spcBef>
                        <a:spcAft>
                          <a:spcPts val="0"/>
                        </a:spcAft>
                      </a:pPr>
                      <a:r>
                        <a:rPr sz="1250" b="1" i="0">
                          <a:solidFill>
                            <a:srgbClr val="FFA0C4"/>
                          </a:solidFill>
                          <a:latin typeface="Arial"/>
                          <a:cs typeface="Arial"/>
                        </a:rPr>
                        <a:t>زمان ۲۰۰ آزمایش</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250" b="1" i="0">
                          <a:solidFill>
                            <a:srgbClr val="FFA0C4"/>
                          </a:solidFill>
                          <a:latin typeface="Arial"/>
                          <a:cs typeface="Arial"/>
                        </a:rPr>
                        <a:t>حدود ۱۳۳ روز</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250" b="1" i="0">
                          <a:solidFill>
                            <a:srgbClr val="FFA0C4"/>
                          </a:solidFill>
                          <a:latin typeface="Arial"/>
                          <a:cs typeface="Arial"/>
                        </a:rPr>
                        <a:t>حدود ۴ ساعت</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r>
            </a:tbl>
          </a:graphicData>
        </a:graphic>
      </p:graphicFrame>
      <p:sp>
        <p:nvSpPr>
          <p:cNvPr id="13" name="TextBox 12"/>
          <p:cNvSpPr txBox="1"/>
          <p:nvPr/>
        </p:nvSpPr>
        <p:spPr>
          <a:xfrm>
            <a:off x="548640" y="5897880"/>
            <a:ext cx="11064240" cy="365760"/>
          </a:xfrm>
          <a:prstGeom prst="rect">
            <a:avLst/>
          </a:prstGeom>
          <a:noFill/>
        </p:spPr>
        <p:txBody>
          <a:bodyPr wrap="square" anchor="t" lIns="0" rIns="0" tIns="0" bIns="0">
            <a:spAutoFit/>
          </a:bodyPr>
          <a:lstStyle/>
          <a:p>
            <a:pPr rtl="1" algn="r">
              <a:spcBef>
                <a:spcPts val="0"/>
              </a:spcBef>
              <a:spcAft>
                <a:spcPts val="0"/>
              </a:spcAft>
            </a:pPr>
            <a:r>
              <a:rPr sz="1300" b="1" i="0">
                <a:solidFill>
                  <a:srgbClr val="FF6FA5"/>
                </a:solidFill>
                <a:latin typeface="Arial"/>
                <a:cs typeface="Arial"/>
              </a:rPr>
              <a:t>هزینه‌ای که پرداختیم: رمزگذار هرگز به دامنه ویدیوی نظارتی تطبیق نمی‌یابد. این را صریح گزارش کرده‌ایم.</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FBEEF4"/>
                </a:solidFill>
                <a:latin typeface="Arial"/>
                <a:cs typeface="Arial"/>
              </a:rPr>
              <a:t>خط لوله نهایی</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FF6FA5"/>
                </a:solidFill>
                <a:latin typeface="Arial"/>
                <a:cs typeface="Arial"/>
              </a:rPr>
              <a:t>مسیر دوم</a:t>
            </a:r>
          </a:p>
        </p:txBody>
      </p:sp>
      <p:sp>
        <p:nvSpPr>
          <p:cNvPr id="4" name="Rounded Rectangle 3"/>
          <p:cNvSpPr/>
          <p:nvPr/>
        </p:nvSpPr>
        <p:spPr>
          <a:xfrm>
            <a:off x="9098280" y="1737360"/>
            <a:ext cx="2560320" cy="1371600"/>
          </a:xfrm>
          <a:prstGeom prst="round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235440" y="192024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FBEEF4"/>
                </a:solidFill>
                <a:latin typeface="Arial"/>
                <a:cs typeface="Arial"/>
              </a:rPr>
              <a:t>ویدیوی خام</a:t>
            </a:r>
          </a:p>
        </p:txBody>
      </p:sp>
      <p:sp>
        <p:nvSpPr>
          <p:cNvPr id="6" name="TextBox 5"/>
          <p:cNvSpPr txBox="1"/>
          <p:nvPr/>
        </p:nvSpPr>
        <p:spPr>
          <a:xfrm>
            <a:off x="9235440" y="228600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B58FA2"/>
                </a:solidFill>
                <a:latin typeface="Arial"/>
                <a:cs typeface="Arial"/>
              </a:rPr>
              <a:t>۹۰۰۰ فریم</a:t>
            </a:r>
          </a:p>
          <a:p>
            <a:pPr rtl="1" algn="ctr">
              <a:lnSpc>
                <a:spcPts val="1700"/>
              </a:lnSpc>
              <a:spcBef>
                <a:spcPts val="0"/>
              </a:spcBef>
              <a:spcAft>
                <a:spcPts val="0"/>
              </a:spcAft>
            </a:pPr>
            <a:r>
              <a:rPr sz="1150" b="0" i="0">
                <a:solidFill>
                  <a:srgbClr val="B58FA2"/>
                </a:solidFill>
                <a:latin typeface="Arial"/>
                <a:cs typeface="Arial"/>
              </a:rPr>
              <a:t>۴۰ مگابایت</a:t>
            </a:r>
          </a:p>
        </p:txBody>
      </p:sp>
      <p:sp>
        <p:nvSpPr>
          <p:cNvPr id="7" name="Left Arrow 6"/>
          <p:cNvSpPr/>
          <p:nvPr/>
        </p:nvSpPr>
        <p:spPr>
          <a:xfrm>
            <a:off x="8842248" y="2286000"/>
            <a:ext cx="228600" cy="274320"/>
          </a:xfrm>
          <a:prstGeom prst="leftArrow">
            <a:avLst/>
          </a:prstGeom>
          <a:solidFill>
            <a:srgbClr val="F6C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6217919" y="1737360"/>
            <a:ext cx="2560320" cy="1371600"/>
          </a:xfrm>
          <a:prstGeom prst="round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355079" y="192024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FBEEF4"/>
                </a:solidFill>
                <a:latin typeface="Arial"/>
                <a:cs typeface="Arial"/>
              </a:rPr>
              <a:t>۱۶ قطعه</a:t>
            </a:r>
          </a:p>
        </p:txBody>
      </p:sp>
      <p:sp>
        <p:nvSpPr>
          <p:cNvPr id="10" name="TextBox 9"/>
          <p:cNvSpPr txBox="1"/>
          <p:nvPr/>
        </p:nvSpPr>
        <p:spPr>
          <a:xfrm>
            <a:off x="6355079" y="228600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B58FA2"/>
                </a:solidFill>
                <a:latin typeface="Arial"/>
                <a:cs typeface="Arial"/>
              </a:rPr>
              <a:t>هر قطعه ۱۶ فریم</a:t>
            </a:r>
          </a:p>
          <a:p>
            <a:pPr rtl="1" algn="ctr">
              <a:lnSpc>
                <a:spcPts val="1700"/>
              </a:lnSpc>
              <a:spcBef>
                <a:spcPts val="0"/>
              </a:spcBef>
              <a:spcAft>
                <a:spcPts val="0"/>
              </a:spcAft>
            </a:pPr>
            <a:r>
              <a:rPr sz="1150" b="0" i="0">
                <a:solidFill>
                  <a:srgbClr val="B58FA2"/>
                </a:solidFill>
                <a:latin typeface="Arial"/>
                <a:cs typeface="Arial"/>
              </a:rPr>
              <a:t>۲۲۴ در ۲۲۴</a:t>
            </a:r>
          </a:p>
        </p:txBody>
      </p:sp>
      <p:sp>
        <p:nvSpPr>
          <p:cNvPr id="11" name="Left Arrow 10"/>
          <p:cNvSpPr/>
          <p:nvPr/>
        </p:nvSpPr>
        <p:spPr>
          <a:xfrm>
            <a:off x="5961887" y="2286000"/>
            <a:ext cx="228600" cy="274320"/>
          </a:xfrm>
          <a:prstGeom prst="leftArrow">
            <a:avLst/>
          </a:prstGeom>
          <a:solidFill>
            <a:srgbClr val="F6C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337559" y="1737360"/>
            <a:ext cx="2560320" cy="1371600"/>
          </a:xfrm>
          <a:prstGeom prst="round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474719" y="192024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FF6FA5"/>
                </a:solidFill>
                <a:latin typeface="Arial"/>
                <a:cs typeface="Arial"/>
              </a:rPr>
              <a:t>رمزگذار ViT-L</a:t>
            </a:r>
          </a:p>
        </p:txBody>
      </p:sp>
      <p:sp>
        <p:nvSpPr>
          <p:cNvPr id="14" name="TextBox 13"/>
          <p:cNvSpPr txBox="1"/>
          <p:nvPr/>
        </p:nvSpPr>
        <p:spPr>
          <a:xfrm>
            <a:off x="3474719" y="228600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B58FA2"/>
                </a:solidFill>
                <a:latin typeface="Arial"/>
                <a:cs typeface="Arial"/>
              </a:rPr>
              <a:t>منجمد</a:t>
            </a:r>
          </a:p>
          <a:p>
            <a:pPr rtl="1" algn="ctr">
              <a:lnSpc>
                <a:spcPts val="1700"/>
              </a:lnSpc>
              <a:spcBef>
                <a:spcPts val="0"/>
              </a:spcBef>
              <a:spcAft>
                <a:spcPts val="0"/>
              </a:spcAft>
            </a:pPr>
            <a:r>
              <a:rPr sz="1150" b="0" i="0">
                <a:solidFill>
                  <a:srgbClr val="B58FA2"/>
                </a:solidFill>
                <a:latin typeface="Arial"/>
                <a:cs typeface="Arial"/>
              </a:rPr>
              <a:t>یک بار اجرا</a:t>
            </a:r>
          </a:p>
        </p:txBody>
      </p:sp>
      <p:sp>
        <p:nvSpPr>
          <p:cNvPr id="15" name="Left Arrow 14"/>
          <p:cNvSpPr/>
          <p:nvPr/>
        </p:nvSpPr>
        <p:spPr>
          <a:xfrm>
            <a:off x="3081527" y="2286000"/>
            <a:ext cx="228600" cy="274320"/>
          </a:xfrm>
          <a:prstGeom prst="leftArrow">
            <a:avLst/>
          </a:prstGeom>
          <a:solidFill>
            <a:srgbClr val="F6C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457200" y="1737360"/>
            <a:ext cx="2560320" cy="1371600"/>
          </a:xfrm>
          <a:prstGeom prst="round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94360" y="192024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7FD8C0"/>
                </a:solidFill>
                <a:latin typeface="Arial"/>
                <a:cs typeface="Arial"/>
              </a:rPr>
              <a:t>ویژگی ذخیره‌شده</a:t>
            </a:r>
          </a:p>
        </p:txBody>
      </p:sp>
      <p:sp>
        <p:nvSpPr>
          <p:cNvPr id="18" name="TextBox 17"/>
          <p:cNvSpPr txBox="1"/>
          <p:nvPr/>
        </p:nvSpPr>
        <p:spPr>
          <a:xfrm>
            <a:off x="594360" y="228600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B58FA2"/>
                </a:solidFill>
                <a:latin typeface="Arial"/>
                <a:cs typeface="Arial"/>
              </a:rPr>
              <a:t>۱۶ در ۱۰۲۴</a:t>
            </a:r>
          </a:p>
          <a:p>
            <a:pPr rtl="1" algn="ctr">
              <a:lnSpc>
                <a:spcPts val="1700"/>
              </a:lnSpc>
              <a:spcBef>
                <a:spcPts val="0"/>
              </a:spcBef>
              <a:spcAft>
                <a:spcPts val="0"/>
              </a:spcAft>
            </a:pPr>
            <a:r>
              <a:rPr sz="1150" b="0" i="0">
                <a:solidFill>
                  <a:srgbClr val="B58FA2"/>
                </a:solidFill>
                <a:latin typeface="Arial"/>
                <a:cs typeface="Arial"/>
              </a:rPr>
              <a:t>۶۴ کیلوبایت</a:t>
            </a:r>
          </a:p>
        </p:txBody>
      </p:sp>
      <p:sp>
        <p:nvSpPr>
          <p:cNvPr id="19" name="TextBox 18"/>
          <p:cNvSpPr txBox="1"/>
          <p:nvPr/>
        </p:nvSpPr>
        <p:spPr>
          <a:xfrm>
            <a:off x="548640" y="3200400"/>
            <a:ext cx="11064240" cy="320040"/>
          </a:xfrm>
          <a:prstGeom prst="rect">
            <a:avLst/>
          </a:prstGeom>
          <a:noFill/>
        </p:spPr>
        <p:txBody>
          <a:bodyPr wrap="square" anchor="t" lIns="0" rIns="0" tIns="0" bIns="0">
            <a:spAutoFit/>
          </a:bodyPr>
          <a:lstStyle/>
          <a:p>
            <a:pPr rtl="1" algn="ctr">
              <a:spcBef>
                <a:spcPts val="0"/>
              </a:spcBef>
              <a:spcAft>
                <a:spcPts val="0"/>
              </a:spcAft>
            </a:pPr>
            <a:r>
              <a:rPr sz="1250" b="0" i="0">
                <a:solidFill>
                  <a:srgbClr val="B58FA2"/>
                </a:solidFill>
                <a:latin typeface="Arial"/>
                <a:cs typeface="Arial"/>
              </a:rPr>
              <a:t>مرحله اول — یک بار برای ۱۸۹۵ ویدیو، ۱۵۰ دقیقه</a:t>
            </a:r>
          </a:p>
        </p:txBody>
      </p:sp>
      <p:sp>
        <p:nvSpPr>
          <p:cNvPr id="20" name="Rounded Rectangle 19"/>
          <p:cNvSpPr/>
          <p:nvPr/>
        </p:nvSpPr>
        <p:spPr>
          <a:xfrm>
            <a:off x="9098280" y="3840480"/>
            <a:ext cx="2560320" cy="1371600"/>
          </a:xfrm>
          <a:prstGeom prst="round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35440" y="402336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FBEEF4"/>
                </a:solidFill>
                <a:latin typeface="Arial"/>
                <a:cs typeface="Arial"/>
              </a:rPr>
              <a:t>سر ترنسفورمر</a:t>
            </a:r>
          </a:p>
        </p:txBody>
      </p:sp>
      <p:sp>
        <p:nvSpPr>
          <p:cNvPr id="22" name="TextBox 21"/>
          <p:cNvSpPr txBox="1"/>
          <p:nvPr/>
        </p:nvSpPr>
        <p:spPr>
          <a:xfrm>
            <a:off x="9235440" y="438912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B58FA2"/>
                </a:solidFill>
                <a:latin typeface="Arial"/>
                <a:cs typeface="Arial"/>
              </a:rPr>
              <a:t>دو لایه توجه</a:t>
            </a:r>
          </a:p>
          <a:p>
            <a:pPr rtl="1" algn="ctr">
              <a:lnSpc>
                <a:spcPts val="1700"/>
              </a:lnSpc>
              <a:spcBef>
                <a:spcPts val="0"/>
              </a:spcBef>
              <a:spcAft>
                <a:spcPts val="0"/>
              </a:spcAft>
            </a:pPr>
            <a:r>
              <a:rPr sz="1150" b="0" i="0">
                <a:solidFill>
                  <a:srgbClr val="B58FA2"/>
                </a:solidFill>
                <a:latin typeface="Arial"/>
                <a:cs typeface="Arial"/>
              </a:rPr>
              <a:t>روی محور زمان</a:t>
            </a:r>
          </a:p>
        </p:txBody>
      </p:sp>
      <p:sp>
        <p:nvSpPr>
          <p:cNvPr id="23" name="Left Arrow 22"/>
          <p:cNvSpPr/>
          <p:nvPr/>
        </p:nvSpPr>
        <p:spPr>
          <a:xfrm>
            <a:off x="8842248" y="4389120"/>
            <a:ext cx="228600" cy="274320"/>
          </a:xfrm>
          <a:prstGeom prst="leftArrow">
            <a:avLst/>
          </a:prstGeom>
          <a:solidFill>
            <a:srgbClr val="F6C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6217919" y="3840480"/>
            <a:ext cx="2560320" cy="1371600"/>
          </a:xfrm>
          <a:prstGeom prst="round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55079" y="402336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FBEEF4"/>
                </a:solidFill>
                <a:latin typeface="Arial"/>
                <a:cs typeface="Arial"/>
              </a:rPr>
              <a:t>نمره هر قطعه</a:t>
            </a:r>
          </a:p>
        </p:txBody>
      </p:sp>
      <p:sp>
        <p:nvSpPr>
          <p:cNvPr id="26" name="TextBox 25"/>
          <p:cNvSpPr txBox="1"/>
          <p:nvPr/>
        </p:nvSpPr>
        <p:spPr>
          <a:xfrm>
            <a:off x="6355079" y="438912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B58FA2"/>
                </a:solidFill>
                <a:latin typeface="Arial"/>
                <a:cs typeface="Arial"/>
              </a:rPr>
              <a:t>۱۶ در ۱۴</a:t>
            </a:r>
          </a:p>
        </p:txBody>
      </p:sp>
      <p:sp>
        <p:nvSpPr>
          <p:cNvPr id="27" name="Left Arrow 26"/>
          <p:cNvSpPr/>
          <p:nvPr/>
        </p:nvSpPr>
        <p:spPr>
          <a:xfrm>
            <a:off x="5961887" y="4389120"/>
            <a:ext cx="228600" cy="274320"/>
          </a:xfrm>
          <a:prstGeom prst="leftArrow">
            <a:avLst/>
          </a:prstGeom>
          <a:solidFill>
            <a:srgbClr val="F6C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3337559" y="3840480"/>
            <a:ext cx="2560320" cy="1371600"/>
          </a:xfrm>
          <a:prstGeom prst="round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3474719" y="402336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FF6FA5"/>
                </a:solidFill>
                <a:latin typeface="Arial"/>
                <a:cs typeface="Arial"/>
              </a:rPr>
              <a:t>تصمیم دومرحله‌ای</a:t>
            </a:r>
          </a:p>
        </p:txBody>
      </p:sp>
      <p:sp>
        <p:nvSpPr>
          <p:cNvPr id="30" name="TextBox 29"/>
          <p:cNvSpPr txBox="1"/>
          <p:nvPr/>
        </p:nvSpPr>
        <p:spPr>
          <a:xfrm>
            <a:off x="3474719" y="438912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B58FA2"/>
                </a:solidFill>
                <a:latin typeface="Arial"/>
                <a:cs typeface="Arial"/>
              </a:rPr>
              <a:t>وجود، سپس نوع</a:t>
            </a:r>
          </a:p>
        </p:txBody>
      </p:sp>
      <p:sp>
        <p:nvSpPr>
          <p:cNvPr id="31" name="Left Arrow 30"/>
          <p:cNvSpPr/>
          <p:nvPr/>
        </p:nvSpPr>
        <p:spPr>
          <a:xfrm>
            <a:off x="3081527" y="4389120"/>
            <a:ext cx="228600" cy="274320"/>
          </a:xfrm>
          <a:prstGeom prst="leftArrow">
            <a:avLst/>
          </a:prstGeom>
          <a:solidFill>
            <a:srgbClr val="F6C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457200" y="3840480"/>
            <a:ext cx="2560320" cy="1371600"/>
          </a:xfrm>
          <a:prstGeom prst="round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94360" y="402336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7FD8C0"/>
                </a:solidFill>
                <a:latin typeface="Arial"/>
                <a:cs typeface="Arial"/>
              </a:rPr>
              <a:t>برچسب نهایی</a:t>
            </a:r>
          </a:p>
        </p:txBody>
      </p:sp>
      <p:sp>
        <p:nvSpPr>
          <p:cNvPr id="34" name="TextBox 33"/>
          <p:cNvSpPr txBox="1"/>
          <p:nvPr/>
        </p:nvSpPr>
        <p:spPr>
          <a:xfrm>
            <a:off x="594360" y="438912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B58FA2"/>
                </a:solidFill>
                <a:latin typeface="Arial"/>
                <a:cs typeface="Arial"/>
              </a:rPr>
              <a:t>یکی از ۱۴ کلاس</a:t>
            </a:r>
          </a:p>
        </p:txBody>
      </p:sp>
      <p:sp>
        <p:nvSpPr>
          <p:cNvPr id="35" name="TextBox 34"/>
          <p:cNvSpPr txBox="1"/>
          <p:nvPr/>
        </p:nvSpPr>
        <p:spPr>
          <a:xfrm>
            <a:off x="548640" y="5303520"/>
            <a:ext cx="11064240" cy="320040"/>
          </a:xfrm>
          <a:prstGeom prst="rect">
            <a:avLst/>
          </a:prstGeom>
          <a:noFill/>
        </p:spPr>
        <p:txBody>
          <a:bodyPr wrap="square" anchor="t" lIns="0" rIns="0" tIns="0" bIns="0">
            <a:spAutoFit/>
          </a:bodyPr>
          <a:lstStyle/>
          <a:p>
            <a:pPr rtl="1" algn="ctr">
              <a:spcBef>
                <a:spcPts val="0"/>
              </a:spcBef>
              <a:spcAft>
                <a:spcPts val="0"/>
              </a:spcAft>
            </a:pPr>
            <a:r>
              <a:rPr sz="1250" b="0" i="0">
                <a:solidFill>
                  <a:srgbClr val="B58FA2"/>
                </a:solidFill>
                <a:latin typeface="Arial"/>
                <a:cs typeface="Arial"/>
              </a:rPr>
              <a:t>مرحله دوم — هر پیکربندی، ۸۰ ثانیه</a:t>
            </a:r>
          </a:p>
        </p:txBody>
      </p:sp>
      <p:sp>
        <p:nvSpPr>
          <p:cNvPr id="36" name="TextBox 35"/>
          <p:cNvSpPr txBox="1"/>
          <p:nvPr/>
        </p:nvSpPr>
        <p:spPr>
          <a:xfrm>
            <a:off x="548640" y="5806440"/>
            <a:ext cx="11064240" cy="365760"/>
          </a:xfrm>
          <a:prstGeom prst="rect">
            <a:avLst/>
          </a:prstGeom>
          <a:noFill/>
        </p:spPr>
        <p:txBody>
          <a:bodyPr wrap="square" anchor="t" lIns="0" rIns="0" tIns="0" bIns="0">
            <a:spAutoFit/>
          </a:bodyPr>
          <a:lstStyle/>
          <a:p>
            <a:pPr rtl="1" algn="ctr">
              <a:spcBef>
                <a:spcPts val="0"/>
              </a:spcBef>
              <a:spcAft>
                <a:spcPts val="0"/>
              </a:spcAft>
            </a:pPr>
            <a:r>
              <a:rPr sz="1300" b="1" i="0">
                <a:solidFill>
                  <a:srgbClr val="FF6FA5"/>
                </a:solidFill>
                <a:latin typeface="Arial"/>
                <a:cs typeface="Arial"/>
              </a:rPr>
              <a:t>تنها بخشی که ما آموزش دادیم، سر طبقه‌بند است: کمتر از دو درصد پارامترهای کل سیستم.</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FBEEF4"/>
                </a:solidFill>
                <a:latin typeface="Arial"/>
                <a:cs typeface="Arial"/>
              </a:rPr>
              <a:t>سر ترنسفورمر روی محور زمان</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FF6FA5"/>
                </a:solidFill>
                <a:latin typeface="Arial"/>
                <a:cs typeface="Arial"/>
              </a:rPr>
              <a:t>مسیر دوم</a:t>
            </a:r>
          </a:p>
        </p:txBody>
      </p:sp>
      <p:sp>
        <p:nvSpPr>
          <p:cNvPr id="4" name="Rounded Rectangle 3"/>
          <p:cNvSpPr/>
          <p:nvPr/>
        </p:nvSpPr>
        <p:spPr>
          <a:xfrm>
            <a:off x="548640" y="1645920"/>
            <a:ext cx="5394960" cy="2103120"/>
          </a:xfrm>
          <a:prstGeom prst="round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828800"/>
            <a:ext cx="47548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B58FA2"/>
                </a:solidFill>
                <a:latin typeface="Arial"/>
                <a:cs typeface="Arial"/>
              </a:rPr>
              <a:t>مشکل: قطعه تنها مبهم است</a:t>
            </a:r>
          </a:p>
        </p:txBody>
      </p:sp>
      <p:sp>
        <p:nvSpPr>
          <p:cNvPr id="6" name="TextBox 5"/>
          <p:cNvSpPr txBox="1"/>
          <p:nvPr/>
        </p:nvSpPr>
        <p:spPr>
          <a:xfrm>
            <a:off x="868680" y="2240280"/>
            <a:ext cx="4754880" cy="128016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F0DCE6"/>
                </a:solidFill>
                <a:latin typeface="Arial"/>
                <a:cs typeface="Arial"/>
              </a:rPr>
              <a:t>یک قطعه سه‌ثانیه‌ای داخل مغازه، در دزدی از مغازه و سرقت مسلحانه ظاهر یکسانی دارد. سر نقطه‌ای اطلاعات لازم را اصولاً در اختیار ندارد.</a:t>
            </a:r>
          </a:p>
        </p:txBody>
      </p:sp>
      <p:sp>
        <p:nvSpPr>
          <p:cNvPr id="7" name="Rounded Rectangle 6"/>
          <p:cNvSpPr/>
          <p:nvPr/>
        </p:nvSpPr>
        <p:spPr>
          <a:xfrm>
            <a:off x="6217920" y="1645920"/>
            <a:ext cx="5394960" cy="2103120"/>
          </a:xfrm>
          <a:prstGeom prst="round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537960" y="1828800"/>
            <a:ext cx="47548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FF6FA5"/>
                </a:solidFill>
                <a:latin typeface="Arial"/>
                <a:cs typeface="Arial"/>
              </a:rPr>
              <a:t>راه حل: خودتوجهی میان قطعه‌ها</a:t>
            </a:r>
          </a:p>
        </p:txBody>
      </p:sp>
      <p:sp>
        <p:nvSpPr>
          <p:cNvPr id="9" name="TextBox 8"/>
          <p:cNvSpPr txBox="1"/>
          <p:nvPr/>
        </p:nvSpPr>
        <p:spPr>
          <a:xfrm>
            <a:off x="6537960" y="2240280"/>
            <a:ext cx="4754880" cy="128016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F0DCE6"/>
                </a:solidFill>
                <a:latin typeface="Arial"/>
                <a:cs typeface="Arial"/>
              </a:rPr>
              <a:t>یک جدول ۱۶ در ۱۶ می‌گوید هر قطعه چقدر به هر قطعه دیگر توجه کند. بردار جدید هر قطعه، جمع وزن‌دار همه قطعه‌هاست.</a:t>
            </a:r>
          </a:p>
        </p:txBody>
      </p:sp>
      <p:sp>
        <p:nvSpPr>
          <p:cNvPr id="10" name="TextBox 9"/>
          <p:cNvSpPr txBox="1"/>
          <p:nvPr/>
        </p:nvSpPr>
        <p:spPr>
          <a:xfrm>
            <a:off x="548640" y="3977639"/>
            <a:ext cx="539496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FBEEF4"/>
                </a:solidFill>
                <a:latin typeface="Arial"/>
                <a:cs typeface="Arial"/>
              </a:rPr>
              <a:t>پیکربندی</a:t>
            </a:r>
          </a:p>
        </p:txBody>
      </p:sp>
      <p:graphicFrame>
        <p:nvGraphicFramePr>
          <p:cNvPr id="11" name="Table 10"/>
          <p:cNvGraphicFramePr>
            <a:graphicFrameLocks noGrp="1"/>
          </p:cNvGraphicFramePr>
          <p:nvPr/>
        </p:nvGraphicFramePr>
        <p:xfrm>
          <a:off x="548640" y="4389120"/>
          <a:ext cx="5394960" cy="1645920"/>
        </p:xfrm>
        <a:graphic>
          <a:graphicData uri="http://schemas.openxmlformats.org/drawingml/2006/table">
            <a:tbl>
              <a:tblPr firstRow="0" bandRow="0">
                <a:tableStyleId>{5C22544A-7EE6-4342-B048-85BDC9FD1C3A}</a:tableStyleId>
              </a:tblPr>
              <a:tblGrid>
                <a:gridCol w="3108960"/>
                <a:gridCol w="2286000"/>
              </a:tblGrid>
              <a:tr h="274320">
                <a:tc>
                  <a:txBody>
                    <a:bodyPr wrap="square"/>
                    <a:lstStyle/>
                    <a:p>
                      <a:pPr rtl="1" algn="ctr">
                        <a:spcBef>
                          <a:spcPts val="0"/>
                        </a:spcBef>
                        <a:spcAft>
                          <a:spcPts val="0"/>
                        </a:spcAft>
                      </a:pPr>
                      <a:r>
                        <a:rPr sz="1150" b="1" i="0">
                          <a:solidFill>
                            <a:srgbClr val="FF6FA5"/>
                          </a:solidFill>
                          <a:latin typeface="Arial"/>
                          <a:cs typeface="Arial"/>
                        </a:rPr>
                        <a:t>پارامتر</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150" b="1" i="0">
                          <a:solidFill>
                            <a:srgbClr val="FF6FA5"/>
                          </a:solidFill>
                          <a:latin typeface="Arial"/>
                          <a:cs typeface="Arial"/>
                        </a:rPr>
                        <a:t>مقدار</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r>
              <a:tr h="274320">
                <a:tc>
                  <a:txBody>
                    <a:bodyPr wrap="square"/>
                    <a:lstStyle/>
                    <a:p>
                      <a:pPr rtl="1" algn="r">
                        <a:spcBef>
                          <a:spcPts val="0"/>
                        </a:spcBef>
                        <a:spcAft>
                          <a:spcPts val="0"/>
                        </a:spcAft>
                      </a:pPr>
                      <a:r>
                        <a:rPr sz="1150" b="0" i="0">
                          <a:solidFill>
                            <a:srgbClr val="F0DCE6"/>
                          </a:solidFill>
                          <a:latin typeface="Arial"/>
                          <a:cs typeface="Arial"/>
                        </a:rPr>
                        <a:t>بعد پنهان</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50" b="0" i="0">
                          <a:solidFill>
                            <a:srgbClr val="F0DCE6"/>
                          </a:solidFill>
                          <a:latin typeface="Arial"/>
                          <a:cs typeface="Arial"/>
                        </a:rPr>
                        <a:t>512</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274320">
                <a:tc>
                  <a:txBody>
                    <a:bodyPr wrap="square"/>
                    <a:lstStyle/>
                    <a:p>
                      <a:pPr rtl="1" algn="r">
                        <a:spcBef>
                          <a:spcPts val="0"/>
                        </a:spcBef>
                        <a:spcAft>
                          <a:spcPts val="0"/>
                        </a:spcAft>
                      </a:pPr>
                      <a:r>
                        <a:rPr sz="1150" b="0" i="0">
                          <a:solidFill>
                            <a:srgbClr val="F0DCE6"/>
                          </a:solidFill>
                          <a:latin typeface="Arial"/>
                          <a:cs typeface="Arial"/>
                        </a:rPr>
                        <a:t>سرهای توجه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50" b="0" i="0">
                          <a:solidFill>
                            <a:srgbClr val="F0DCE6"/>
                          </a:solidFill>
                          <a:latin typeface="Arial"/>
                          <a:cs typeface="Arial"/>
                        </a:rPr>
                        <a:t>4</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274320">
                <a:tc>
                  <a:txBody>
                    <a:bodyPr wrap="square"/>
                    <a:lstStyle/>
                    <a:p>
                      <a:pPr rtl="1" algn="r">
                        <a:spcBef>
                          <a:spcPts val="0"/>
                        </a:spcBef>
                        <a:spcAft>
                          <a:spcPts val="0"/>
                        </a:spcAft>
                      </a:pPr>
                      <a:r>
                        <a:rPr sz="1150" b="0" i="0">
                          <a:solidFill>
                            <a:srgbClr val="F0DCE6"/>
                          </a:solidFill>
                          <a:latin typeface="Arial"/>
                          <a:cs typeface="Arial"/>
                        </a:rPr>
                        <a:t>لایه‌ها</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50" b="0" i="0">
                          <a:solidFill>
                            <a:srgbClr val="F0DCE6"/>
                          </a:solidFill>
                          <a:latin typeface="Arial"/>
                          <a:cs typeface="Arial"/>
                        </a:rPr>
                        <a:t>2</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274320">
                <a:tc>
                  <a:txBody>
                    <a:bodyPr wrap="square"/>
                    <a:lstStyle/>
                    <a:p>
                      <a:pPr rtl="1" algn="r">
                        <a:spcBef>
                          <a:spcPts val="0"/>
                        </a:spcBef>
                        <a:spcAft>
                          <a:spcPts val="0"/>
                        </a:spcAft>
                      </a:pPr>
                      <a:r>
                        <a:rPr sz="1150" b="0" i="0">
                          <a:solidFill>
                            <a:srgbClr val="F0DCE6"/>
                          </a:solidFill>
                          <a:latin typeface="Arial"/>
                          <a:cs typeface="Arial"/>
                        </a:rPr>
                        <a:t>حذف تصادفی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50" b="0" i="0">
                          <a:solidFill>
                            <a:srgbClr val="F0DCE6"/>
                          </a:solidFill>
                          <a:latin typeface="Arial"/>
                          <a:cs typeface="Arial"/>
                        </a:rPr>
                        <a:t>0.3</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274320">
                <a:tc>
                  <a:txBody>
                    <a:bodyPr wrap="square"/>
                    <a:lstStyle/>
                    <a:p>
                      <a:pPr rtl="1" algn="r">
                        <a:spcBef>
                          <a:spcPts val="0"/>
                        </a:spcBef>
                        <a:spcAft>
                          <a:spcPts val="0"/>
                        </a:spcAft>
                      </a:pPr>
                      <a:r>
                        <a:rPr sz="1150" b="0" i="0">
                          <a:solidFill>
                            <a:srgbClr val="F0DCE6"/>
                          </a:solidFill>
                          <a:latin typeface="Arial"/>
                          <a:cs typeface="Arial"/>
                        </a:rPr>
                        <a:t>پارامترها</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50" b="0" i="0">
                          <a:solidFill>
                            <a:srgbClr val="F0DCE6"/>
                          </a:solidFill>
                          <a:latin typeface="Arial"/>
                          <a:cs typeface="Arial"/>
                        </a:rPr>
                        <a:t>4,772,366</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bl>
          </a:graphicData>
        </a:graphic>
      </p:graphicFrame>
      <p:sp>
        <p:nvSpPr>
          <p:cNvPr id="12" name="TextBox 11"/>
          <p:cNvSpPr txBox="1"/>
          <p:nvPr/>
        </p:nvSpPr>
        <p:spPr>
          <a:xfrm>
            <a:off x="6217920" y="3977639"/>
            <a:ext cx="539496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FBEEF4"/>
                </a:solidFill>
                <a:latin typeface="Arial"/>
                <a:cs typeface="Arial"/>
              </a:rPr>
              <a:t>نتیجه</a:t>
            </a:r>
          </a:p>
        </p:txBody>
      </p:sp>
      <p:graphicFrame>
        <p:nvGraphicFramePr>
          <p:cNvPr id="13" name="Table 12"/>
          <p:cNvGraphicFramePr>
            <a:graphicFrameLocks noGrp="1"/>
          </p:cNvGraphicFramePr>
          <p:nvPr/>
        </p:nvGraphicFramePr>
        <p:xfrm>
          <a:off x="6217920" y="4389120"/>
          <a:ext cx="5394960" cy="1152144"/>
        </p:xfrm>
        <a:graphic>
          <a:graphicData uri="http://schemas.openxmlformats.org/drawingml/2006/table">
            <a:tbl>
              <a:tblPr firstRow="0" bandRow="0">
                <a:tableStyleId>{5C22544A-7EE6-4342-B048-85BDC9FD1C3A}</a:tableStyleId>
              </a:tblPr>
              <a:tblGrid>
                <a:gridCol w="2926080"/>
                <a:gridCol w="2468880"/>
              </a:tblGrid>
              <a:tr h="384048">
                <a:tc>
                  <a:txBody>
                    <a:bodyPr wrap="square"/>
                    <a:lstStyle/>
                    <a:p>
                      <a:pPr rtl="1" algn="ctr">
                        <a:spcBef>
                          <a:spcPts val="0"/>
                        </a:spcBef>
                        <a:spcAft>
                          <a:spcPts val="0"/>
                        </a:spcAft>
                      </a:pPr>
                      <a:r>
                        <a:rPr sz="1250" b="1" i="0">
                          <a:solidFill>
                            <a:srgbClr val="FF6FA5"/>
                          </a:solidFill>
                          <a:latin typeface="Arial"/>
                          <a:cs typeface="Arial"/>
                        </a:rPr>
                        <a:t>سر طبقه‌بند</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50" b="1" i="0">
                          <a:solidFill>
                            <a:srgbClr val="FF6FA5"/>
                          </a:solidFill>
                          <a:latin typeface="Arial"/>
                          <a:cs typeface="Arial"/>
                        </a:rPr>
                        <a:t>ماکرو F1، میانگین ۵ بذر</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r>
              <a:tr h="384048">
                <a:tc>
                  <a:txBody>
                    <a:bodyPr wrap="square"/>
                    <a:lstStyle/>
                    <a:p>
                      <a:pPr rtl="1" algn="r">
                        <a:spcBef>
                          <a:spcPts val="0"/>
                        </a:spcBef>
                        <a:spcAft>
                          <a:spcPts val="0"/>
                        </a:spcAft>
                      </a:pPr>
                      <a:r>
                        <a:rPr sz="1250" b="0" i="0">
                          <a:solidFill>
                            <a:srgbClr val="F0DCE6"/>
                          </a:solidFill>
                          <a:latin typeface="Arial"/>
                          <a:cs typeface="Arial"/>
                        </a:rPr>
                        <a:t>سر نقطه‌ای — خط پایه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50" b="0" i="0">
                          <a:solidFill>
                            <a:srgbClr val="F0DCE6"/>
                          </a:solidFill>
                          <a:latin typeface="Arial"/>
                          <a:cs typeface="Arial"/>
                        </a:rPr>
                        <a:t>0.3049</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84048">
                <a:tc>
                  <a:txBody>
                    <a:bodyPr wrap="square"/>
                    <a:lstStyle/>
                    <a:p>
                      <a:pPr rtl="1" algn="r">
                        <a:spcBef>
                          <a:spcPts val="0"/>
                        </a:spcBef>
                        <a:spcAft>
                          <a:spcPts val="0"/>
                        </a:spcAft>
                      </a:pPr>
                      <a:r>
                        <a:rPr sz="1250" b="1" i="0">
                          <a:solidFill>
                            <a:srgbClr val="FFA0C4"/>
                          </a:solidFill>
                          <a:latin typeface="Arial"/>
                          <a:cs typeface="Arial"/>
                        </a:rPr>
                        <a:t>سر ترنسفورمر زمانی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250" b="1" i="0">
                          <a:solidFill>
                            <a:srgbClr val="FFA0C4"/>
                          </a:solidFill>
                          <a:latin typeface="Arial"/>
                          <a:cs typeface="Arial"/>
                        </a:rPr>
                        <a:t>0.3480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r>
            </a:tbl>
          </a:graphicData>
        </a:graphic>
      </p:graphicFrame>
      <p:sp>
        <p:nvSpPr>
          <p:cNvPr id="14" name="TextBox 13"/>
          <p:cNvSpPr txBox="1"/>
          <p:nvPr/>
        </p:nvSpPr>
        <p:spPr>
          <a:xfrm>
            <a:off x="6217920" y="5715000"/>
            <a:ext cx="5394960" cy="64008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F0DCE6"/>
                </a:solidFill>
                <a:latin typeface="Arial"/>
                <a:cs typeface="Arial"/>
              </a:rPr>
              <a:t>هر پنج بذر سر زمانی از بهترین بذر سر نقطه‌ای بالاتر بود.</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FBEEF4"/>
                </a:solidFill>
                <a:latin typeface="Arial"/>
                <a:cs typeface="Arial"/>
              </a:rPr>
              <a:t>ارتقای ظرفیت رمزگذار</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FF6FA5"/>
                </a:solidFill>
                <a:latin typeface="Arial"/>
                <a:cs typeface="Arial"/>
              </a:rPr>
              <a:t>مسیر دوم</a:t>
            </a:r>
          </a:p>
        </p:txBody>
      </p:sp>
      <p:graphicFrame>
        <p:nvGraphicFramePr>
          <p:cNvPr id="4" name="Table 3"/>
          <p:cNvGraphicFramePr>
            <a:graphicFrameLocks noGrp="1"/>
          </p:cNvGraphicFramePr>
          <p:nvPr/>
        </p:nvGraphicFramePr>
        <p:xfrm>
          <a:off x="548640" y="1691640"/>
          <a:ext cx="6583680" cy="2560320"/>
        </p:xfrm>
        <a:graphic>
          <a:graphicData uri="http://schemas.openxmlformats.org/drawingml/2006/table">
            <a:tbl>
              <a:tblPr firstRow="0" bandRow="0">
                <a:tableStyleId>{5C22544A-7EE6-4342-B048-85BDC9FD1C3A}</a:tableStyleId>
              </a:tblPr>
              <a:tblGrid>
                <a:gridCol w="2926080"/>
                <a:gridCol w="1828800"/>
                <a:gridCol w="1828800"/>
              </a:tblGrid>
              <a:tr h="365760">
                <a:tc>
                  <a:txBody>
                    <a:bodyPr wrap="square"/>
                    <a:lstStyle/>
                    <a:p>
                      <a:pPr rtl="1" algn="ctr">
                        <a:spcBef>
                          <a:spcPts val="0"/>
                        </a:spcBef>
                        <a:spcAft>
                          <a:spcPts val="0"/>
                        </a:spcAft>
                      </a:pPr>
                      <a:r>
                        <a:rPr sz="1250" b="1" i="0">
                          <a:solidFill>
                            <a:srgbClr val="FF6FA5"/>
                          </a:solidFill>
                          <a:latin typeface="Arial"/>
                          <a:cs typeface="Arial"/>
                        </a:rPr>
                        <a:t>مورد</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50" b="1" i="0">
                          <a:solidFill>
                            <a:srgbClr val="FF6FA5"/>
                          </a:solidFill>
                          <a:latin typeface="Arial"/>
                          <a:cs typeface="Arial"/>
                        </a:rPr>
                        <a:t>ViT-B</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50" b="1" i="0">
                          <a:solidFill>
                            <a:srgbClr val="FF6FA5"/>
                          </a:solidFill>
                          <a:latin typeface="Arial"/>
                          <a:cs typeface="Arial"/>
                        </a:rPr>
                        <a:t>ViT-L</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r>
              <a:tr h="365760">
                <a:tc>
                  <a:txBody>
                    <a:bodyPr wrap="square"/>
                    <a:lstStyle/>
                    <a:p>
                      <a:pPr rtl="1" algn="r">
                        <a:spcBef>
                          <a:spcPts val="0"/>
                        </a:spcBef>
                        <a:spcAft>
                          <a:spcPts val="0"/>
                        </a:spcAft>
                      </a:pPr>
                      <a:r>
                        <a:rPr sz="1250" b="0" i="0">
                          <a:solidFill>
                            <a:srgbClr val="F0DCE6"/>
                          </a:solidFill>
                          <a:latin typeface="Arial"/>
                          <a:cs typeface="Arial"/>
                        </a:rPr>
                        <a:t>تعداد لایه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50" b="0" i="0">
                          <a:solidFill>
                            <a:srgbClr val="F0DCE6"/>
                          </a:solidFill>
                          <a:latin typeface="Arial"/>
                          <a:cs typeface="Arial"/>
                        </a:rPr>
                        <a:t>12</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50" b="0" i="0">
                          <a:solidFill>
                            <a:srgbClr val="F0DCE6"/>
                          </a:solidFill>
                          <a:latin typeface="Arial"/>
                          <a:cs typeface="Arial"/>
                        </a:rPr>
                        <a:t>24</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65760">
                <a:tc>
                  <a:txBody>
                    <a:bodyPr wrap="square"/>
                    <a:lstStyle/>
                    <a:p>
                      <a:pPr rtl="1" algn="r">
                        <a:spcBef>
                          <a:spcPts val="0"/>
                        </a:spcBef>
                        <a:spcAft>
                          <a:spcPts val="0"/>
                        </a:spcAft>
                      </a:pPr>
                      <a:r>
                        <a:rPr sz="1250" b="0" i="0">
                          <a:solidFill>
                            <a:srgbClr val="F0DCE6"/>
                          </a:solidFill>
                          <a:latin typeface="Arial"/>
                          <a:cs typeface="Arial"/>
                        </a:rPr>
                        <a:t>پهنای بردار</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50" b="0" i="0">
                          <a:solidFill>
                            <a:srgbClr val="F0DCE6"/>
                          </a:solidFill>
                          <a:latin typeface="Arial"/>
                          <a:cs typeface="Arial"/>
                        </a:rPr>
                        <a:t>768</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50" b="0" i="0">
                          <a:solidFill>
                            <a:srgbClr val="F0DCE6"/>
                          </a:solidFill>
                          <a:latin typeface="Arial"/>
                          <a:cs typeface="Arial"/>
                        </a:rPr>
                        <a:t>1024</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65760">
                <a:tc>
                  <a:txBody>
                    <a:bodyPr wrap="square"/>
                    <a:lstStyle/>
                    <a:p>
                      <a:pPr rtl="1" algn="r">
                        <a:spcBef>
                          <a:spcPts val="0"/>
                        </a:spcBef>
                        <a:spcAft>
                          <a:spcPts val="0"/>
                        </a:spcAft>
                      </a:pPr>
                      <a:r>
                        <a:rPr sz="1250" b="0" i="0">
                          <a:solidFill>
                            <a:srgbClr val="F0DCE6"/>
                          </a:solidFill>
                          <a:latin typeface="Arial"/>
                          <a:cs typeface="Arial"/>
                        </a:rPr>
                        <a:t>پارامترها</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50" b="0" i="0">
                          <a:solidFill>
                            <a:srgbClr val="F0DCE6"/>
                          </a:solidFill>
                          <a:latin typeface="Arial"/>
                          <a:cs typeface="Arial"/>
                        </a:rPr>
                        <a:t>≈ 87 میلیون</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50" b="0" i="0">
                          <a:solidFill>
                            <a:srgbClr val="F0DCE6"/>
                          </a:solidFill>
                          <a:latin typeface="Arial"/>
                          <a:cs typeface="Arial"/>
                        </a:rPr>
                        <a:t>≈ 300 میلیون</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65760">
                <a:tc>
                  <a:txBody>
                    <a:bodyPr wrap="square"/>
                    <a:lstStyle/>
                    <a:p>
                      <a:pPr rtl="1" algn="r">
                        <a:spcBef>
                          <a:spcPts val="0"/>
                        </a:spcBef>
                        <a:spcAft>
                          <a:spcPts val="0"/>
                        </a:spcAft>
                      </a:pPr>
                      <a:r>
                        <a:rPr sz="1250" b="0" i="0">
                          <a:solidFill>
                            <a:srgbClr val="F0DCE6"/>
                          </a:solidFill>
                          <a:latin typeface="Arial"/>
                          <a:cs typeface="Arial"/>
                        </a:rPr>
                        <a:t>اندازه وصله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50" b="0" i="0">
                          <a:solidFill>
                            <a:srgbClr val="F0DCE6"/>
                          </a:solidFill>
                          <a:latin typeface="Arial"/>
                          <a:cs typeface="Arial"/>
                        </a:rPr>
                        <a:t>16 × 16</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50" b="0" i="0">
                          <a:solidFill>
                            <a:srgbClr val="F0DCE6"/>
                          </a:solidFill>
                          <a:latin typeface="Arial"/>
                          <a:cs typeface="Arial"/>
                        </a:rPr>
                        <a:t>16 × 16</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65760">
                <a:tc>
                  <a:txBody>
                    <a:bodyPr wrap="square"/>
                    <a:lstStyle/>
                    <a:p>
                      <a:pPr rtl="1" algn="r">
                        <a:spcBef>
                          <a:spcPts val="0"/>
                        </a:spcBef>
                        <a:spcAft>
                          <a:spcPts val="0"/>
                        </a:spcAft>
                      </a:pPr>
                      <a:r>
                        <a:rPr sz="1250" b="1" i="0">
                          <a:solidFill>
                            <a:srgbClr val="FFA0C4"/>
                          </a:solidFill>
                          <a:latin typeface="Arial"/>
                          <a:cs typeface="Arial"/>
                        </a:rPr>
                        <a:t>ماکرو F1، میانگین ۵ بذر</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250" b="1" i="0">
                          <a:solidFill>
                            <a:srgbClr val="FFA0C4"/>
                          </a:solidFill>
                          <a:latin typeface="Arial"/>
                          <a:cs typeface="Arial"/>
                        </a:rPr>
                        <a:t>0.3405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250" b="1" i="0">
                          <a:solidFill>
                            <a:srgbClr val="FFA0C4"/>
                          </a:solidFill>
                          <a:latin typeface="Arial"/>
                          <a:cs typeface="Arial"/>
                        </a:rPr>
                        <a:t>0.3955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r>
              <a:tr h="365760">
                <a:tc>
                  <a:txBody>
                    <a:bodyPr wrap="square"/>
                    <a:lstStyle/>
                    <a:p>
                      <a:pPr rtl="1" algn="r">
                        <a:spcBef>
                          <a:spcPts val="0"/>
                        </a:spcBef>
                        <a:spcAft>
                          <a:spcPts val="0"/>
                        </a:spcAft>
                      </a:pPr>
                      <a:r>
                        <a:rPr sz="1250" b="1" i="0">
                          <a:solidFill>
                            <a:srgbClr val="FFA0C4"/>
                          </a:solidFill>
                          <a:latin typeface="Arial"/>
                          <a:cs typeface="Arial"/>
                        </a:rPr>
                        <a:t>ماکرو F1، نتیجه گروهی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250" b="1" i="0">
                          <a:solidFill>
                            <a:srgbClr val="FFA0C4"/>
                          </a:solidFill>
                          <a:latin typeface="Arial"/>
                          <a:cs typeface="Arial"/>
                        </a:rPr>
                        <a:t>0.3645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250" b="1" i="0">
                          <a:solidFill>
                            <a:srgbClr val="FFA0C4"/>
                          </a:solidFill>
                          <a:latin typeface="Arial"/>
                          <a:cs typeface="Arial"/>
                        </a:rPr>
                        <a:t>0.4122</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r>
            </a:tbl>
          </a:graphicData>
        </a:graphic>
      </p:graphicFrame>
      <p:sp>
        <p:nvSpPr>
          <p:cNvPr id="5" name="Rounded Rectangle 4"/>
          <p:cNvSpPr/>
          <p:nvPr/>
        </p:nvSpPr>
        <p:spPr>
          <a:xfrm>
            <a:off x="7406640" y="1691640"/>
            <a:ext cx="4206240" cy="2148840"/>
          </a:xfrm>
          <a:prstGeom prst="round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680960" y="1874519"/>
            <a:ext cx="365760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FF6FA5"/>
                </a:solidFill>
                <a:latin typeface="Arial"/>
                <a:cs typeface="Arial"/>
              </a:rPr>
              <a:t>نکته‌ای که نباید اشتباه گفت</a:t>
            </a:r>
          </a:p>
        </p:txBody>
      </p:sp>
      <p:sp>
        <p:nvSpPr>
          <p:cNvPr id="7" name="TextBox 6"/>
          <p:cNvSpPr txBox="1"/>
          <p:nvPr/>
        </p:nvSpPr>
        <p:spPr>
          <a:xfrm>
            <a:off x="7680960" y="2286000"/>
            <a:ext cx="3657600" cy="137160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F0DCE6"/>
                </a:solidFill>
                <a:latin typeface="Arial"/>
                <a:cs typeface="Arial"/>
              </a:rPr>
              <a:t>اندازه وصله در هر دو یکسان است، پس تعداد وصله‌ها فرق نمی‌کند. بهبود از ظرفیت مدل می‌آید، نه از وضوح مکانی بیشتر.</a:t>
            </a:r>
          </a:p>
        </p:txBody>
      </p:sp>
      <p:sp>
        <p:nvSpPr>
          <p:cNvPr id="8" name="TextBox 7"/>
          <p:cNvSpPr txBox="1"/>
          <p:nvPr/>
        </p:nvSpPr>
        <p:spPr>
          <a:xfrm>
            <a:off x="548640" y="4206240"/>
            <a:ext cx="1106424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FBEEF4"/>
                </a:solidFill>
                <a:latin typeface="Arial"/>
                <a:cs typeface="Arial"/>
              </a:rPr>
              <a:t>چرا این تنها بهبود قطعی پروژه است</a:t>
            </a:r>
          </a:p>
        </p:txBody>
      </p:sp>
      <p:sp>
        <p:nvSpPr>
          <p:cNvPr id="9" name="Rounded Rectangle 8"/>
          <p:cNvSpPr/>
          <p:nvPr/>
        </p:nvSpPr>
        <p:spPr>
          <a:xfrm>
            <a:off x="548640" y="4663440"/>
            <a:ext cx="3566160" cy="1371600"/>
          </a:xfrm>
          <a:prstGeom prst="round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2959" y="4846320"/>
            <a:ext cx="301752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B58FA2"/>
                </a:solidFill>
                <a:latin typeface="Arial"/>
                <a:cs typeface="Arial"/>
              </a:rPr>
              <a:t>بازه پنج بذر ViT-B</a:t>
            </a:r>
          </a:p>
        </p:txBody>
      </p:sp>
      <p:sp>
        <p:nvSpPr>
          <p:cNvPr id="11" name="TextBox 10"/>
          <p:cNvSpPr txBox="1"/>
          <p:nvPr/>
        </p:nvSpPr>
        <p:spPr>
          <a:xfrm>
            <a:off x="822959" y="5166360"/>
            <a:ext cx="3017520" cy="457200"/>
          </a:xfrm>
          <a:prstGeom prst="rect">
            <a:avLst/>
          </a:prstGeom>
          <a:noFill/>
        </p:spPr>
        <p:txBody>
          <a:bodyPr wrap="square" anchor="t" lIns="0" rIns="0" tIns="0" bIns="0">
            <a:spAutoFit/>
          </a:bodyPr>
          <a:lstStyle/>
          <a:p>
            <a:pPr rtl="0" algn="r">
              <a:spcBef>
                <a:spcPts val="0"/>
              </a:spcBef>
              <a:spcAft>
                <a:spcPts val="0"/>
              </a:spcAft>
            </a:pPr>
            <a:r>
              <a:rPr sz="2000" b="1" i="0">
                <a:solidFill>
                  <a:srgbClr val="FF8A80"/>
                </a:solidFill>
                <a:latin typeface="Arial"/>
                <a:cs typeface="Arial"/>
              </a:rPr>
              <a:t>0.310 — 0.354</a:t>
            </a:r>
          </a:p>
        </p:txBody>
      </p:sp>
      <p:sp>
        <p:nvSpPr>
          <p:cNvPr id="12" name="Rounded Rectangle 11"/>
          <p:cNvSpPr/>
          <p:nvPr/>
        </p:nvSpPr>
        <p:spPr>
          <a:xfrm>
            <a:off x="4297680" y="4663440"/>
            <a:ext cx="3566160" cy="1371600"/>
          </a:xfrm>
          <a:prstGeom prst="roundRect">
            <a:avLst/>
          </a:prstGeom>
          <a:solidFill>
            <a:srgbClr val="1F3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72000" y="4846320"/>
            <a:ext cx="301752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B58FA2"/>
                </a:solidFill>
                <a:latin typeface="Arial"/>
                <a:cs typeface="Arial"/>
              </a:rPr>
              <a:t>بازه پنج بذر ViT-L</a:t>
            </a:r>
          </a:p>
        </p:txBody>
      </p:sp>
      <p:sp>
        <p:nvSpPr>
          <p:cNvPr id="14" name="TextBox 13"/>
          <p:cNvSpPr txBox="1"/>
          <p:nvPr/>
        </p:nvSpPr>
        <p:spPr>
          <a:xfrm>
            <a:off x="4572000" y="5166360"/>
            <a:ext cx="3017520" cy="457200"/>
          </a:xfrm>
          <a:prstGeom prst="rect">
            <a:avLst/>
          </a:prstGeom>
          <a:noFill/>
        </p:spPr>
        <p:txBody>
          <a:bodyPr wrap="square" anchor="t" lIns="0" rIns="0" tIns="0" bIns="0">
            <a:spAutoFit/>
          </a:bodyPr>
          <a:lstStyle/>
          <a:p>
            <a:pPr rtl="0" algn="r">
              <a:spcBef>
                <a:spcPts val="0"/>
              </a:spcBef>
              <a:spcAft>
                <a:spcPts val="0"/>
              </a:spcAft>
            </a:pPr>
            <a:r>
              <a:rPr sz="2000" b="1" i="0">
                <a:solidFill>
                  <a:srgbClr val="7FD8C0"/>
                </a:solidFill>
                <a:latin typeface="Arial"/>
                <a:cs typeface="Arial"/>
              </a:rPr>
              <a:t>0.370 — 0.423</a:t>
            </a:r>
          </a:p>
        </p:txBody>
      </p:sp>
      <p:sp>
        <p:nvSpPr>
          <p:cNvPr id="15" name="Rounded Rectangle 14"/>
          <p:cNvSpPr/>
          <p:nvPr/>
        </p:nvSpPr>
        <p:spPr>
          <a:xfrm>
            <a:off x="8046720" y="4663440"/>
            <a:ext cx="3566160" cy="1371600"/>
          </a:xfrm>
          <a:prstGeom prst="round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321040" y="4846320"/>
            <a:ext cx="301752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B58FA2"/>
                </a:solidFill>
                <a:latin typeface="Arial"/>
                <a:cs typeface="Arial"/>
              </a:rPr>
              <a:t>آزمون من-ویتنی</a:t>
            </a:r>
          </a:p>
        </p:txBody>
      </p:sp>
      <p:sp>
        <p:nvSpPr>
          <p:cNvPr id="17" name="TextBox 16"/>
          <p:cNvSpPr txBox="1"/>
          <p:nvPr/>
        </p:nvSpPr>
        <p:spPr>
          <a:xfrm>
            <a:off x="8321040" y="5166360"/>
            <a:ext cx="3017520" cy="457200"/>
          </a:xfrm>
          <a:prstGeom prst="rect">
            <a:avLst/>
          </a:prstGeom>
          <a:noFill/>
        </p:spPr>
        <p:txBody>
          <a:bodyPr wrap="square" anchor="t" lIns="0" rIns="0" tIns="0" bIns="0">
            <a:spAutoFit/>
          </a:bodyPr>
          <a:lstStyle/>
          <a:p>
            <a:pPr rtl="0" algn="r">
              <a:spcBef>
                <a:spcPts val="0"/>
              </a:spcBef>
              <a:spcAft>
                <a:spcPts val="0"/>
              </a:spcAft>
            </a:pPr>
            <a:r>
              <a:rPr sz="2000" b="1" i="0">
                <a:solidFill>
                  <a:srgbClr val="FF6FA5"/>
                </a:solidFill>
                <a:latin typeface="Arial"/>
                <a:cs typeface="Arial"/>
              </a:rPr>
              <a:t>p = 1 / 252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FBEEF4"/>
                </a:solidFill>
                <a:latin typeface="Arial"/>
                <a:cs typeface="Arial"/>
              </a:rPr>
              <a:t>آمیزش و تنظیم لاجیت</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FF6FA5"/>
                </a:solidFill>
                <a:latin typeface="Arial"/>
                <a:cs typeface="Arial"/>
              </a:rPr>
              <a:t>مسیر دوم</a:t>
            </a:r>
          </a:p>
        </p:txBody>
      </p:sp>
      <p:sp>
        <p:nvSpPr>
          <p:cNvPr id="4" name="Rounded Rectangle 3"/>
          <p:cNvSpPr/>
          <p:nvPr/>
        </p:nvSpPr>
        <p:spPr>
          <a:xfrm>
            <a:off x="548640" y="1645920"/>
            <a:ext cx="5394960" cy="1965960"/>
          </a:xfrm>
          <a:prstGeom prst="round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810512"/>
            <a:ext cx="47548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FBEEF4"/>
                </a:solidFill>
                <a:latin typeface="Arial"/>
                <a:cs typeface="Arial"/>
              </a:rPr>
              <a:t>آمیزش در فضای ویژگی</a:t>
            </a:r>
          </a:p>
        </p:txBody>
      </p:sp>
      <p:sp>
        <p:nvSpPr>
          <p:cNvPr id="6" name="TextBox 5"/>
          <p:cNvSpPr txBox="1"/>
          <p:nvPr/>
        </p:nvSpPr>
        <p:spPr>
          <a:xfrm>
            <a:off x="868680" y="2212848"/>
            <a:ext cx="4754880" cy="128016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F0DCE6"/>
                </a:solidFill>
                <a:latin typeface="Arial"/>
                <a:cs typeface="Arial"/>
              </a:rPr>
              <a:t>مدل تا دوره دهم زیان آموزش را تقریباً صفر می‌کرد، یعنی حفظ می‌کرد. ترکیب محدب دو ویدیو نمونه‌هایی می‌سازد که در داده نیستند.</a:t>
            </a:r>
          </a:p>
        </p:txBody>
      </p:sp>
      <p:sp>
        <p:nvSpPr>
          <p:cNvPr id="7" name="Rounded Rectangle 6"/>
          <p:cNvSpPr/>
          <p:nvPr/>
        </p:nvSpPr>
        <p:spPr>
          <a:xfrm>
            <a:off x="6217920" y="1645920"/>
            <a:ext cx="5394960" cy="1965960"/>
          </a:xfrm>
          <a:prstGeom prst="round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537960" y="1810512"/>
            <a:ext cx="47548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FF6FA5"/>
                </a:solidFill>
                <a:latin typeface="Arial"/>
                <a:cs typeface="Arial"/>
              </a:rPr>
              <a:t>تنظیم لاجیت برای دم بلند</a:t>
            </a:r>
          </a:p>
        </p:txBody>
      </p:sp>
      <p:sp>
        <p:nvSpPr>
          <p:cNvPr id="9" name="TextBox 8"/>
          <p:cNvSpPr txBox="1"/>
          <p:nvPr/>
        </p:nvSpPr>
        <p:spPr>
          <a:xfrm>
            <a:off x="6537960" y="2212848"/>
            <a:ext cx="4754880" cy="128016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F0DCE6"/>
                </a:solidFill>
                <a:latin typeface="Arial"/>
                <a:cs typeface="Arial"/>
              </a:rPr>
              <a:t>مقداری متناسب با لگاریتم احتمال پیشین از لاجیت هر کلاس کسر می‌شود تا مرز تصمیم به سود کلاس‌های کمیاب جابه‌جا شود.</a:t>
            </a:r>
          </a:p>
        </p:txBody>
      </p:sp>
      <p:sp>
        <p:nvSpPr>
          <p:cNvPr id="10" name="Rounded Rectangle 9"/>
          <p:cNvSpPr/>
          <p:nvPr/>
        </p:nvSpPr>
        <p:spPr>
          <a:xfrm>
            <a:off x="548640" y="3794760"/>
            <a:ext cx="11064240" cy="1051560"/>
          </a:xfrm>
          <a:prstGeom prst="roundRect">
            <a:avLst/>
          </a:prstGeom>
          <a:solidFill>
            <a:srgbClr val="4A1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68680" y="3931920"/>
            <a:ext cx="1042416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FF8A80"/>
                </a:solidFill>
                <a:latin typeface="Arial"/>
                <a:cs typeface="Arial"/>
              </a:rPr>
              <a:t>آزمایشی که شکست خورد و از آن یاد گرفتیم</a:t>
            </a:r>
          </a:p>
        </p:txBody>
      </p:sp>
      <p:sp>
        <p:nvSpPr>
          <p:cNvPr id="12" name="TextBox 11"/>
          <p:cNvSpPr txBox="1"/>
          <p:nvPr/>
        </p:nvSpPr>
        <p:spPr>
          <a:xfrm>
            <a:off x="868680" y="4279392"/>
            <a:ext cx="10424160" cy="502920"/>
          </a:xfrm>
          <a:prstGeom prst="rect">
            <a:avLst/>
          </a:prstGeom>
          <a:noFill/>
        </p:spPr>
        <p:txBody>
          <a:bodyPr wrap="square" anchor="t" lIns="0" rIns="0" tIns="0" bIns="0">
            <a:spAutoFit/>
          </a:bodyPr>
          <a:lstStyle/>
          <a:p>
            <a:pPr rtl="1" algn="r">
              <a:lnSpc>
                <a:spcPts val="1800"/>
              </a:lnSpc>
              <a:spcBef>
                <a:spcPts val="0"/>
              </a:spcBef>
              <a:spcAft>
                <a:spcPts val="0"/>
              </a:spcAft>
            </a:pPr>
            <a:r>
              <a:rPr sz="1200" b="0" i="0">
                <a:solidFill>
                  <a:srgbClr val="F0DCE6"/>
                </a:solidFill>
                <a:latin typeface="Arial"/>
                <a:cs typeface="Arial"/>
              </a:rPr>
              <a:t>اعمال خام فرمول روی هر ۱۴ کلاس، صحت را از ۰٫۶۸۹۷ به ۰٫۴۷۲ انداخت: مرحله اول تصمیم خراب می‌شد. اصلاح: محدود کردن به ۱۳ کلاس ناهنجار و مرکزی کردن.</a:t>
            </a:r>
          </a:p>
        </p:txBody>
      </p:sp>
      <p:graphicFrame>
        <p:nvGraphicFramePr>
          <p:cNvPr id="13" name="Table 12"/>
          <p:cNvGraphicFramePr>
            <a:graphicFrameLocks noGrp="1"/>
          </p:cNvGraphicFramePr>
          <p:nvPr/>
        </p:nvGraphicFramePr>
        <p:xfrm>
          <a:off x="548640" y="5029200"/>
          <a:ext cx="11064240" cy="1371600"/>
        </p:xfrm>
        <a:graphic>
          <a:graphicData uri="http://schemas.openxmlformats.org/drawingml/2006/table">
            <a:tbl>
              <a:tblPr firstRow="0" bandRow="0">
                <a:tableStyleId>{5C22544A-7EE6-4342-B048-85BDC9FD1C3A}</a:tableStyleId>
              </a:tblPr>
              <a:tblGrid>
                <a:gridCol w="3931920"/>
                <a:gridCol w="1828800"/>
                <a:gridCol w="1828800"/>
                <a:gridCol w="1737360"/>
                <a:gridCol w="1737360"/>
              </a:tblGrid>
              <a:tr h="274320">
                <a:tc>
                  <a:txBody>
                    <a:bodyPr wrap="square"/>
                    <a:lstStyle/>
                    <a:p>
                      <a:pPr rtl="1" algn="ctr">
                        <a:spcBef>
                          <a:spcPts val="0"/>
                        </a:spcBef>
                        <a:spcAft>
                          <a:spcPts val="0"/>
                        </a:spcAft>
                      </a:pPr>
                      <a:r>
                        <a:rPr sz="1150" b="1" i="0">
                          <a:solidFill>
                            <a:srgbClr val="FF6FA5"/>
                          </a:solidFill>
                          <a:latin typeface="Arial"/>
                          <a:cs typeface="Arial"/>
                        </a:rPr>
                        <a:t>پیکربندی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150" b="1" i="0">
                          <a:solidFill>
                            <a:srgbClr val="FF6FA5"/>
                          </a:solidFill>
                          <a:latin typeface="Arial"/>
                          <a:cs typeface="Arial"/>
                        </a:rPr>
                        <a:t>میانگین بذرها</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150" b="1" i="0">
                          <a:solidFill>
                            <a:srgbClr val="FF6FA5"/>
                          </a:solidFill>
                          <a:latin typeface="Arial"/>
                          <a:cs typeface="Arial"/>
                        </a:rPr>
                        <a:t>نتیجه گروهی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150" b="1" i="0">
                          <a:solidFill>
                            <a:srgbClr val="FF6FA5"/>
                          </a:solidFill>
                          <a:latin typeface="Arial"/>
                          <a:cs typeface="Arial"/>
                        </a:rPr>
                        <a:t>صحت</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150" b="1" i="0">
                          <a:solidFill>
                            <a:srgbClr val="FF6FA5"/>
                          </a:solidFill>
                          <a:latin typeface="Arial"/>
                          <a:cs typeface="Arial"/>
                        </a:rPr>
                        <a:t>صحت نوع</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r>
              <a:tr h="274320">
                <a:tc>
                  <a:txBody>
                    <a:bodyPr wrap="square"/>
                    <a:lstStyle/>
                    <a:p>
                      <a:pPr rtl="1" algn="r">
                        <a:spcBef>
                          <a:spcPts val="0"/>
                        </a:spcBef>
                        <a:spcAft>
                          <a:spcPts val="0"/>
                        </a:spcAft>
                      </a:pPr>
                      <a:r>
                        <a:rPr sz="1150" b="0" i="0">
                          <a:solidFill>
                            <a:srgbClr val="F0DCE6"/>
                          </a:solidFill>
                          <a:latin typeface="Arial"/>
                          <a:cs typeface="Arial"/>
                        </a:rPr>
                        <a:t>پایه ViT-L</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50" b="0" i="0">
                          <a:solidFill>
                            <a:srgbClr val="F0DCE6"/>
                          </a:solidFill>
                          <a:latin typeface="Arial"/>
                          <a:cs typeface="Arial"/>
                        </a:rPr>
                        <a:t>0.3955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50" b="0" i="0">
                          <a:solidFill>
                            <a:srgbClr val="F0DCE6"/>
                          </a:solidFill>
                          <a:latin typeface="Arial"/>
                          <a:cs typeface="Arial"/>
                        </a:rPr>
                        <a:t>0.4122</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50" b="0" i="0">
                          <a:solidFill>
                            <a:srgbClr val="F0DCE6"/>
                          </a:solidFill>
                          <a:latin typeface="Arial"/>
                          <a:cs typeface="Arial"/>
                        </a:rPr>
                        <a:t>0.6897</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50" b="0" i="0">
                          <a:solidFill>
                            <a:srgbClr val="F0DCE6"/>
                          </a:solidFill>
                          <a:latin typeface="Arial"/>
                          <a:cs typeface="Arial"/>
                        </a:rPr>
                        <a:t>0.4786</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274320">
                <a:tc>
                  <a:txBody>
                    <a:bodyPr wrap="square"/>
                    <a:lstStyle/>
                    <a:p>
                      <a:pPr rtl="1" algn="r">
                        <a:spcBef>
                          <a:spcPts val="0"/>
                        </a:spcBef>
                        <a:spcAft>
                          <a:spcPts val="0"/>
                        </a:spcAft>
                      </a:pPr>
                      <a:r>
                        <a:rPr sz="1150" b="0" i="0">
                          <a:solidFill>
                            <a:srgbClr val="F0DCE6"/>
                          </a:solidFill>
                          <a:latin typeface="Arial"/>
                          <a:cs typeface="Arial"/>
                        </a:rPr>
                        <a:t>آمیزش ۰٫۲</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50" b="0" i="0">
                          <a:solidFill>
                            <a:srgbClr val="F0DCE6"/>
                          </a:solidFill>
                          <a:latin typeface="Arial"/>
                          <a:cs typeface="Arial"/>
                        </a:rPr>
                        <a:t>0.4203</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50" b="0" i="0">
                          <a:solidFill>
                            <a:srgbClr val="F0DCE6"/>
                          </a:solidFill>
                          <a:latin typeface="Arial"/>
                          <a:cs typeface="Arial"/>
                        </a:rPr>
                        <a:t>0.4161</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50" b="0" i="0">
                          <a:solidFill>
                            <a:srgbClr val="F0DCE6"/>
                          </a:solidFill>
                          <a:latin typeface="Arial"/>
                          <a:cs typeface="Arial"/>
                        </a:rPr>
                        <a:t>0.6793</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50" b="0" i="0">
                          <a:solidFill>
                            <a:srgbClr val="F0DCE6"/>
                          </a:solidFill>
                          <a:latin typeface="Arial"/>
                          <a:cs typeface="Arial"/>
                        </a:rPr>
                        <a:t>0.4714</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274320">
                <a:tc>
                  <a:txBody>
                    <a:bodyPr wrap="square"/>
                    <a:lstStyle/>
                    <a:p>
                      <a:pPr rtl="1" algn="r">
                        <a:spcBef>
                          <a:spcPts val="0"/>
                        </a:spcBef>
                        <a:spcAft>
                          <a:spcPts val="0"/>
                        </a:spcAft>
                      </a:pPr>
                      <a:r>
                        <a:rPr sz="1150" b="1" i="0">
                          <a:solidFill>
                            <a:srgbClr val="FFA0C4"/>
                          </a:solidFill>
                          <a:latin typeface="Arial"/>
                          <a:cs typeface="Arial"/>
                        </a:rPr>
                        <a:t>آمیزش ۰٫۲ + تنظیم لاجیت</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50" b="1" i="0">
                          <a:solidFill>
                            <a:srgbClr val="FFA0C4"/>
                          </a:solidFill>
                          <a:latin typeface="Arial"/>
                          <a:cs typeface="Arial"/>
                        </a:rPr>
                        <a:t>0.4147</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50" b="1" i="0">
                          <a:solidFill>
                            <a:srgbClr val="FFA0C4"/>
                          </a:solidFill>
                          <a:latin typeface="Arial"/>
                          <a:cs typeface="Arial"/>
                        </a:rPr>
                        <a:t>0.4298</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50" b="1" i="0">
                          <a:solidFill>
                            <a:srgbClr val="FFA0C4"/>
                          </a:solidFill>
                          <a:latin typeface="Arial"/>
                          <a:cs typeface="Arial"/>
                        </a:rPr>
                        <a:t>0.6897</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50" b="1" i="0">
                          <a:solidFill>
                            <a:srgbClr val="FFA0C4"/>
                          </a:solidFill>
                          <a:latin typeface="Arial"/>
                          <a:cs typeface="Arial"/>
                        </a:rPr>
                        <a:t>0.5000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r>
              <a:tr h="274320">
                <a:tc>
                  <a:txBody>
                    <a:bodyPr wrap="square"/>
                    <a:lstStyle/>
                    <a:p>
                      <a:pPr rtl="1" algn="r">
                        <a:spcBef>
                          <a:spcPts val="0"/>
                        </a:spcBef>
                        <a:spcAft>
                          <a:spcPts val="0"/>
                        </a:spcAft>
                      </a:pPr>
                      <a:r>
                        <a:rPr sz="1150" b="0" i="0">
                          <a:solidFill>
                            <a:srgbClr val="F0DCE6"/>
                          </a:solidFill>
                          <a:latin typeface="Arial"/>
                          <a:cs typeface="Arial"/>
                        </a:rPr>
                        <a:t>آمیزش ۰٫۴ + تنظیم لاجیت</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50" b="0" i="0">
                          <a:solidFill>
                            <a:srgbClr val="F0DCE6"/>
                          </a:solidFill>
                          <a:latin typeface="Arial"/>
                          <a:cs typeface="Arial"/>
                        </a:rPr>
                        <a:t>0.4135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50" b="0" i="0">
                          <a:solidFill>
                            <a:srgbClr val="F0DCE6"/>
                          </a:solidFill>
                          <a:latin typeface="Arial"/>
                          <a:cs typeface="Arial"/>
                        </a:rPr>
                        <a:t>0.4248</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50" b="0" i="0">
                          <a:solidFill>
                            <a:srgbClr val="F0DCE6"/>
                          </a:solidFill>
                          <a:latin typeface="Arial"/>
                          <a:cs typeface="Arial"/>
                        </a:rPr>
                        <a:t>0.6759</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50" b="0" i="0">
                          <a:solidFill>
                            <a:srgbClr val="F0DCE6"/>
                          </a:solidFill>
                          <a:latin typeface="Arial"/>
                          <a:cs typeface="Arial"/>
                        </a:rPr>
                        <a:t>0.4929</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FBEEF4"/>
                </a:solidFill>
                <a:latin typeface="Arial"/>
                <a:cs typeface="Arial"/>
              </a:rPr>
              <a:t>مسیر بهبود، گام به گام</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FF6FA5"/>
                </a:solidFill>
                <a:latin typeface="Arial"/>
                <a:cs typeface="Arial"/>
              </a:rPr>
              <a:t>مسیر دوم</a:t>
            </a:r>
          </a:p>
        </p:txBody>
      </p:sp>
      <p:sp>
        <p:nvSpPr>
          <p:cNvPr id="4" name="Rectangle 3"/>
          <p:cNvSpPr/>
          <p:nvPr/>
        </p:nvSpPr>
        <p:spPr>
          <a:xfrm>
            <a:off x="1325880" y="4116977"/>
            <a:ext cx="10287000" cy="18288"/>
          </a:xfrm>
          <a:prstGeom prst="rect">
            <a:avLst/>
          </a:prstGeom>
          <a:solidFill>
            <a:srgbClr val="452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3988961"/>
            <a:ext cx="685800" cy="256032"/>
          </a:xfrm>
          <a:prstGeom prst="rect">
            <a:avLst/>
          </a:prstGeom>
          <a:noFill/>
        </p:spPr>
        <p:txBody>
          <a:bodyPr wrap="square" anchor="t" lIns="0" rIns="0" tIns="0" bIns="0">
            <a:spAutoFit/>
          </a:bodyPr>
          <a:lstStyle/>
          <a:p>
            <a:pPr rtl="0" algn="r">
              <a:spcBef>
                <a:spcPts val="0"/>
              </a:spcBef>
              <a:spcAft>
                <a:spcPts val="0"/>
              </a:spcAft>
            </a:pPr>
            <a:r>
              <a:rPr sz="1000" b="0" i="0">
                <a:solidFill>
                  <a:srgbClr val="B58FA2"/>
                </a:solidFill>
                <a:latin typeface="Arial"/>
                <a:cs typeface="Arial"/>
              </a:rPr>
              <a:t>0.30</a:t>
            </a:r>
          </a:p>
        </p:txBody>
      </p:sp>
      <p:sp>
        <p:nvSpPr>
          <p:cNvPr id="6" name="Rectangle 5"/>
          <p:cNvSpPr/>
          <p:nvPr/>
        </p:nvSpPr>
        <p:spPr>
          <a:xfrm>
            <a:off x="1325880" y="3387634"/>
            <a:ext cx="10287000" cy="18288"/>
          </a:xfrm>
          <a:prstGeom prst="rect">
            <a:avLst/>
          </a:prstGeom>
          <a:solidFill>
            <a:srgbClr val="452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3259618"/>
            <a:ext cx="685800" cy="256032"/>
          </a:xfrm>
          <a:prstGeom prst="rect">
            <a:avLst/>
          </a:prstGeom>
          <a:noFill/>
        </p:spPr>
        <p:txBody>
          <a:bodyPr wrap="square" anchor="t" lIns="0" rIns="0" tIns="0" bIns="0">
            <a:spAutoFit/>
          </a:bodyPr>
          <a:lstStyle/>
          <a:p>
            <a:pPr rtl="0" algn="r">
              <a:spcBef>
                <a:spcPts val="0"/>
              </a:spcBef>
              <a:spcAft>
                <a:spcPts val="0"/>
              </a:spcAft>
            </a:pPr>
            <a:r>
              <a:rPr sz="1000" b="0" i="0">
                <a:solidFill>
                  <a:srgbClr val="B58FA2"/>
                </a:solidFill>
                <a:latin typeface="Arial"/>
                <a:cs typeface="Arial"/>
              </a:rPr>
              <a:t>0.35</a:t>
            </a:r>
          </a:p>
        </p:txBody>
      </p:sp>
      <p:sp>
        <p:nvSpPr>
          <p:cNvPr id="8" name="Rectangle 7"/>
          <p:cNvSpPr/>
          <p:nvPr/>
        </p:nvSpPr>
        <p:spPr>
          <a:xfrm>
            <a:off x="1325880" y="2658291"/>
            <a:ext cx="10287000" cy="18288"/>
          </a:xfrm>
          <a:prstGeom prst="rect">
            <a:avLst/>
          </a:prstGeom>
          <a:solidFill>
            <a:srgbClr val="452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8640" y="2530275"/>
            <a:ext cx="685800" cy="256032"/>
          </a:xfrm>
          <a:prstGeom prst="rect">
            <a:avLst/>
          </a:prstGeom>
          <a:noFill/>
        </p:spPr>
        <p:txBody>
          <a:bodyPr wrap="square" anchor="t" lIns="0" rIns="0" tIns="0" bIns="0">
            <a:spAutoFit/>
          </a:bodyPr>
          <a:lstStyle/>
          <a:p>
            <a:pPr rtl="0" algn="r">
              <a:spcBef>
                <a:spcPts val="0"/>
              </a:spcBef>
              <a:spcAft>
                <a:spcPts val="0"/>
              </a:spcAft>
            </a:pPr>
            <a:r>
              <a:rPr sz="1000" b="0" i="0">
                <a:solidFill>
                  <a:srgbClr val="B58FA2"/>
                </a:solidFill>
                <a:latin typeface="Arial"/>
                <a:cs typeface="Arial"/>
              </a:rPr>
              <a:t>0.40</a:t>
            </a:r>
          </a:p>
        </p:txBody>
      </p:sp>
      <p:sp>
        <p:nvSpPr>
          <p:cNvPr id="10" name="Rectangle 9"/>
          <p:cNvSpPr/>
          <p:nvPr/>
        </p:nvSpPr>
        <p:spPr>
          <a:xfrm>
            <a:off x="1325880" y="1928948"/>
            <a:ext cx="10287000" cy="18288"/>
          </a:xfrm>
          <a:prstGeom prst="rect">
            <a:avLst/>
          </a:prstGeom>
          <a:solidFill>
            <a:srgbClr val="452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48640" y="1800932"/>
            <a:ext cx="685800" cy="256032"/>
          </a:xfrm>
          <a:prstGeom prst="rect">
            <a:avLst/>
          </a:prstGeom>
          <a:noFill/>
        </p:spPr>
        <p:txBody>
          <a:bodyPr wrap="square" anchor="t" lIns="0" rIns="0" tIns="0" bIns="0">
            <a:spAutoFit/>
          </a:bodyPr>
          <a:lstStyle/>
          <a:p>
            <a:pPr rtl="0" algn="r">
              <a:spcBef>
                <a:spcPts val="0"/>
              </a:spcBef>
              <a:spcAft>
                <a:spcPts val="0"/>
              </a:spcAft>
            </a:pPr>
            <a:r>
              <a:rPr sz="1000" b="0" i="0">
                <a:solidFill>
                  <a:srgbClr val="B58FA2"/>
                </a:solidFill>
                <a:latin typeface="Arial"/>
                <a:cs typeface="Arial"/>
              </a:rPr>
              <a:t>0.45</a:t>
            </a:r>
          </a:p>
        </p:txBody>
      </p:sp>
      <p:sp>
        <p:nvSpPr>
          <p:cNvPr id="12" name="Rectangle 11"/>
          <p:cNvSpPr/>
          <p:nvPr/>
        </p:nvSpPr>
        <p:spPr>
          <a:xfrm>
            <a:off x="1325880" y="4846320"/>
            <a:ext cx="10287000" cy="22860"/>
          </a:xfrm>
          <a:prstGeom prst="rect">
            <a:avLst/>
          </a:prstGeom>
          <a:solidFill>
            <a:srgbClr val="6B33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588769" y="4153444"/>
            <a:ext cx="1188720" cy="692875"/>
          </a:xfrm>
          <a:prstGeom prst="rect">
            <a:avLst/>
          </a:prstGeom>
          <a:solidFill>
            <a:srgbClr val="7C3C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60169" y="3842548"/>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F0DCE6"/>
                </a:solidFill>
                <a:latin typeface="Arial"/>
                <a:cs typeface="Arial"/>
              </a:rPr>
              <a:t>0.2975</a:t>
            </a:r>
          </a:p>
        </p:txBody>
      </p:sp>
      <p:sp>
        <p:nvSpPr>
          <p:cNvPr id="15" name="TextBox 14"/>
          <p:cNvSpPr txBox="1"/>
          <p:nvPr/>
        </p:nvSpPr>
        <p:spPr>
          <a:xfrm>
            <a:off x="1268729"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F0DCE6"/>
                </a:solidFill>
                <a:latin typeface="Arial"/>
                <a:cs typeface="Arial"/>
              </a:rPr>
              <a:t>MLP / ViT-B</a:t>
            </a:r>
          </a:p>
        </p:txBody>
      </p:sp>
      <p:sp>
        <p:nvSpPr>
          <p:cNvPr id="16" name="Rectangle 15"/>
          <p:cNvSpPr/>
          <p:nvPr/>
        </p:nvSpPr>
        <p:spPr>
          <a:xfrm>
            <a:off x="3303270" y="3469320"/>
            <a:ext cx="1188720" cy="1376999"/>
          </a:xfrm>
          <a:prstGeom prst="rect">
            <a:avLst/>
          </a:prstGeom>
          <a:solidFill>
            <a:srgbClr val="7C3C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074670" y="3158424"/>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F0DCE6"/>
                </a:solidFill>
                <a:latin typeface="Arial"/>
                <a:cs typeface="Arial"/>
              </a:rPr>
              <a:t>0.3444</a:t>
            </a:r>
          </a:p>
        </p:txBody>
      </p:sp>
      <p:sp>
        <p:nvSpPr>
          <p:cNvPr id="18" name="TextBox 17"/>
          <p:cNvSpPr txBox="1"/>
          <p:nvPr/>
        </p:nvSpPr>
        <p:spPr>
          <a:xfrm>
            <a:off x="2983230"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F0DCE6"/>
                </a:solidFill>
                <a:latin typeface="Arial"/>
                <a:cs typeface="Arial"/>
              </a:rPr>
              <a:t>+ Temporal</a:t>
            </a:r>
          </a:p>
        </p:txBody>
      </p:sp>
      <p:sp>
        <p:nvSpPr>
          <p:cNvPr id="19" name="Rectangle 18"/>
          <p:cNvSpPr/>
          <p:nvPr/>
        </p:nvSpPr>
        <p:spPr>
          <a:xfrm>
            <a:off x="5017770" y="3176124"/>
            <a:ext cx="1188720" cy="1670195"/>
          </a:xfrm>
          <a:prstGeom prst="rect">
            <a:avLst/>
          </a:prstGeom>
          <a:solidFill>
            <a:srgbClr val="7C3C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789170" y="2865228"/>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F0DCE6"/>
                </a:solidFill>
                <a:latin typeface="Arial"/>
                <a:cs typeface="Arial"/>
              </a:rPr>
              <a:t>0.3645</a:t>
            </a:r>
          </a:p>
        </p:txBody>
      </p:sp>
      <p:sp>
        <p:nvSpPr>
          <p:cNvPr id="21" name="TextBox 20"/>
          <p:cNvSpPr txBox="1"/>
          <p:nvPr/>
        </p:nvSpPr>
        <p:spPr>
          <a:xfrm>
            <a:off x="4697730"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F0DCE6"/>
                </a:solidFill>
                <a:latin typeface="Arial"/>
                <a:cs typeface="Arial"/>
              </a:rPr>
              <a:t>+ lr 3e-4</a:t>
            </a:r>
          </a:p>
        </p:txBody>
      </p:sp>
      <p:sp>
        <p:nvSpPr>
          <p:cNvPr id="22" name="Rectangle 21"/>
          <p:cNvSpPr/>
          <p:nvPr/>
        </p:nvSpPr>
        <p:spPr>
          <a:xfrm>
            <a:off x="6732270" y="2480331"/>
            <a:ext cx="1188720" cy="2365988"/>
          </a:xfrm>
          <a:prstGeom prst="rect">
            <a:avLst/>
          </a:prstGeom>
          <a:solidFill>
            <a:srgbClr val="FF6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503670" y="2169435"/>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F0DCE6"/>
                </a:solidFill>
                <a:latin typeface="Arial"/>
                <a:cs typeface="Arial"/>
              </a:rPr>
              <a:t>0.4122</a:t>
            </a:r>
          </a:p>
        </p:txBody>
      </p:sp>
      <p:sp>
        <p:nvSpPr>
          <p:cNvPr id="24" name="TextBox 23"/>
          <p:cNvSpPr txBox="1"/>
          <p:nvPr/>
        </p:nvSpPr>
        <p:spPr>
          <a:xfrm>
            <a:off x="6412230"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F0DCE6"/>
                </a:solidFill>
                <a:latin typeface="Arial"/>
                <a:cs typeface="Arial"/>
              </a:rPr>
              <a:t>+ ViT-L</a:t>
            </a:r>
          </a:p>
        </p:txBody>
      </p:sp>
      <p:sp>
        <p:nvSpPr>
          <p:cNvPr id="25" name="Rectangle 24"/>
          <p:cNvSpPr/>
          <p:nvPr/>
        </p:nvSpPr>
        <p:spPr>
          <a:xfrm>
            <a:off x="8446769" y="2423443"/>
            <a:ext cx="1188720" cy="2422876"/>
          </a:xfrm>
          <a:prstGeom prst="rect">
            <a:avLst/>
          </a:prstGeom>
          <a:solidFill>
            <a:srgbClr val="FF6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18169" y="2112547"/>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F0DCE6"/>
                </a:solidFill>
                <a:latin typeface="Arial"/>
                <a:cs typeface="Arial"/>
              </a:rPr>
              <a:t>0.4161</a:t>
            </a:r>
          </a:p>
        </p:txBody>
      </p:sp>
      <p:sp>
        <p:nvSpPr>
          <p:cNvPr id="27" name="TextBox 26"/>
          <p:cNvSpPr txBox="1"/>
          <p:nvPr/>
        </p:nvSpPr>
        <p:spPr>
          <a:xfrm>
            <a:off x="8126729"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F0DCE6"/>
                </a:solidFill>
                <a:latin typeface="Arial"/>
                <a:cs typeface="Arial"/>
              </a:rPr>
              <a:t>+ Mixup</a:t>
            </a:r>
          </a:p>
        </p:txBody>
      </p:sp>
      <p:sp>
        <p:nvSpPr>
          <p:cNvPr id="28" name="Rectangle 27"/>
          <p:cNvSpPr/>
          <p:nvPr/>
        </p:nvSpPr>
        <p:spPr>
          <a:xfrm>
            <a:off x="10161269" y="2223603"/>
            <a:ext cx="1188720" cy="2622716"/>
          </a:xfrm>
          <a:prstGeom prst="rect">
            <a:avLst/>
          </a:prstGeom>
          <a:solidFill>
            <a:srgbClr val="FF6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932669" y="1912707"/>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F0DCE6"/>
                </a:solidFill>
                <a:latin typeface="Arial"/>
                <a:cs typeface="Arial"/>
              </a:rPr>
              <a:t>0.4298</a:t>
            </a:r>
          </a:p>
        </p:txBody>
      </p:sp>
      <p:sp>
        <p:nvSpPr>
          <p:cNvPr id="30" name="TextBox 29"/>
          <p:cNvSpPr txBox="1"/>
          <p:nvPr/>
        </p:nvSpPr>
        <p:spPr>
          <a:xfrm>
            <a:off x="9841230"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F0DCE6"/>
                </a:solidFill>
                <a:latin typeface="Arial"/>
                <a:cs typeface="Arial"/>
              </a:rPr>
              <a:t>+ Logit adj.</a:t>
            </a:r>
          </a:p>
        </p:txBody>
      </p:sp>
      <p:sp>
        <p:nvSpPr>
          <p:cNvPr id="31" name="TextBox 30"/>
          <p:cNvSpPr txBox="1"/>
          <p:nvPr/>
        </p:nvSpPr>
        <p:spPr>
          <a:xfrm>
            <a:off x="548640" y="53492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7FD8C0"/>
                </a:solidFill>
                <a:latin typeface="Arial"/>
                <a:cs typeface="Arial"/>
              </a:rPr>
              <a:t>+0.1323</a:t>
            </a:r>
          </a:p>
        </p:txBody>
      </p:sp>
      <p:sp>
        <p:nvSpPr>
          <p:cNvPr id="32" name="TextBox 31"/>
          <p:cNvSpPr txBox="1"/>
          <p:nvPr/>
        </p:nvSpPr>
        <p:spPr>
          <a:xfrm>
            <a:off x="548640" y="60624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B58FA2"/>
                </a:solidFill>
                <a:latin typeface="Arial"/>
                <a:cs typeface="Arial"/>
              </a:rPr>
              <a:t>بهبود مطلق ماکرو F1</a:t>
            </a:r>
          </a:p>
        </p:txBody>
      </p:sp>
      <p:sp>
        <p:nvSpPr>
          <p:cNvPr id="33" name="TextBox 32"/>
          <p:cNvSpPr txBox="1"/>
          <p:nvPr/>
        </p:nvSpPr>
        <p:spPr>
          <a:xfrm>
            <a:off x="4297680" y="53492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7FD8C0"/>
                </a:solidFill>
                <a:latin typeface="Arial"/>
                <a:cs typeface="Arial"/>
              </a:rPr>
              <a:t>+44%</a:t>
            </a:r>
          </a:p>
        </p:txBody>
      </p:sp>
      <p:sp>
        <p:nvSpPr>
          <p:cNvPr id="34" name="TextBox 33"/>
          <p:cNvSpPr txBox="1"/>
          <p:nvPr/>
        </p:nvSpPr>
        <p:spPr>
          <a:xfrm>
            <a:off x="4297680" y="60624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B58FA2"/>
                </a:solidFill>
                <a:latin typeface="Arial"/>
                <a:cs typeface="Arial"/>
              </a:rPr>
              <a:t>بهبود نسبی</a:t>
            </a:r>
          </a:p>
        </p:txBody>
      </p:sp>
      <p:sp>
        <p:nvSpPr>
          <p:cNvPr id="35" name="TextBox 34"/>
          <p:cNvSpPr txBox="1"/>
          <p:nvPr/>
        </p:nvSpPr>
        <p:spPr>
          <a:xfrm>
            <a:off x="8046720" y="53492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FF6FA5"/>
                </a:solidFill>
                <a:latin typeface="Arial"/>
                <a:cs typeface="Arial"/>
              </a:rPr>
              <a:t>0.075</a:t>
            </a:r>
          </a:p>
        </p:txBody>
      </p:sp>
      <p:sp>
        <p:nvSpPr>
          <p:cNvPr id="36" name="TextBox 35"/>
          <p:cNvSpPr txBox="1"/>
          <p:nvPr/>
        </p:nvSpPr>
        <p:spPr>
          <a:xfrm>
            <a:off x="8046720" y="60624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B58FA2"/>
                </a:solidFill>
                <a:latin typeface="Arial"/>
                <a:cs typeface="Arial"/>
              </a:rPr>
              <a:t>کف نوفه این مجموعه آزمون</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FBEEF4"/>
                </a:solidFill>
                <a:latin typeface="Arial"/>
                <a:cs typeface="Arial"/>
              </a:rPr>
              <a:t>آزمایش‌هایی که نتیجه ندادند</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FF6FA5"/>
                </a:solidFill>
                <a:latin typeface="Arial"/>
                <a:cs typeface="Arial"/>
              </a:rPr>
              <a:t>صداقت روش‌شناختی</a:t>
            </a:r>
          </a:p>
        </p:txBody>
      </p:sp>
      <p:graphicFrame>
        <p:nvGraphicFramePr>
          <p:cNvPr id="4" name="Table 3"/>
          <p:cNvGraphicFramePr>
            <a:graphicFrameLocks noGrp="1"/>
          </p:cNvGraphicFramePr>
          <p:nvPr/>
        </p:nvGraphicFramePr>
        <p:xfrm>
          <a:off x="548640" y="1691640"/>
          <a:ext cx="11064240" cy="2414016"/>
        </p:xfrm>
        <a:graphic>
          <a:graphicData uri="http://schemas.openxmlformats.org/drawingml/2006/table">
            <a:tbl>
              <a:tblPr firstRow="0" bandRow="0">
                <a:tableStyleId>{5C22544A-7EE6-4342-B048-85BDC9FD1C3A}</a:tableStyleId>
              </a:tblPr>
              <a:tblGrid>
                <a:gridCol w="5577840"/>
                <a:gridCol w="1828800"/>
                <a:gridCol w="1828800"/>
                <a:gridCol w="1828800"/>
              </a:tblGrid>
              <a:tr h="301752">
                <a:tc>
                  <a:txBody>
                    <a:bodyPr wrap="square"/>
                    <a:lstStyle/>
                    <a:p>
                      <a:pPr rtl="1" algn="ctr">
                        <a:spcBef>
                          <a:spcPts val="0"/>
                        </a:spcBef>
                        <a:spcAft>
                          <a:spcPts val="0"/>
                        </a:spcAft>
                      </a:pPr>
                      <a:r>
                        <a:rPr sz="1200" b="1" i="0">
                          <a:solidFill>
                            <a:srgbClr val="FF6FA5"/>
                          </a:solidFill>
                          <a:latin typeface="Arial"/>
                          <a:cs typeface="Arial"/>
                        </a:rPr>
                        <a:t>آزمایش</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00" b="1" i="0">
                          <a:solidFill>
                            <a:srgbClr val="FF6FA5"/>
                          </a:solidFill>
                          <a:latin typeface="Arial"/>
                          <a:cs typeface="Arial"/>
                        </a:rPr>
                        <a:t>نتیجه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00" b="1" i="0">
                          <a:solidFill>
                            <a:srgbClr val="FF6FA5"/>
                          </a:solidFill>
                          <a:latin typeface="Arial"/>
                          <a:cs typeface="Arial"/>
                        </a:rPr>
                        <a:t>مرجع</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00" b="1" i="0">
                          <a:solidFill>
                            <a:srgbClr val="FF6FA5"/>
                          </a:solidFill>
                          <a:latin typeface="Arial"/>
                          <a:cs typeface="Arial"/>
                        </a:rPr>
                        <a:t>داوری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r>
              <a:tr h="301752">
                <a:tc>
                  <a:txBody>
                    <a:bodyPr wrap="square"/>
                    <a:lstStyle/>
                    <a:p>
                      <a:pPr rtl="1" algn="r">
                        <a:spcBef>
                          <a:spcPts val="0"/>
                        </a:spcBef>
                        <a:spcAft>
                          <a:spcPts val="0"/>
                        </a:spcAft>
                      </a:pPr>
                      <a:r>
                        <a:rPr sz="1200" b="0" i="0">
                          <a:solidFill>
                            <a:srgbClr val="F0DCE6"/>
                          </a:solidFill>
                          <a:latin typeface="Arial"/>
                          <a:cs typeface="Arial"/>
                        </a:rPr>
                        <a:t>نمونه‌برداری سبک Kinetics با گام ۴ فریم</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0.3089</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0.3405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بدتر</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01752">
                <a:tc>
                  <a:txBody>
                    <a:bodyPr wrap="square"/>
                    <a:lstStyle/>
                    <a:p>
                      <a:pPr rtl="1" algn="r">
                        <a:spcBef>
                          <a:spcPts val="0"/>
                        </a:spcBef>
                        <a:spcAft>
                          <a:spcPts val="0"/>
                        </a:spcAft>
                      </a:pPr>
                      <a:r>
                        <a:rPr sz="1200" b="0" i="0">
                          <a:solidFill>
                            <a:srgbClr val="F0DCE6"/>
                          </a:solidFill>
                          <a:latin typeface="Arial"/>
                          <a:cs typeface="Arial"/>
                        </a:rPr>
                        <a:t>دو برابر کردن تعداد قطعه‌ها به ۳۲</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0.3875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0.3955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بدتر</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01752">
                <a:tc>
                  <a:txBody>
                    <a:bodyPr wrap="square"/>
                    <a:lstStyle/>
                    <a:p>
                      <a:pPr rtl="1" algn="r">
                        <a:spcBef>
                          <a:spcPts val="0"/>
                        </a:spcBef>
                        <a:spcAft>
                          <a:spcPts val="0"/>
                        </a:spcAft>
                      </a:pPr>
                      <a:r>
                        <a:rPr sz="1200" b="0" i="0">
                          <a:solidFill>
                            <a:srgbClr val="F0DCE6"/>
                          </a:solidFill>
                          <a:latin typeface="Arial"/>
                          <a:cs typeface="Arial"/>
                        </a:rPr>
                        <a:t>الحاق ویژگی دو رمزگذار</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0.3974</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0.3955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درون نوفه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01752">
                <a:tc>
                  <a:txBody>
                    <a:bodyPr wrap="square"/>
                    <a:lstStyle/>
                    <a:p>
                      <a:pPr rtl="1" algn="r">
                        <a:spcBef>
                          <a:spcPts val="0"/>
                        </a:spcBef>
                        <a:spcAft>
                          <a:spcPts val="0"/>
                        </a:spcAft>
                      </a:pPr>
                      <a:r>
                        <a:rPr sz="1200" b="0" i="0">
                          <a:solidFill>
                            <a:srgbClr val="F0DCE6"/>
                          </a:solidFill>
                          <a:latin typeface="Arial"/>
                          <a:cs typeface="Arial"/>
                        </a:rPr>
                        <a:t>آموزش با یک قطعه برتر</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بدون بهبود</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01752">
                <a:tc>
                  <a:txBody>
                    <a:bodyPr wrap="square"/>
                    <a:lstStyle/>
                    <a:p>
                      <a:pPr rtl="1" algn="r">
                        <a:spcBef>
                          <a:spcPts val="0"/>
                        </a:spcBef>
                        <a:spcAft>
                          <a:spcPts val="0"/>
                        </a:spcAft>
                      </a:pPr>
                      <a:r>
                        <a:rPr sz="1200" b="0" i="0">
                          <a:solidFill>
                            <a:srgbClr val="F0DCE6"/>
                          </a:solidFill>
                          <a:latin typeface="Arial"/>
                          <a:cs typeface="Arial"/>
                        </a:rPr>
                        <a:t>تنظیم لاجیت به‌تنهایی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0.4114</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0.3955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درون نوفه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01752">
                <a:tc>
                  <a:txBody>
                    <a:bodyPr wrap="square"/>
                    <a:lstStyle/>
                    <a:p>
                      <a:pPr rtl="1" algn="r">
                        <a:spcBef>
                          <a:spcPts val="0"/>
                        </a:spcBef>
                        <a:spcAft>
                          <a:spcPts val="0"/>
                        </a:spcAft>
                      </a:pPr>
                      <a:r>
                        <a:rPr sz="1200" b="0" i="0">
                          <a:solidFill>
                            <a:srgbClr val="F0DCE6"/>
                          </a:solidFill>
                          <a:latin typeface="Arial"/>
                          <a:cs typeface="Arial"/>
                        </a:rPr>
                        <a:t>میانگین‌گیری بذرها برای ماکرو F1</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بدون بهبود</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01752">
                <a:tc>
                  <a:txBody>
                    <a:bodyPr wrap="square"/>
                    <a:lstStyle/>
                    <a:p>
                      <a:pPr rtl="1" algn="r">
                        <a:spcBef>
                          <a:spcPts val="0"/>
                        </a:spcBef>
                        <a:spcAft>
                          <a:spcPts val="0"/>
                        </a:spcAft>
                      </a:pPr>
                      <a:r>
                        <a:rPr sz="1200" b="0" i="0">
                          <a:solidFill>
                            <a:srgbClr val="F0DCE6"/>
                          </a:solidFill>
                          <a:latin typeface="Arial"/>
                          <a:cs typeface="Arial"/>
                        </a:rPr>
                        <a:t>بازنویسی توصیف‌های متنی کلاس‌ها</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0.74</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0.86</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بدتر</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bl>
          </a:graphicData>
        </a:graphic>
      </p:graphicFrame>
      <p:sp>
        <p:nvSpPr>
          <p:cNvPr id="5" name="Rounded Rectangle 4"/>
          <p:cNvSpPr/>
          <p:nvPr/>
        </p:nvSpPr>
        <p:spPr>
          <a:xfrm>
            <a:off x="548640" y="4343400"/>
            <a:ext cx="11064240" cy="1783080"/>
          </a:xfrm>
          <a:prstGeom prst="round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4526280"/>
            <a:ext cx="1042416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FF6FA5"/>
                </a:solidFill>
                <a:latin typeface="Arial"/>
                <a:cs typeface="Arial"/>
              </a:rPr>
              <a:t>چرا نمونه‌برداری استاندارد بدتر شد — مهم‌ترین یافته منفی</a:t>
            </a:r>
          </a:p>
        </p:txBody>
      </p:sp>
      <p:sp>
        <p:nvSpPr>
          <p:cNvPr id="7" name="TextBox 6"/>
          <p:cNvSpPr txBox="1"/>
          <p:nvPr/>
        </p:nvSpPr>
        <p:spPr>
          <a:xfrm>
            <a:off x="868680" y="4892040"/>
            <a:ext cx="10424160" cy="1143000"/>
          </a:xfrm>
          <a:prstGeom prst="rect">
            <a:avLst/>
          </a:prstGeom>
          <a:noFill/>
        </p:spPr>
        <p:txBody>
          <a:bodyPr wrap="square" anchor="t" lIns="0" rIns="0" tIns="0" bIns="0">
            <a:spAutoFit/>
          </a:bodyPr>
          <a:lstStyle/>
          <a:p>
            <a:pPr rtl="1" algn="r">
              <a:lnSpc>
                <a:spcPts val="1800"/>
              </a:lnSpc>
              <a:spcBef>
                <a:spcPts val="0"/>
              </a:spcBef>
              <a:spcAft>
                <a:spcPts val="600"/>
              </a:spcAft>
            </a:pPr>
            <a:r>
              <a:rPr sz="1200" b="0" i="0">
                <a:solidFill>
                  <a:srgbClr val="F0DCE6"/>
                </a:solidFill>
                <a:latin typeface="Arial"/>
                <a:cs typeface="Arial"/>
              </a:rPr>
              <a:t>قطعه‌های ما کشیده بودند و با نرخ نمونه‌برداری وزن‌های پیش‌آموزش‌دیده نمی‌خواندند. اصلاح آن نتیجه را بدتر کرد: قطعه‌های کشیده کل ویدیو را می‌پوشانند، در حالی که سی‌ودو پنجره دو ثانیه‌ای تنها حدود ۲۱ درصد یک ویدیوی طولانی را لمس می‌کنند.</a:t>
            </a:r>
          </a:p>
          <a:p>
            <a:pPr rtl="1" algn="r">
              <a:lnSpc>
                <a:spcPts val="1800"/>
              </a:lnSpc>
              <a:spcBef>
                <a:spcPts val="0"/>
              </a:spcBef>
              <a:spcAft>
                <a:spcPts val="600"/>
              </a:spcAft>
            </a:pPr>
            <a:r>
              <a:rPr sz="1200" b="0" i="0">
                <a:solidFill>
                  <a:srgbClr val="F0DCE6"/>
                </a:solidFill>
                <a:latin typeface="Arial"/>
                <a:cs typeface="Arial"/>
              </a:rPr>
              <a:t>نتیجه: پوشش بر اعتبار قطعه غلبه دارد.</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FBEEF4"/>
                </a:solidFill>
                <a:latin typeface="Arial"/>
                <a:cs typeface="Arial"/>
              </a:rPr>
              <a:t>چقدر از این اعداد نوفه است؟</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FF6FA5"/>
                </a:solidFill>
                <a:latin typeface="Arial"/>
                <a:cs typeface="Arial"/>
              </a:rPr>
              <a:t>اعتبارسنجی آماری</a:t>
            </a:r>
          </a:p>
        </p:txBody>
      </p:sp>
      <p:sp>
        <p:nvSpPr>
          <p:cNvPr id="4" name="TextBox 3"/>
          <p:cNvSpPr txBox="1"/>
          <p:nvPr/>
        </p:nvSpPr>
        <p:spPr>
          <a:xfrm>
            <a:off x="548640" y="1627632"/>
            <a:ext cx="11064240" cy="365760"/>
          </a:xfrm>
          <a:prstGeom prst="rect">
            <a:avLst/>
          </a:prstGeom>
          <a:noFill/>
        </p:spPr>
        <p:txBody>
          <a:bodyPr wrap="square" anchor="t" lIns="0" rIns="0" tIns="0" bIns="0">
            <a:spAutoFit/>
          </a:bodyPr>
          <a:lstStyle/>
          <a:p>
            <a:pPr rtl="1" algn="r">
              <a:spcBef>
                <a:spcPts val="0"/>
              </a:spcBef>
              <a:spcAft>
                <a:spcPts val="0"/>
              </a:spcAft>
            </a:pPr>
            <a:r>
              <a:rPr sz="1400" b="0" i="0">
                <a:solidFill>
                  <a:srgbClr val="F0DCE6"/>
                </a:solidFill>
                <a:latin typeface="Arial"/>
                <a:cs typeface="Arial"/>
              </a:rPr>
              <a:t>مجموعه آزمون با ۴۰۰۰ بار بازنمونه‌گیری خودگردان تحلیل شد تا پراکندگی مورد انتظار تخمین زده شود.</a:t>
            </a:r>
          </a:p>
        </p:txBody>
      </p:sp>
      <p:graphicFrame>
        <p:nvGraphicFramePr>
          <p:cNvPr id="5" name="Table 4"/>
          <p:cNvGraphicFramePr>
            <a:graphicFrameLocks noGrp="1"/>
          </p:cNvGraphicFramePr>
          <p:nvPr/>
        </p:nvGraphicFramePr>
        <p:xfrm>
          <a:off x="548640" y="2148840"/>
          <a:ext cx="6675120" cy="1920240"/>
        </p:xfrm>
        <a:graphic>
          <a:graphicData uri="http://schemas.openxmlformats.org/drawingml/2006/table">
            <a:tbl>
              <a:tblPr firstRow="0" bandRow="0">
                <a:tableStyleId>{5C22544A-7EE6-4342-B048-85BDC9FD1C3A}</a:tableStyleId>
              </a:tblPr>
              <a:tblGrid>
                <a:gridCol w="2011680"/>
                <a:gridCol w="1554480"/>
                <a:gridCol w="1554480"/>
                <a:gridCol w="1554480"/>
              </a:tblGrid>
              <a:tr h="384048">
                <a:tc>
                  <a:txBody>
                    <a:bodyPr wrap="square"/>
                    <a:lstStyle/>
                    <a:p>
                      <a:pPr rtl="1" algn="ctr">
                        <a:spcBef>
                          <a:spcPts val="0"/>
                        </a:spcBef>
                        <a:spcAft>
                          <a:spcPts val="0"/>
                        </a:spcAft>
                      </a:pPr>
                      <a:r>
                        <a:rPr sz="1200" b="1" i="0">
                          <a:solidFill>
                            <a:srgbClr val="FF6FA5"/>
                          </a:solidFill>
                          <a:latin typeface="Arial"/>
                          <a:cs typeface="Arial"/>
                        </a:rPr>
                        <a:t>معیار</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00" b="1" i="0">
                          <a:solidFill>
                            <a:srgbClr val="FF6FA5"/>
                          </a:solidFill>
                          <a:latin typeface="Arial"/>
                          <a:cs typeface="Arial"/>
                        </a:rPr>
                        <a:t>مقدار نقطه‌ای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00" b="1" i="0">
                          <a:solidFill>
                            <a:srgbClr val="FF6FA5"/>
                          </a:solidFill>
                          <a:latin typeface="Arial"/>
                          <a:cs typeface="Arial"/>
                        </a:rPr>
                        <a:t>انحراف معیار</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00" b="1" i="0">
                          <a:solidFill>
                            <a:srgbClr val="FF6FA5"/>
                          </a:solidFill>
                          <a:latin typeface="Arial"/>
                          <a:cs typeface="Arial"/>
                        </a:rPr>
                        <a:t>بازه اطمینان ۹۵ درصد</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r>
              <a:tr h="384048">
                <a:tc>
                  <a:txBody>
                    <a:bodyPr wrap="square"/>
                    <a:lstStyle/>
                    <a:p>
                      <a:pPr rtl="1" algn="r">
                        <a:spcBef>
                          <a:spcPts val="0"/>
                        </a:spcBef>
                        <a:spcAft>
                          <a:spcPts val="0"/>
                        </a:spcAft>
                      </a:pPr>
                      <a:r>
                        <a:rPr sz="1200" b="1" i="0">
                          <a:solidFill>
                            <a:srgbClr val="FFA0C4"/>
                          </a:solidFill>
                          <a:latin typeface="Arial"/>
                          <a:cs typeface="Arial"/>
                        </a:rPr>
                        <a:t>ماکرو F1</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200" b="1" i="0">
                          <a:solidFill>
                            <a:srgbClr val="FFA0C4"/>
                          </a:solidFill>
                          <a:latin typeface="Arial"/>
                          <a:cs typeface="Arial"/>
                        </a:rPr>
                        <a:t>0.4298</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200" b="1" i="0">
                          <a:solidFill>
                            <a:srgbClr val="FFA0C4"/>
                          </a:solidFill>
                          <a:latin typeface="Arial"/>
                          <a:cs typeface="Arial"/>
                        </a:rPr>
                        <a:t>0.037</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200" b="1" i="0">
                          <a:solidFill>
                            <a:srgbClr val="FFA0C4"/>
                          </a:solidFill>
                          <a:latin typeface="Arial"/>
                          <a:cs typeface="Arial"/>
                        </a:rPr>
                        <a:t>[0.339 , 0.503]</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r>
              <a:tr h="384048">
                <a:tc>
                  <a:txBody>
                    <a:bodyPr wrap="square"/>
                    <a:lstStyle/>
                    <a:p>
                      <a:pPr rtl="1" algn="r">
                        <a:spcBef>
                          <a:spcPts val="0"/>
                        </a:spcBef>
                        <a:spcAft>
                          <a:spcPts val="0"/>
                        </a:spcAft>
                      </a:pPr>
                      <a:r>
                        <a:rPr sz="1200" b="0" i="0">
                          <a:solidFill>
                            <a:srgbClr val="F0DCE6"/>
                          </a:solidFill>
                          <a:latin typeface="Arial"/>
                          <a:cs typeface="Arial"/>
                        </a:rPr>
                        <a:t>صحت چندکلاسه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0.6897</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0.027</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[0.635 , 0.745]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84048">
                <a:tc>
                  <a:txBody>
                    <a:bodyPr wrap="square"/>
                    <a:lstStyle/>
                    <a:p>
                      <a:pPr rtl="1" algn="r">
                        <a:spcBef>
                          <a:spcPts val="0"/>
                        </a:spcBef>
                        <a:spcAft>
                          <a:spcPts val="0"/>
                        </a:spcAft>
                      </a:pPr>
                      <a:r>
                        <a:rPr sz="1200" b="0" i="0">
                          <a:solidFill>
                            <a:srgbClr val="F0DCE6"/>
                          </a:solidFill>
                          <a:latin typeface="Arial"/>
                          <a:cs typeface="Arial"/>
                        </a:rPr>
                        <a:t>صحت نوع ناهنجاری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0.5000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0.041</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[0.420 , 0.585]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84048">
                <a:tc>
                  <a:txBody>
                    <a:bodyPr wrap="square"/>
                    <a:lstStyle/>
                    <a:p>
                      <a:pPr rtl="1" algn="r">
                        <a:spcBef>
                          <a:spcPts val="0"/>
                        </a:spcBef>
                        <a:spcAft>
                          <a:spcPts val="0"/>
                        </a:spcAft>
                      </a:pPr>
                      <a:r>
                        <a:rPr sz="1200" b="0" i="0">
                          <a:solidFill>
                            <a:srgbClr val="F0DCE6"/>
                          </a:solidFill>
                          <a:latin typeface="Arial"/>
                          <a:cs typeface="Arial"/>
                        </a:rPr>
                        <a:t>AUC دودویی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0.9610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0.011</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[0.938 , 0.980]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bl>
          </a:graphicData>
        </a:graphic>
      </p:graphicFrame>
      <p:sp>
        <p:nvSpPr>
          <p:cNvPr id="6" name="Rounded Rectangle 5"/>
          <p:cNvSpPr/>
          <p:nvPr/>
        </p:nvSpPr>
        <p:spPr>
          <a:xfrm>
            <a:off x="7498079" y="2148840"/>
            <a:ext cx="4114800" cy="1965960"/>
          </a:xfrm>
          <a:prstGeom prst="round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0" y="2313432"/>
            <a:ext cx="356616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FF6FA5"/>
                </a:solidFill>
                <a:latin typeface="Arial"/>
                <a:cs typeface="Arial"/>
              </a:rPr>
              <a:t>کف نوفه</a:t>
            </a:r>
          </a:p>
        </p:txBody>
      </p:sp>
      <p:sp>
        <p:nvSpPr>
          <p:cNvPr id="8" name="TextBox 7"/>
          <p:cNvSpPr txBox="1"/>
          <p:nvPr/>
        </p:nvSpPr>
        <p:spPr>
          <a:xfrm>
            <a:off x="7772400" y="2651760"/>
            <a:ext cx="3566160" cy="548640"/>
          </a:xfrm>
          <a:prstGeom prst="rect">
            <a:avLst/>
          </a:prstGeom>
          <a:noFill/>
        </p:spPr>
        <p:txBody>
          <a:bodyPr wrap="square" anchor="t" lIns="0" rIns="0" tIns="0" bIns="0">
            <a:spAutoFit/>
          </a:bodyPr>
          <a:lstStyle/>
          <a:p>
            <a:pPr rtl="0" algn="r">
              <a:spcBef>
                <a:spcPts val="0"/>
              </a:spcBef>
              <a:spcAft>
                <a:spcPts val="0"/>
              </a:spcAft>
            </a:pPr>
            <a:r>
              <a:rPr sz="3200" b="1" i="0">
                <a:solidFill>
                  <a:srgbClr val="FF6FA5"/>
                </a:solidFill>
                <a:latin typeface="Arial"/>
                <a:cs typeface="Arial"/>
              </a:rPr>
              <a:t>0.075</a:t>
            </a:r>
          </a:p>
        </p:txBody>
      </p:sp>
      <p:sp>
        <p:nvSpPr>
          <p:cNvPr id="9" name="TextBox 8"/>
          <p:cNvSpPr txBox="1"/>
          <p:nvPr/>
        </p:nvSpPr>
        <p:spPr>
          <a:xfrm>
            <a:off x="7772400" y="3291840"/>
            <a:ext cx="3566160" cy="731520"/>
          </a:xfrm>
          <a:prstGeom prst="rect">
            <a:avLst/>
          </a:prstGeom>
          <a:noFill/>
        </p:spPr>
        <p:txBody>
          <a:bodyPr wrap="square" anchor="t" lIns="0" rIns="0" tIns="0" bIns="0">
            <a:spAutoFit/>
          </a:bodyPr>
          <a:lstStyle/>
          <a:p>
            <a:pPr rtl="1" algn="r">
              <a:lnSpc>
                <a:spcPts val="1800"/>
              </a:lnSpc>
              <a:spcBef>
                <a:spcPts val="0"/>
              </a:spcBef>
              <a:spcAft>
                <a:spcPts val="0"/>
              </a:spcAft>
            </a:pPr>
            <a:r>
              <a:rPr sz="1200" b="0" i="0">
                <a:solidFill>
                  <a:srgbClr val="F0DCE6"/>
                </a:solidFill>
                <a:latin typeface="Arial"/>
                <a:cs typeface="Arial"/>
              </a:rPr>
              <a:t>اختلاف کمتر از این مقدار در ماکرو F1 روی این تقسیم از نوفه قابل تفکیک نیست.</a:t>
            </a:r>
          </a:p>
        </p:txBody>
      </p:sp>
      <p:sp>
        <p:nvSpPr>
          <p:cNvPr id="10" name="TextBox 9"/>
          <p:cNvSpPr txBox="1"/>
          <p:nvPr/>
        </p:nvSpPr>
        <p:spPr>
          <a:xfrm>
            <a:off x="548640" y="4297680"/>
            <a:ext cx="1106424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FBEEF4"/>
                </a:solidFill>
                <a:latin typeface="Arial"/>
                <a:cs typeface="Arial"/>
              </a:rPr>
              <a:t>سقف تنظیم روی یک مجموعه آزمون کوچک</a:t>
            </a:r>
          </a:p>
        </p:txBody>
      </p:sp>
      <p:graphicFrame>
        <p:nvGraphicFramePr>
          <p:cNvPr id="11" name="Table 10"/>
          <p:cNvGraphicFramePr>
            <a:graphicFrameLocks noGrp="1"/>
          </p:cNvGraphicFramePr>
          <p:nvPr/>
        </p:nvGraphicFramePr>
        <p:xfrm>
          <a:off x="548640" y="4754880"/>
          <a:ext cx="4206240" cy="1207008"/>
        </p:xfrm>
        <a:graphic>
          <a:graphicData uri="http://schemas.openxmlformats.org/drawingml/2006/table">
            <a:tbl>
              <a:tblPr firstRow="0" bandRow="0">
                <a:tableStyleId>{5C22544A-7EE6-4342-B048-85BDC9FD1C3A}</a:tableStyleId>
              </a:tblPr>
              <a:tblGrid>
                <a:gridCol w="2103120"/>
                <a:gridCol w="2103120"/>
              </a:tblGrid>
              <a:tr h="301752">
                <a:tc>
                  <a:txBody>
                    <a:bodyPr wrap="square"/>
                    <a:lstStyle/>
                    <a:p>
                      <a:pPr rtl="1" algn="ctr">
                        <a:spcBef>
                          <a:spcPts val="0"/>
                        </a:spcBef>
                        <a:spcAft>
                          <a:spcPts val="0"/>
                        </a:spcAft>
                      </a:pPr>
                      <a:r>
                        <a:rPr sz="1200" b="1" i="0">
                          <a:solidFill>
                            <a:srgbClr val="FF6FA5"/>
                          </a:solidFill>
                          <a:latin typeface="Arial"/>
                          <a:cs typeface="Arial"/>
                        </a:rPr>
                        <a:t>تعداد ارزیابی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200" b="1" i="0">
                          <a:solidFill>
                            <a:srgbClr val="FF6FA5"/>
                          </a:solidFill>
                          <a:latin typeface="Arial"/>
                          <a:cs typeface="Arial"/>
                        </a:rPr>
                        <a:t>تورم مورد انتظار</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r>
              <a:tr h="301752">
                <a:tc>
                  <a:txBody>
                    <a:bodyPr wrap="square"/>
                    <a:lstStyle/>
                    <a:p>
                      <a:pPr rtl="1" algn="r">
                        <a:spcBef>
                          <a:spcPts val="0"/>
                        </a:spcBef>
                        <a:spcAft>
                          <a:spcPts val="0"/>
                        </a:spcAft>
                      </a:pPr>
                      <a:r>
                        <a:rPr sz="1200" b="0" i="0">
                          <a:solidFill>
                            <a:srgbClr val="F0DCE6"/>
                          </a:solidFill>
                          <a:latin typeface="Arial"/>
                          <a:cs typeface="Arial"/>
                        </a:rPr>
                        <a:t>۸</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200" b="0" i="0">
                          <a:solidFill>
                            <a:srgbClr val="F0DCE6"/>
                          </a:solidFill>
                          <a:latin typeface="Arial"/>
                          <a:cs typeface="Arial"/>
                        </a:rPr>
                        <a:t>+0.069</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01752">
                <a:tc>
                  <a:txBody>
                    <a:bodyPr wrap="square"/>
                    <a:lstStyle/>
                    <a:p>
                      <a:pPr rtl="1" algn="r">
                        <a:spcBef>
                          <a:spcPts val="0"/>
                        </a:spcBef>
                        <a:spcAft>
                          <a:spcPts val="0"/>
                        </a:spcAft>
                      </a:pPr>
                      <a:r>
                        <a:rPr sz="1200" b="0" i="0">
                          <a:solidFill>
                            <a:srgbClr val="F0DCE6"/>
                          </a:solidFill>
                          <a:latin typeface="Arial"/>
                          <a:cs typeface="Arial"/>
                        </a:rPr>
                        <a:t>۵۰</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200" b="0" i="0">
                          <a:solidFill>
                            <a:srgbClr val="F0DCE6"/>
                          </a:solidFill>
                          <a:latin typeface="Arial"/>
                          <a:cs typeface="Arial"/>
                        </a:rPr>
                        <a:t>+0.095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01752">
                <a:tc>
                  <a:txBody>
                    <a:bodyPr wrap="square"/>
                    <a:lstStyle/>
                    <a:p>
                      <a:pPr rtl="1" algn="r">
                        <a:spcBef>
                          <a:spcPts val="0"/>
                        </a:spcBef>
                        <a:spcAft>
                          <a:spcPts val="0"/>
                        </a:spcAft>
                      </a:pPr>
                      <a:r>
                        <a:rPr sz="1200" b="1" i="0">
                          <a:solidFill>
                            <a:srgbClr val="FFA0C4"/>
                          </a:solidFill>
                          <a:latin typeface="Arial"/>
                          <a:cs typeface="Arial"/>
                        </a:rPr>
                        <a:t>۲۰۰</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200" b="1" i="0">
                          <a:solidFill>
                            <a:srgbClr val="FFA0C4"/>
                          </a:solidFill>
                          <a:latin typeface="Arial"/>
                          <a:cs typeface="Arial"/>
                        </a:rPr>
                        <a:t>+0.111</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r>
            </a:tbl>
          </a:graphicData>
        </a:graphic>
      </p:graphicFrame>
      <p:sp>
        <p:nvSpPr>
          <p:cNvPr id="12" name="Rounded Rectangle 11"/>
          <p:cNvSpPr/>
          <p:nvPr/>
        </p:nvSpPr>
        <p:spPr>
          <a:xfrm>
            <a:off x="5120640" y="4754880"/>
            <a:ext cx="6492240" cy="1325880"/>
          </a:xfrm>
          <a:prstGeom prst="roundRect">
            <a:avLst/>
          </a:prstGeom>
          <a:solidFill>
            <a:srgbClr val="3D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394960" y="4937760"/>
            <a:ext cx="5943600" cy="1005840"/>
          </a:xfrm>
          <a:prstGeom prst="rect">
            <a:avLst/>
          </a:prstGeom>
          <a:noFill/>
        </p:spPr>
        <p:txBody>
          <a:bodyPr wrap="square" anchor="t" lIns="0" rIns="0" tIns="0" bIns="0">
            <a:spAutoFit/>
          </a:bodyPr>
          <a:lstStyle/>
          <a:p>
            <a:pPr rtl="1" algn="r">
              <a:lnSpc>
                <a:spcPts val="1800"/>
              </a:lnSpc>
              <a:spcBef>
                <a:spcPts val="0"/>
              </a:spcBef>
              <a:spcAft>
                <a:spcPts val="0"/>
              </a:spcAft>
            </a:pPr>
            <a:r>
              <a:rPr sz="1200" b="0" i="0">
                <a:solidFill>
                  <a:srgbClr val="F0DCE6"/>
                </a:solidFill>
                <a:latin typeface="Arial"/>
                <a:cs typeface="Arial"/>
              </a:rPr>
              <a:t>با حدود ۲۰۰ ارزیابی روی همین تقسیم، گزارش بهترین عدد مشاهده‌شده نتیجه را بیش از اندازه خود اثر بزرگ نشان می‌دهد. همه اعداد این ارائه از پیکربندی‌هایی می‌آیند که پیش از اجرا تثبیت شده بودند.</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E1020"/>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FBEEF4"/>
                </a:solidFill>
                <a:latin typeface="Arial"/>
                <a:cs typeface="Arial"/>
              </a:rPr>
              <a:t>جدول کامل نتایج</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FF6FA5"/>
                </a:solidFill>
                <a:latin typeface="Arial"/>
                <a:cs typeface="Arial"/>
              </a:rPr>
              <a:t>جمع‌بندی نتایج</a:t>
            </a:r>
          </a:p>
        </p:txBody>
      </p:sp>
      <p:graphicFrame>
        <p:nvGraphicFramePr>
          <p:cNvPr id="4" name="Table 3"/>
          <p:cNvGraphicFramePr>
            <a:graphicFrameLocks noGrp="1"/>
          </p:cNvGraphicFramePr>
          <p:nvPr/>
        </p:nvGraphicFramePr>
        <p:xfrm>
          <a:off x="548640" y="1645920"/>
          <a:ext cx="11064240" cy="3291840"/>
        </p:xfrm>
        <a:graphic>
          <a:graphicData uri="http://schemas.openxmlformats.org/drawingml/2006/table">
            <a:tbl>
              <a:tblPr firstRow="0" bandRow="0">
                <a:tableStyleId>{5C22544A-7EE6-4342-B048-85BDC9FD1C3A}</a:tableStyleId>
              </a:tblPr>
              <a:tblGrid>
                <a:gridCol w="4114800"/>
                <a:gridCol w="2011680"/>
                <a:gridCol w="1280160"/>
                <a:gridCol w="1280160"/>
                <a:gridCol w="1280160"/>
                <a:gridCol w="1097280"/>
              </a:tblGrid>
              <a:tr h="329184">
                <a:tc>
                  <a:txBody>
                    <a:bodyPr wrap="square"/>
                    <a:lstStyle/>
                    <a:p>
                      <a:pPr rtl="1" algn="ctr">
                        <a:spcBef>
                          <a:spcPts val="0"/>
                        </a:spcBef>
                        <a:spcAft>
                          <a:spcPts val="0"/>
                        </a:spcAft>
                      </a:pPr>
                      <a:r>
                        <a:rPr sz="1100" b="1" i="0">
                          <a:solidFill>
                            <a:srgbClr val="FF6FA5"/>
                          </a:solidFill>
                          <a:latin typeface="Arial"/>
                          <a:cs typeface="Arial"/>
                        </a:rPr>
                        <a:t>پیکربندی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100" b="1" i="0">
                          <a:solidFill>
                            <a:srgbClr val="FF6FA5"/>
                          </a:solidFill>
                          <a:latin typeface="Arial"/>
                          <a:cs typeface="Arial"/>
                        </a:rPr>
                        <a:t>رمزگذار</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100" b="1" i="0">
                          <a:solidFill>
                            <a:srgbClr val="FF6FA5"/>
                          </a:solidFill>
                          <a:latin typeface="Arial"/>
                          <a:cs typeface="Arial"/>
                        </a:rPr>
                        <a:t>ماکرو F1</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100" b="1" i="0">
                          <a:solidFill>
                            <a:srgbClr val="FF6FA5"/>
                          </a:solidFill>
                          <a:latin typeface="Arial"/>
                          <a:cs typeface="Arial"/>
                        </a:rPr>
                        <a:t>صحت نوع</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100" b="1" i="0">
                          <a:solidFill>
                            <a:srgbClr val="FF6FA5"/>
                          </a:solidFill>
                          <a:latin typeface="Arial"/>
                          <a:cs typeface="Arial"/>
                        </a:rPr>
                        <a:t>صحت کلی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c>
                  <a:txBody>
                    <a:bodyPr wrap="square"/>
                    <a:lstStyle/>
                    <a:p>
                      <a:pPr rtl="1" algn="ctr">
                        <a:spcBef>
                          <a:spcPts val="0"/>
                        </a:spcBef>
                        <a:spcAft>
                          <a:spcPts val="0"/>
                        </a:spcAft>
                      </a:pPr>
                      <a:r>
                        <a:rPr sz="1100" b="1" i="0">
                          <a:solidFill>
                            <a:srgbClr val="FF6FA5"/>
                          </a:solidFill>
                          <a:latin typeface="Arial"/>
                          <a:cs typeface="Arial"/>
                        </a:rPr>
                        <a:t>AUC</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2E1020"/>
                    </a:solidFill>
                  </a:tcPr>
                </a:tc>
              </a:tr>
              <a:tr h="329184">
                <a:tc>
                  <a:txBody>
                    <a:bodyPr wrap="square"/>
                    <a:lstStyle/>
                    <a:p>
                      <a:pPr rtl="1" algn="r">
                        <a:spcBef>
                          <a:spcPts val="0"/>
                        </a:spcBef>
                        <a:spcAft>
                          <a:spcPts val="0"/>
                        </a:spcAft>
                      </a:pPr>
                      <a:r>
                        <a:rPr sz="1100" b="0" i="0">
                          <a:solidFill>
                            <a:srgbClr val="F0DCE6"/>
                          </a:solidFill>
                          <a:latin typeface="Arial"/>
                          <a:cs typeface="Arial"/>
                        </a:rPr>
                        <a:t>مسیر اول — اسم خام کلاس، وزن دستی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X-CLIP ViT-B/32</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0.3327</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0.3716</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0.6385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0.9473</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29184">
                <a:tc>
                  <a:txBody>
                    <a:bodyPr wrap="square"/>
                    <a:lstStyle/>
                    <a:p>
                      <a:pPr rtl="1" algn="r">
                        <a:spcBef>
                          <a:spcPts val="0"/>
                        </a:spcBef>
                        <a:spcAft>
                          <a:spcPts val="0"/>
                        </a:spcAft>
                      </a:pPr>
                      <a:r>
                        <a:rPr sz="1100" b="0" i="0">
                          <a:solidFill>
                            <a:srgbClr val="F0DCE6"/>
                          </a:solidFill>
                          <a:latin typeface="Arial"/>
                          <a:cs typeface="Arial"/>
                        </a:rPr>
                        <a:t>مسیر اول — توصیف بصری + وزن معکوس</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X-CLIP ViT-B/32</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0.3713</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0.4054</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0.6351</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0.9637</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29184">
                <a:tc>
                  <a:txBody>
                    <a:bodyPr wrap="square"/>
                    <a:lstStyle/>
                    <a:p>
                      <a:pPr rtl="1" algn="r">
                        <a:spcBef>
                          <a:spcPts val="0"/>
                        </a:spcBef>
                        <a:spcAft>
                          <a:spcPts val="0"/>
                        </a:spcAft>
                      </a:pPr>
                      <a:r>
                        <a:rPr sz="1100" b="0" i="0">
                          <a:solidFill>
                            <a:srgbClr val="F0DCE6"/>
                          </a:solidFill>
                          <a:latin typeface="Arial"/>
                          <a:cs typeface="Arial"/>
                        </a:rPr>
                        <a:t>مسیر اول — چهار نمای زمانی در آزمون</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X-CLIP ViT-B/32</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0.3881</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0.4257</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0.6419</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0.9629</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29184">
                <a:tc>
                  <a:txBody>
                    <a:bodyPr wrap="square"/>
                    <a:lstStyle/>
                    <a:p>
                      <a:pPr rtl="1" algn="r">
                        <a:spcBef>
                          <a:spcPts val="0"/>
                        </a:spcBef>
                        <a:spcAft>
                          <a:spcPts val="0"/>
                        </a:spcAft>
                      </a:pPr>
                      <a:r>
                        <a:rPr sz="1100" b="0" i="0">
                          <a:solidFill>
                            <a:srgbClr val="F0DCE6"/>
                          </a:solidFill>
                          <a:latin typeface="Arial"/>
                          <a:cs typeface="Arial"/>
                        </a:rPr>
                        <a:t>مسیر دوم — سر نقطه‌ای، خط پایه</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VideoMAE ViT-B</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0.2975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0.3860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0.5660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29184">
                <a:tc>
                  <a:txBody>
                    <a:bodyPr wrap="square"/>
                    <a:lstStyle/>
                    <a:p>
                      <a:pPr rtl="1" algn="r">
                        <a:spcBef>
                          <a:spcPts val="0"/>
                        </a:spcBef>
                        <a:spcAft>
                          <a:spcPts val="0"/>
                        </a:spcAft>
                      </a:pPr>
                      <a:r>
                        <a:rPr sz="1100" b="0" i="0">
                          <a:solidFill>
                            <a:srgbClr val="F0DCE6"/>
                          </a:solidFill>
                          <a:latin typeface="Arial"/>
                          <a:cs typeface="Arial"/>
                        </a:rPr>
                        <a:t>مسیر دوم — سر ترنسفورمر زمانی</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VideoMAE ViT-B</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0.3444</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0.3930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0.6350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29184">
                <a:tc>
                  <a:txBody>
                    <a:bodyPr wrap="square"/>
                    <a:lstStyle/>
                    <a:p>
                      <a:pPr rtl="1" algn="r">
                        <a:spcBef>
                          <a:spcPts val="0"/>
                        </a:spcBef>
                        <a:spcAft>
                          <a:spcPts val="0"/>
                        </a:spcAft>
                      </a:pPr>
                      <a:r>
                        <a:rPr sz="1100" b="0" i="0">
                          <a:solidFill>
                            <a:srgbClr val="F0DCE6"/>
                          </a:solidFill>
                          <a:latin typeface="Arial"/>
                          <a:cs typeface="Arial"/>
                        </a:rPr>
                        <a:t>مسیر دوم — نرخ یادگیری ۰٫۰۰۰۳</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VideoMAE ViT-B</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0.3645</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0.4210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0.6550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29184">
                <a:tc>
                  <a:txBody>
                    <a:bodyPr wrap="square"/>
                    <a:lstStyle/>
                    <a:p>
                      <a:pPr rtl="1" algn="r">
                        <a:spcBef>
                          <a:spcPts val="0"/>
                        </a:spcBef>
                        <a:spcAft>
                          <a:spcPts val="0"/>
                        </a:spcAft>
                      </a:pPr>
                      <a:r>
                        <a:rPr sz="1100" b="0" i="0">
                          <a:solidFill>
                            <a:srgbClr val="F0DCE6"/>
                          </a:solidFill>
                          <a:latin typeface="Arial"/>
                          <a:cs typeface="Arial"/>
                        </a:rPr>
                        <a:t>مسیر دوم — ارتقا به رمزگذار بزرگ</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VideoMAE ViT-L</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0.4122</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0.4786</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0.6897</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c>
                  <a:txBody>
                    <a:bodyPr wrap="square"/>
                    <a:lstStyle/>
                    <a:p>
                      <a:pPr rtl="1" algn="ctr">
                        <a:spcBef>
                          <a:spcPts val="0"/>
                        </a:spcBef>
                        <a:spcAft>
                          <a:spcPts val="0"/>
                        </a:spcAft>
                      </a:pPr>
                      <a:r>
                        <a:rPr sz="1100" b="0" i="0">
                          <a:solidFill>
                            <a:srgbClr val="F0DCE6"/>
                          </a:solidFill>
                          <a:latin typeface="Arial"/>
                          <a:cs typeface="Arial"/>
                        </a:rPr>
                        <a:t>—</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61428"/>
                    </a:solidFill>
                  </a:tcPr>
                </a:tc>
              </a:tr>
              <a:tr h="329184">
                <a:tc>
                  <a:txBody>
                    <a:bodyPr wrap="square"/>
                    <a:lstStyle/>
                    <a:p>
                      <a:pPr rtl="1" algn="r">
                        <a:spcBef>
                          <a:spcPts val="0"/>
                        </a:spcBef>
                        <a:spcAft>
                          <a:spcPts val="0"/>
                        </a:spcAft>
                      </a:pPr>
                      <a:r>
                        <a:rPr sz="1100" b="0" i="0">
                          <a:solidFill>
                            <a:srgbClr val="F0DCE6"/>
                          </a:solidFill>
                          <a:latin typeface="Arial"/>
                          <a:cs typeface="Arial"/>
                        </a:rPr>
                        <a:t>مسیر دوم — افزودن آمیزش</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VideoMAE ViT-L</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0.4161</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0.4714</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0.6793</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c>
                  <a:txBody>
                    <a:bodyPr wrap="square"/>
                    <a:lstStyle/>
                    <a:p>
                      <a:pPr rtl="1" algn="ctr">
                        <a:spcBef>
                          <a:spcPts val="0"/>
                        </a:spcBef>
                        <a:spcAft>
                          <a:spcPts val="0"/>
                        </a:spcAft>
                      </a:pPr>
                      <a:r>
                        <a:rPr sz="1100" b="0" i="0">
                          <a:solidFill>
                            <a:srgbClr val="F0DCE6"/>
                          </a:solidFill>
                          <a:latin typeface="Arial"/>
                          <a:cs typeface="Arial"/>
                        </a:rPr>
                        <a:t>—</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3D1730"/>
                    </a:solidFill>
                  </a:tcPr>
                </a:tc>
              </a:tr>
              <a:tr h="329184">
                <a:tc>
                  <a:txBody>
                    <a:bodyPr wrap="square"/>
                    <a:lstStyle/>
                    <a:p>
                      <a:pPr rtl="1" algn="r">
                        <a:spcBef>
                          <a:spcPts val="0"/>
                        </a:spcBef>
                        <a:spcAft>
                          <a:spcPts val="0"/>
                        </a:spcAft>
                      </a:pPr>
                      <a:r>
                        <a:rPr sz="1100" b="1" i="0">
                          <a:solidFill>
                            <a:srgbClr val="FFA0C4"/>
                          </a:solidFill>
                          <a:latin typeface="Arial"/>
                          <a:cs typeface="Arial"/>
                        </a:rPr>
                        <a:t>مسیر دوم — آمیزش + تنظیم لاجیت</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00" b="1" i="0">
                          <a:solidFill>
                            <a:srgbClr val="FFA0C4"/>
                          </a:solidFill>
                          <a:latin typeface="Arial"/>
                          <a:cs typeface="Arial"/>
                        </a:rPr>
                        <a:t>VideoMAE ViT-L</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00" b="1" i="0">
                          <a:solidFill>
                            <a:srgbClr val="FFA0C4"/>
                          </a:solidFill>
                          <a:latin typeface="Arial"/>
                          <a:cs typeface="Arial"/>
                        </a:rPr>
                        <a:t>0.4298</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00" b="1" i="0">
                          <a:solidFill>
                            <a:srgbClr val="FFA0C4"/>
                          </a:solidFill>
                          <a:latin typeface="Arial"/>
                          <a:cs typeface="Arial"/>
                        </a:rPr>
                        <a:t>0.5000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00" b="1" i="0">
                          <a:solidFill>
                            <a:srgbClr val="FFA0C4"/>
                          </a:solidFill>
                          <a:latin typeface="Arial"/>
                          <a:cs typeface="Arial"/>
                        </a:rPr>
                        <a:t>0.6897</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c>
                  <a:txBody>
                    <a:bodyPr wrap="square"/>
                    <a:lstStyle/>
                    <a:p>
                      <a:pPr rtl="1" algn="ctr">
                        <a:spcBef>
                          <a:spcPts val="0"/>
                        </a:spcBef>
                        <a:spcAft>
                          <a:spcPts val="0"/>
                        </a:spcAft>
                      </a:pPr>
                      <a:r>
                        <a:rPr sz="1100" b="1" i="0">
                          <a:solidFill>
                            <a:srgbClr val="FFA0C4"/>
                          </a:solidFill>
                          <a:latin typeface="Arial"/>
                          <a:cs typeface="Arial"/>
                        </a:rPr>
                        <a:t>0.9610</a:t>
                      </a:r>
                    </a:p>
                  </a:txBody>
                  <a:tcPr marL="36576" marR="36576" marT="18288" marB="18288" anchor="ctr">
                    <a:lnL w="6350" cap="flat" cmpd="sng" algn="ctr">
                      <a:noFill/>
                    </a:lnL>
                    <a:lnR w="6350" cap="flat" cmpd="sng" algn="ctr">
                      <a:noFill/>
                    </a:lnR>
                    <a:lnT w="6350" cap="flat" cmpd="sng" algn="ctr">
                      <a:solidFill>
                        <a:srgbClr val="4A1B38"/>
                      </a:solidFill>
                    </a:lnT>
                    <a:lnB w="6350" cap="flat" cmpd="sng" algn="ctr">
                      <a:solidFill>
                        <a:srgbClr val="4A1B38"/>
                      </a:solidFill>
                    </a:lnB>
                    <a:solidFill>
                      <a:srgbClr val="5A1F3E"/>
                    </a:solidFill>
                  </a:tcPr>
                </a:tc>
              </a:tr>
            </a:tbl>
          </a:graphicData>
        </a:graphic>
      </p:graphicFrame>
      <p:sp>
        <p:nvSpPr>
          <p:cNvPr id="5" name="TextBox 4"/>
          <p:cNvSpPr txBox="1"/>
          <p:nvPr/>
        </p:nvSpPr>
        <p:spPr>
          <a:xfrm>
            <a:off x="548640" y="5285232"/>
            <a:ext cx="11064240" cy="457200"/>
          </a:xfrm>
          <a:prstGeom prst="rect">
            <a:avLst/>
          </a:prstGeom>
          <a:noFill/>
        </p:spPr>
        <p:txBody>
          <a:bodyPr wrap="square" anchor="t" lIns="0" rIns="0" tIns="0" bIns="0">
            <a:spAutoFit/>
          </a:bodyPr>
          <a:lstStyle/>
          <a:p>
            <a:pPr rtl="1" algn="r">
              <a:lnSpc>
                <a:spcPts val="1700"/>
              </a:lnSpc>
              <a:spcBef>
                <a:spcPts val="0"/>
              </a:spcBef>
              <a:spcAft>
                <a:spcPts val="0"/>
              </a:spcAft>
            </a:pPr>
            <a:r>
              <a:rPr sz="1150" b="0" i="0">
                <a:solidFill>
                  <a:srgbClr val="B58FA2"/>
                </a:solidFill>
                <a:latin typeface="Arial"/>
                <a:cs typeface="Arial"/>
              </a:rPr>
              <a:t>مسیر اول روی تقسیمی با ۲۹۶ ویدیوی آزمون و مسیر دوم روی تقسیم استاندارد با ۲۹۰ ویدیو اجرا شده‌اند.</a:t>
            </a:r>
          </a:p>
        </p:txBody>
      </p:sp>
      <p:sp>
        <p:nvSpPr>
          <p:cNvPr id="6" name="TextBox 5"/>
          <p:cNvSpPr txBox="1"/>
          <p:nvPr/>
        </p:nvSpPr>
        <p:spPr>
          <a:xfrm>
            <a:off x="548640" y="576072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FF6FA5"/>
                </a:solidFill>
                <a:latin typeface="Arial"/>
                <a:cs typeface="Arial"/>
              </a:rPr>
              <a:t>0.4298</a:t>
            </a:r>
          </a:p>
        </p:txBody>
      </p:sp>
      <p:sp>
        <p:nvSpPr>
          <p:cNvPr id="7" name="TextBox 6"/>
          <p:cNvSpPr txBox="1"/>
          <p:nvPr/>
        </p:nvSpPr>
        <p:spPr>
          <a:xfrm>
            <a:off x="548640" y="647395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B58FA2"/>
                </a:solidFill>
                <a:latin typeface="Arial"/>
                <a:cs typeface="Arial"/>
              </a:rPr>
              <a:t>ماکرو F1 نهایی</a:t>
            </a:r>
          </a:p>
        </p:txBody>
      </p:sp>
      <p:sp>
        <p:nvSpPr>
          <p:cNvPr id="8" name="TextBox 7"/>
          <p:cNvSpPr txBox="1"/>
          <p:nvPr/>
        </p:nvSpPr>
        <p:spPr>
          <a:xfrm>
            <a:off x="4297680" y="576072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FBEEF4"/>
                </a:solidFill>
                <a:latin typeface="Arial"/>
                <a:cs typeface="Arial"/>
              </a:rPr>
              <a:t>0.5000</a:t>
            </a:r>
          </a:p>
        </p:txBody>
      </p:sp>
      <p:sp>
        <p:nvSpPr>
          <p:cNvPr id="9" name="TextBox 8"/>
          <p:cNvSpPr txBox="1"/>
          <p:nvPr/>
        </p:nvSpPr>
        <p:spPr>
          <a:xfrm>
            <a:off x="4297680" y="647395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B58FA2"/>
                </a:solidFill>
                <a:latin typeface="Arial"/>
                <a:cs typeface="Arial"/>
              </a:rPr>
              <a:t>صحت نوع ناهنجاری</a:t>
            </a:r>
          </a:p>
        </p:txBody>
      </p:sp>
      <p:sp>
        <p:nvSpPr>
          <p:cNvPr id="10" name="TextBox 9"/>
          <p:cNvSpPr txBox="1"/>
          <p:nvPr/>
        </p:nvSpPr>
        <p:spPr>
          <a:xfrm>
            <a:off x="8046720" y="576072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FBEEF4"/>
                </a:solidFill>
                <a:latin typeface="Arial"/>
                <a:cs typeface="Arial"/>
              </a:rPr>
              <a:t>0.6897</a:t>
            </a:r>
          </a:p>
        </p:txBody>
      </p:sp>
      <p:sp>
        <p:nvSpPr>
          <p:cNvPr id="11" name="TextBox 10"/>
          <p:cNvSpPr txBox="1"/>
          <p:nvPr/>
        </p:nvSpPr>
        <p:spPr>
          <a:xfrm>
            <a:off x="8046720" y="647395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B58FA2"/>
                </a:solidFill>
                <a:latin typeface="Arial"/>
                <a:cs typeface="Arial"/>
              </a:rPr>
              <a:t>صحت چندکلاسه</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20B18"/>
        </a:solidFill>
        <a:effectLst/>
      </p:bgPr>
    </p:bg>
    <p:spTree>
      <p:nvGrpSpPr>
        <p:cNvPr id="1" name=""/>
        <p:cNvGrpSpPr/>
        <p:nvPr/>
      </p:nvGrpSpPr>
      <p:grpSpPr/>
      <p:sp>
        <p:nvSpPr>
          <p:cNvPr id="2" name="Oval 1"/>
          <p:cNvSpPr/>
          <p:nvPr/>
        </p:nvSpPr>
        <p:spPr>
          <a:xfrm>
            <a:off x="9326880" y="-1280160"/>
            <a:ext cx="4572000" cy="4572000"/>
          </a:xfrm>
          <a:prstGeom prst="ellipse">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02920"/>
            <a:ext cx="10881360" cy="640080"/>
          </a:xfrm>
          <a:prstGeom prst="rect">
            <a:avLst/>
          </a:prstGeom>
          <a:noFill/>
        </p:spPr>
        <p:txBody>
          <a:bodyPr wrap="square" anchor="t" lIns="0" rIns="0" tIns="0" bIns="0">
            <a:spAutoFit/>
          </a:bodyPr>
          <a:lstStyle/>
          <a:p>
            <a:pPr rtl="1" algn="r">
              <a:spcBef>
                <a:spcPts val="0"/>
              </a:spcBef>
              <a:spcAft>
                <a:spcPts val="0"/>
              </a:spcAft>
            </a:pPr>
            <a:r>
              <a:rPr sz="2900" b="1" i="0">
                <a:solidFill>
                  <a:srgbClr val="FFFFFF"/>
                </a:solidFill>
                <a:latin typeface="Arial"/>
                <a:cs typeface="Arial"/>
              </a:rPr>
              <a:t>جمع‌بندی و کارهای آینده</a:t>
            </a:r>
          </a:p>
        </p:txBody>
      </p:sp>
      <p:sp>
        <p:nvSpPr>
          <p:cNvPr id="4" name="Rounded Rectangle 3"/>
          <p:cNvSpPr/>
          <p:nvPr/>
        </p:nvSpPr>
        <p:spPr>
          <a:xfrm>
            <a:off x="640080" y="1600200"/>
            <a:ext cx="10881360" cy="868680"/>
          </a:xfrm>
          <a:prstGeom prst="round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692640" y="1746504"/>
            <a:ext cx="1645920" cy="365760"/>
          </a:xfrm>
          <a:prstGeom prst="rect">
            <a:avLst/>
          </a:prstGeom>
          <a:noFill/>
        </p:spPr>
        <p:txBody>
          <a:bodyPr wrap="square" anchor="t" lIns="0" rIns="0" tIns="0" bIns="0">
            <a:spAutoFit/>
          </a:bodyPr>
          <a:lstStyle/>
          <a:p>
            <a:pPr rtl="1" algn="r">
              <a:spcBef>
                <a:spcPts val="0"/>
              </a:spcBef>
              <a:spcAft>
                <a:spcPts val="0"/>
              </a:spcAft>
            </a:pPr>
            <a:r>
              <a:rPr sz="1500" b="1" i="0">
                <a:solidFill>
                  <a:srgbClr val="9FE6D2"/>
                </a:solidFill>
                <a:latin typeface="Arial"/>
                <a:cs typeface="Arial"/>
              </a:rPr>
              <a:t>دستاورد</a:t>
            </a:r>
          </a:p>
        </p:txBody>
      </p:sp>
      <p:sp>
        <p:nvSpPr>
          <p:cNvPr id="6" name="TextBox 5"/>
          <p:cNvSpPr txBox="1"/>
          <p:nvPr/>
        </p:nvSpPr>
        <p:spPr>
          <a:xfrm>
            <a:off x="914400" y="1783080"/>
            <a:ext cx="8595360" cy="68580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FFFFFF"/>
                </a:solidFill>
                <a:latin typeface="Arial"/>
                <a:cs typeface="Arial"/>
              </a:rPr>
              <a:t>اصلاح سه اشکال بنیادی، بازطراحی معماری با رمزگذار منجمد، سر ترنسفورمر زمانی، و پروتکل ارزیابی با کف نوفه</a:t>
            </a:r>
          </a:p>
        </p:txBody>
      </p:sp>
      <p:sp>
        <p:nvSpPr>
          <p:cNvPr id="7" name="Rounded Rectangle 6"/>
          <p:cNvSpPr/>
          <p:nvPr/>
        </p:nvSpPr>
        <p:spPr>
          <a:xfrm>
            <a:off x="640080" y="2743200"/>
            <a:ext cx="10881360" cy="868680"/>
          </a:xfrm>
          <a:prstGeom prst="round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692640" y="2889504"/>
            <a:ext cx="1645920" cy="365760"/>
          </a:xfrm>
          <a:prstGeom prst="rect">
            <a:avLst/>
          </a:prstGeom>
          <a:noFill/>
        </p:spPr>
        <p:txBody>
          <a:bodyPr wrap="square" anchor="t" lIns="0" rIns="0" tIns="0" bIns="0">
            <a:spAutoFit/>
          </a:bodyPr>
          <a:lstStyle/>
          <a:p>
            <a:pPr rtl="1" algn="r">
              <a:spcBef>
                <a:spcPts val="0"/>
              </a:spcBef>
              <a:spcAft>
                <a:spcPts val="0"/>
              </a:spcAft>
            </a:pPr>
            <a:r>
              <a:rPr sz="1500" b="1" i="0">
                <a:solidFill>
                  <a:srgbClr val="FFA0C4"/>
                </a:solidFill>
                <a:latin typeface="Arial"/>
                <a:cs typeface="Arial"/>
              </a:rPr>
              <a:t>محدودیت</a:t>
            </a:r>
          </a:p>
        </p:txBody>
      </p:sp>
      <p:sp>
        <p:nvSpPr>
          <p:cNvPr id="9" name="TextBox 8"/>
          <p:cNvSpPr txBox="1"/>
          <p:nvPr/>
        </p:nvSpPr>
        <p:spPr>
          <a:xfrm>
            <a:off x="914400" y="2926080"/>
            <a:ext cx="8595360" cy="68580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FFFFFF"/>
                </a:solidFill>
                <a:latin typeface="Arial"/>
                <a:cs typeface="Arial"/>
              </a:rPr>
              <a:t>رمزگذار به دامنه نظارتی تطبیق نمی‌یابد؛ مجموعه آزمون کوچک است و بازه‌های اطمینان پهن</a:t>
            </a:r>
          </a:p>
        </p:txBody>
      </p:sp>
      <p:sp>
        <p:nvSpPr>
          <p:cNvPr id="10" name="Rounded Rectangle 9"/>
          <p:cNvSpPr/>
          <p:nvPr/>
        </p:nvSpPr>
        <p:spPr>
          <a:xfrm>
            <a:off x="640080" y="3886200"/>
            <a:ext cx="10881360" cy="868680"/>
          </a:xfrm>
          <a:prstGeom prst="roundRect">
            <a:avLst/>
          </a:prstGeom>
          <a:solidFill>
            <a:srgbClr val="4A1B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692640" y="4032504"/>
            <a:ext cx="1645920" cy="365760"/>
          </a:xfrm>
          <a:prstGeom prst="rect">
            <a:avLst/>
          </a:prstGeom>
          <a:noFill/>
        </p:spPr>
        <p:txBody>
          <a:bodyPr wrap="square" anchor="t" lIns="0" rIns="0" tIns="0" bIns="0">
            <a:spAutoFit/>
          </a:bodyPr>
          <a:lstStyle/>
          <a:p>
            <a:pPr rtl="1" algn="r">
              <a:spcBef>
                <a:spcPts val="0"/>
              </a:spcBef>
              <a:spcAft>
                <a:spcPts val="0"/>
              </a:spcAft>
            </a:pPr>
            <a:r>
              <a:rPr sz="1500" b="1" i="0">
                <a:solidFill>
                  <a:srgbClr val="F6CFDE"/>
                </a:solidFill>
                <a:latin typeface="Arial"/>
                <a:cs typeface="Arial"/>
              </a:rPr>
              <a:t>کار آینده</a:t>
            </a:r>
          </a:p>
        </p:txBody>
      </p:sp>
      <p:sp>
        <p:nvSpPr>
          <p:cNvPr id="12" name="TextBox 11"/>
          <p:cNvSpPr txBox="1"/>
          <p:nvPr/>
        </p:nvSpPr>
        <p:spPr>
          <a:xfrm>
            <a:off x="914400" y="4069080"/>
            <a:ext cx="8595360" cy="68580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FFFFFF"/>
                </a:solidFill>
                <a:latin typeface="Arial"/>
                <a:cs typeface="Arial"/>
              </a:rPr>
              <a:t>افزایش وضوح مکانی برای خوشه دزدی، تنظیم دقیق رمزگذار روی داده نظارتی، و تقسیم داده با سهم بزرگ‌تر برای آزمون</a:t>
            </a:r>
          </a:p>
        </p:txBody>
      </p:sp>
      <p:sp>
        <p:nvSpPr>
          <p:cNvPr id="13" name="Rounded Rectangle 12"/>
          <p:cNvSpPr/>
          <p:nvPr/>
        </p:nvSpPr>
        <p:spPr>
          <a:xfrm>
            <a:off x="640080" y="5212080"/>
            <a:ext cx="10881360" cy="1005840"/>
          </a:xfrm>
          <a:prstGeom prst="roundRect">
            <a:avLst/>
          </a:prstGeom>
          <a:solidFill>
            <a:srgbClr val="FF6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14400" y="5413248"/>
            <a:ext cx="10332720" cy="640080"/>
          </a:xfrm>
          <a:prstGeom prst="rect">
            <a:avLst/>
          </a:prstGeom>
          <a:noFill/>
        </p:spPr>
        <p:txBody>
          <a:bodyPr wrap="square" anchor="t" lIns="0" rIns="0" tIns="0" bIns="0">
            <a:spAutoFit/>
          </a:bodyPr>
          <a:lstStyle/>
          <a:p>
            <a:pPr rtl="1" algn="r">
              <a:lnSpc>
                <a:spcPts val="2100"/>
              </a:lnSpc>
              <a:spcBef>
                <a:spcPts val="0"/>
              </a:spcBef>
              <a:spcAft>
                <a:spcPts val="0"/>
              </a:spcAft>
            </a:pPr>
            <a:r>
              <a:rPr sz="1400" b="1" i="0">
                <a:solidFill>
                  <a:srgbClr val="2E1020"/>
                </a:solidFill>
                <a:latin typeface="Arial"/>
                <a:cs typeface="Arial"/>
              </a:rPr>
              <a:t>بیشترین اثر را نه یک ایده الگوریتمی، بلکه کاهش هزینه هر آزمایش داشت؛ و کمّی کردن نوفه پیش از تفسیر، از ادعاهایی جلوگیری کرد که داده پشتیبان آن‌ها نبود.</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